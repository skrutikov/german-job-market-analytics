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6" r:id="rId1"/>
  </p:sldMasterIdLst>
  <p:notesMasterIdLst>
    <p:notesMasterId r:id="rId18"/>
  </p:notesMasterIdLst>
  <p:sldIdLst>
    <p:sldId id="256" r:id="rId2"/>
    <p:sldId id="294" r:id="rId3"/>
    <p:sldId id="257" r:id="rId4"/>
    <p:sldId id="279" r:id="rId5"/>
    <p:sldId id="290" r:id="rId6"/>
    <p:sldId id="276" r:id="rId7"/>
    <p:sldId id="281" r:id="rId8"/>
    <p:sldId id="282" r:id="rId9"/>
    <p:sldId id="283" r:id="rId10"/>
    <p:sldId id="277" r:id="rId11"/>
    <p:sldId id="278" r:id="rId12"/>
    <p:sldId id="285" r:id="rId13"/>
    <p:sldId id="295" r:id="rId14"/>
    <p:sldId id="286" r:id="rId15"/>
    <p:sldId id="287" r:id="rId16"/>
    <p:sldId id="273"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90">
          <p15:clr>
            <a:srgbClr val="747775"/>
          </p15:clr>
        </p15:guide>
        <p15:guide id="2" pos="2880">
          <p15:clr>
            <a:srgbClr val="747775"/>
          </p15:clr>
        </p15:guide>
        <p15:guide id="3" orient="horz" pos="1437">
          <p15:clr>
            <a:srgbClr val="747775"/>
          </p15:clr>
        </p15:guide>
        <p15:guide id="4" orient="horz" pos="1014">
          <p15:clr>
            <a:srgbClr val="747775"/>
          </p15:clr>
        </p15:guide>
        <p15:guide id="5" orient="horz" pos="1893">
          <p15:clr>
            <a:srgbClr val="747775"/>
          </p15:clr>
        </p15:guide>
        <p15:guide id="6" pos="4921">
          <p15:clr>
            <a:srgbClr val="747775"/>
          </p15:clr>
        </p15:guide>
        <p15:guide id="7" orient="horz" pos="2679">
          <p15:clr>
            <a:srgbClr val="747775"/>
          </p15:clr>
        </p15:guide>
        <p15:guide id="8" orient="horz" pos="59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51FD"/>
    <a:srgbClr val="FF0000"/>
    <a:srgbClr val="FFFFC0"/>
    <a:srgbClr val="FF0705"/>
    <a:srgbClr val="585858"/>
    <a:srgbClr val="336791"/>
    <a:srgbClr val="EF552E"/>
    <a:srgbClr val="262626"/>
    <a:srgbClr val="0000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4" autoAdjust="0"/>
    <p:restoredTop sz="79427" autoAdjust="0"/>
  </p:normalViewPr>
  <p:slideViewPr>
    <p:cSldViewPr snapToGrid="0">
      <p:cViewPr>
        <p:scale>
          <a:sx n="300" d="100"/>
          <a:sy n="300" d="100"/>
        </p:scale>
        <p:origin x="-3234" y="-1806"/>
      </p:cViewPr>
      <p:guideLst>
        <p:guide orient="horz" pos="2290"/>
        <p:guide pos="2880"/>
        <p:guide orient="horz" pos="1437"/>
        <p:guide orient="horz" pos="1014"/>
        <p:guide orient="horz" pos="1893"/>
        <p:guide pos="4921"/>
        <p:guide orient="horz" pos="2679"/>
        <p:guide orient="horz" pos="591"/>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b454739a23_0_14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3b454739a23_0_1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750BA8A5-B848-DD94-8669-123F131E9093}"/>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EA5C82FD-3124-9A4C-0BC0-9D10ACC016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7215332F-E345-1C6F-3690-0F1A964357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motivation for this project is that job advertisements contain a lot of useful information about the </a:t>
            </a:r>
            <a:r>
              <a:rPr lang="en-US" dirty="0" err="1"/>
              <a:t>labour</a:t>
            </a:r>
            <a:r>
              <a:rPr lang="en-US" dirty="0"/>
              <a:t> market — for example, which companies are recruiting, which occupations and locations are most common, what working conditions are offered, and how publication activity develops over time.</a:t>
            </a:r>
          </a:p>
          <a:p>
            <a:r>
              <a:rPr lang="en-US" dirty="0"/>
              <a:t>But job advertisements are not static. New jobs appear, existing advertisements are modified or republished, and others are no longer observed. So, a single snapshot is not enough if we want to </a:t>
            </a:r>
            <a:r>
              <a:rPr lang="en-US" dirty="0" err="1"/>
              <a:t>analyse</a:t>
            </a:r>
            <a:r>
              <a:rPr lang="en-US" dirty="0"/>
              <a:t> the market in a meaningful way.</a:t>
            </a:r>
          </a:p>
          <a:p>
            <a:r>
              <a:rPr lang="en-US" dirty="0"/>
              <a:t>From this, we derived four main objectives. We wanted to collect job advertisements regularly, preserve the raw data and transform it into a consistent dataset, make the data searchable and </a:t>
            </a:r>
            <a:r>
              <a:rPr lang="en-US" dirty="0" err="1"/>
              <a:t>analysable</a:t>
            </a:r>
            <a:r>
              <a:rPr lang="en-US" dirty="0"/>
              <a:t> through filters, statistics and </a:t>
            </a:r>
            <a:r>
              <a:rPr lang="en-US" dirty="0" err="1"/>
              <a:t>visualisation</a:t>
            </a:r>
            <a:r>
              <a:rPr lang="en-US" dirty="0"/>
              <a:t>, and finally automate and monitor the complete end-to-end pipeline.</a:t>
            </a:r>
          </a:p>
          <a:p>
            <a:r>
              <a:rPr lang="en-US" dirty="0"/>
              <a:t>The rest of the presentation shows how we implemented this approach.</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703850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b5a5a12495_0_1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the overall approach. The upper part is the ingestion path; the lower part is the runtime path. We preserve both raw and processed data, load structured job data into PostgreSQL, and create an Elasticsearch index for full-text search. At runtime, </a:t>
            </a:r>
            <a:r>
              <a:rPr lang="en-US" dirty="0" err="1"/>
              <a:t>FastAPI</a:t>
            </a:r>
            <a:r>
              <a:rPr lang="en-US" dirty="0"/>
              <a:t> exposes the data to the Dash frontend for job search and statistics.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4CDCF8BA-96C4-93FC-7D6C-BB49715171B2}"/>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DE5305BD-4ECF-43FE-2DCE-9A5170CF35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7D25C066-D770-EFAE-D55A-CDBDBCE530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For the frontend we use Dash; FastAPI provides the backend; PostgreSQL and Elasticsearch serve different data-access requirements; Airflow orchestrates the recurring pipeline; and Prometheus and Grafana provide observability.</a:t>
            </a:r>
            <a:endParaRPr/>
          </a:p>
        </p:txBody>
      </p:sp>
    </p:spTree>
    <p:extLst>
      <p:ext uri="{BB962C8B-B14F-4D97-AF65-F5344CB8AC3E}">
        <p14:creationId xmlns:p14="http://schemas.microsoft.com/office/powerpoint/2010/main" val="2790578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E6C9F87E-9A65-1B42-074F-DA1910996688}"/>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F3DE926D-78B7-0912-49FD-AF7AC4FB0D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218F6117-92C7-F89C-A16F-7EA17F9039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API has a two-stage structure. A keyword search first returns job summaries including their reference numbers. These reference numbers can then be used to request the complete job advertisements.</a:t>
            </a:r>
          </a:p>
          <a:p>
            <a:pPr marL="0" lvl="0" indent="0" algn="l" rtl="0">
              <a:spcBef>
                <a:spcPts val="0"/>
              </a:spcBef>
              <a:spcAft>
                <a:spcPts val="0"/>
              </a:spcAft>
              <a:buNone/>
            </a:pPr>
            <a:r>
              <a:rPr lang="en-US" dirty="0"/>
              <a:t>In our pipeline, we later </a:t>
            </a:r>
            <a:r>
              <a:rPr lang="en-US" dirty="0" err="1"/>
              <a:t>optimise</a:t>
            </a:r>
            <a:r>
              <a:rPr lang="en-US" dirty="0"/>
              <a:t> this so that unchanged advertisements do not have to be downloaded in full every day. We do this by comparing the modification timestamp from the search result with the one already stored in PostgreSQL.</a:t>
            </a:r>
            <a:endParaRPr b="1" dirty="0"/>
          </a:p>
        </p:txBody>
      </p:sp>
    </p:spTree>
    <p:extLst>
      <p:ext uri="{BB962C8B-B14F-4D97-AF65-F5344CB8AC3E}">
        <p14:creationId xmlns:p14="http://schemas.microsoft.com/office/powerpoint/2010/main" val="2124299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AD9B68FD-C652-2B2D-3D10-CB6CDDF29EFE}"/>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8247C6C0-368F-8126-90AE-95A7BB54A3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26CA0F2F-7171-467D-3928-881AA20DFF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This slide shows the main ETL pipeline.</a:t>
            </a:r>
          </a:p>
          <a:p>
            <a:r>
              <a:rPr lang="en-US" dirty="0"/>
              <a:t>In the </a:t>
            </a:r>
            <a:r>
              <a:rPr lang="en-US" b="1" dirty="0"/>
              <a:t>extract</a:t>
            </a:r>
            <a:r>
              <a:rPr lang="en-US" dirty="0"/>
              <a:t> stage, we first query the search endpoint for each configured keyword.</a:t>
            </a:r>
          </a:p>
          <a:p>
            <a:r>
              <a:rPr lang="en-US" dirty="0"/>
              <a:t>Because the same advertisement can appear in several search results, we deduplicate the jobs by their reference number before retrieving the detailed advertisements.</a:t>
            </a:r>
          </a:p>
          <a:p>
            <a:r>
              <a:rPr lang="en-US" dirty="0"/>
              <a:t>We preserve both the original search results and the retrieved job details as raw JSON. This gives us a traceable snapshot of each ingestion run and allows the data to be reprocessed later if necessary. </a:t>
            </a:r>
          </a:p>
          <a:p>
            <a:r>
              <a:rPr lang="en-US" dirty="0"/>
              <a:t>In the </a:t>
            </a:r>
            <a:r>
              <a:rPr lang="en-US" b="1" dirty="0"/>
              <a:t>transform</a:t>
            </a:r>
            <a:r>
              <a:rPr lang="en-US" dirty="0"/>
              <a:t> stage, the source-specific structure is converted into our internal schema (We convert the source-specific German field names and nested structures into our own consistent internal schema).</a:t>
            </a:r>
          </a:p>
          <a:p>
            <a:r>
              <a:rPr lang="en-US" dirty="0"/>
              <a:t>We keep only advertisements that have at least one location in Germany</a:t>
            </a:r>
          </a:p>
          <a:p>
            <a:r>
              <a:rPr lang="en-US" dirty="0"/>
              <a:t>and enrich missing coordinates where possible.</a:t>
            </a:r>
          </a:p>
          <a:p>
            <a:r>
              <a:rPr lang="en-US" dirty="0"/>
              <a:t>The resulting cleaned dataset is again stored as JSON before it is loaded into the database. </a:t>
            </a:r>
          </a:p>
          <a:p>
            <a:r>
              <a:rPr lang="en-US" dirty="0"/>
              <a:t>Finally, in the </a:t>
            </a:r>
            <a:r>
              <a:rPr lang="en-US" b="1" dirty="0"/>
              <a:t>load</a:t>
            </a:r>
            <a:r>
              <a:rPr lang="en-US" dirty="0"/>
              <a:t> stage, the cleaned advertisements are written to PostgreSQL. Existing jobs are updated rather than duplicated, while their locations are stored separately. </a:t>
            </a:r>
          </a:p>
          <a:p>
            <a:r>
              <a:rPr lang="en-US" dirty="0"/>
              <a:t>The complete process is automated with Airflow and runs once a day at six in the morning. After the core ETL, the workflow continues with the freshness update and synchronization of the Elasticsearch index, which I’ll come back to later.</a:t>
            </a:r>
          </a:p>
          <a:p>
            <a:endParaRPr lang="en-US" dirty="0"/>
          </a:p>
          <a:p>
            <a:pPr marL="158750" indent="0">
              <a:buNone/>
            </a:pPr>
            <a:r>
              <a:rPr lang="en-US" b="1" i="1" dirty="0"/>
              <a:t>The cleaned data is stored in a relational PostgreSQL model, with job advertisements separated from their potentially multiple locations.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i="1" dirty="0"/>
              <a:t>While converting the data into our internal schema, we also </a:t>
            </a:r>
            <a:r>
              <a:rPr lang="en-US" i="1" dirty="0" err="1"/>
              <a:t>categorise</a:t>
            </a:r>
            <a:r>
              <a:rPr lang="en-US" i="1" dirty="0"/>
              <a:t> the jobs for later analysis. We also enrich missing location coordinates through geocoding. I’ll briefly explain both of these steps on the next slide.</a:t>
            </a:r>
            <a:endParaRPr i="1" dirty="0"/>
          </a:p>
        </p:txBody>
      </p:sp>
    </p:spTree>
    <p:extLst>
      <p:ext uri="{BB962C8B-B14F-4D97-AF65-F5344CB8AC3E}">
        <p14:creationId xmlns:p14="http://schemas.microsoft.com/office/powerpoint/2010/main" val="3477106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33C81560-8DE1-343F-2CE5-3720508C6846}"/>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EFA68678-17EF-C4C5-E091-657DA27581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E34EECCF-D3ED-58B6-CAF9-F03E047F23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During transformation, we also enrich the source data in two ways.</a:t>
            </a:r>
          </a:p>
          <a:p>
            <a:endParaRPr lang="en-US" dirty="0"/>
          </a:p>
          <a:p>
            <a:r>
              <a:rPr lang="en-US" dirty="0"/>
              <a:t>First, not every job location contains usable coordinates. If latitude and longitude are already provided by the source, we keep them. Otherwise, we build a location query from the available postal code, city, and country and use </a:t>
            </a:r>
            <a:r>
              <a:rPr lang="en-US" dirty="0" err="1"/>
              <a:t>Nominatim</a:t>
            </a:r>
            <a:r>
              <a:rPr lang="en-US" dirty="0"/>
              <a:t> through </a:t>
            </a:r>
            <a:r>
              <a:rPr lang="en-US" dirty="0" err="1"/>
              <a:t>geopy</a:t>
            </a:r>
            <a:r>
              <a:rPr lang="en-US" dirty="0"/>
              <a:t> to retrieve coordinates. Failed geocoding attempts are recorded so that this part of the enrichment is observable.</a:t>
            </a:r>
          </a:p>
          <a:p>
            <a:endParaRPr lang="en-US" dirty="0"/>
          </a:p>
          <a:p>
            <a:r>
              <a:rPr lang="en-US" dirty="0"/>
              <a:t>The second enrichment is job classification. Raw job titles are very heterogeneous, which makes aggregation and </a:t>
            </a:r>
            <a:r>
              <a:rPr lang="en-US" dirty="0" err="1"/>
              <a:t>visualisation</a:t>
            </a:r>
            <a:r>
              <a:rPr lang="en-US" dirty="0"/>
              <a:t> difficult. We therefore map jobs into six broad categories using deterministic keyword rules applied to the title and occupation. The rules also have an explicit priority—for example, a ‘Backend Developer for Machine Learning’ is classified as AI / Machine Learning rather than Backend Development. Jobs that do not match any rule fall back to Other.</a:t>
            </a:r>
          </a:p>
          <a:p>
            <a:endParaRPr lang="en-US" dirty="0"/>
          </a:p>
          <a:p>
            <a:r>
              <a:rPr lang="en-US" dirty="0"/>
              <a:t>These enrichments make the data more useful later for the map, filtering, and statistics.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804260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AD22FCF4-424B-BE31-2085-4D3750C355E4}"/>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8711EBA4-37FD-4F93-A16F-C27A00BD11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DDA07EBF-D098-17D5-80CF-FBA54C6D4A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A problem with job advertisements is that a recent publication date does not necessarily mean that the advertisement is genuinely new. Some advertisements are simply republished while their actual content remains unchanged.</a:t>
            </a:r>
          </a:p>
          <a:p>
            <a:endParaRPr lang="en-US" dirty="0"/>
          </a:p>
          <a:p>
            <a:r>
              <a:rPr lang="en-US" dirty="0"/>
              <a:t>To distinguish these cases, we compare the current API data with the version already stored in PostgreSQL. For a new job, we store its original publication and modification dates. For an existing job, a changed </a:t>
            </a:r>
            <a:r>
              <a:rPr lang="en-US" sz="1100" b="0" i="0" u="none" strike="noStrike" cap="none" dirty="0" err="1">
                <a:solidFill>
                  <a:srgbClr val="000000"/>
                </a:solidFill>
                <a:latin typeface="Arial"/>
                <a:ea typeface="Arial"/>
                <a:cs typeface="Arial"/>
                <a:sym typeface="Arial"/>
              </a:rPr>
              <a:t>modified_at</a:t>
            </a:r>
            <a:r>
              <a:rPr lang="en-US" dirty="0"/>
              <a:t> indicates an actual update, so the unchanged-republication counter is reset. If only the publication date changes while </a:t>
            </a:r>
            <a:r>
              <a:rPr lang="en-US" sz="1100" b="0" i="0" u="none" strike="noStrike" cap="none" dirty="0" err="1">
                <a:solidFill>
                  <a:srgbClr val="000000"/>
                </a:solidFill>
                <a:latin typeface="Arial"/>
                <a:ea typeface="Arial"/>
                <a:cs typeface="Arial"/>
                <a:sym typeface="Arial"/>
              </a:rPr>
              <a:t>modified_at</a:t>
            </a:r>
            <a:r>
              <a:rPr lang="en-US" dirty="0"/>
              <a:t> stays the same, we treat this as an unchanged republication and increment the counter.”</a:t>
            </a:r>
          </a:p>
          <a:p>
            <a:endParaRPr lang="en-US" dirty="0"/>
          </a:p>
          <a:p>
            <a:r>
              <a:rPr lang="en-US" dirty="0"/>
              <a:t>This allows the frontend to show a more meaningful freshness summary—for example, when the job was first published, when it was last actually updated, and how often it has been republished without changes.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60771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4ABFAA4-0D5F-2C11-7FD1-737AFEC36141}"/>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BCECB95F-8073-09EF-BE97-02741F289F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50403A7B-AF7D-2673-853C-086ED7C5E4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For job access, we distinguish between searches with and without a free-text keyword.</a:t>
            </a:r>
          </a:p>
          <a:p>
            <a:endParaRPr lang="en-US" dirty="0"/>
          </a:p>
          <a:p>
            <a:r>
              <a:rPr lang="en-US" dirty="0"/>
              <a:t>If no keyword is provided, the request can be handled directly in PostgreSQL. Structured filters such as city, company, home-office availability, and category are applied there, and the jobs are ordered by publication date, newest first. </a:t>
            </a:r>
          </a:p>
          <a:p>
            <a:endParaRPr lang="en-US" dirty="0"/>
          </a:p>
          <a:p>
            <a:r>
              <a:rPr lang="en-US" dirty="0"/>
              <a:t>If a keyword is provided, we use Elasticsearch. It performs the full-text search together with the structured filters and ranks the matching jobs by relevance. The search covers several fields, but they are weighted differently: the title has the highest weight because it most directly represents the advertised role, followed by occupation, while the description has the lowest weight because it contains much more incidental text. </a:t>
            </a:r>
          </a:p>
          <a:p>
            <a:endParaRPr lang="en-US" dirty="0"/>
          </a:p>
          <a:p>
            <a:r>
              <a:rPr lang="en-US" dirty="0"/>
              <a:t>Elasticsearch then returns only the ranked reference numbers. </a:t>
            </a:r>
            <a:r>
              <a:rPr lang="en-US" dirty="0" err="1"/>
              <a:t>FastAPI</a:t>
            </a:r>
            <a:r>
              <a:rPr lang="en-US" dirty="0"/>
              <a:t> uses those reference numbers to retrieve the complete job records from PostgreSQL while preserving the Elasticsearch ranking. PostgreSQL therefore remains the authoritative data store, while Elasticsearch is used specifically for search and relevance ranking.”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747742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B12BD581-E3B5-6A20-0E5C-258BC9A86AF6}"/>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FCF3F26B-197F-5B9B-18D8-E88CCF4F49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49EC9746-462D-4000-B6B1-EF08ADCCA1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complete application is deployed locally with Docker Compose. Each major component runs as its own service: the Dash frontend, </a:t>
            </a:r>
            <a:r>
              <a:rPr lang="en-US" dirty="0" err="1"/>
              <a:t>FastAPI</a:t>
            </a:r>
            <a:r>
              <a:rPr lang="en-US" dirty="0"/>
              <a:t> backend, PostgreSQL, Elasticsearch, Airflow, Prometheus, and Grafana. This gives us a reproducible environment where the whole system can be started together with Docker Compose. </a:t>
            </a:r>
          </a:p>
          <a:p>
            <a:endParaRPr lang="en-US" dirty="0"/>
          </a:p>
          <a:p>
            <a:r>
              <a:rPr lang="en-US" dirty="0"/>
              <a:t>At runtime, the frontend communicates with </a:t>
            </a:r>
            <a:r>
              <a:rPr lang="en-US" dirty="0" err="1"/>
              <a:t>FastAPI</a:t>
            </a:r>
            <a:r>
              <a:rPr lang="en-US" dirty="0"/>
              <a:t> over HTTP. </a:t>
            </a:r>
            <a:r>
              <a:rPr lang="en-US" dirty="0" err="1"/>
              <a:t>FastAPI</a:t>
            </a:r>
            <a:r>
              <a:rPr lang="en-US" dirty="0"/>
              <a:t> reads structured job data from PostgreSQL and uses Elasticsearch for full-text search. Prometheus collects application and ETL metrics, which are </a:t>
            </a:r>
            <a:r>
              <a:rPr lang="en-US" dirty="0" err="1"/>
              <a:t>visualised</a:t>
            </a:r>
            <a:r>
              <a:rPr lang="en-US" dirty="0"/>
              <a:t> in Grafana.</a:t>
            </a:r>
          </a:p>
          <a:p>
            <a:endParaRPr lang="en-US" dirty="0"/>
          </a:p>
          <a:p>
            <a:r>
              <a:rPr lang="en-US" dirty="0"/>
              <a:t>For automation, Airflow runs the ETL workflow once per day at six in the morning. The same ETL can also be triggered manually through the data-update service. This means data ingestion is automated, but we still retain a manual execution path for testing or ad-hoc updates.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732733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70F0DE1-61C8-B949-CF9F-889D51253013}"/>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4AAADD59-477D-A0E5-6A76-02B7BE6313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B00DFA13-910D-3747-D068-FAF410152E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We monitor two different kinds of workloads. The </a:t>
            </a:r>
            <a:r>
              <a:rPr lang="en-US" dirty="0" err="1"/>
              <a:t>FastAPI</a:t>
            </a:r>
            <a:r>
              <a:rPr lang="en-US" dirty="0"/>
              <a:t> backend is continuously running, so Prometheus scrapes its metrics every 15 seconds. These include the number and duration of job searches and the number of active database connections.</a:t>
            </a:r>
          </a:p>
          <a:p>
            <a:endParaRPr lang="en-US" dirty="0"/>
          </a:p>
          <a:p>
            <a:r>
              <a:rPr lang="en-US" dirty="0"/>
              <a:t>The ETL is different because it only runs once per day. Instead of exposing metrics continuously, it pushes its results to the </a:t>
            </a:r>
            <a:r>
              <a:rPr lang="en-US" dirty="0" err="1"/>
              <a:t>Pushgateway</a:t>
            </a:r>
            <a:r>
              <a:rPr lang="en-US" dirty="0"/>
              <a:t>. We monitor the duration of the last ETL run, the time since the last successful run, and geocoding failures.</a:t>
            </a:r>
          </a:p>
          <a:p>
            <a:endParaRPr lang="en-US" dirty="0"/>
          </a:p>
          <a:p>
            <a:r>
              <a:rPr lang="en-US" dirty="0"/>
              <a:t>Grafana queries Prometheus and </a:t>
            </a:r>
            <a:r>
              <a:rPr lang="en-US" dirty="0" err="1"/>
              <a:t>visualises</a:t>
            </a:r>
            <a:r>
              <a:rPr lang="en-US" dirty="0"/>
              <a:t> these metrics:</a:t>
            </a:r>
          </a:p>
          <a:p>
            <a:pPr lvl="1"/>
            <a:r>
              <a:rPr lang="en-US" dirty="0"/>
              <a:t>For the backend, we monitor the </a:t>
            </a:r>
            <a:r>
              <a:rPr lang="en-US" b="1" dirty="0"/>
              <a:t>number of job-search requests</a:t>
            </a:r>
            <a:r>
              <a:rPr lang="en-US" dirty="0"/>
              <a:t>, the </a:t>
            </a:r>
            <a:r>
              <a:rPr lang="en-US" b="1" dirty="0"/>
              <a:t>search duration</a:t>
            </a:r>
            <a:r>
              <a:rPr lang="en-US" dirty="0"/>
              <a:t>, and the </a:t>
            </a:r>
            <a:r>
              <a:rPr lang="en-US" b="1" dirty="0"/>
              <a:t>number of active database connections</a:t>
            </a:r>
            <a:r>
              <a:rPr lang="en-US" dirty="0"/>
              <a:t>.</a:t>
            </a:r>
          </a:p>
          <a:p>
            <a:pPr lvl="2"/>
            <a:r>
              <a:rPr lang="en-US" b="0" i="1" dirty="0"/>
              <a:t>For the search duration, we use the 95th percentile. This means that 95% of the requests are completed within this time. It gives us a good indication of slower requests without being too heavily influenced by a few extreme outliers.</a:t>
            </a:r>
            <a:endParaRPr lang="en-US" i="1" dirty="0"/>
          </a:p>
          <a:p>
            <a:pPr lvl="1"/>
            <a:r>
              <a:rPr lang="en-US" dirty="0"/>
              <a:t>For the ETL pipeline, we show the </a:t>
            </a:r>
            <a:r>
              <a:rPr lang="en-US" b="1" dirty="0"/>
              <a:t>time since the last successful run</a:t>
            </a:r>
            <a:r>
              <a:rPr lang="en-US" dirty="0"/>
              <a:t>, the </a:t>
            </a:r>
            <a:r>
              <a:rPr lang="en-US" b="1" dirty="0"/>
              <a:t>duration of the last run</a:t>
            </a:r>
            <a:r>
              <a:rPr lang="en-US" dirty="0"/>
              <a:t>, and the </a:t>
            </a:r>
            <a:r>
              <a:rPr lang="en-US" b="1" dirty="0"/>
              <a:t>number of failed geocoding requests</a:t>
            </a:r>
            <a:r>
              <a:rPr lang="en-US" dirty="0"/>
              <a:t>.</a:t>
            </a:r>
          </a:p>
          <a:p>
            <a:pPr lvl="1"/>
            <a:endParaRPr lang="en-US" dirty="0"/>
          </a:p>
          <a:p>
            <a:endParaRPr lang="en-US" dirty="0"/>
          </a:p>
          <a:p>
            <a:r>
              <a:rPr lang="en-US" dirty="0"/>
              <a:t>Prometheus also evaluates an alert rule: if no successful ETL run has been recorded for more than 26 hours, the alert is forwarded to </a:t>
            </a:r>
            <a:r>
              <a:rPr lang="en-US" dirty="0" err="1"/>
              <a:t>Alertmanager</a:t>
            </a:r>
            <a:r>
              <a:rPr lang="en-US" dirty="0"/>
              <a: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264944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147EA35-C048-03B5-3B2A-D97327898CFF}"/>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8A501384-DA99-AE86-BB52-079F9840A9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81D3174D-B695-A353-C208-F6C9ABBB67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use GitHub Actions for continuous integration. The workflow runs on every push, and also on pull requests targeting the main or master branch. GitHub starts an Ubuntu runner, checks out the repository, </a:t>
            </a:r>
            <a:r>
              <a:rPr lang="en-US" b="0" dirty="0"/>
              <a:t>sets up a Python 3.12 environment</a:t>
            </a:r>
            <a:r>
              <a:rPr lang="en-US" dirty="0"/>
              <a:t>, and installs the project dependencies from </a:t>
            </a:r>
            <a:r>
              <a:rPr lang="en-US" sz="1100" b="0" i="0" u="none" strike="noStrike" cap="none" dirty="0">
                <a:solidFill>
                  <a:srgbClr val="000000"/>
                </a:solidFill>
                <a:latin typeface="Arial"/>
                <a:ea typeface="Arial"/>
                <a:cs typeface="Arial"/>
                <a:sym typeface="Arial"/>
              </a:rPr>
              <a:t>requirements.txt</a:t>
            </a:r>
            <a:r>
              <a:rPr lang="en-US" dirty="0"/>
              <a:t>. It then checks code formatting with Black to ensure consistent formatting across the project, runs the automated tests with </a:t>
            </a:r>
            <a:r>
              <a:rPr lang="en-US" dirty="0" err="1"/>
              <a:t>pytest</a:t>
            </a:r>
            <a:r>
              <a:rPr lang="en-US" dirty="0"/>
              <a:t> to detect changes that break existing functionality before they are merged, and finally builds the Docker image. The image is not uploaded anywhere; the build is performed only to verify that the application can still be packaged successfully without build errors. If any of these steps fails, the workflow fails as well, so problems can be detected automatically before changes are integrated into the codebase.</a:t>
            </a:r>
            <a:endParaRPr dirty="0"/>
          </a:p>
        </p:txBody>
      </p:sp>
    </p:spTree>
    <p:extLst>
      <p:ext uri="{BB962C8B-B14F-4D97-AF65-F5344CB8AC3E}">
        <p14:creationId xmlns:p14="http://schemas.microsoft.com/office/powerpoint/2010/main" val="3495488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9636D677-C3E0-0833-91A3-2091CCD3E2EA}"/>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C3EDBF5E-C915-80DE-17E6-242F3A05AA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375FE7AB-AE80-E2A6-6D89-5EF07F3329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Besides individual job search, the collected data supports broader exploratory questions: </a:t>
            </a:r>
          </a:p>
          <a:p>
            <a:pPr marL="171450" lvl="0" indent="-171450" algn="l" rtl="0">
              <a:spcBef>
                <a:spcPts val="0"/>
              </a:spcBef>
              <a:spcAft>
                <a:spcPts val="0"/>
              </a:spcAft>
            </a:pPr>
            <a:r>
              <a:rPr lang="en-US" dirty="0"/>
              <a:t>Which companies recruit most?</a:t>
            </a:r>
          </a:p>
          <a:p>
            <a:pPr marL="171450" lvl="0" indent="-171450" algn="l" rtl="0">
              <a:spcBef>
                <a:spcPts val="0"/>
              </a:spcBef>
              <a:spcAft>
                <a:spcPts val="0"/>
              </a:spcAft>
            </a:pPr>
            <a:r>
              <a:rPr lang="en-US" dirty="0"/>
              <a:t>Where are advertisements concentrated?</a:t>
            </a:r>
          </a:p>
          <a:p>
            <a:pPr marL="171450" lvl="0" indent="-171450" algn="l" rtl="0">
              <a:spcBef>
                <a:spcPts val="0"/>
              </a:spcBef>
              <a:spcAft>
                <a:spcPts val="0"/>
              </a:spcAft>
            </a:pPr>
            <a:r>
              <a:rPr lang="en-US" dirty="0"/>
              <a:t>How often is home office reported?</a:t>
            </a:r>
          </a:p>
          <a:p>
            <a:pPr marL="171450" lvl="0" indent="-171450" algn="l" rtl="0">
              <a:spcBef>
                <a:spcPts val="0"/>
              </a:spcBef>
              <a:spcAft>
                <a:spcPts val="0"/>
              </a:spcAft>
            </a:pPr>
            <a:r>
              <a:rPr lang="en-US" dirty="0"/>
              <a:t>How the jobs are distributed across our standardized categories?</a:t>
            </a:r>
          </a:p>
          <a:p>
            <a:pPr marL="171450" lvl="0" indent="-171450" algn="l" rtl="0">
              <a:spcBef>
                <a:spcPts val="0"/>
              </a:spcBef>
              <a:spcAft>
                <a:spcPts val="0"/>
              </a:spcAft>
            </a:pPr>
            <a:r>
              <a:rPr lang="en-US" dirty="0"/>
              <a:t>How publication activity changes over time?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These are exploratory statistics for our collected sample rather than claims about the complete German </a:t>
            </a:r>
            <a:r>
              <a:rPr lang="en-US" dirty="0" err="1"/>
              <a:t>labour</a:t>
            </a:r>
            <a:r>
              <a:rPr lang="en-US" dirty="0"/>
              <a:t> market.</a:t>
            </a:r>
            <a:endParaRPr dirty="0"/>
          </a:p>
        </p:txBody>
      </p:sp>
    </p:spTree>
    <p:extLst>
      <p:ext uri="{BB962C8B-B14F-4D97-AF65-F5344CB8AC3E}">
        <p14:creationId xmlns:p14="http://schemas.microsoft.com/office/powerpoint/2010/main" val="978595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0CFDF225-9D6C-070C-7AA2-498661D94DFA}"/>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E1E9E779-8DA5-DD3F-C5A3-D7087099B3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752B3448-BA03-99AE-1050-A4AFA513BD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biggest limitation is that this is not a complete representation of the German </a:t>
            </a:r>
            <a:r>
              <a:rPr lang="en-US" dirty="0" err="1"/>
              <a:t>labour</a:t>
            </a:r>
            <a:r>
              <a:rPr lang="en-US" dirty="0"/>
              <a:t> market.</a:t>
            </a:r>
          </a:p>
          <a:p>
            <a:pPr lvl="1"/>
            <a:r>
              <a:rPr lang="en-US" dirty="0"/>
              <a:t>We use one source and a small set of configured search terms.</a:t>
            </a:r>
          </a:p>
          <a:p>
            <a:r>
              <a:rPr lang="en-US" dirty="0"/>
              <a:t>Temporal analysis is also still limited because our own freshness history only accumulates while the system is running.</a:t>
            </a:r>
          </a:p>
          <a:p>
            <a:r>
              <a:rPr lang="en-US" dirty="0"/>
              <a:t>Classification is intentionally rule-based and therefore cannot capture every semantic nuance.</a:t>
            </a:r>
          </a:p>
          <a:p>
            <a:r>
              <a:rPr lang="en-US" dirty="0"/>
              <a:t>Finally, the deployment is designed for local demonstration rather than production.</a:t>
            </a:r>
          </a:p>
          <a:p>
            <a:endParaRPr lang="en-US" dirty="0"/>
          </a:p>
          <a:p>
            <a:pPr marL="158750" indent="0">
              <a:buNone/>
            </a:pPr>
            <a:r>
              <a:rPr lang="en-US" dirty="0"/>
              <a:t>The natural improvements are therefore</a:t>
            </a:r>
          </a:p>
          <a:p>
            <a:r>
              <a:rPr lang="en-US" dirty="0"/>
              <a:t>broader data coverage</a:t>
            </a:r>
          </a:p>
          <a:p>
            <a:r>
              <a:rPr lang="en-US" dirty="0"/>
              <a:t>longer continuous operation</a:t>
            </a:r>
          </a:p>
          <a:p>
            <a:r>
              <a:rPr lang="en-US" dirty="0"/>
              <a:t>more advanced classification and search</a:t>
            </a:r>
          </a:p>
          <a:p>
            <a:r>
              <a:rPr lang="en-US" dirty="0"/>
              <a:t>and stronger testing, security, and deployment infrastructure</a:t>
            </a:r>
          </a:p>
          <a:p>
            <a:pPr marL="158750" indent="0">
              <a:buNone/>
            </a:pPr>
            <a:endParaRPr lang="en-US" dirty="0"/>
          </a:p>
        </p:txBody>
      </p:sp>
    </p:spTree>
    <p:extLst>
      <p:ext uri="{BB962C8B-B14F-4D97-AF65-F5344CB8AC3E}">
        <p14:creationId xmlns:p14="http://schemas.microsoft.com/office/powerpoint/2010/main" val="1869462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5736AA4C-64C7-241C-91A2-B8270FA9EF2E}"/>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4B188B41-0D99-2904-401A-F6B57A1D3D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A39897C0-1FF6-78B2-1504-54B4031A85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To conclude,</a:t>
            </a:r>
          </a:p>
          <a:p>
            <a:pPr marL="457200" indent="-298450"/>
            <a:r>
              <a:rPr lang="en-US" dirty="0"/>
              <a:t>we built an end-to-end data platform that regularly collects job advertisements, transforms and enriches them, stores them in PostgreSQL, provides full-text search through Elasticsearch, exposes the data through </a:t>
            </a:r>
            <a:r>
              <a:rPr lang="en-US" dirty="0" err="1"/>
              <a:t>FastAPI</a:t>
            </a:r>
            <a:r>
              <a:rPr lang="en-US" dirty="0"/>
              <a:t>, and makes it accessible through the Dash frontend.</a:t>
            </a:r>
          </a:p>
          <a:p>
            <a:pPr marL="457200" indent="-298450"/>
            <a:r>
              <a:rPr lang="en-US" dirty="0"/>
              <a:t>The workflow is automated with Airflow</a:t>
            </a:r>
          </a:p>
          <a:p>
            <a:pPr marL="457200" indent="-298450"/>
            <a:r>
              <a:rPr lang="en-US" dirty="0"/>
              <a:t>and the system is monitored with Prometheus and Grafana.</a:t>
            </a:r>
          </a:p>
          <a:p>
            <a:endParaRPr lang="en-US" dirty="0"/>
          </a:p>
          <a:p>
            <a:r>
              <a:rPr lang="en-US" dirty="0"/>
              <a:t>The main result is therefore not only a job-search interface, but a pipeline for turning continuously changing job advertisements into structured and </a:t>
            </a:r>
            <a:r>
              <a:rPr lang="en-US" dirty="0" err="1"/>
              <a:t>analysable</a:t>
            </a:r>
            <a:r>
              <a:rPr lang="en-US" dirty="0"/>
              <a:t> data. I’ll now show the application in the live demo.</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683432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3b86f157844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1" name="Google Shape;791;g3b86f15784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A - Couverture" type="title">
  <p:cSld name="TITLE">
    <p:bg>
      <p:bgPr>
        <a:solidFill>
          <a:schemeClr val="dk2"/>
        </a:solidFill>
        <a:effectLst/>
      </p:bgPr>
    </p:bg>
    <p:spTree>
      <p:nvGrpSpPr>
        <p:cNvPr id="1" name="Shape 57"/>
        <p:cNvGrpSpPr/>
        <p:nvPr/>
      </p:nvGrpSpPr>
      <p:grpSpPr>
        <a:xfrm>
          <a:off x="0" y="0"/>
          <a:ext cx="0" cy="0"/>
          <a:chOff x="0" y="0"/>
          <a:chExt cx="0" cy="0"/>
        </a:xfrm>
      </p:grpSpPr>
      <p:pic>
        <p:nvPicPr>
          <p:cNvPr id="58" name="Google Shape;58;p15"/>
          <p:cNvPicPr preferRelativeResize="0"/>
          <p:nvPr/>
        </p:nvPicPr>
        <p:blipFill>
          <a:blip r:embed="rId2">
            <a:alphaModFix/>
          </a:blip>
          <a:stretch>
            <a:fillRect/>
          </a:stretch>
        </p:blipFill>
        <p:spPr>
          <a:xfrm>
            <a:off x="215774" y="4544172"/>
            <a:ext cx="1292251" cy="408025"/>
          </a:xfrm>
          <a:prstGeom prst="rect">
            <a:avLst/>
          </a:prstGeom>
          <a:noFill/>
          <a:ln>
            <a:noFill/>
          </a:ln>
        </p:spPr>
      </p:pic>
      <p:pic>
        <p:nvPicPr>
          <p:cNvPr id="59" name="Google Shape;59;p15"/>
          <p:cNvPicPr preferRelativeResize="0"/>
          <p:nvPr/>
        </p:nvPicPr>
        <p:blipFill>
          <a:blip r:embed="rId3">
            <a:alphaModFix/>
          </a:blip>
          <a:stretch>
            <a:fillRect/>
          </a:stretch>
        </p:blipFill>
        <p:spPr>
          <a:xfrm>
            <a:off x="4224597" y="481824"/>
            <a:ext cx="9144026" cy="4524833"/>
          </a:xfrm>
          <a:prstGeom prst="rect">
            <a:avLst/>
          </a:prstGeom>
          <a:noFill/>
          <a:ln>
            <a:noFill/>
          </a:ln>
        </p:spPr>
      </p:pic>
      <p:sp>
        <p:nvSpPr>
          <p:cNvPr id="60" name="Google Shape;60;p15"/>
          <p:cNvSpPr txBox="1"/>
          <p:nvPr/>
        </p:nvSpPr>
        <p:spPr>
          <a:xfrm>
            <a:off x="4671000" y="4747508"/>
            <a:ext cx="2021400" cy="132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900">
                <a:solidFill>
                  <a:schemeClr val="lt1"/>
                </a:solidFill>
                <a:latin typeface="Work Sans Light"/>
                <a:ea typeface="Work Sans Light"/>
                <a:cs typeface="Work Sans Light"/>
                <a:sym typeface="Work Sans Light"/>
              </a:rPr>
              <a:t>YOUR FUTURE, </a:t>
            </a:r>
            <a:r>
              <a:rPr lang="fr" sz="900" b="1">
                <a:solidFill>
                  <a:schemeClr val="lt1"/>
                </a:solidFill>
                <a:latin typeface="Work Sans"/>
                <a:ea typeface="Work Sans"/>
                <a:cs typeface="Work Sans"/>
                <a:sym typeface="Work Sans"/>
              </a:rPr>
              <a:t>DECODED.</a:t>
            </a:r>
            <a:endParaRPr sz="900" b="1">
              <a:solidFill>
                <a:schemeClr val="lt1"/>
              </a:solidFill>
              <a:latin typeface="Work Sans"/>
              <a:ea typeface="Work Sans"/>
              <a:cs typeface="Work Sans"/>
              <a:sym typeface="Work Sans"/>
            </a:endParaRPr>
          </a:p>
        </p:txBody>
      </p:sp>
      <p:sp>
        <p:nvSpPr>
          <p:cNvPr id="61" name="Google Shape;61;p15"/>
          <p:cNvSpPr txBox="1">
            <a:spLocks noGrp="1"/>
          </p:cNvSpPr>
          <p:nvPr>
            <p:ph type="title"/>
          </p:nvPr>
        </p:nvSpPr>
        <p:spPr>
          <a:xfrm>
            <a:off x="198000" y="1530525"/>
            <a:ext cx="5766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sp>
        <p:nvSpPr>
          <p:cNvPr id="62" name="Google Shape;62;p15"/>
          <p:cNvSpPr txBox="1">
            <a:spLocks noGrp="1"/>
          </p:cNvSpPr>
          <p:nvPr>
            <p:ph type="title" idx="2"/>
          </p:nvPr>
        </p:nvSpPr>
        <p:spPr>
          <a:xfrm>
            <a:off x="198000" y="198000"/>
            <a:ext cx="5766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63" name="Google Shape;63;p1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solidFill>
                  <a:schemeClr val="lt1"/>
                </a:solidFill>
                <a:latin typeface="Inter"/>
                <a:ea typeface="Inter"/>
                <a:cs typeface="Inter"/>
                <a:sym typeface="Inter"/>
              </a:defRPr>
            </a:lvl1pPr>
            <a:lvl2pPr lvl="1">
              <a:buNone/>
              <a:defRPr sz="600" b="1">
                <a:solidFill>
                  <a:schemeClr val="lt1"/>
                </a:solidFill>
                <a:latin typeface="Inter"/>
                <a:ea typeface="Inter"/>
                <a:cs typeface="Inter"/>
                <a:sym typeface="Inter"/>
              </a:defRPr>
            </a:lvl2pPr>
            <a:lvl3pPr lvl="2">
              <a:buNone/>
              <a:defRPr sz="600" b="1">
                <a:solidFill>
                  <a:schemeClr val="lt1"/>
                </a:solidFill>
                <a:latin typeface="Inter"/>
                <a:ea typeface="Inter"/>
                <a:cs typeface="Inter"/>
                <a:sym typeface="Inter"/>
              </a:defRPr>
            </a:lvl3pPr>
            <a:lvl4pPr lvl="3">
              <a:buNone/>
              <a:defRPr sz="600" b="1">
                <a:solidFill>
                  <a:schemeClr val="lt1"/>
                </a:solidFill>
                <a:latin typeface="Inter"/>
                <a:ea typeface="Inter"/>
                <a:cs typeface="Inter"/>
                <a:sym typeface="Inter"/>
              </a:defRPr>
            </a:lvl4pPr>
            <a:lvl5pPr lvl="4">
              <a:buNone/>
              <a:defRPr sz="600" b="1">
                <a:solidFill>
                  <a:schemeClr val="lt1"/>
                </a:solidFill>
                <a:latin typeface="Inter"/>
                <a:ea typeface="Inter"/>
                <a:cs typeface="Inter"/>
                <a:sym typeface="Inter"/>
              </a:defRPr>
            </a:lvl5pPr>
            <a:lvl6pPr lvl="5">
              <a:buNone/>
              <a:defRPr sz="600" b="1">
                <a:solidFill>
                  <a:schemeClr val="lt1"/>
                </a:solidFill>
                <a:latin typeface="Inter"/>
                <a:ea typeface="Inter"/>
                <a:cs typeface="Inter"/>
                <a:sym typeface="Inter"/>
              </a:defRPr>
            </a:lvl6pPr>
            <a:lvl7pPr lvl="6">
              <a:buNone/>
              <a:defRPr sz="600" b="1">
                <a:solidFill>
                  <a:schemeClr val="lt1"/>
                </a:solidFill>
                <a:latin typeface="Inter"/>
                <a:ea typeface="Inter"/>
                <a:cs typeface="Inter"/>
                <a:sym typeface="Inter"/>
              </a:defRPr>
            </a:lvl7pPr>
            <a:lvl8pPr lvl="7">
              <a:buNone/>
              <a:defRPr sz="600" b="1">
                <a:solidFill>
                  <a:schemeClr val="lt1"/>
                </a:solidFill>
                <a:latin typeface="Inter"/>
                <a:ea typeface="Inter"/>
                <a:cs typeface="Inter"/>
                <a:sym typeface="Inter"/>
              </a:defRPr>
            </a:lvl8pPr>
            <a:lvl9pPr lvl="8">
              <a:buNone/>
              <a:defRPr sz="600" b="1">
                <a:solidFill>
                  <a:schemeClr val="lt1"/>
                </a:solidFill>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B - Chapitrage">
  <p:cSld name="TITLE_1">
    <p:bg>
      <p:bgPr>
        <a:solidFill>
          <a:schemeClr val="dk2"/>
        </a:solidFill>
        <a:effectLst/>
      </p:bgPr>
    </p:bg>
    <p:spTree>
      <p:nvGrpSpPr>
        <p:cNvPr id="1" name="Shape 64"/>
        <p:cNvGrpSpPr/>
        <p:nvPr/>
      </p:nvGrpSpPr>
      <p:grpSpPr>
        <a:xfrm>
          <a:off x="0" y="0"/>
          <a:ext cx="0" cy="0"/>
          <a:chOff x="0" y="0"/>
          <a:chExt cx="0" cy="0"/>
        </a:xfrm>
      </p:grpSpPr>
      <p:pic>
        <p:nvPicPr>
          <p:cNvPr id="65" name="Google Shape;65;p16"/>
          <p:cNvPicPr preferRelativeResize="0"/>
          <p:nvPr/>
        </p:nvPicPr>
        <p:blipFill>
          <a:blip r:embed="rId2">
            <a:alphaModFix/>
          </a:blip>
          <a:stretch>
            <a:fillRect/>
          </a:stretch>
        </p:blipFill>
        <p:spPr>
          <a:xfrm>
            <a:off x="198000" y="4747499"/>
            <a:ext cx="547501" cy="172176"/>
          </a:xfrm>
          <a:prstGeom prst="rect">
            <a:avLst/>
          </a:prstGeom>
          <a:noFill/>
          <a:ln>
            <a:noFill/>
          </a:ln>
        </p:spPr>
      </p:pic>
      <p:pic>
        <p:nvPicPr>
          <p:cNvPr id="66" name="Google Shape;66;p16"/>
          <p:cNvPicPr preferRelativeResize="0"/>
          <p:nvPr/>
        </p:nvPicPr>
        <p:blipFill>
          <a:blip r:embed="rId3">
            <a:alphaModFix/>
          </a:blip>
          <a:stretch>
            <a:fillRect/>
          </a:stretch>
        </p:blipFill>
        <p:spPr>
          <a:xfrm>
            <a:off x="4224597" y="481824"/>
            <a:ext cx="9144026" cy="4524833"/>
          </a:xfrm>
          <a:prstGeom prst="rect">
            <a:avLst/>
          </a:prstGeom>
          <a:noFill/>
          <a:ln>
            <a:noFill/>
          </a:ln>
        </p:spPr>
      </p:pic>
      <p:sp>
        <p:nvSpPr>
          <p:cNvPr id="67" name="Google Shape;67;p16"/>
          <p:cNvSpPr txBox="1"/>
          <p:nvPr/>
        </p:nvSpPr>
        <p:spPr>
          <a:xfrm>
            <a:off x="4671000" y="4747508"/>
            <a:ext cx="2021400" cy="132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900">
                <a:solidFill>
                  <a:schemeClr val="lt1"/>
                </a:solidFill>
                <a:latin typeface="Work Sans Light"/>
                <a:ea typeface="Work Sans Light"/>
                <a:cs typeface="Work Sans Light"/>
                <a:sym typeface="Work Sans Light"/>
              </a:rPr>
              <a:t>YOUR FUTURE, </a:t>
            </a:r>
            <a:r>
              <a:rPr lang="fr" sz="900" b="1">
                <a:solidFill>
                  <a:schemeClr val="lt1"/>
                </a:solidFill>
                <a:latin typeface="Work Sans"/>
                <a:ea typeface="Work Sans"/>
                <a:cs typeface="Work Sans"/>
                <a:sym typeface="Work Sans"/>
              </a:rPr>
              <a:t>DECODED.</a:t>
            </a:r>
            <a:endParaRPr sz="900" b="1">
              <a:solidFill>
                <a:schemeClr val="lt1"/>
              </a:solidFill>
              <a:latin typeface="Work Sans"/>
              <a:ea typeface="Work Sans"/>
              <a:cs typeface="Work Sans"/>
              <a:sym typeface="Work Sans"/>
            </a:endParaRPr>
          </a:p>
        </p:txBody>
      </p:sp>
      <p:sp>
        <p:nvSpPr>
          <p:cNvPr id="68" name="Google Shape;68;p16"/>
          <p:cNvSpPr txBox="1">
            <a:spLocks noGrp="1"/>
          </p:cNvSpPr>
          <p:nvPr>
            <p:ph type="title"/>
          </p:nvPr>
        </p:nvSpPr>
        <p:spPr>
          <a:xfrm>
            <a:off x="198000" y="198000"/>
            <a:ext cx="5766000" cy="38073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69" name="Google Shape;69;p16"/>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solidFill>
                  <a:schemeClr val="lt1"/>
                </a:solidFill>
                <a:latin typeface="Inter"/>
                <a:ea typeface="Inter"/>
                <a:cs typeface="Inter"/>
                <a:sym typeface="Inter"/>
              </a:defRPr>
            </a:lvl1pPr>
            <a:lvl2pPr lvl="1">
              <a:buNone/>
              <a:defRPr sz="600" b="1">
                <a:solidFill>
                  <a:schemeClr val="lt1"/>
                </a:solidFill>
                <a:latin typeface="Inter"/>
                <a:ea typeface="Inter"/>
                <a:cs typeface="Inter"/>
                <a:sym typeface="Inter"/>
              </a:defRPr>
            </a:lvl2pPr>
            <a:lvl3pPr lvl="2">
              <a:buNone/>
              <a:defRPr sz="600" b="1">
                <a:solidFill>
                  <a:schemeClr val="lt1"/>
                </a:solidFill>
                <a:latin typeface="Inter"/>
                <a:ea typeface="Inter"/>
                <a:cs typeface="Inter"/>
                <a:sym typeface="Inter"/>
              </a:defRPr>
            </a:lvl3pPr>
            <a:lvl4pPr lvl="3">
              <a:buNone/>
              <a:defRPr sz="600" b="1">
                <a:solidFill>
                  <a:schemeClr val="lt1"/>
                </a:solidFill>
                <a:latin typeface="Inter"/>
                <a:ea typeface="Inter"/>
                <a:cs typeface="Inter"/>
                <a:sym typeface="Inter"/>
              </a:defRPr>
            </a:lvl4pPr>
            <a:lvl5pPr lvl="4">
              <a:buNone/>
              <a:defRPr sz="600" b="1">
                <a:solidFill>
                  <a:schemeClr val="lt1"/>
                </a:solidFill>
                <a:latin typeface="Inter"/>
                <a:ea typeface="Inter"/>
                <a:cs typeface="Inter"/>
                <a:sym typeface="Inter"/>
              </a:defRPr>
            </a:lvl5pPr>
            <a:lvl6pPr lvl="5">
              <a:buNone/>
              <a:defRPr sz="600" b="1">
                <a:solidFill>
                  <a:schemeClr val="lt1"/>
                </a:solidFill>
                <a:latin typeface="Inter"/>
                <a:ea typeface="Inter"/>
                <a:cs typeface="Inter"/>
                <a:sym typeface="Inter"/>
              </a:defRPr>
            </a:lvl6pPr>
            <a:lvl7pPr lvl="6">
              <a:buNone/>
              <a:defRPr sz="600" b="1">
                <a:solidFill>
                  <a:schemeClr val="lt1"/>
                </a:solidFill>
                <a:latin typeface="Inter"/>
                <a:ea typeface="Inter"/>
                <a:cs typeface="Inter"/>
                <a:sym typeface="Inter"/>
              </a:defRPr>
            </a:lvl7pPr>
            <a:lvl8pPr lvl="7">
              <a:buNone/>
              <a:defRPr sz="600" b="1">
                <a:solidFill>
                  <a:schemeClr val="lt1"/>
                </a:solidFill>
                <a:latin typeface="Inter"/>
                <a:ea typeface="Inter"/>
                <a:cs typeface="Inter"/>
                <a:sym typeface="Inter"/>
              </a:defRPr>
            </a:lvl8pPr>
            <a:lvl9pPr lvl="8">
              <a:buNone/>
              <a:defRPr sz="600" b="1">
                <a:solidFill>
                  <a:schemeClr val="lt1"/>
                </a:solidFill>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B - Sommaire avec Colonne">
  <p:cSld name="SECTION_HEADER_1">
    <p:bg>
      <p:bgPr>
        <a:solidFill>
          <a:schemeClr val="accent1"/>
        </a:solidFill>
        <a:effectLst/>
      </p:bgPr>
    </p:bg>
    <p:spTree>
      <p:nvGrpSpPr>
        <p:cNvPr id="1" name="Shape 70"/>
        <p:cNvGrpSpPr/>
        <p:nvPr/>
      </p:nvGrpSpPr>
      <p:grpSpPr>
        <a:xfrm>
          <a:off x="0" y="0"/>
          <a:ext cx="0" cy="0"/>
          <a:chOff x="0" y="0"/>
          <a:chExt cx="0" cy="0"/>
        </a:xfrm>
      </p:grpSpPr>
      <p:sp>
        <p:nvSpPr>
          <p:cNvPr id="71" name="Google Shape;71;p17"/>
          <p:cNvSpPr/>
          <p:nvPr/>
        </p:nvSpPr>
        <p:spPr>
          <a:xfrm>
            <a:off x="0" y="0"/>
            <a:ext cx="3727500" cy="5143500"/>
          </a:xfrm>
          <a:prstGeom prst="rect">
            <a:avLst/>
          </a:prstGeom>
          <a:solidFill>
            <a:srgbClr val="1A1A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 name="Google Shape;72;p1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73" name="Google Shape;73;p17"/>
          <p:cNvSpPr txBox="1">
            <a:spLocks noGrp="1"/>
          </p:cNvSpPr>
          <p:nvPr>
            <p:ph type="title"/>
          </p:nvPr>
        </p:nvSpPr>
        <p:spPr>
          <a:xfrm>
            <a:off x="198000" y="198100"/>
            <a:ext cx="2038500" cy="3457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1pPr>
            <a:lvl2pPr lvl="1">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2pPr>
            <a:lvl3pPr lvl="2">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3pPr>
            <a:lvl4pPr lvl="3">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4pPr>
            <a:lvl5pPr lvl="4">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5pPr>
            <a:lvl6pPr lvl="5">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6pPr>
            <a:lvl7pPr lvl="6">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7pPr>
            <a:lvl8pPr lvl="7">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8pPr>
            <a:lvl9pPr lvl="8">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9pPr>
          </a:lstStyle>
          <a:p>
            <a:endParaRPr/>
          </a:p>
        </p:txBody>
      </p:sp>
      <p:sp>
        <p:nvSpPr>
          <p:cNvPr id="74" name="Google Shape;74;p17"/>
          <p:cNvSpPr txBox="1">
            <a:spLocks noGrp="1"/>
          </p:cNvSpPr>
          <p:nvPr>
            <p:ph type="title" idx="2"/>
          </p:nvPr>
        </p:nvSpPr>
        <p:spPr>
          <a:xfrm>
            <a:off x="2434500" y="198100"/>
            <a:ext cx="1084200" cy="4549500"/>
          </a:xfrm>
          <a:prstGeom prst="rect">
            <a:avLst/>
          </a:prstGeom>
          <a:noFill/>
          <a:ln>
            <a:noFill/>
          </a:ln>
        </p:spPr>
        <p:txBody>
          <a:bodyPr spcFirstLastPara="1" wrap="square" lIns="0" tIns="0" rIns="0" bIns="0" anchor="ctr" anchorCtr="0">
            <a:noAutofit/>
          </a:bodyPr>
          <a:lstStyle>
            <a:lvl1pPr lvl="0"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1pPr>
            <a:lvl2pPr lvl="1"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2pPr>
            <a:lvl3pPr lvl="2"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3pPr>
            <a:lvl4pPr lvl="3"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4pPr>
            <a:lvl5pPr lvl="4"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5pPr>
            <a:lvl6pPr lvl="5"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6pPr>
            <a:lvl7pPr lvl="6"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7pPr>
            <a:lvl8pPr lvl="7"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8pPr>
            <a:lvl9pPr lvl="8"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9pPr>
          </a:lstStyle>
          <a:p>
            <a:endParaRPr/>
          </a:p>
        </p:txBody>
      </p:sp>
      <p:sp>
        <p:nvSpPr>
          <p:cNvPr id="75" name="Google Shape;75;p17"/>
          <p:cNvSpPr txBox="1">
            <a:spLocks noGrp="1"/>
          </p:cNvSpPr>
          <p:nvPr>
            <p:ph type="title" idx="3"/>
          </p:nvPr>
        </p:nvSpPr>
        <p:spPr>
          <a:xfrm>
            <a:off x="3925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76" name="Google Shape;76;p17"/>
          <p:cNvPicPr preferRelativeResize="0"/>
          <p:nvPr/>
        </p:nvPicPr>
        <p:blipFill>
          <a:blip r:embed="rId2">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C - Sommaire avec accroche">
  <p:cSld name="SECTION_HEADER_1_1">
    <p:bg>
      <p:bgPr>
        <a:solidFill>
          <a:schemeClr val="accent1"/>
        </a:solidFill>
        <a:effectLst/>
      </p:bgPr>
    </p:bg>
    <p:spTree>
      <p:nvGrpSpPr>
        <p:cNvPr id="1" name="Shape 77"/>
        <p:cNvGrpSpPr/>
        <p:nvPr/>
      </p:nvGrpSpPr>
      <p:grpSpPr>
        <a:xfrm>
          <a:off x="0" y="0"/>
          <a:ext cx="0" cy="0"/>
          <a:chOff x="0" y="0"/>
          <a:chExt cx="0" cy="0"/>
        </a:xfrm>
      </p:grpSpPr>
      <p:sp>
        <p:nvSpPr>
          <p:cNvPr id="78" name="Google Shape;78;p18"/>
          <p:cNvSpPr/>
          <p:nvPr/>
        </p:nvSpPr>
        <p:spPr>
          <a:xfrm>
            <a:off x="0" y="0"/>
            <a:ext cx="3727500" cy="5143500"/>
          </a:xfrm>
          <a:prstGeom prst="rect">
            <a:avLst/>
          </a:prstGeom>
          <a:solidFill>
            <a:srgbClr val="1A1A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9" name="Google Shape;79;p18"/>
          <p:cNvPicPr preferRelativeResize="0"/>
          <p:nvPr/>
        </p:nvPicPr>
        <p:blipFill>
          <a:blip r:embed="rId2">
            <a:alphaModFix/>
          </a:blip>
          <a:stretch>
            <a:fillRect/>
          </a:stretch>
        </p:blipFill>
        <p:spPr>
          <a:xfrm flipH="1">
            <a:off x="-3709809" y="932975"/>
            <a:ext cx="6648326" cy="3289874"/>
          </a:xfrm>
          <a:prstGeom prst="rect">
            <a:avLst/>
          </a:prstGeom>
          <a:noFill/>
          <a:ln>
            <a:noFill/>
          </a:ln>
        </p:spPr>
      </p:pic>
      <p:sp>
        <p:nvSpPr>
          <p:cNvPr id="80" name="Google Shape;80;p1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81" name="Google Shape;81;p18"/>
          <p:cNvSpPr txBox="1">
            <a:spLocks noGrp="1"/>
          </p:cNvSpPr>
          <p:nvPr>
            <p:ph type="title"/>
          </p:nvPr>
        </p:nvSpPr>
        <p:spPr>
          <a:xfrm>
            <a:off x="3925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82" name="Google Shape;82;p18"/>
          <p:cNvPicPr preferRelativeResize="0"/>
          <p:nvPr/>
        </p:nvPicPr>
        <p:blipFill>
          <a:blip r:embed="rId3">
            <a:alphaModFix/>
          </a:blip>
          <a:stretch>
            <a:fillRect/>
          </a:stretch>
        </p:blipFill>
        <p:spPr>
          <a:xfrm>
            <a:off x="198000" y="4747499"/>
            <a:ext cx="547501" cy="172176"/>
          </a:xfrm>
          <a:prstGeom prst="rect">
            <a:avLst/>
          </a:prstGeom>
          <a:noFill/>
          <a:ln>
            <a:noFill/>
          </a:ln>
        </p:spPr>
      </p:pic>
      <p:sp>
        <p:nvSpPr>
          <p:cNvPr id="83" name="Google Shape;83;p18"/>
          <p:cNvSpPr txBox="1">
            <a:spLocks noGrp="1"/>
          </p:cNvSpPr>
          <p:nvPr>
            <p:ph type="body" idx="1"/>
          </p:nvPr>
        </p:nvSpPr>
        <p:spPr>
          <a:xfrm>
            <a:off x="964591" y="1097325"/>
            <a:ext cx="1780500" cy="13953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
        <p:nvSpPr>
          <p:cNvPr id="84" name="Google Shape;84;p18"/>
          <p:cNvSpPr txBox="1">
            <a:spLocks noGrp="1"/>
          </p:cNvSpPr>
          <p:nvPr>
            <p:ph type="title" idx="2"/>
          </p:nvPr>
        </p:nvSpPr>
        <p:spPr>
          <a:xfrm>
            <a:off x="198000" y="198100"/>
            <a:ext cx="2038500" cy="1359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1pPr>
            <a:lvl2pPr lvl="1">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2pPr>
            <a:lvl3pPr lvl="2">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3pPr>
            <a:lvl4pPr lvl="3">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4pPr>
            <a:lvl5pPr lvl="4">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5pPr>
            <a:lvl6pPr lvl="5">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6pPr>
            <a:lvl7pPr lvl="6">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7pPr>
            <a:lvl8pPr lvl="7">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8pPr>
            <a:lvl9pPr lvl="8">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A - Texte &amp; Image / Fond Clair 1">
  <p:cSld name="SECTION_HEADER_1_1_1">
    <p:bg>
      <p:bgPr>
        <a:solidFill>
          <a:schemeClr val="lt1"/>
        </a:solidFill>
        <a:effectLst/>
      </p:bgPr>
    </p:bg>
    <p:spTree>
      <p:nvGrpSpPr>
        <p:cNvPr id="1" name="Shape 85"/>
        <p:cNvGrpSpPr/>
        <p:nvPr/>
      </p:nvGrpSpPr>
      <p:grpSpPr>
        <a:xfrm>
          <a:off x="0" y="0"/>
          <a:ext cx="0" cy="0"/>
          <a:chOff x="0" y="0"/>
          <a:chExt cx="0" cy="0"/>
        </a:xfrm>
      </p:grpSpPr>
      <p:pic>
        <p:nvPicPr>
          <p:cNvPr id="86" name="Google Shape;86;p1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87" name="Google Shape;87;p19"/>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9"/>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89" name="Google Shape;89;p1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90" name="Google Shape;90;p19"/>
          <p:cNvSpPr>
            <a:spLocks noGrp="1"/>
          </p:cNvSpPr>
          <p:nvPr>
            <p:ph type="pic" idx="3"/>
          </p:nvPr>
        </p:nvSpPr>
        <p:spPr>
          <a:xfrm>
            <a:off x="3180000" y="198000"/>
            <a:ext cx="5766000" cy="4549500"/>
          </a:xfrm>
          <a:prstGeom prst="roundRect">
            <a:avLst>
              <a:gd name="adj" fmla="val 2361"/>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B - Texte &amp; Image / Fond Clair 2">
  <p:cSld name="TITLE_AND_BODY_2">
    <p:spTree>
      <p:nvGrpSpPr>
        <p:cNvPr id="1" name="Shape 91"/>
        <p:cNvGrpSpPr/>
        <p:nvPr/>
      </p:nvGrpSpPr>
      <p:grpSpPr>
        <a:xfrm>
          <a:off x="0" y="0"/>
          <a:ext cx="0" cy="0"/>
          <a:chOff x="0" y="0"/>
          <a:chExt cx="0" cy="0"/>
        </a:xfrm>
      </p:grpSpPr>
      <p:pic>
        <p:nvPicPr>
          <p:cNvPr id="92" name="Google Shape;92;p20"/>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93" name="Google Shape;93;p20"/>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0"/>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95" name="Google Shape;95;p20"/>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96" name="Google Shape;96;p20"/>
          <p:cNvSpPr>
            <a:spLocks noGrp="1"/>
          </p:cNvSpPr>
          <p:nvPr>
            <p:ph type="pic" idx="3"/>
          </p:nvPr>
        </p:nvSpPr>
        <p:spPr>
          <a:xfrm>
            <a:off x="3180000" y="198000"/>
            <a:ext cx="5766000" cy="2175600"/>
          </a:xfrm>
          <a:prstGeom prst="roundRect">
            <a:avLst>
              <a:gd name="adj" fmla="val 2361"/>
            </a:avLst>
          </a:prstGeom>
          <a:noFill/>
          <a:ln>
            <a:noFill/>
          </a:ln>
        </p:spPr>
      </p:sp>
      <p:sp>
        <p:nvSpPr>
          <p:cNvPr id="97" name="Google Shape;97;p20"/>
          <p:cNvSpPr txBox="1">
            <a:spLocks noGrp="1"/>
          </p:cNvSpPr>
          <p:nvPr>
            <p:ph type="body" idx="4"/>
          </p:nvPr>
        </p:nvSpPr>
        <p:spPr>
          <a:xfrm>
            <a:off x="3180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98" name="Google Shape;98;p20"/>
          <p:cNvSpPr txBox="1">
            <a:spLocks noGrp="1"/>
          </p:cNvSpPr>
          <p:nvPr>
            <p:ph type="body" idx="5"/>
          </p:nvPr>
        </p:nvSpPr>
        <p:spPr>
          <a:xfrm>
            <a:off x="6162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D - Texte &amp; Image / Fond Clair 4">
  <p:cSld name="TITLE_AND_BODY_2_1">
    <p:spTree>
      <p:nvGrpSpPr>
        <p:cNvPr id="1" name="Shape 99"/>
        <p:cNvGrpSpPr/>
        <p:nvPr/>
      </p:nvGrpSpPr>
      <p:grpSpPr>
        <a:xfrm>
          <a:off x="0" y="0"/>
          <a:ext cx="0" cy="0"/>
          <a:chOff x="0" y="0"/>
          <a:chExt cx="0" cy="0"/>
        </a:xfrm>
      </p:grpSpPr>
      <p:pic>
        <p:nvPicPr>
          <p:cNvPr id="100" name="Google Shape;100;p2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01" name="Google Shape;101;p21"/>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1"/>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03" name="Google Shape;103;p2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04" name="Google Shape;104;p21"/>
          <p:cNvSpPr>
            <a:spLocks noGrp="1"/>
          </p:cNvSpPr>
          <p:nvPr>
            <p:ph type="pic" idx="3"/>
          </p:nvPr>
        </p:nvSpPr>
        <p:spPr>
          <a:xfrm>
            <a:off x="3180000" y="198000"/>
            <a:ext cx="2784000" cy="2175600"/>
          </a:xfrm>
          <a:prstGeom prst="roundRect">
            <a:avLst>
              <a:gd name="adj" fmla="val 2361"/>
            </a:avLst>
          </a:prstGeom>
          <a:noFill/>
          <a:ln>
            <a:noFill/>
          </a:ln>
        </p:spPr>
      </p:sp>
      <p:sp>
        <p:nvSpPr>
          <p:cNvPr id="105" name="Google Shape;105;p21"/>
          <p:cNvSpPr txBox="1">
            <a:spLocks noGrp="1"/>
          </p:cNvSpPr>
          <p:nvPr>
            <p:ph type="body" idx="4"/>
          </p:nvPr>
        </p:nvSpPr>
        <p:spPr>
          <a:xfrm>
            <a:off x="3180000" y="2571900"/>
            <a:ext cx="5766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06" name="Google Shape;106;p21"/>
          <p:cNvSpPr>
            <a:spLocks noGrp="1"/>
          </p:cNvSpPr>
          <p:nvPr>
            <p:ph type="pic" idx="5"/>
          </p:nvPr>
        </p:nvSpPr>
        <p:spPr>
          <a:xfrm>
            <a:off x="6162000" y="198000"/>
            <a:ext cx="2784000" cy="2175600"/>
          </a:xfrm>
          <a:prstGeom prst="roundRect">
            <a:avLst>
              <a:gd name="adj" fmla="val 2361"/>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E - Texte &amp; Image / Fond Clair 5">
  <p:cSld name="TITLE_AND_BODY_2_1_1">
    <p:spTree>
      <p:nvGrpSpPr>
        <p:cNvPr id="1" name="Shape 107"/>
        <p:cNvGrpSpPr/>
        <p:nvPr/>
      </p:nvGrpSpPr>
      <p:grpSpPr>
        <a:xfrm>
          <a:off x="0" y="0"/>
          <a:ext cx="0" cy="0"/>
          <a:chOff x="0" y="0"/>
          <a:chExt cx="0" cy="0"/>
        </a:xfrm>
      </p:grpSpPr>
      <p:pic>
        <p:nvPicPr>
          <p:cNvPr id="108" name="Google Shape;108;p2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09" name="Google Shape;109;p22"/>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2"/>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1" name="Google Shape;111;p2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12" name="Google Shape;112;p22"/>
          <p:cNvSpPr txBox="1">
            <a:spLocks noGrp="1"/>
          </p:cNvSpPr>
          <p:nvPr>
            <p:ph type="body" idx="3"/>
          </p:nvPr>
        </p:nvSpPr>
        <p:spPr>
          <a:xfrm>
            <a:off x="4671000" y="198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3" name="Google Shape;113;p22"/>
          <p:cNvSpPr txBox="1">
            <a:spLocks noGrp="1"/>
          </p:cNvSpPr>
          <p:nvPr>
            <p:ph type="body" idx="4"/>
          </p:nvPr>
        </p:nvSpPr>
        <p:spPr>
          <a:xfrm>
            <a:off x="3180000" y="17805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4" name="Google Shape;114;p22"/>
          <p:cNvSpPr txBox="1">
            <a:spLocks noGrp="1"/>
          </p:cNvSpPr>
          <p:nvPr>
            <p:ph type="body" idx="5"/>
          </p:nvPr>
        </p:nvSpPr>
        <p:spPr>
          <a:xfrm>
            <a:off x="4671000" y="3363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5" name="Google Shape;115;p22"/>
          <p:cNvSpPr>
            <a:spLocks noGrp="1"/>
          </p:cNvSpPr>
          <p:nvPr>
            <p:ph type="pic" idx="6"/>
          </p:nvPr>
        </p:nvSpPr>
        <p:spPr>
          <a:xfrm>
            <a:off x="3180000" y="3362975"/>
            <a:ext cx="1293300" cy="1384500"/>
          </a:xfrm>
          <a:prstGeom prst="roundRect">
            <a:avLst>
              <a:gd name="adj" fmla="val 8277"/>
            </a:avLst>
          </a:prstGeom>
          <a:noFill/>
          <a:ln>
            <a:noFill/>
          </a:ln>
        </p:spPr>
      </p:sp>
      <p:sp>
        <p:nvSpPr>
          <p:cNvPr id="116" name="Google Shape;116;p22"/>
          <p:cNvSpPr>
            <a:spLocks noGrp="1"/>
          </p:cNvSpPr>
          <p:nvPr>
            <p:ph type="pic" idx="7"/>
          </p:nvPr>
        </p:nvSpPr>
        <p:spPr>
          <a:xfrm>
            <a:off x="7653000" y="1780500"/>
            <a:ext cx="1293300" cy="1384500"/>
          </a:xfrm>
          <a:prstGeom prst="roundRect">
            <a:avLst>
              <a:gd name="adj" fmla="val 8277"/>
            </a:avLst>
          </a:prstGeom>
          <a:noFill/>
          <a:ln>
            <a:noFill/>
          </a:ln>
        </p:spPr>
      </p:sp>
      <p:sp>
        <p:nvSpPr>
          <p:cNvPr id="117" name="Google Shape;117;p22"/>
          <p:cNvSpPr>
            <a:spLocks noGrp="1"/>
          </p:cNvSpPr>
          <p:nvPr>
            <p:ph type="pic" idx="8"/>
          </p:nvPr>
        </p:nvSpPr>
        <p:spPr>
          <a:xfrm>
            <a:off x="3180000" y="198025"/>
            <a:ext cx="1293300" cy="1384500"/>
          </a:xfrm>
          <a:prstGeom prst="roundRect">
            <a:avLst>
              <a:gd name="adj" fmla="val 8277"/>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F - Texte &amp; Image / Fond Clair 6">
  <p:cSld name="TITLE_AND_BODY_1">
    <p:spTree>
      <p:nvGrpSpPr>
        <p:cNvPr id="1" name="Shape 118"/>
        <p:cNvGrpSpPr/>
        <p:nvPr/>
      </p:nvGrpSpPr>
      <p:grpSpPr>
        <a:xfrm>
          <a:off x="0" y="0"/>
          <a:ext cx="0" cy="0"/>
          <a:chOff x="0" y="0"/>
          <a:chExt cx="0" cy="0"/>
        </a:xfrm>
      </p:grpSpPr>
      <p:pic>
        <p:nvPicPr>
          <p:cNvPr id="119" name="Google Shape;119;p2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20" name="Google Shape;120;p23"/>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23"/>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2" name="Google Shape;122;p23"/>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23" name="Google Shape;123;p23"/>
          <p:cNvSpPr txBox="1">
            <a:spLocks noGrp="1"/>
          </p:cNvSpPr>
          <p:nvPr>
            <p:ph type="body" idx="3"/>
          </p:nvPr>
        </p:nvSpPr>
        <p:spPr>
          <a:xfrm>
            <a:off x="467185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4" name="Google Shape;124;p23"/>
          <p:cNvSpPr txBox="1">
            <a:spLocks noGrp="1"/>
          </p:cNvSpPr>
          <p:nvPr>
            <p:ph type="body" idx="4"/>
          </p:nvPr>
        </p:nvSpPr>
        <p:spPr>
          <a:xfrm>
            <a:off x="690750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5" name="Google Shape;125;p23"/>
          <p:cNvSpPr txBox="1">
            <a:spLocks noGrp="1"/>
          </p:cNvSpPr>
          <p:nvPr>
            <p:ph type="body" idx="5"/>
          </p:nvPr>
        </p:nvSpPr>
        <p:spPr>
          <a:xfrm>
            <a:off x="2435375" y="3465529"/>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6" name="Google Shape;126;p23"/>
          <p:cNvSpPr>
            <a:spLocks noGrp="1"/>
          </p:cNvSpPr>
          <p:nvPr>
            <p:ph type="pic" idx="6"/>
          </p:nvPr>
        </p:nvSpPr>
        <p:spPr>
          <a:xfrm>
            <a:off x="2435425" y="198000"/>
            <a:ext cx="2037600" cy="3144900"/>
          </a:xfrm>
          <a:prstGeom prst="roundRect">
            <a:avLst>
              <a:gd name="adj" fmla="val 5271"/>
            </a:avLst>
          </a:prstGeom>
          <a:noFill/>
          <a:ln>
            <a:noFill/>
          </a:ln>
        </p:spPr>
      </p:sp>
      <p:sp>
        <p:nvSpPr>
          <p:cNvPr id="127" name="Google Shape;127;p23"/>
          <p:cNvSpPr>
            <a:spLocks noGrp="1"/>
          </p:cNvSpPr>
          <p:nvPr>
            <p:ph type="pic" idx="7"/>
          </p:nvPr>
        </p:nvSpPr>
        <p:spPr>
          <a:xfrm>
            <a:off x="4671463" y="198000"/>
            <a:ext cx="2037600" cy="3144900"/>
          </a:xfrm>
          <a:prstGeom prst="roundRect">
            <a:avLst>
              <a:gd name="adj" fmla="val 5271"/>
            </a:avLst>
          </a:prstGeom>
          <a:noFill/>
          <a:ln>
            <a:noFill/>
          </a:ln>
        </p:spPr>
      </p:sp>
      <p:sp>
        <p:nvSpPr>
          <p:cNvPr id="128" name="Google Shape;128;p23"/>
          <p:cNvSpPr>
            <a:spLocks noGrp="1"/>
          </p:cNvSpPr>
          <p:nvPr>
            <p:ph type="pic" idx="8"/>
          </p:nvPr>
        </p:nvSpPr>
        <p:spPr>
          <a:xfrm>
            <a:off x="6907500" y="198000"/>
            <a:ext cx="2037600" cy="3144900"/>
          </a:xfrm>
          <a:prstGeom prst="roundRect">
            <a:avLst>
              <a:gd name="adj" fmla="val 5271"/>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G - Texte &amp; Image / Fond Clair 7">
  <p:cSld name="TITLE_AND_BODY_1_2">
    <p:spTree>
      <p:nvGrpSpPr>
        <p:cNvPr id="1"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31" name="Google Shape;131;p24"/>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p24"/>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3" name="Google Shape;133;p24"/>
          <p:cNvSpPr txBox="1">
            <a:spLocks noGrp="1"/>
          </p:cNvSpPr>
          <p:nvPr>
            <p:ph type="sldNum" idx="12"/>
          </p:nvPr>
        </p:nvSpPr>
        <p:spPr>
          <a:xfrm>
            <a:off x="8398500" y="487470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34" name="Google Shape;134;p24"/>
          <p:cNvSpPr txBox="1">
            <a:spLocks noGrp="1"/>
          </p:cNvSpPr>
          <p:nvPr>
            <p:ph type="body" idx="3"/>
          </p:nvPr>
        </p:nvSpPr>
        <p:spPr>
          <a:xfrm>
            <a:off x="467185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5" name="Google Shape;135;p24"/>
          <p:cNvSpPr txBox="1">
            <a:spLocks noGrp="1"/>
          </p:cNvSpPr>
          <p:nvPr>
            <p:ph type="body" idx="4"/>
          </p:nvPr>
        </p:nvSpPr>
        <p:spPr>
          <a:xfrm>
            <a:off x="690750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6" name="Google Shape;136;p24"/>
          <p:cNvSpPr txBox="1">
            <a:spLocks noGrp="1"/>
          </p:cNvSpPr>
          <p:nvPr>
            <p:ph type="body" idx="5"/>
          </p:nvPr>
        </p:nvSpPr>
        <p:spPr>
          <a:xfrm>
            <a:off x="2435375" y="1842197"/>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7" name="Google Shape;137;p24"/>
          <p:cNvSpPr txBox="1">
            <a:spLocks noGrp="1"/>
          </p:cNvSpPr>
          <p:nvPr>
            <p:ph type="body" idx="6"/>
          </p:nvPr>
        </p:nvSpPr>
        <p:spPr>
          <a:xfrm>
            <a:off x="467228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8" name="Google Shape;138;p24"/>
          <p:cNvSpPr txBox="1">
            <a:spLocks noGrp="1"/>
          </p:cNvSpPr>
          <p:nvPr>
            <p:ph type="body" idx="7"/>
          </p:nvPr>
        </p:nvSpPr>
        <p:spPr>
          <a:xfrm>
            <a:off x="690793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9" name="Google Shape;139;p24"/>
          <p:cNvSpPr txBox="1">
            <a:spLocks noGrp="1"/>
          </p:cNvSpPr>
          <p:nvPr>
            <p:ph type="body" idx="8"/>
          </p:nvPr>
        </p:nvSpPr>
        <p:spPr>
          <a:xfrm>
            <a:off x="2435813" y="4282522"/>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40" name="Google Shape;140;p24"/>
          <p:cNvSpPr>
            <a:spLocks noGrp="1"/>
          </p:cNvSpPr>
          <p:nvPr>
            <p:ph type="pic" idx="9"/>
          </p:nvPr>
        </p:nvSpPr>
        <p:spPr>
          <a:xfrm>
            <a:off x="4671488" y="198000"/>
            <a:ext cx="2037600" cy="1584000"/>
          </a:xfrm>
          <a:prstGeom prst="roundRect">
            <a:avLst>
              <a:gd name="adj" fmla="val 3727"/>
            </a:avLst>
          </a:prstGeom>
          <a:noFill/>
          <a:ln>
            <a:noFill/>
          </a:ln>
        </p:spPr>
      </p:sp>
      <p:sp>
        <p:nvSpPr>
          <p:cNvPr id="141" name="Google Shape;141;p24"/>
          <p:cNvSpPr>
            <a:spLocks noGrp="1"/>
          </p:cNvSpPr>
          <p:nvPr>
            <p:ph type="pic" idx="13"/>
          </p:nvPr>
        </p:nvSpPr>
        <p:spPr>
          <a:xfrm>
            <a:off x="6907550" y="198000"/>
            <a:ext cx="2037600" cy="1584000"/>
          </a:xfrm>
          <a:prstGeom prst="roundRect">
            <a:avLst>
              <a:gd name="adj" fmla="val 3727"/>
            </a:avLst>
          </a:prstGeom>
          <a:noFill/>
          <a:ln>
            <a:noFill/>
          </a:ln>
        </p:spPr>
      </p:sp>
      <p:sp>
        <p:nvSpPr>
          <p:cNvPr id="142" name="Google Shape;142;p24"/>
          <p:cNvSpPr>
            <a:spLocks noGrp="1"/>
          </p:cNvSpPr>
          <p:nvPr>
            <p:ph type="pic" idx="14"/>
          </p:nvPr>
        </p:nvSpPr>
        <p:spPr>
          <a:xfrm>
            <a:off x="2435425" y="203055"/>
            <a:ext cx="2037600" cy="1584000"/>
          </a:xfrm>
          <a:prstGeom prst="roundRect">
            <a:avLst>
              <a:gd name="adj" fmla="val 3727"/>
            </a:avLst>
          </a:prstGeom>
          <a:noFill/>
          <a:ln>
            <a:noFill/>
          </a:ln>
        </p:spPr>
      </p:sp>
      <p:sp>
        <p:nvSpPr>
          <p:cNvPr id="143" name="Google Shape;143;p24"/>
          <p:cNvSpPr>
            <a:spLocks noGrp="1"/>
          </p:cNvSpPr>
          <p:nvPr>
            <p:ph type="pic" idx="15"/>
          </p:nvPr>
        </p:nvSpPr>
        <p:spPr>
          <a:xfrm>
            <a:off x="4672338" y="2571746"/>
            <a:ext cx="2037600" cy="1578900"/>
          </a:xfrm>
          <a:prstGeom prst="roundRect">
            <a:avLst>
              <a:gd name="adj" fmla="val 3727"/>
            </a:avLst>
          </a:prstGeom>
          <a:noFill/>
          <a:ln>
            <a:noFill/>
          </a:ln>
        </p:spPr>
      </p:sp>
      <p:sp>
        <p:nvSpPr>
          <p:cNvPr id="144" name="Google Shape;144;p24"/>
          <p:cNvSpPr>
            <a:spLocks noGrp="1"/>
          </p:cNvSpPr>
          <p:nvPr>
            <p:ph type="pic" idx="16"/>
          </p:nvPr>
        </p:nvSpPr>
        <p:spPr>
          <a:xfrm>
            <a:off x="6907988" y="2571746"/>
            <a:ext cx="2037600" cy="1578900"/>
          </a:xfrm>
          <a:prstGeom prst="roundRect">
            <a:avLst>
              <a:gd name="adj" fmla="val 3727"/>
            </a:avLst>
          </a:prstGeom>
          <a:noFill/>
          <a:ln>
            <a:noFill/>
          </a:ln>
        </p:spPr>
      </p:sp>
      <p:sp>
        <p:nvSpPr>
          <p:cNvPr id="145" name="Google Shape;145;p24"/>
          <p:cNvSpPr>
            <a:spLocks noGrp="1"/>
          </p:cNvSpPr>
          <p:nvPr>
            <p:ph type="pic" idx="17"/>
          </p:nvPr>
        </p:nvSpPr>
        <p:spPr>
          <a:xfrm>
            <a:off x="2435863" y="2576801"/>
            <a:ext cx="2037600" cy="1578900"/>
          </a:xfrm>
          <a:prstGeom prst="roundRect">
            <a:avLst>
              <a:gd name="adj" fmla="val 3727"/>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H - Texte &amp; Image / Fond Clair 8">
  <p:cSld name="TITLE_AND_BODY_1_1">
    <p:spTree>
      <p:nvGrpSpPr>
        <p:cNvPr id="1" name="Shape 146"/>
        <p:cNvGrpSpPr/>
        <p:nvPr/>
      </p:nvGrpSpPr>
      <p:grpSpPr>
        <a:xfrm>
          <a:off x="0" y="0"/>
          <a:ext cx="0" cy="0"/>
          <a:chOff x="0" y="0"/>
          <a:chExt cx="0" cy="0"/>
        </a:xfrm>
      </p:grpSpPr>
      <p:pic>
        <p:nvPicPr>
          <p:cNvPr id="147" name="Google Shape;147;p25"/>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48" name="Google Shape;148;p25"/>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25"/>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0" name="Google Shape;150;p2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51" name="Google Shape;151;p25"/>
          <p:cNvSpPr txBox="1">
            <a:spLocks noGrp="1"/>
          </p:cNvSpPr>
          <p:nvPr>
            <p:ph type="body" idx="3"/>
          </p:nvPr>
        </p:nvSpPr>
        <p:spPr>
          <a:xfrm>
            <a:off x="3179875"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2" name="Google Shape;152;p25"/>
          <p:cNvSpPr txBox="1">
            <a:spLocks noGrp="1"/>
          </p:cNvSpPr>
          <p:nvPr>
            <p:ph type="body" idx="4"/>
          </p:nvPr>
        </p:nvSpPr>
        <p:spPr>
          <a:xfrm>
            <a:off x="467095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3" name="Google Shape;153;p25"/>
          <p:cNvSpPr txBox="1">
            <a:spLocks noGrp="1"/>
          </p:cNvSpPr>
          <p:nvPr>
            <p:ph type="body" idx="5"/>
          </p:nvPr>
        </p:nvSpPr>
        <p:spPr>
          <a:xfrm>
            <a:off x="765300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4" name="Google Shape;154;p25"/>
          <p:cNvSpPr txBox="1">
            <a:spLocks noGrp="1"/>
          </p:cNvSpPr>
          <p:nvPr>
            <p:ph type="body" idx="6"/>
          </p:nvPr>
        </p:nvSpPr>
        <p:spPr>
          <a:xfrm>
            <a:off x="6162000" y="3031325"/>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5" name="Google Shape;155;p25"/>
          <p:cNvSpPr>
            <a:spLocks noGrp="1"/>
          </p:cNvSpPr>
          <p:nvPr>
            <p:ph type="pic" idx="7"/>
          </p:nvPr>
        </p:nvSpPr>
        <p:spPr>
          <a:xfrm>
            <a:off x="3179925" y="198009"/>
            <a:ext cx="1292100" cy="2667000"/>
          </a:xfrm>
          <a:prstGeom prst="roundRect">
            <a:avLst>
              <a:gd name="adj" fmla="val 3727"/>
            </a:avLst>
          </a:prstGeom>
          <a:noFill/>
          <a:ln>
            <a:noFill/>
          </a:ln>
        </p:spPr>
      </p:sp>
      <p:sp>
        <p:nvSpPr>
          <p:cNvPr id="156" name="Google Shape;156;p25"/>
          <p:cNvSpPr>
            <a:spLocks noGrp="1"/>
          </p:cNvSpPr>
          <p:nvPr>
            <p:ph type="pic" idx="8"/>
          </p:nvPr>
        </p:nvSpPr>
        <p:spPr>
          <a:xfrm>
            <a:off x="4671000" y="198009"/>
            <a:ext cx="1292100" cy="2667000"/>
          </a:xfrm>
          <a:prstGeom prst="roundRect">
            <a:avLst>
              <a:gd name="adj" fmla="val 3727"/>
            </a:avLst>
          </a:prstGeom>
          <a:noFill/>
          <a:ln>
            <a:noFill/>
          </a:ln>
        </p:spPr>
      </p:sp>
      <p:sp>
        <p:nvSpPr>
          <p:cNvPr id="157" name="Google Shape;157;p25"/>
          <p:cNvSpPr>
            <a:spLocks noGrp="1"/>
          </p:cNvSpPr>
          <p:nvPr>
            <p:ph type="pic" idx="9"/>
          </p:nvPr>
        </p:nvSpPr>
        <p:spPr>
          <a:xfrm>
            <a:off x="7653050" y="198009"/>
            <a:ext cx="1292100" cy="2667000"/>
          </a:xfrm>
          <a:prstGeom prst="roundRect">
            <a:avLst>
              <a:gd name="adj" fmla="val 3727"/>
            </a:avLst>
          </a:prstGeom>
          <a:noFill/>
          <a:ln>
            <a:noFill/>
          </a:ln>
        </p:spPr>
      </p:sp>
      <p:sp>
        <p:nvSpPr>
          <p:cNvPr id="158" name="Google Shape;158;p25"/>
          <p:cNvSpPr>
            <a:spLocks noGrp="1"/>
          </p:cNvSpPr>
          <p:nvPr>
            <p:ph type="pic" idx="13"/>
          </p:nvPr>
        </p:nvSpPr>
        <p:spPr>
          <a:xfrm>
            <a:off x="6162050" y="197998"/>
            <a:ext cx="1292100" cy="2667000"/>
          </a:xfrm>
          <a:prstGeom prst="roundRect">
            <a:avLst>
              <a:gd name="adj" fmla="val 3727"/>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I - Texte &amp; Image / Fond Clair 9">
  <p:cSld name="TITLE_AND_BODY_1_1_1">
    <p:spTree>
      <p:nvGrpSpPr>
        <p:cNvPr id="1" name="Shape 159"/>
        <p:cNvGrpSpPr/>
        <p:nvPr/>
      </p:nvGrpSpPr>
      <p:grpSpPr>
        <a:xfrm>
          <a:off x="0" y="0"/>
          <a:ext cx="0" cy="0"/>
          <a:chOff x="0" y="0"/>
          <a:chExt cx="0" cy="0"/>
        </a:xfrm>
      </p:grpSpPr>
      <p:pic>
        <p:nvPicPr>
          <p:cNvPr id="160" name="Google Shape;160;p26"/>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61" name="Google Shape;161;p26"/>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26"/>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3" name="Google Shape;163;p26"/>
          <p:cNvSpPr txBox="1">
            <a:spLocks noGrp="1"/>
          </p:cNvSpPr>
          <p:nvPr>
            <p:ph type="body" idx="3"/>
          </p:nvPr>
        </p:nvSpPr>
        <p:spPr>
          <a:xfrm>
            <a:off x="3179875"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4" name="Google Shape;164;p26"/>
          <p:cNvSpPr txBox="1">
            <a:spLocks noGrp="1"/>
          </p:cNvSpPr>
          <p:nvPr>
            <p:ph type="body" idx="4"/>
          </p:nvPr>
        </p:nvSpPr>
        <p:spPr>
          <a:xfrm>
            <a:off x="4670950"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5" name="Google Shape;165;p26"/>
          <p:cNvSpPr txBox="1">
            <a:spLocks noGrp="1"/>
          </p:cNvSpPr>
          <p:nvPr>
            <p:ph type="body" idx="5"/>
          </p:nvPr>
        </p:nvSpPr>
        <p:spPr>
          <a:xfrm>
            <a:off x="6162000" y="1668445"/>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6" name="Google Shape;166;p26"/>
          <p:cNvSpPr txBox="1">
            <a:spLocks noGrp="1"/>
          </p:cNvSpPr>
          <p:nvPr>
            <p:ph type="body" idx="6"/>
          </p:nvPr>
        </p:nvSpPr>
        <p:spPr>
          <a:xfrm>
            <a:off x="3179875"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7" name="Google Shape;167;p26"/>
          <p:cNvSpPr txBox="1">
            <a:spLocks noGrp="1"/>
          </p:cNvSpPr>
          <p:nvPr>
            <p:ph type="body" idx="7"/>
          </p:nvPr>
        </p:nvSpPr>
        <p:spPr>
          <a:xfrm>
            <a:off x="467095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8" name="Google Shape;168;p26"/>
          <p:cNvSpPr txBox="1">
            <a:spLocks noGrp="1"/>
          </p:cNvSpPr>
          <p:nvPr>
            <p:ph type="body" idx="8"/>
          </p:nvPr>
        </p:nvSpPr>
        <p:spPr>
          <a:xfrm>
            <a:off x="6162000" y="4035670"/>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9" name="Google Shape;169;p26"/>
          <p:cNvSpPr txBox="1">
            <a:spLocks noGrp="1"/>
          </p:cNvSpPr>
          <p:nvPr>
            <p:ph type="body" idx="9"/>
          </p:nvPr>
        </p:nvSpPr>
        <p:spPr>
          <a:xfrm>
            <a:off x="7653000" y="1668453"/>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70" name="Google Shape;170;p26"/>
          <p:cNvSpPr txBox="1">
            <a:spLocks noGrp="1"/>
          </p:cNvSpPr>
          <p:nvPr>
            <p:ph type="body" idx="13"/>
          </p:nvPr>
        </p:nvSpPr>
        <p:spPr>
          <a:xfrm>
            <a:off x="765300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71" name="Google Shape;171;p26"/>
          <p:cNvSpPr txBox="1">
            <a:spLocks noGrp="1"/>
          </p:cNvSpPr>
          <p:nvPr>
            <p:ph type="sldNum" idx="12"/>
          </p:nvPr>
        </p:nvSpPr>
        <p:spPr>
          <a:xfrm>
            <a:off x="8398500" y="4766025"/>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72" name="Google Shape;172;p26"/>
          <p:cNvSpPr>
            <a:spLocks noGrp="1"/>
          </p:cNvSpPr>
          <p:nvPr>
            <p:ph type="pic" idx="14"/>
          </p:nvPr>
        </p:nvSpPr>
        <p:spPr>
          <a:xfrm>
            <a:off x="3179925" y="204528"/>
            <a:ext cx="1292100" cy="1292400"/>
          </a:xfrm>
          <a:prstGeom prst="roundRect">
            <a:avLst>
              <a:gd name="adj" fmla="val 3727"/>
            </a:avLst>
          </a:prstGeom>
          <a:noFill/>
          <a:ln>
            <a:noFill/>
          </a:ln>
        </p:spPr>
      </p:sp>
      <p:sp>
        <p:nvSpPr>
          <p:cNvPr id="173" name="Google Shape;173;p26"/>
          <p:cNvSpPr>
            <a:spLocks noGrp="1"/>
          </p:cNvSpPr>
          <p:nvPr>
            <p:ph type="pic" idx="15"/>
          </p:nvPr>
        </p:nvSpPr>
        <p:spPr>
          <a:xfrm>
            <a:off x="4671000" y="204528"/>
            <a:ext cx="1292100" cy="1292400"/>
          </a:xfrm>
          <a:prstGeom prst="roundRect">
            <a:avLst>
              <a:gd name="adj" fmla="val 3727"/>
            </a:avLst>
          </a:prstGeom>
          <a:noFill/>
          <a:ln>
            <a:noFill/>
          </a:ln>
        </p:spPr>
      </p:sp>
      <p:sp>
        <p:nvSpPr>
          <p:cNvPr id="174" name="Google Shape;174;p26"/>
          <p:cNvSpPr>
            <a:spLocks noGrp="1"/>
          </p:cNvSpPr>
          <p:nvPr>
            <p:ph type="pic" idx="16"/>
          </p:nvPr>
        </p:nvSpPr>
        <p:spPr>
          <a:xfrm>
            <a:off x="6162050" y="204523"/>
            <a:ext cx="1292100" cy="1292400"/>
          </a:xfrm>
          <a:prstGeom prst="roundRect">
            <a:avLst>
              <a:gd name="adj" fmla="val 3727"/>
            </a:avLst>
          </a:prstGeom>
          <a:noFill/>
          <a:ln>
            <a:noFill/>
          </a:ln>
        </p:spPr>
      </p:sp>
      <p:sp>
        <p:nvSpPr>
          <p:cNvPr id="175" name="Google Shape;175;p26"/>
          <p:cNvSpPr>
            <a:spLocks noGrp="1"/>
          </p:cNvSpPr>
          <p:nvPr>
            <p:ph type="pic" idx="17"/>
          </p:nvPr>
        </p:nvSpPr>
        <p:spPr>
          <a:xfrm>
            <a:off x="3179925" y="2571753"/>
            <a:ext cx="1292100" cy="1292400"/>
          </a:xfrm>
          <a:prstGeom prst="roundRect">
            <a:avLst>
              <a:gd name="adj" fmla="val 3727"/>
            </a:avLst>
          </a:prstGeom>
          <a:noFill/>
          <a:ln>
            <a:noFill/>
          </a:ln>
        </p:spPr>
      </p:sp>
      <p:sp>
        <p:nvSpPr>
          <p:cNvPr id="176" name="Google Shape;176;p26"/>
          <p:cNvSpPr>
            <a:spLocks noGrp="1"/>
          </p:cNvSpPr>
          <p:nvPr>
            <p:ph type="pic" idx="18"/>
          </p:nvPr>
        </p:nvSpPr>
        <p:spPr>
          <a:xfrm>
            <a:off x="4671000" y="2571753"/>
            <a:ext cx="1292100" cy="1292400"/>
          </a:xfrm>
          <a:prstGeom prst="roundRect">
            <a:avLst>
              <a:gd name="adj" fmla="val 3727"/>
            </a:avLst>
          </a:prstGeom>
          <a:noFill/>
          <a:ln>
            <a:noFill/>
          </a:ln>
        </p:spPr>
      </p:sp>
      <p:sp>
        <p:nvSpPr>
          <p:cNvPr id="177" name="Google Shape;177;p26"/>
          <p:cNvSpPr>
            <a:spLocks noGrp="1"/>
          </p:cNvSpPr>
          <p:nvPr>
            <p:ph type="pic" idx="19"/>
          </p:nvPr>
        </p:nvSpPr>
        <p:spPr>
          <a:xfrm>
            <a:off x="6162050" y="2571748"/>
            <a:ext cx="1292100" cy="1292400"/>
          </a:xfrm>
          <a:prstGeom prst="roundRect">
            <a:avLst>
              <a:gd name="adj" fmla="val 3727"/>
            </a:avLst>
          </a:prstGeom>
          <a:noFill/>
          <a:ln>
            <a:noFill/>
          </a:ln>
        </p:spPr>
      </p:sp>
      <p:sp>
        <p:nvSpPr>
          <p:cNvPr id="178" name="Google Shape;178;p26"/>
          <p:cNvSpPr>
            <a:spLocks noGrp="1"/>
          </p:cNvSpPr>
          <p:nvPr>
            <p:ph type="pic" idx="20"/>
          </p:nvPr>
        </p:nvSpPr>
        <p:spPr>
          <a:xfrm>
            <a:off x="7653050" y="204528"/>
            <a:ext cx="1292100" cy="1292400"/>
          </a:xfrm>
          <a:prstGeom prst="roundRect">
            <a:avLst>
              <a:gd name="adj" fmla="val 3727"/>
            </a:avLst>
          </a:prstGeom>
          <a:noFill/>
          <a:ln>
            <a:noFill/>
          </a:ln>
        </p:spPr>
      </p:sp>
      <p:sp>
        <p:nvSpPr>
          <p:cNvPr id="179" name="Google Shape;179;p26"/>
          <p:cNvSpPr>
            <a:spLocks noGrp="1"/>
          </p:cNvSpPr>
          <p:nvPr>
            <p:ph type="pic" idx="21"/>
          </p:nvPr>
        </p:nvSpPr>
        <p:spPr>
          <a:xfrm>
            <a:off x="7653050" y="2571753"/>
            <a:ext cx="1292100" cy="1292400"/>
          </a:xfrm>
          <a:prstGeom prst="roundRect">
            <a:avLst>
              <a:gd name="adj" fmla="val 3727"/>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J - Texte &amp; Image / Fond Clair 10">
  <p:cSld name="TITLE_AND_BODY_1_1_1_1">
    <p:spTree>
      <p:nvGrpSpPr>
        <p:cNvPr id="1" name="Shape 180"/>
        <p:cNvGrpSpPr/>
        <p:nvPr/>
      </p:nvGrpSpPr>
      <p:grpSpPr>
        <a:xfrm>
          <a:off x="0" y="0"/>
          <a:ext cx="0" cy="0"/>
          <a:chOff x="0" y="0"/>
          <a:chExt cx="0" cy="0"/>
        </a:xfrm>
      </p:grpSpPr>
      <p:sp>
        <p:nvSpPr>
          <p:cNvPr id="181" name="Google Shape;181;p27"/>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82" name="Google Shape;182;p2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83" name="Google Shape;183;p2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84" name="Google Shape;184;p27"/>
          <p:cNvSpPr txBox="1">
            <a:spLocks noGrp="1"/>
          </p:cNvSpPr>
          <p:nvPr>
            <p:ph type="body" idx="2"/>
          </p:nvPr>
        </p:nvSpPr>
        <p:spPr>
          <a:xfrm>
            <a:off x="197925" y="730775"/>
            <a:ext cx="4275000" cy="401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85" name="Google Shape;185;p27"/>
          <p:cNvSpPr>
            <a:spLocks noGrp="1"/>
          </p:cNvSpPr>
          <p:nvPr>
            <p:ph type="pic" idx="3"/>
          </p:nvPr>
        </p:nvSpPr>
        <p:spPr>
          <a:xfrm>
            <a:off x="4671000" y="730775"/>
            <a:ext cx="4275000" cy="4016700"/>
          </a:xfrm>
          <a:prstGeom prst="roundRect">
            <a:avLst>
              <a:gd name="adj" fmla="val 2361"/>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K - Texte / Fond Clair 11">
  <p:cSld name="TITLE_AND_BODY_1_1_1_1_1">
    <p:spTree>
      <p:nvGrpSpPr>
        <p:cNvPr id="1" name="Shape 186"/>
        <p:cNvGrpSpPr/>
        <p:nvPr/>
      </p:nvGrpSpPr>
      <p:grpSpPr>
        <a:xfrm>
          <a:off x="0" y="0"/>
          <a:ext cx="0" cy="0"/>
          <a:chOff x="0" y="0"/>
          <a:chExt cx="0" cy="0"/>
        </a:xfrm>
      </p:grpSpPr>
      <p:pic>
        <p:nvPicPr>
          <p:cNvPr id="187" name="Google Shape;187;p2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88" name="Google Shape;188;p2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89" name="Google Shape;189;p28"/>
          <p:cNvSpPr txBox="1">
            <a:spLocks noGrp="1"/>
          </p:cNvSpPr>
          <p:nvPr>
            <p:ph type="body" idx="1"/>
          </p:nvPr>
        </p:nvSpPr>
        <p:spPr>
          <a:xfrm>
            <a:off x="197925"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0" name="Google Shape;190;p28"/>
          <p:cNvSpPr txBox="1">
            <a:spLocks noGrp="1"/>
          </p:cNvSpPr>
          <p:nvPr>
            <p:ph type="body" idx="2"/>
          </p:nvPr>
        </p:nvSpPr>
        <p:spPr>
          <a:xfrm>
            <a:off x="3179963"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1" name="Google Shape;191;p28"/>
          <p:cNvSpPr txBox="1">
            <a:spLocks noGrp="1"/>
          </p:cNvSpPr>
          <p:nvPr>
            <p:ph type="body" idx="3"/>
          </p:nvPr>
        </p:nvSpPr>
        <p:spPr>
          <a:xfrm>
            <a:off x="6162000"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2" name="Google Shape;192;p28"/>
          <p:cNvSpPr txBox="1">
            <a:spLocks noGrp="1"/>
          </p:cNvSpPr>
          <p:nvPr>
            <p:ph type="subTitle" idx="4"/>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L - Texte &amp; Image / Fond Clair 12">
  <p:cSld name="TITLE_AND_BODY_1_1_1_1_1_1">
    <p:spTree>
      <p:nvGrpSpPr>
        <p:cNvPr id="1" name="Shape 193"/>
        <p:cNvGrpSpPr/>
        <p:nvPr/>
      </p:nvGrpSpPr>
      <p:grpSpPr>
        <a:xfrm>
          <a:off x="0" y="0"/>
          <a:ext cx="0" cy="0"/>
          <a:chOff x="0" y="0"/>
          <a:chExt cx="0" cy="0"/>
        </a:xfrm>
      </p:grpSpPr>
      <p:pic>
        <p:nvPicPr>
          <p:cNvPr id="194" name="Google Shape;194;p2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95" name="Google Shape;195;p2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96" name="Google Shape;196;p29"/>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29"/>
          <p:cNvSpPr txBox="1">
            <a:spLocks noGrp="1"/>
          </p:cNvSpPr>
          <p:nvPr>
            <p:ph type="body" idx="2"/>
          </p:nvPr>
        </p:nvSpPr>
        <p:spPr>
          <a:xfrm>
            <a:off x="19792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8" name="Google Shape;198;p29"/>
          <p:cNvSpPr txBox="1">
            <a:spLocks noGrp="1"/>
          </p:cNvSpPr>
          <p:nvPr>
            <p:ph type="body" idx="3"/>
          </p:nvPr>
        </p:nvSpPr>
        <p:spPr>
          <a:xfrm>
            <a:off x="243445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9" name="Google Shape;199;p29"/>
          <p:cNvSpPr txBox="1">
            <a:spLocks noGrp="1"/>
          </p:cNvSpPr>
          <p:nvPr>
            <p:ph type="body" idx="4"/>
          </p:nvPr>
        </p:nvSpPr>
        <p:spPr>
          <a:xfrm>
            <a:off x="467097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00" name="Google Shape;200;p29"/>
          <p:cNvSpPr txBox="1">
            <a:spLocks noGrp="1"/>
          </p:cNvSpPr>
          <p:nvPr>
            <p:ph type="body" idx="5"/>
          </p:nvPr>
        </p:nvSpPr>
        <p:spPr>
          <a:xfrm>
            <a:off x="690750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01" name="Google Shape;201;p29"/>
          <p:cNvSpPr>
            <a:spLocks noGrp="1"/>
          </p:cNvSpPr>
          <p:nvPr>
            <p:ph type="pic" idx="6"/>
          </p:nvPr>
        </p:nvSpPr>
        <p:spPr>
          <a:xfrm>
            <a:off x="197925" y="700500"/>
            <a:ext cx="2038500" cy="1673400"/>
          </a:xfrm>
          <a:prstGeom prst="roundRect">
            <a:avLst>
              <a:gd name="adj" fmla="val 2361"/>
            </a:avLst>
          </a:prstGeom>
          <a:noFill/>
          <a:ln>
            <a:noFill/>
          </a:ln>
        </p:spPr>
      </p:sp>
      <p:sp>
        <p:nvSpPr>
          <p:cNvPr id="202" name="Google Shape;202;p29"/>
          <p:cNvSpPr>
            <a:spLocks noGrp="1"/>
          </p:cNvSpPr>
          <p:nvPr>
            <p:ph type="pic" idx="7"/>
          </p:nvPr>
        </p:nvSpPr>
        <p:spPr>
          <a:xfrm>
            <a:off x="2434450" y="700500"/>
            <a:ext cx="2038500" cy="1673400"/>
          </a:xfrm>
          <a:prstGeom prst="roundRect">
            <a:avLst>
              <a:gd name="adj" fmla="val 2361"/>
            </a:avLst>
          </a:prstGeom>
          <a:noFill/>
          <a:ln>
            <a:noFill/>
          </a:ln>
        </p:spPr>
      </p:sp>
      <p:sp>
        <p:nvSpPr>
          <p:cNvPr id="203" name="Google Shape;203;p29"/>
          <p:cNvSpPr>
            <a:spLocks noGrp="1"/>
          </p:cNvSpPr>
          <p:nvPr>
            <p:ph type="pic" idx="8"/>
          </p:nvPr>
        </p:nvSpPr>
        <p:spPr>
          <a:xfrm>
            <a:off x="4670975" y="700500"/>
            <a:ext cx="2038500" cy="1673400"/>
          </a:xfrm>
          <a:prstGeom prst="roundRect">
            <a:avLst>
              <a:gd name="adj" fmla="val 2361"/>
            </a:avLst>
          </a:prstGeom>
          <a:noFill/>
          <a:ln>
            <a:noFill/>
          </a:ln>
        </p:spPr>
      </p:sp>
      <p:sp>
        <p:nvSpPr>
          <p:cNvPr id="204" name="Google Shape;204;p29"/>
          <p:cNvSpPr>
            <a:spLocks noGrp="1"/>
          </p:cNvSpPr>
          <p:nvPr>
            <p:ph type="pic" idx="9"/>
          </p:nvPr>
        </p:nvSpPr>
        <p:spPr>
          <a:xfrm>
            <a:off x="6907500" y="700500"/>
            <a:ext cx="2038500" cy="1673400"/>
          </a:xfrm>
          <a:prstGeom prst="roundRect">
            <a:avLst>
              <a:gd name="adj" fmla="val 2361"/>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N - Texte / Fond Clair 14">
  <p:cSld name="TITLE_AND_BODY_1_1_1_1_1_1_1_1">
    <p:spTree>
      <p:nvGrpSpPr>
        <p:cNvPr id="1" name="Shape 211"/>
        <p:cNvGrpSpPr/>
        <p:nvPr/>
      </p:nvGrpSpPr>
      <p:grpSpPr>
        <a:xfrm>
          <a:off x="0" y="0"/>
          <a:ext cx="0" cy="0"/>
          <a:chOff x="0" y="0"/>
          <a:chExt cx="0" cy="0"/>
        </a:xfrm>
      </p:grpSpPr>
      <p:pic>
        <p:nvPicPr>
          <p:cNvPr id="212" name="Google Shape;212;p3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13" name="Google Shape;213;p3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14" name="Google Shape;214;p31"/>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31"/>
          <p:cNvSpPr txBox="1">
            <a:spLocks noGrp="1"/>
          </p:cNvSpPr>
          <p:nvPr>
            <p:ph type="body" idx="2"/>
          </p:nvPr>
        </p:nvSpPr>
        <p:spPr>
          <a:xfrm>
            <a:off x="197925"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16" name="Google Shape;216;p31"/>
          <p:cNvSpPr txBox="1">
            <a:spLocks noGrp="1"/>
          </p:cNvSpPr>
          <p:nvPr>
            <p:ph type="body" idx="3"/>
          </p:nvPr>
        </p:nvSpPr>
        <p:spPr>
          <a:xfrm>
            <a:off x="4671000"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17" name="Google Shape;217;p31"/>
          <p:cNvSpPr txBox="1">
            <a:spLocks noGrp="1"/>
          </p:cNvSpPr>
          <p:nvPr>
            <p:ph type="body" idx="4"/>
          </p:nvPr>
        </p:nvSpPr>
        <p:spPr>
          <a:xfrm>
            <a:off x="4671000"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18" name="Google Shape;218;p31"/>
          <p:cNvSpPr txBox="1">
            <a:spLocks noGrp="1"/>
          </p:cNvSpPr>
          <p:nvPr>
            <p:ph type="body" idx="5"/>
          </p:nvPr>
        </p:nvSpPr>
        <p:spPr>
          <a:xfrm>
            <a:off x="197925"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O - Vide / Fond Clair">
  <p:cSld name="TITLE_AND_BODY_1_1_1_1_1_1_1_1_1">
    <p:spTree>
      <p:nvGrpSpPr>
        <p:cNvPr id="1" name="Shape 219"/>
        <p:cNvGrpSpPr/>
        <p:nvPr/>
      </p:nvGrpSpPr>
      <p:grpSpPr>
        <a:xfrm>
          <a:off x="0" y="0"/>
          <a:ext cx="0" cy="0"/>
          <a:chOff x="0" y="0"/>
          <a:chExt cx="0" cy="0"/>
        </a:xfrm>
      </p:grpSpPr>
      <p:pic>
        <p:nvPicPr>
          <p:cNvPr id="220" name="Google Shape;220;p3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21" name="Google Shape;221;p3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6F - Titre et Image / Fond Blanc">
  <p:cSld name="TITLE_AND_TWO_COLUMNS_4">
    <p:spTree>
      <p:nvGrpSpPr>
        <p:cNvPr id="1" name="Shape 222"/>
        <p:cNvGrpSpPr/>
        <p:nvPr/>
      </p:nvGrpSpPr>
      <p:grpSpPr>
        <a:xfrm>
          <a:off x="0" y="0"/>
          <a:ext cx="0" cy="0"/>
          <a:chOff x="0" y="0"/>
          <a:chExt cx="0" cy="0"/>
        </a:xfrm>
      </p:grpSpPr>
      <p:pic>
        <p:nvPicPr>
          <p:cNvPr id="223" name="Google Shape;223;p3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24" name="Google Shape;224;p33"/>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25" name="Google Shape;225;p33"/>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p33"/>
          <p:cNvSpPr>
            <a:spLocks noGrp="1"/>
          </p:cNvSpPr>
          <p:nvPr>
            <p:ph type="pic" idx="2"/>
          </p:nvPr>
        </p:nvSpPr>
        <p:spPr>
          <a:xfrm>
            <a:off x="198000" y="600075"/>
            <a:ext cx="8748000" cy="4028700"/>
          </a:xfrm>
          <a:prstGeom prst="roundRect">
            <a:avLst>
              <a:gd name="adj" fmla="val 1913"/>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6A - Titre seul / Fond Navy">
  <p:cSld name="TITLE_AND_TWO_COLUMNS_3">
    <p:bg>
      <p:bgPr>
        <a:solidFill>
          <a:schemeClr val="dk2"/>
        </a:solidFill>
        <a:effectLst/>
      </p:bgPr>
    </p:bg>
    <p:spTree>
      <p:nvGrpSpPr>
        <p:cNvPr id="1" name="Shape 227"/>
        <p:cNvGrpSpPr/>
        <p:nvPr/>
      </p:nvGrpSpPr>
      <p:grpSpPr>
        <a:xfrm>
          <a:off x="0" y="0"/>
          <a:ext cx="0" cy="0"/>
          <a:chOff x="0" y="0"/>
          <a:chExt cx="0" cy="0"/>
        </a:xfrm>
      </p:grpSpPr>
      <p:sp>
        <p:nvSpPr>
          <p:cNvPr id="228" name="Google Shape;228;p34"/>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29" name="Google Shape;229;p34"/>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30" name="Google Shape;230;p34"/>
          <p:cNvPicPr preferRelativeResize="0"/>
          <p:nvPr/>
        </p:nvPicPr>
        <p:blipFill>
          <a:blip r:embed="rId2">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6D - Titre et Image / Fond Navy">
  <p:cSld name="TITLE_AND_TWO_COLUMNS_3_1">
    <p:bg>
      <p:bgPr>
        <a:solidFill>
          <a:schemeClr val="dk2"/>
        </a:solidFill>
        <a:effectLst/>
      </p:bgPr>
    </p:bg>
    <p:spTree>
      <p:nvGrpSpPr>
        <p:cNvPr id="1" name="Shape 231"/>
        <p:cNvGrpSpPr/>
        <p:nvPr/>
      </p:nvGrpSpPr>
      <p:grpSpPr>
        <a:xfrm>
          <a:off x="0" y="0"/>
          <a:ext cx="0" cy="0"/>
          <a:chOff x="0" y="0"/>
          <a:chExt cx="0" cy="0"/>
        </a:xfrm>
      </p:grpSpPr>
      <p:sp>
        <p:nvSpPr>
          <p:cNvPr id="232" name="Google Shape;232;p3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33" name="Google Shape;233;p35"/>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34" name="Google Shape;234;p35"/>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235" name="Google Shape;235;p35"/>
          <p:cNvSpPr>
            <a:spLocks noGrp="1"/>
          </p:cNvSpPr>
          <p:nvPr>
            <p:ph type="pic" idx="2"/>
          </p:nvPr>
        </p:nvSpPr>
        <p:spPr>
          <a:xfrm>
            <a:off x="198000" y="600075"/>
            <a:ext cx="8748000" cy="4028700"/>
          </a:xfrm>
          <a:prstGeom prst="roundRect">
            <a:avLst>
              <a:gd name="adj" fmla="val 1913"/>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B - Titre seul / Fond Grey">
  <p:cSld name="TITLE_AND_TWO_COLUMNS_2">
    <p:bg>
      <p:bgPr>
        <a:solidFill>
          <a:schemeClr val="accent1"/>
        </a:solidFill>
        <a:effectLst/>
      </p:bgPr>
    </p:bg>
    <p:spTree>
      <p:nvGrpSpPr>
        <p:cNvPr id="1" name="Shape 236"/>
        <p:cNvGrpSpPr/>
        <p:nvPr/>
      </p:nvGrpSpPr>
      <p:grpSpPr>
        <a:xfrm>
          <a:off x="0" y="0"/>
          <a:ext cx="0" cy="0"/>
          <a:chOff x="0" y="0"/>
          <a:chExt cx="0" cy="0"/>
        </a:xfrm>
      </p:grpSpPr>
      <p:pic>
        <p:nvPicPr>
          <p:cNvPr id="237" name="Google Shape;237;p36"/>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38" name="Google Shape;238;p36"/>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39" name="Google Shape;239;p36"/>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6C - Titre Seul / Fond Blanc">
  <p:cSld name="TITLE_AND_TWO_COLUMNS_2_2">
    <p:bg>
      <p:bgPr>
        <a:solidFill>
          <a:schemeClr val="lt1"/>
        </a:solidFill>
        <a:effectLst/>
      </p:bgPr>
    </p:bg>
    <p:spTree>
      <p:nvGrpSpPr>
        <p:cNvPr id="1" name="Shape 240"/>
        <p:cNvGrpSpPr/>
        <p:nvPr/>
      </p:nvGrpSpPr>
      <p:grpSpPr>
        <a:xfrm>
          <a:off x="0" y="0"/>
          <a:ext cx="0" cy="0"/>
          <a:chOff x="0" y="0"/>
          <a:chExt cx="0" cy="0"/>
        </a:xfrm>
      </p:grpSpPr>
      <p:pic>
        <p:nvPicPr>
          <p:cNvPr id="241" name="Google Shape;241;p3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42" name="Google Shape;242;p3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43" name="Google Shape;243;p37"/>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800"/>
              <a:buFont typeface="Inter"/>
              <a:buNone/>
              <a:defRPr sz="1800">
                <a:latin typeface="Inter"/>
                <a:ea typeface="Inter"/>
                <a:cs typeface="Inter"/>
                <a:sym typeface="Inter"/>
              </a:defRPr>
            </a:lvl2pPr>
            <a:lvl3pPr lvl="2">
              <a:spcBef>
                <a:spcPts val="0"/>
              </a:spcBef>
              <a:spcAft>
                <a:spcPts val="0"/>
              </a:spcAft>
              <a:buSzPts val="1800"/>
              <a:buFont typeface="Inter"/>
              <a:buNone/>
              <a:defRPr sz="1800">
                <a:latin typeface="Inter"/>
                <a:ea typeface="Inter"/>
                <a:cs typeface="Inter"/>
                <a:sym typeface="Inter"/>
              </a:defRPr>
            </a:lvl3pPr>
            <a:lvl4pPr lvl="3">
              <a:spcBef>
                <a:spcPts val="0"/>
              </a:spcBef>
              <a:spcAft>
                <a:spcPts val="0"/>
              </a:spcAft>
              <a:buSzPts val="1800"/>
              <a:buFont typeface="Inter"/>
              <a:buNone/>
              <a:defRPr sz="1800">
                <a:latin typeface="Inter"/>
                <a:ea typeface="Inter"/>
                <a:cs typeface="Inter"/>
                <a:sym typeface="Inter"/>
              </a:defRPr>
            </a:lvl4pPr>
            <a:lvl5pPr lvl="4">
              <a:spcBef>
                <a:spcPts val="0"/>
              </a:spcBef>
              <a:spcAft>
                <a:spcPts val="0"/>
              </a:spcAft>
              <a:buSzPts val="1800"/>
              <a:buFont typeface="Inter"/>
              <a:buNone/>
              <a:defRPr sz="1800">
                <a:latin typeface="Inter"/>
                <a:ea typeface="Inter"/>
                <a:cs typeface="Inter"/>
                <a:sym typeface="Inter"/>
              </a:defRPr>
            </a:lvl5pPr>
            <a:lvl6pPr lvl="5">
              <a:spcBef>
                <a:spcPts val="0"/>
              </a:spcBef>
              <a:spcAft>
                <a:spcPts val="0"/>
              </a:spcAft>
              <a:buSzPts val="1800"/>
              <a:buFont typeface="Inter"/>
              <a:buNone/>
              <a:defRPr sz="1800">
                <a:latin typeface="Inter"/>
                <a:ea typeface="Inter"/>
                <a:cs typeface="Inter"/>
                <a:sym typeface="Inter"/>
              </a:defRPr>
            </a:lvl6pPr>
            <a:lvl7pPr lvl="6">
              <a:spcBef>
                <a:spcPts val="0"/>
              </a:spcBef>
              <a:spcAft>
                <a:spcPts val="0"/>
              </a:spcAft>
              <a:buSzPts val="1800"/>
              <a:buFont typeface="Inter"/>
              <a:buNone/>
              <a:defRPr sz="1800">
                <a:latin typeface="Inter"/>
                <a:ea typeface="Inter"/>
                <a:cs typeface="Inter"/>
                <a:sym typeface="Inter"/>
              </a:defRPr>
            </a:lvl7pPr>
            <a:lvl8pPr lvl="7">
              <a:spcBef>
                <a:spcPts val="0"/>
              </a:spcBef>
              <a:spcAft>
                <a:spcPts val="0"/>
              </a:spcAft>
              <a:buSzPts val="1800"/>
              <a:buFont typeface="Inter"/>
              <a:buNone/>
              <a:defRPr sz="1800">
                <a:latin typeface="Inter"/>
                <a:ea typeface="Inter"/>
                <a:cs typeface="Inter"/>
                <a:sym typeface="Inter"/>
              </a:defRPr>
            </a:lvl8pPr>
            <a:lvl9pPr lvl="8">
              <a:spcBef>
                <a:spcPts val="0"/>
              </a:spcBef>
              <a:spcAft>
                <a:spcPts val="0"/>
              </a:spcAft>
              <a:buSzPts val="1800"/>
              <a:buFont typeface="Inter"/>
              <a:buNone/>
              <a:defRPr sz="1800">
                <a:latin typeface="Inter"/>
                <a:ea typeface="Inter"/>
                <a:cs typeface="Inter"/>
                <a:sym typeface="Inte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6C - Titre Seul / Fond Blanc" preserve="1" userDrawn="1">
  <p:cSld name="1_6C - Titre Seul / Fond Blanc">
    <p:bg>
      <p:bgPr>
        <a:solidFill>
          <a:schemeClr val="lt1"/>
        </a:solidFill>
        <a:effectLst/>
      </p:bgPr>
    </p:bg>
    <p:spTree>
      <p:nvGrpSpPr>
        <p:cNvPr id="1" name="Shape 240"/>
        <p:cNvGrpSpPr/>
        <p:nvPr/>
      </p:nvGrpSpPr>
      <p:grpSpPr>
        <a:xfrm>
          <a:off x="0" y="0"/>
          <a:ext cx="0" cy="0"/>
          <a:chOff x="0" y="0"/>
          <a:chExt cx="0" cy="0"/>
        </a:xfrm>
      </p:grpSpPr>
      <p:pic>
        <p:nvPicPr>
          <p:cNvPr id="241" name="Google Shape;241;p3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42" name="Google Shape;242;p3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43" name="Google Shape;243;p37"/>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800"/>
              <a:buFont typeface="Inter"/>
              <a:buNone/>
              <a:defRPr sz="1800">
                <a:latin typeface="Inter"/>
                <a:ea typeface="Inter"/>
                <a:cs typeface="Inter"/>
                <a:sym typeface="Inter"/>
              </a:defRPr>
            </a:lvl2pPr>
            <a:lvl3pPr lvl="2">
              <a:spcBef>
                <a:spcPts val="0"/>
              </a:spcBef>
              <a:spcAft>
                <a:spcPts val="0"/>
              </a:spcAft>
              <a:buSzPts val="1800"/>
              <a:buFont typeface="Inter"/>
              <a:buNone/>
              <a:defRPr sz="1800">
                <a:latin typeface="Inter"/>
                <a:ea typeface="Inter"/>
                <a:cs typeface="Inter"/>
                <a:sym typeface="Inter"/>
              </a:defRPr>
            </a:lvl3pPr>
            <a:lvl4pPr lvl="3">
              <a:spcBef>
                <a:spcPts val="0"/>
              </a:spcBef>
              <a:spcAft>
                <a:spcPts val="0"/>
              </a:spcAft>
              <a:buSzPts val="1800"/>
              <a:buFont typeface="Inter"/>
              <a:buNone/>
              <a:defRPr sz="1800">
                <a:latin typeface="Inter"/>
                <a:ea typeface="Inter"/>
                <a:cs typeface="Inter"/>
                <a:sym typeface="Inter"/>
              </a:defRPr>
            </a:lvl4pPr>
            <a:lvl5pPr lvl="4">
              <a:spcBef>
                <a:spcPts val="0"/>
              </a:spcBef>
              <a:spcAft>
                <a:spcPts val="0"/>
              </a:spcAft>
              <a:buSzPts val="1800"/>
              <a:buFont typeface="Inter"/>
              <a:buNone/>
              <a:defRPr sz="1800">
                <a:latin typeface="Inter"/>
                <a:ea typeface="Inter"/>
                <a:cs typeface="Inter"/>
                <a:sym typeface="Inter"/>
              </a:defRPr>
            </a:lvl5pPr>
            <a:lvl6pPr lvl="5">
              <a:spcBef>
                <a:spcPts val="0"/>
              </a:spcBef>
              <a:spcAft>
                <a:spcPts val="0"/>
              </a:spcAft>
              <a:buSzPts val="1800"/>
              <a:buFont typeface="Inter"/>
              <a:buNone/>
              <a:defRPr sz="1800">
                <a:latin typeface="Inter"/>
                <a:ea typeface="Inter"/>
                <a:cs typeface="Inter"/>
                <a:sym typeface="Inter"/>
              </a:defRPr>
            </a:lvl6pPr>
            <a:lvl7pPr lvl="6">
              <a:spcBef>
                <a:spcPts val="0"/>
              </a:spcBef>
              <a:spcAft>
                <a:spcPts val="0"/>
              </a:spcAft>
              <a:buSzPts val="1800"/>
              <a:buFont typeface="Inter"/>
              <a:buNone/>
              <a:defRPr sz="1800">
                <a:latin typeface="Inter"/>
                <a:ea typeface="Inter"/>
                <a:cs typeface="Inter"/>
                <a:sym typeface="Inter"/>
              </a:defRPr>
            </a:lvl7pPr>
            <a:lvl8pPr lvl="7">
              <a:spcBef>
                <a:spcPts val="0"/>
              </a:spcBef>
              <a:spcAft>
                <a:spcPts val="0"/>
              </a:spcAft>
              <a:buSzPts val="1800"/>
              <a:buFont typeface="Inter"/>
              <a:buNone/>
              <a:defRPr sz="1800">
                <a:latin typeface="Inter"/>
                <a:ea typeface="Inter"/>
                <a:cs typeface="Inter"/>
                <a:sym typeface="Inter"/>
              </a:defRPr>
            </a:lvl8pPr>
            <a:lvl9pPr lvl="8">
              <a:spcBef>
                <a:spcPts val="0"/>
              </a:spcBef>
              <a:spcAft>
                <a:spcPts val="0"/>
              </a:spcAft>
              <a:buSzPts val="1800"/>
              <a:buFont typeface="Inter"/>
              <a:buNone/>
              <a:defRPr sz="1800">
                <a:latin typeface="Inter"/>
                <a:ea typeface="Inter"/>
                <a:cs typeface="Inter"/>
                <a:sym typeface="Inter"/>
              </a:defRPr>
            </a:lvl9pPr>
          </a:lstStyle>
          <a:p>
            <a:endParaRPr/>
          </a:p>
        </p:txBody>
      </p:sp>
      <p:sp>
        <p:nvSpPr>
          <p:cNvPr id="3" name="Content Placeholder 2">
            <a:extLst>
              <a:ext uri="{FF2B5EF4-FFF2-40B4-BE49-F238E27FC236}">
                <a16:creationId xmlns:a16="http://schemas.microsoft.com/office/drawing/2014/main" id="{4B936976-35EF-CD56-8BC4-7DE21D98E10B}"/>
              </a:ext>
            </a:extLst>
          </p:cNvPr>
          <p:cNvSpPr>
            <a:spLocks noGrp="1"/>
          </p:cNvSpPr>
          <p:nvPr>
            <p:ph sz="quarter" idx="13"/>
          </p:nvPr>
        </p:nvSpPr>
        <p:spPr>
          <a:xfrm>
            <a:off x="197564" y="641350"/>
            <a:ext cx="8747999" cy="3951288"/>
          </a:xfrm>
          <a:prstGeom prst="rect">
            <a:avLst/>
          </a:prstGeom>
        </p:spPr>
        <p:txBody>
          <a:bodyPr/>
          <a:lstStyle>
            <a:lvl1pPr>
              <a:defRPr sz="2400">
                <a:latin typeface="+mj-lt"/>
              </a:defRPr>
            </a:lvl1pPr>
            <a:lvl2pPr>
              <a:defRPr sz="1050"/>
            </a:lvl2pPr>
            <a:lvl3pPr>
              <a:defRPr sz="1050"/>
            </a:lvl3pPr>
            <a:lvl4pPr>
              <a:defRPr sz="1050"/>
            </a:lvl4pPr>
            <a:lvl5pPr>
              <a:defRPr sz="1050"/>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Fifth level</a:t>
            </a:r>
          </a:p>
        </p:txBody>
      </p:sp>
    </p:spTree>
    <p:extLst>
      <p:ext uri="{BB962C8B-B14F-4D97-AF65-F5344CB8AC3E}">
        <p14:creationId xmlns:p14="http://schemas.microsoft.com/office/powerpoint/2010/main" val="3487171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6E - Titre et Image / Fond Grey">
  <p:cSld name="TITLE_AND_TWO_COLUMNS_2_1">
    <p:bg>
      <p:bgPr>
        <a:solidFill>
          <a:schemeClr val="accent1"/>
        </a:solidFill>
        <a:effectLst/>
      </p:bgPr>
    </p:bg>
    <p:spTree>
      <p:nvGrpSpPr>
        <p:cNvPr id="1" name="Shape 244"/>
        <p:cNvGrpSpPr/>
        <p:nvPr/>
      </p:nvGrpSpPr>
      <p:grpSpPr>
        <a:xfrm>
          <a:off x="0" y="0"/>
          <a:ext cx="0" cy="0"/>
          <a:chOff x="0" y="0"/>
          <a:chExt cx="0" cy="0"/>
        </a:xfrm>
      </p:grpSpPr>
      <p:pic>
        <p:nvPicPr>
          <p:cNvPr id="245" name="Google Shape;245;p3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46" name="Google Shape;246;p3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47" name="Google Shape;247;p38"/>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8" name="Google Shape;248;p38"/>
          <p:cNvSpPr>
            <a:spLocks noGrp="1"/>
          </p:cNvSpPr>
          <p:nvPr>
            <p:ph type="pic" idx="2"/>
          </p:nvPr>
        </p:nvSpPr>
        <p:spPr>
          <a:xfrm>
            <a:off x="198000" y="600075"/>
            <a:ext cx="8748000" cy="4028700"/>
          </a:xfrm>
          <a:prstGeom prst="roundRect">
            <a:avLst>
              <a:gd name="adj" fmla="val 1913"/>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A - Texte &amp; Image / Fond Grey 1">
  <p:cSld name="TITLE_AND_TWO_COLUMNS_1">
    <p:bg>
      <p:bgPr>
        <a:solidFill>
          <a:schemeClr val="accent1"/>
        </a:solidFill>
        <a:effectLst/>
      </p:bgPr>
    </p:bg>
    <p:spTree>
      <p:nvGrpSpPr>
        <p:cNvPr id="1" name="Shape 249"/>
        <p:cNvGrpSpPr/>
        <p:nvPr/>
      </p:nvGrpSpPr>
      <p:grpSpPr>
        <a:xfrm>
          <a:off x="0" y="0"/>
          <a:ext cx="0" cy="0"/>
          <a:chOff x="0" y="0"/>
          <a:chExt cx="0" cy="0"/>
        </a:xfrm>
      </p:grpSpPr>
      <p:pic>
        <p:nvPicPr>
          <p:cNvPr id="250" name="Google Shape;250;p3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51" name="Google Shape;251;p3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52" name="Google Shape;252;p39"/>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39"/>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54" name="Google Shape;254;p39"/>
          <p:cNvSpPr>
            <a:spLocks noGrp="1"/>
          </p:cNvSpPr>
          <p:nvPr>
            <p:ph type="pic" idx="3"/>
          </p:nvPr>
        </p:nvSpPr>
        <p:spPr>
          <a:xfrm>
            <a:off x="3180000" y="198000"/>
            <a:ext cx="5766000" cy="4549500"/>
          </a:xfrm>
          <a:prstGeom prst="roundRect">
            <a:avLst>
              <a:gd name="adj" fmla="val 2361"/>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5B - Texte &amp; Image / Fond Grey 2">
  <p:cSld name="TITLE_AND_TWO_COLUMNS_1_4">
    <p:bg>
      <p:bgPr>
        <a:solidFill>
          <a:schemeClr val="accent1"/>
        </a:solidFill>
        <a:effectLst/>
      </p:bgPr>
    </p:bg>
    <p:spTree>
      <p:nvGrpSpPr>
        <p:cNvPr id="1" name="Shape 255"/>
        <p:cNvGrpSpPr/>
        <p:nvPr/>
      </p:nvGrpSpPr>
      <p:grpSpPr>
        <a:xfrm>
          <a:off x="0" y="0"/>
          <a:ext cx="0" cy="0"/>
          <a:chOff x="0" y="0"/>
          <a:chExt cx="0" cy="0"/>
        </a:xfrm>
      </p:grpSpPr>
      <p:pic>
        <p:nvPicPr>
          <p:cNvPr id="256" name="Google Shape;256;p40"/>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57" name="Google Shape;257;p40"/>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58" name="Google Shape;258;p40"/>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0"/>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60" name="Google Shape;260;p40"/>
          <p:cNvSpPr>
            <a:spLocks noGrp="1"/>
          </p:cNvSpPr>
          <p:nvPr>
            <p:ph type="pic" idx="3"/>
          </p:nvPr>
        </p:nvSpPr>
        <p:spPr>
          <a:xfrm>
            <a:off x="3180000" y="198000"/>
            <a:ext cx="5766000" cy="2175600"/>
          </a:xfrm>
          <a:prstGeom prst="roundRect">
            <a:avLst>
              <a:gd name="adj" fmla="val 2361"/>
            </a:avLst>
          </a:prstGeom>
          <a:noFill/>
          <a:ln>
            <a:noFill/>
          </a:ln>
        </p:spPr>
      </p:sp>
      <p:sp>
        <p:nvSpPr>
          <p:cNvPr id="261" name="Google Shape;261;p40"/>
          <p:cNvSpPr txBox="1">
            <a:spLocks noGrp="1"/>
          </p:cNvSpPr>
          <p:nvPr>
            <p:ph type="body" idx="4"/>
          </p:nvPr>
        </p:nvSpPr>
        <p:spPr>
          <a:xfrm>
            <a:off x="3180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62" name="Google Shape;262;p40"/>
          <p:cNvSpPr txBox="1">
            <a:spLocks noGrp="1"/>
          </p:cNvSpPr>
          <p:nvPr>
            <p:ph type="body" idx="5"/>
          </p:nvPr>
        </p:nvSpPr>
        <p:spPr>
          <a:xfrm>
            <a:off x="6162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5C - Texte &amp; Image / Fond Grey 3">
  <p:cSld name="TITLE_AND_TWO_COLUMNS_1_4_2">
    <p:bg>
      <p:bgPr>
        <a:solidFill>
          <a:schemeClr val="accent1"/>
        </a:solidFill>
        <a:effectLst/>
      </p:bgPr>
    </p:bg>
    <p:spTree>
      <p:nvGrpSpPr>
        <p:cNvPr id="1" name="Shape 263"/>
        <p:cNvGrpSpPr/>
        <p:nvPr/>
      </p:nvGrpSpPr>
      <p:grpSpPr>
        <a:xfrm>
          <a:off x="0" y="0"/>
          <a:ext cx="0" cy="0"/>
          <a:chOff x="0" y="0"/>
          <a:chExt cx="0" cy="0"/>
        </a:xfrm>
      </p:grpSpPr>
      <p:pic>
        <p:nvPicPr>
          <p:cNvPr id="264" name="Google Shape;264;p4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65" name="Google Shape;265;p4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66" name="Google Shape;266;p41"/>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67" name="Google Shape;267;p41" title="Laptop Mockup.png"/>
          <p:cNvPicPr preferRelativeResize="0"/>
          <p:nvPr/>
        </p:nvPicPr>
        <p:blipFill rotWithShape="1">
          <a:blip r:embed="rId3">
            <a:alphaModFix/>
          </a:blip>
          <a:srcRect b="8139"/>
          <a:stretch/>
        </p:blipFill>
        <p:spPr>
          <a:xfrm>
            <a:off x="1208600" y="928126"/>
            <a:ext cx="6726799" cy="4215375"/>
          </a:xfrm>
          <a:prstGeom prst="rect">
            <a:avLst/>
          </a:prstGeom>
          <a:noFill/>
          <a:ln>
            <a:noFill/>
          </a:ln>
        </p:spPr>
      </p:pic>
      <p:sp>
        <p:nvSpPr>
          <p:cNvPr id="268" name="Google Shape;268;p41"/>
          <p:cNvSpPr/>
          <p:nvPr/>
        </p:nvSpPr>
        <p:spPr>
          <a:xfrm>
            <a:off x="1830500" y="1111250"/>
            <a:ext cx="5412300" cy="35217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41"/>
          <p:cNvSpPr>
            <a:spLocks noGrp="1"/>
          </p:cNvSpPr>
          <p:nvPr>
            <p:ph type="pic" idx="2"/>
          </p:nvPr>
        </p:nvSpPr>
        <p:spPr>
          <a:xfrm>
            <a:off x="1821475" y="1101825"/>
            <a:ext cx="5404500" cy="3531000"/>
          </a:xfrm>
          <a:prstGeom prst="roundRect">
            <a:avLst>
              <a:gd name="adj" fmla="val 1781"/>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5D - Texte &amp; Image / Fond Grey 4">
  <p:cSld name="TITLE_AND_TWO_COLUMNS_1_4_1">
    <p:bg>
      <p:bgPr>
        <a:solidFill>
          <a:schemeClr val="accent1"/>
        </a:solidFill>
        <a:effectLst/>
      </p:bgPr>
    </p:bg>
    <p:spTree>
      <p:nvGrpSpPr>
        <p:cNvPr id="1" name="Shape 270"/>
        <p:cNvGrpSpPr/>
        <p:nvPr/>
      </p:nvGrpSpPr>
      <p:grpSpPr>
        <a:xfrm>
          <a:off x="0" y="0"/>
          <a:ext cx="0" cy="0"/>
          <a:chOff x="0" y="0"/>
          <a:chExt cx="0" cy="0"/>
        </a:xfrm>
      </p:grpSpPr>
      <p:pic>
        <p:nvPicPr>
          <p:cNvPr id="271" name="Google Shape;271;p4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72" name="Google Shape;272;p4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73" name="Google Shape;273;p42"/>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42"/>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75" name="Google Shape;275;p42"/>
          <p:cNvSpPr>
            <a:spLocks noGrp="1"/>
          </p:cNvSpPr>
          <p:nvPr>
            <p:ph type="pic" idx="3"/>
          </p:nvPr>
        </p:nvSpPr>
        <p:spPr>
          <a:xfrm>
            <a:off x="3180000" y="198000"/>
            <a:ext cx="2784000" cy="2175600"/>
          </a:xfrm>
          <a:prstGeom prst="roundRect">
            <a:avLst>
              <a:gd name="adj" fmla="val 2361"/>
            </a:avLst>
          </a:prstGeom>
          <a:noFill/>
          <a:ln>
            <a:noFill/>
          </a:ln>
        </p:spPr>
      </p:sp>
      <p:sp>
        <p:nvSpPr>
          <p:cNvPr id="276" name="Google Shape;276;p42"/>
          <p:cNvSpPr txBox="1">
            <a:spLocks noGrp="1"/>
          </p:cNvSpPr>
          <p:nvPr>
            <p:ph type="body" idx="4"/>
          </p:nvPr>
        </p:nvSpPr>
        <p:spPr>
          <a:xfrm>
            <a:off x="3180000" y="2571900"/>
            <a:ext cx="5766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77" name="Google Shape;277;p42"/>
          <p:cNvSpPr>
            <a:spLocks noGrp="1"/>
          </p:cNvSpPr>
          <p:nvPr>
            <p:ph type="pic" idx="5"/>
          </p:nvPr>
        </p:nvSpPr>
        <p:spPr>
          <a:xfrm>
            <a:off x="6162000" y="198000"/>
            <a:ext cx="2784000" cy="2175600"/>
          </a:xfrm>
          <a:prstGeom prst="roundRect">
            <a:avLst>
              <a:gd name="adj" fmla="val 2361"/>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E - Texte &amp; Image / Fond Grey 5">
  <p:cSld name="TITLE_AND_TWO_COLUMNS_1_4_1_1">
    <p:bg>
      <p:bgPr>
        <a:solidFill>
          <a:schemeClr val="accent1"/>
        </a:solidFill>
        <a:effectLst/>
      </p:bgPr>
    </p:bg>
    <p:spTree>
      <p:nvGrpSpPr>
        <p:cNvPr id="1" name="Shape 278"/>
        <p:cNvGrpSpPr/>
        <p:nvPr/>
      </p:nvGrpSpPr>
      <p:grpSpPr>
        <a:xfrm>
          <a:off x="0" y="0"/>
          <a:ext cx="0" cy="0"/>
          <a:chOff x="0" y="0"/>
          <a:chExt cx="0" cy="0"/>
        </a:xfrm>
      </p:grpSpPr>
      <p:pic>
        <p:nvPicPr>
          <p:cNvPr id="279" name="Google Shape;279;p4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80" name="Google Shape;280;p43"/>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81" name="Google Shape;281;p43"/>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43"/>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3" name="Google Shape;283;p43"/>
          <p:cNvSpPr txBox="1">
            <a:spLocks noGrp="1"/>
          </p:cNvSpPr>
          <p:nvPr>
            <p:ph type="body" idx="3"/>
          </p:nvPr>
        </p:nvSpPr>
        <p:spPr>
          <a:xfrm>
            <a:off x="4671000" y="198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4" name="Google Shape;284;p43"/>
          <p:cNvSpPr txBox="1">
            <a:spLocks noGrp="1"/>
          </p:cNvSpPr>
          <p:nvPr>
            <p:ph type="body" idx="4"/>
          </p:nvPr>
        </p:nvSpPr>
        <p:spPr>
          <a:xfrm>
            <a:off x="3180000" y="17805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5" name="Google Shape;285;p43"/>
          <p:cNvSpPr txBox="1">
            <a:spLocks noGrp="1"/>
          </p:cNvSpPr>
          <p:nvPr>
            <p:ph type="body" idx="5"/>
          </p:nvPr>
        </p:nvSpPr>
        <p:spPr>
          <a:xfrm>
            <a:off x="4671000" y="3363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6" name="Google Shape;286;p43"/>
          <p:cNvSpPr>
            <a:spLocks noGrp="1"/>
          </p:cNvSpPr>
          <p:nvPr>
            <p:ph type="pic" idx="6"/>
          </p:nvPr>
        </p:nvSpPr>
        <p:spPr>
          <a:xfrm>
            <a:off x="3180000" y="3362975"/>
            <a:ext cx="1293300" cy="1384500"/>
          </a:xfrm>
          <a:prstGeom prst="roundRect">
            <a:avLst>
              <a:gd name="adj" fmla="val 8277"/>
            </a:avLst>
          </a:prstGeom>
          <a:noFill/>
          <a:ln>
            <a:noFill/>
          </a:ln>
        </p:spPr>
      </p:sp>
      <p:sp>
        <p:nvSpPr>
          <p:cNvPr id="287" name="Google Shape;287;p43"/>
          <p:cNvSpPr>
            <a:spLocks noGrp="1"/>
          </p:cNvSpPr>
          <p:nvPr>
            <p:ph type="pic" idx="7"/>
          </p:nvPr>
        </p:nvSpPr>
        <p:spPr>
          <a:xfrm>
            <a:off x="7653000" y="1780500"/>
            <a:ext cx="1293300" cy="1384500"/>
          </a:xfrm>
          <a:prstGeom prst="roundRect">
            <a:avLst>
              <a:gd name="adj" fmla="val 8277"/>
            </a:avLst>
          </a:prstGeom>
          <a:noFill/>
          <a:ln>
            <a:noFill/>
          </a:ln>
        </p:spPr>
      </p:sp>
      <p:sp>
        <p:nvSpPr>
          <p:cNvPr id="288" name="Google Shape;288;p43"/>
          <p:cNvSpPr>
            <a:spLocks noGrp="1"/>
          </p:cNvSpPr>
          <p:nvPr>
            <p:ph type="pic" idx="8"/>
          </p:nvPr>
        </p:nvSpPr>
        <p:spPr>
          <a:xfrm>
            <a:off x="3180000" y="198025"/>
            <a:ext cx="1293300" cy="1384500"/>
          </a:xfrm>
          <a:prstGeom prst="roundRect">
            <a:avLst>
              <a:gd name="adj" fmla="val 8277"/>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5F - Texte &amp; Image / Fond Grey 6">
  <p:cSld name="TITLE_AND_TWO_COLUMNS_1_4_1_1_1">
    <p:bg>
      <p:bgPr>
        <a:solidFill>
          <a:schemeClr val="accent1"/>
        </a:solidFill>
        <a:effectLst/>
      </p:bgPr>
    </p:bg>
    <p:spTree>
      <p:nvGrpSpPr>
        <p:cNvPr id="1" name="Shape 289"/>
        <p:cNvGrpSpPr/>
        <p:nvPr/>
      </p:nvGrpSpPr>
      <p:grpSpPr>
        <a:xfrm>
          <a:off x="0" y="0"/>
          <a:ext cx="0" cy="0"/>
          <a:chOff x="0" y="0"/>
          <a:chExt cx="0" cy="0"/>
        </a:xfrm>
      </p:grpSpPr>
      <p:pic>
        <p:nvPicPr>
          <p:cNvPr id="290" name="Google Shape;290;p44"/>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91" name="Google Shape;291;p44"/>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92" name="Google Shape;292;p44"/>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3" name="Google Shape;293;p44"/>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4" name="Google Shape;294;p44"/>
          <p:cNvSpPr txBox="1">
            <a:spLocks noGrp="1"/>
          </p:cNvSpPr>
          <p:nvPr>
            <p:ph type="body" idx="3"/>
          </p:nvPr>
        </p:nvSpPr>
        <p:spPr>
          <a:xfrm>
            <a:off x="467185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5" name="Google Shape;295;p44"/>
          <p:cNvSpPr txBox="1">
            <a:spLocks noGrp="1"/>
          </p:cNvSpPr>
          <p:nvPr>
            <p:ph type="body" idx="4"/>
          </p:nvPr>
        </p:nvSpPr>
        <p:spPr>
          <a:xfrm>
            <a:off x="690750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6" name="Google Shape;296;p44"/>
          <p:cNvSpPr txBox="1">
            <a:spLocks noGrp="1"/>
          </p:cNvSpPr>
          <p:nvPr>
            <p:ph type="body" idx="5"/>
          </p:nvPr>
        </p:nvSpPr>
        <p:spPr>
          <a:xfrm>
            <a:off x="2435375" y="3465529"/>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7" name="Google Shape;297;p44"/>
          <p:cNvSpPr>
            <a:spLocks noGrp="1"/>
          </p:cNvSpPr>
          <p:nvPr>
            <p:ph type="pic" idx="6"/>
          </p:nvPr>
        </p:nvSpPr>
        <p:spPr>
          <a:xfrm>
            <a:off x="2435425" y="198000"/>
            <a:ext cx="2037600" cy="3144900"/>
          </a:xfrm>
          <a:prstGeom prst="roundRect">
            <a:avLst>
              <a:gd name="adj" fmla="val 5271"/>
            </a:avLst>
          </a:prstGeom>
          <a:noFill/>
          <a:ln>
            <a:noFill/>
          </a:ln>
        </p:spPr>
      </p:sp>
      <p:sp>
        <p:nvSpPr>
          <p:cNvPr id="298" name="Google Shape;298;p44"/>
          <p:cNvSpPr>
            <a:spLocks noGrp="1"/>
          </p:cNvSpPr>
          <p:nvPr>
            <p:ph type="pic" idx="7"/>
          </p:nvPr>
        </p:nvSpPr>
        <p:spPr>
          <a:xfrm>
            <a:off x="4671463" y="198000"/>
            <a:ext cx="2037600" cy="3144900"/>
          </a:xfrm>
          <a:prstGeom prst="roundRect">
            <a:avLst>
              <a:gd name="adj" fmla="val 5271"/>
            </a:avLst>
          </a:prstGeom>
          <a:noFill/>
          <a:ln>
            <a:noFill/>
          </a:ln>
        </p:spPr>
      </p:sp>
      <p:sp>
        <p:nvSpPr>
          <p:cNvPr id="299" name="Google Shape;299;p44"/>
          <p:cNvSpPr>
            <a:spLocks noGrp="1"/>
          </p:cNvSpPr>
          <p:nvPr>
            <p:ph type="pic" idx="8"/>
          </p:nvPr>
        </p:nvSpPr>
        <p:spPr>
          <a:xfrm>
            <a:off x="6907500" y="198000"/>
            <a:ext cx="2037600" cy="3144900"/>
          </a:xfrm>
          <a:prstGeom prst="roundRect">
            <a:avLst>
              <a:gd name="adj" fmla="val 5271"/>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5G - Texte &amp; Image / Fond Grey 7">
  <p:cSld name="TITLE_AND_TWO_COLUMNS_1_4_1_1_1_1">
    <p:bg>
      <p:bgPr>
        <a:solidFill>
          <a:schemeClr val="accent1"/>
        </a:solidFill>
        <a:effectLst/>
      </p:bgPr>
    </p:bg>
    <p:spTree>
      <p:nvGrpSpPr>
        <p:cNvPr id="1" name="Shape 300"/>
        <p:cNvGrpSpPr/>
        <p:nvPr/>
      </p:nvGrpSpPr>
      <p:grpSpPr>
        <a:xfrm>
          <a:off x="0" y="0"/>
          <a:ext cx="0" cy="0"/>
          <a:chOff x="0" y="0"/>
          <a:chExt cx="0" cy="0"/>
        </a:xfrm>
      </p:grpSpPr>
      <p:pic>
        <p:nvPicPr>
          <p:cNvPr id="301" name="Google Shape;301;p45"/>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02" name="Google Shape;302;p4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03" name="Google Shape;303;p45"/>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4" name="Google Shape;304;p45"/>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5" name="Google Shape;305;p45"/>
          <p:cNvSpPr txBox="1">
            <a:spLocks noGrp="1"/>
          </p:cNvSpPr>
          <p:nvPr>
            <p:ph type="body" idx="3"/>
          </p:nvPr>
        </p:nvSpPr>
        <p:spPr>
          <a:xfrm>
            <a:off x="467185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6" name="Google Shape;306;p45"/>
          <p:cNvSpPr txBox="1">
            <a:spLocks noGrp="1"/>
          </p:cNvSpPr>
          <p:nvPr>
            <p:ph type="body" idx="4"/>
          </p:nvPr>
        </p:nvSpPr>
        <p:spPr>
          <a:xfrm>
            <a:off x="690750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7" name="Google Shape;307;p45"/>
          <p:cNvSpPr txBox="1">
            <a:spLocks noGrp="1"/>
          </p:cNvSpPr>
          <p:nvPr>
            <p:ph type="body" idx="5"/>
          </p:nvPr>
        </p:nvSpPr>
        <p:spPr>
          <a:xfrm>
            <a:off x="2435375" y="1842197"/>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8" name="Google Shape;308;p45"/>
          <p:cNvSpPr txBox="1">
            <a:spLocks noGrp="1"/>
          </p:cNvSpPr>
          <p:nvPr>
            <p:ph type="body" idx="6"/>
          </p:nvPr>
        </p:nvSpPr>
        <p:spPr>
          <a:xfrm>
            <a:off x="467228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9" name="Google Shape;309;p45"/>
          <p:cNvSpPr txBox="1">
            <a:spLocks noGrp="1"/>
          </p:cNvSpPr>
          <p:nvPr>
            <p:ph type="body" idx="7"/>
          </p:nvPr>
        </p:nvSpPr>
        <p:spPr>
          <a:xfrm>
            <a:off x="690793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10" name="Google Shape;310;p45"/>
          <p:cNvSpPr txBox="1">
            <a:spLocks noGrp="1"/>
          </p:cNvSpPr>
          <p:nvPr>
            <p:ph type="body" idx="8"/>
          </p:nvPr>
        </p:nvSpPr>
        <p:spPr>
          <a:xfrm>
            <a:off x="2435813" y="4282522"/>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11" name="Google Shape;311;p45"/>
          <p:cNvSpPr>
            <a:spLocks noGrp="1"/>
          </p:cNvSpPr>
          <p:nvPr>
            <p:ph type="pic" idx="9"/>
          </p:nvPr>
        </p:nvSpPr>
        <p:spPr>
          <a:xfrm>
            <a:off x="4671488" y="198000"/>
            <a:ext cx="2037600" cy="1584000"/>
          </a:xfrm>
          <a:prstGeom prst="roundRect">
            <a:avLst>
              <a:gd name="adj" fmla="val 3727"/>
            </a:avLst>
          </a:prstGeom>
          <a:noFill/>
          <a:ln>
            <a:noFill/>
          </a:ln>
        </p:spPr>
      </p:sp>
      <p:sp>
        <p:nvSpPr>
          <p:cNvPr id="312" name="Google Shape;312;p45"/>
          <p:cNvSpPr>
            <a:spLocks noGrp="1"/>
          </p:cNvSpPr>
          <p:nvPr>
            <p:ph type="pic" idx="13"/>
          </p:nvPr>
        </p:nvSpPr>
        <p:spPr>
          <a:xfrm>
            <a:off x="6907550" y="198000"/>
            <a:ext cx="2037600" cy="1584000"/>
          </a:xfrm>
          <a:prstGeom prst="roundRect">
            <a:avLst>
              <a:gd name="adj" fmla="val 3727"/>
            </a:avLst>
          </a:prstGeom>
          <a:noFill/>
          <a:ln>
            <a:noFill/>
          </a:ln>
        </p:spPr>
      </p:sp>
      <p:sp>
        <p:nvSpPr>
          <p:cNvPr id="313" name="Google Shape;313;p45"/>
          <p:cNvSpPr>
            <a:spLocks noGrp="1"/>
          </p:cNvSpPr>
          <p:nvPr>
            <p:ph type="pic" idx="14"/>
          </p:nvPr>
        </p:nvSpPr>
        <p:spPr>
          <a:xfrm>
            <a:off x="2435425" y="203055"/>
            <a:ext cx="2037600" cy="1584000"/>
          </a:xfrm>
          <a:prstGeom prst="roundRect">
            <a:avLst>
              <a:gd name="adj" fmla="val 3727"/>
            </a:avLst>
          </a:prstGeom>
          <a:noFill/>
          <a:ln>
            <a:noFill/>
          </a:ln>
        </p:spPr>
      </p:sp>
      <p:sp>
        <p:nvSpPr>
          <p:cNvPr id="314" name="Google Shape;314;p45"/>
          <p:cNvSpPr>
            <a:spLocks noGrp="1"/>
          </p:cNvSpPr>
          <p:nvPr>
            <p:ph type="pic" idx="15"/>
          </p:nvPr>
        </p:nvSpPr>
        <p:spPr>
          <a:xfrm>
            <a:off x="4672338" y="2571746"/>
            <a:ext cx="2037600" cy="1578900"/>
          </a:xfrm>
          <a:prstGeom prst="roundRect">
            <a:avLst>
              <a:gd name="adj" fmla="val 3727"/>
            </a:avLst>
          </a:prstGeom>
          <a:noFill/>
          <a:ln>
            <a:noFill/>
          </a:ln>
        </p:spPr>
      </p:sp>
      <p:sp>
        <p:nvSpPr>
          <p:cNvPr id="315" name="Google Shape;315;p45"/>
          <p:cNvSpPr>
            <a:spLocks noGrp="1"/>
          </p:cNvSpPr>
          <p:nvPr>
            <p:ph type="pic" idx="16"/>
          </p:nvPr>
        </p:nvSpPr>
        <p:spPr>
          <a:xfrm>
            <a:off x="6907988" y="2571746"/>
            <a:ext cx="2037600" cy="1578900"/>
          </a:xfrm>
          <a:prstGeom prst="roundRect">
            <a:avLst>
              <a:gd name="adj" fmla="val 3727"/>
            </a:avLst>
          </a:prstGeom>
          <a:noFill/>
          <a:ln>
            <a:noFill/>
          </a:ln>
        </p:spPr>
      </p:sp>
      <p:sp>
        <p:nvSpPr>
          <p:cNvPr id="316" name="Google Shape;316;p45"/>
          <p:cNvSpPr>
            <a:spLocks noGrp="1"/>
          </p:cNvSpPr>
          <p:nvPr>
            <p:ph type="pic" idx="17"/>
          </p:nvPr>
        </p:nvSpPr>
        <p:spPr>
          <a:xfrm>
            <a:off x="2435863" y="2576801"/>
            <a:ext cx="2037600" cy="1578900"/>
          </a:xfrm>
          <a:prstGeom prst="roundRect">
            <a:avLst>
              <a:gd name="adj" fmla="val 3727"/>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5H - Texte &amp; Image / Fond Grey 8">
  <p:cSld name="TITLE_AND_TWO_COLUMNS_1_4_1_1_1_1_1">
    <p:bg>
      <p:bgPr>
        <a:solidFill>
          <a:schemeClr val="accent1"/>
        </a:solidFill>
        <a:effectLst/>
      </p:bgPr>
    </p:bg>
    <p:spTree>
      <p:nvGrpSpPr>
        <p:cNvPr id="1" name="Shape 317"/>
        <p:cNvGrpSpPr/>
        <p:nvPr/>
      </p:nvGrpSpPr>
      <p:grpSpPr>
        <a:xfrm>
          <a:off x="0" y="0"/>
          <a:ext cx="0" cy="0"/>
          <a:chOff x="0" y="0"/>
          <a:chExt cx="0" cy="0"/>
        </a:xfrm>
      </p:grpSpPr>
      <p:pic>
        <p:nvPicPr>
          <p:cNvPr id="318" name="Google Shape;318;p46"/>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19" name="Google Shape;319;p46"/>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20" name="Google Shape;320;p46"/>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46"/>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2" name="Google Shape;322;p46"/>
          <p:cNvSpPr txBox="1">
            <a:spLocks noGrp="1"/>
          </p:cNvSpPr>
          <p:nvPr>
            <p:ph type="body" idx="3"/>
          </p:nvPr>
        </p:nvSpPr>
        <p:spPr>
          <a:xfrm>
            <a:off x="3179875"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3" name="Google Shape;323;p46"/>
          <p:cNvSpPr txBox="1">
            <a:spLocks noGrp="1"/>
          </p:cNvSpPr>
          <p:nvPr>
            <p:ph type="body" idx="4"/>
          </p:nvPr>
        </p:nvSpPr>
        <p:spPr>
          <a:xfrm>
            <a:off x="467095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4" name="Google Shape;324;p46"/>
          <p:cNvSpPr txBox="1">
            <a:spLocks noGrp="1"/>
          </p:cNvSpPr>
          <p:nvPr>
            <p:ph type="body" idx="5"/>
          </p:nvPr>
        </p:nvSpPr>
        <p:spPr>
          <a:xfrm>
            <a:off x="765300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5" name="Google Shape;325;p46"/>
          <p:cNvSpPr txBox="1">
            <a:spLocks noGrp="1"/>
          </p:cNvSpPr>
          <p:nvPr>
            <p:ph type="body" idx="6"/>
          </p:nvPr>
        </p:nvSpPr>
        <p:spPr>
          <a:xfrm>
            <a:off x="6162000" y="3031325"/>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6" name="Google Shape;326;p46"/>
          <p:cNvSpPr>
            <a:spLocks noGrp="1"/>
          </p:cNvSpPr>
          <p:nvPr>
            <p:ph type="pic" idx="7"/>
          </p:nvPr>
        </p:nvSpPr>
        <p:spPr>
          <a:xfrm>
            <a:off x="3179925" y="198009"/>
            <a:ext cx="1292100" cy="2667000"/>
          </a:xfrm>
          <a:prstGeom prst="roundRect">
            <a:avLst>
              <a:gd name="adj" fmla="val 3727"/>
            </a:avLst>
          </a:prstGeom>
          <a:noFill/>
          <a:ln>
            <a:noFill/>
          </a:ln>
        </p:spPr>
      </p:sp>
      <p:sp>
        <p:nvSpPr>
          <p:cNvPr id="327" name="Google Shape;327;p46"/>
          <p:cNvSpPr>
            <a:spLocks noGrp="1"/>
          </p:cNvSpPr>
          <p:nvPr>
            <p:ph type="pic" idx="8"/>
          </p:nvPr>
        </p:nvSpPr>
        <p:spPr>
          <a:xfrm>
            <a:off x="4671000" y="198009"/>
            <a:ext cx="1292100" cy="2667000"/>
          </a:xfrm>
          <a:prstGeom prst="roundRect">
            <a:avLst>
              <a:gd name="adj" fmla="val 3727"/>
            </a:avLst>
          </a:prstGeom>
          <a:noFill/>
          <a:ln>
            <a:noFill/>
          </a:ln>
        </p:spPr>
      </p:sp>
      <p:sp>
        <p:nvSpPr>
          <p:cNvPr id="328" name="Google Shape;328;p46"/>
          <p:cNvSpPr>
            <a:spLocks noGrp="1"/>
          </p:cNvSpPr>
          <p:nvPr>
            <p:ph type="pic" idx="9"/>
          </p:nvPr>
        </p:nvSpPr>
        <p:spPr>
          <a:xfrm>
            <a:off x="7653050" y="198009"/>
            <a:ext cx="1292100" cy="2667000"/>
          </a:xfrm>
          <a:prstGeom prst="roundRect">
            <a:avLst>
              <a:gd name="adj" fmla="val 3727"/>
            </a:avLst>
          </a:prstGeom>
          <a:noFill/>
          <a:ln>
            <a:noFill/>
          </a:ln>
        </p:spPr>
      </p:sp>
      <p:sp>
        <p:nvSpPr>
          <p:cNvPr id="329" name="Google Shape;329;p46"/>
          <p:cNvSpPr>
            <a:spLocks noGrp="1"/>
          </p:cNvSpPr>
          <p:nvPr>
            <p:ph type="pic" idx="13"/>
          </p:nvPr>
        </p:nvSpPr>
        <p:spPr>
          <a:xfrm>
            <a:off x="6162050" y="197998"/>
            <a:ext cx="1292100" cy="2667000"/>
          </a:xfrm>
          <a:prstGeom prst="roundRect">
            <a:avLst>
              <a:gd name="adj" fmla="val 3727"/>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5I - Texte &amp; Image / Fond Grey 9">
  <p:cSld name="TITLE_AND_TWO_COLUMNS_1_4_1_1_1_1_1_1">
    <p:bg>
      <p:bgPr>
        <a:solidFill>
          <a:schemeClr val="accent1"/>
        </a:solidFill>
        <a:effectLst/>
      </p:bgPr>
    </p:bg>
    <p:spTree>
      <p:nvGrpSpPr>
        <p:cNvPr id="1" name="Shape 330"/>
        <p:cNvGrpSpPr/>
        <p:nvPr/>
      </p:nvGrpSpPr>
      <p:grpSpPr>
        <a:xfrm>
          <a:off x="0" y="0"/>
          <a:ext cx="0" cy="0"/>
          <a:chOff x="0" y="0"/>
          <a:chExt cx="0" cy="0"/>
        </a:xfrm>
      </p:grpSpPr>
      <p:pic>
        <p:nvPicPr>
          <p:cNvPr id="331" name="Google Shape;331;p4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32" name="Google Shape;332;p4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33" name="Google Shape;333;p47"/>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4" name="Google Shape;334;p47"/>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5" name="Google Shape;335;p47"/>
          <p:cNvSpPr txBox="1">
            <a:spLocks noGrp="1"/>
          </p:cNvSpPr>
          <p:nvPr>
            <p:ph type="body" idx="3"/>
          </p:nvPr>
        </p:nvSpPr>
        <p:spPr>
          <a:xfrm>
            <a:off x="3179875"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6" name="Google Shape;336;p47"/>
          <p:cNvSpPr txBox="1">
            <a:spLocks noGrp="1"/>
          </p:cNvSpPr>
          <p:nvPr>
            <p:ph type="body" idx="4"/>
          </p:nvPr>
        </p:nvSpPr>
        <p:spPr>
          <a:xfrm>
            <a:off x="4670950"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7" name="Google Shape;337;p47"/>
          <p:cNvSpPr txBox="1">
            <a:spLocks noGrp="1"/>
          </p:cNvSpPr>
          <p:nvPr>
            <p:ph type="body" idx="5"/>
          </p:nvPr>
        </p:nvSpPr>
        <p:spPr>
          <a:xfrm>
            <a:off x="6162000" y="1668445"/>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8" name="Google Shape;338;p47"/>
          <p:cNvSpPr txBox="1">
            <a:spLocks noGrp="1"/>
          </p:cNvSpPr>
          <p:nvPr>
            <p:ph type="body" idx="6"/>
          </p:nvPr>
        </p:nvSpPr>
        <p:spPr>
          <a:xfrm>
            <a:off x="3179875"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9" name="Google Shape;339;p47"/>
          <p:cNvSpPr txBox="1">
            <a:spLocks noGrp="1"/>
          </p:cNvSpPr>
          <p:nvPr>
            <p:ph type="body" idx="7"/>
          </p:nvPr>
        </p:nvSpPr>
        <p:spPr>
          <a:xfrm>
            <a:off x="467095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0" name="Google Shape;340;p47"/>
          <p:cNvSpPr txBox="1">
            <a:spLocks noGrp="1"/>
          </p:cNvSpPr>
          <p:nvPr>
            <p:ph type="body" idx="8"/>
          </p:nvPr>
        </p:nvSpPr>
        <p:spPr>
          <a:xfrm>
            <a:off x="6162000" y="4035670"/>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1" name="Google Shape;341;p47"/>
          <p:cNvSpPr txBox="1">
            <a:spLocks noGrp="1"/>
          </p:cNvSpPr>
          <p:nvPr>
            <p:ph type="body" idx="9"/>
          </p:nvPr>
        </p:nvSpPr>
        <p:spPr>
          <a:xfrm>
            <a:off x="7653000" y="1668453"/>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2" name="Google Shape;342;p47"/>
          <p:cNvSpPr txBox="1">
            <a:spLocks noGrp="1"/>
          </p:cNvSpPr>
          <p:nvPr>
            <p:ph type="body" idx="13"/>
          </p:nvPr>
        </p:nvSpPr>
        <p:spPr>
          <a:xfrm>
            <a:off x="765300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3" name="Google Shape;343;p47"/>
          <p:cNvSpPr>
            <a:spLocks noGrp="1"/>
          </p:cNvSpPr>
          <p:nvPr>
            <p:ph type="pic" idx="14"/>
          </p:nvPr>
        </p:nvSpPr>
        <p:spPr>
          <a:xfrm>
            <a:off x="3179925" y="204528"/>
            <a:ext cx="1292100" cy="1292400"/>
          </a:xfrm>
          <a:prstGeom prst="roundRect">
            <a:avLst>
              <a:gd name="adj" fmla="val 3727"/>
            </a:avLst>
          </a:prstGeom>
          <a:noFill/>
          <a:ln>
            <a:noFill/>
          </a:ln>
        </p:spPr>
      </p:sp>
      <p:sp>
        <p:nvSpPr>
          <p:cNvPr id="344" name="Google Shape;344;p47"/>
          <p:cNvSpPr>
            <a:spLocks noGrp="1"/>
          </p:cNvSpPr>
          <p:nvPr>
            <p:ph type="pic" idx="15"/>
          </p:nvPr>
        </p:nvSpPr>
        <p:spPr>
          <a:xfrm>
            <a:off x="4671000" y="204528"/>
            <a:ext cx="1292100" cy="1292400"/>
          </a:xfrm>
          <a:prstGeom prst="roundRect">
            <a:avLst>
              <a:gd name="adj" fmla="val 3727"/>
            </a:avLst>
          </a:prstGeom>
          <a:noFill/>
          <a:ln>
            <a:noFill/>
          </a:ln>
        </p:spPr>
      </p:sp>
      <p:sp>
        <p:nvSpPr>
          <p:cNvPr id="345" name="Google Shape;345;p47"/>
          <p:cNvSpPr>
            <a:spLocks noGrp="1"/>
          </p:cNvSpPr>
          <p:nvPr>
            <p:ph type="pic" idx="16"/>
          </p:nvPr>
        </p:nvSpPr>
        <p:spPr>
          <a:xfrm>
            <a:off x="6162050" y="204523"/>
            <a:ext cx="1292100" cy="1292400"/>
          </a:xfrm>
          <a:prstGeom prst="roundRect">
            <a:avLst>
              <a:gd name="adj" fmla="val 3727"/>
            </a:avLst>
          </a:prstGeom>
          <a:noFill/>
          <a:ln>
            <a:noFill/>
          </a:ln>
        </p:spPr>
      </p:sp>
      <p:sp>
        <p:nvSpPr>
          <p:cNvPr id="346" name="Google Shape;346;p47"/>
          <p:cNvSpPr>
            <a:spLocks noGrp="1"/>
          </p:cNvSpPr>
          <p:nvPr>
            <p:ph type="pic" idx="17"/>
          </p:nvPr>
        </p:nvSpPr>
        <p:spPr>
          <a:xfrm>
            <a:off x="3179925" y="2571753"/>
            <a:ext cx="1292100" cy="1292400"/>
          </a:xfrm>
          <a:prstGeom prst="roundRect">
            <a:avLst>
              <a:gd name="adj" fmla="val 3727"/>
            </a:avLst>
          </a:prstGeom>
          <a:noFill/>
          <a:ln>
            <a:noFill/>
          </a:ln>
        </p:spPr>
      </p:sp>
      <p:sp>
        <p:nvSpPr>
          <p:cNvPr id="347" name="Google Shape;347;p47"/>
          <p:cNvSpPr>
            <a:spLocks noGrp="1"/>
          </p:cNvSpPr>
          <p:nvPr>
            <p:ph type="pic" idx="18"/>
          </p:nvPr>
        </p:nvSpPr>
        <p:spPr>
          <a:xfrm>
            <a:off x="4671000" y="2571753"/>
            <a:ext cx="1292100" cy="1292400"/>
          </a:xfrm>
          <a:prstGeom prst="roundRect">
            <a:avLst>
              <a:gd name="adj" fmla="val 3727"/>
            </a:avLst>
          </a:prstGeom>
          <a:noFill/>
          <a:ln>
            <a:noFill/>
          </a:ln>
        </p:spPr>
      </p:sp>
      <p:sp>
        <p:nvSpPr>
          <p:cNvPr id="348" name="Google Shape;348;p47"/>
          <p:cNvSpPr>
            <a:spLocks noGrp="1"/>
          </p:cNvSpPr>
          <p:nvPr>
            <p:ph type="pic" idx="19"/>
          </p:nvPr>
        </p:nvSpPr>
        <p:spPr>
          <a:xfrm>
            <a:off x="6162050" y="2571748"/>
            <a:ext cx="1292100" cy="1292400"/>
          </a:xfrm>
          <a:prstGeom prst="roundRect">
            <a:avLst>
              <a:gd name="adj" fmla="val 3727"/>
            </a:avLst>
          </a:prstGeom>
          <a:noFill/>
          <a:ln>
            <a:noFill/>
          </a:ln>
        </p:spPr>
      </p:sp>
      <p:sp>
        <p:nvSpPr>
          <p:cNvPr id="349" name="Google Shape;349;p47"/>
          <p:cNvSpPr>
            <a:spLocks noGrp="1"/>
          </p:cNvSpPr>
          <p:nvPr>
            <p:ph type="pic" idx="20"/>
          </p:nvPr>
        </p:nvSpPr>
        <p:spPr>
          <a:xfrm>
            <a:off x="7653050" y="204528"/>
            <a:ext cx="1292100" cy="1292400"/>
          </a:xfrm>
          <a:prstGeom prst="roundRect">
            <a:avLst>
              <a:gd name="adj" fmla="val 3727"/>
            </a:avLst>
          </a:prstGeom>
          <a:noFill/>
          <a:ln>
            <a:noFill/>
          </a:ln>
        </p:spPr>
      </p:sp>
      <p:sp>
        <p:nvSpPr>
          <p:cNvPr id="350" name="Google Shape;350;p47"/>
          <p:cNvSpPr>
            <a:spLocks noGrp="1"/>
          </p:cNvSpPr>
          <p:nvPr>
            <p:ph type="pic" idx="21"/>
          </p:nvPr>
        </p:nvSpPr>
        <p:spPr>
          <a:xfrm>
            <a:off x="7653050" y="2571753"/>
            <a:ext cx="1292100" cy="1292400"/>
          </a:xfrm>
          <a:prstGeom prst="roundRect">
            <a:avLst>
              <a:gd name="adj" fmla="val 3727"/>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J - Texte &amp; Image / Fond Grey 10">
  <p:cSld name="TITLE_AND_TWO_COLUMNS_1_3">
    <p:bg>
      <p:bgPr>
        <a:solidFill>
          <a:schemeClr val="accent1"/>
        </a:solidFill>
        <a:effectLst/>
      </p:bgPr>
    </p:bg>
    <p:spTree>
      <p:nvGrpSpPr>
        <p:cNvPr id="1" name="Shape 351"/>
        <p:cNvGrpSpPr/>
        <p:nvPr/>
      </p:nvGrpSpPr>
      <p:grpSpPr>
        <a:xfrm>
          <a:off x="0" y="0"/>
          <a:ext cx="0" cy="0"/>
          <a:chOff x="0" y="0"/>
          <a:chExt cx="0" cy="0"/>
        </a:xfrm>
      </p:grpSpPr>
      <p:sp>
        <p:nvSpPr>
          <p:cNvPr id="352" name="Google Shape;352;p48"/>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3" name="Google Shape;353;p4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54" name="Google Shape;354;p4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55" name="Google Shape;355;p48"/>
          <p:cNvSpPr txBox="1">
            <a:spLocks noGrp="1"/>
          </p:cNvSpPr>
          <p:nvPr>
            <p:ph type="body" idx="2"/>
          </p:nvPr>
        </p:nvSpPr>
        <p:spPr>
          <a:xfrm>
            <a:off x="197925" y="730775"/>
            <a:ext cx="4275000" cy="401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56" name="Google Shape;356;p48"/>
          <p:cNvSpPr>
            <a:spLocks noGrp="1"/>
          </p:cNvSpPr>
          <p:nvPr>
            <p:ph type="pic" idx="3"/>
          </p:nvPr>
        </p:nvSpPr>
        <p:spPr>
          <a:xfrm>
            <a:off x="4671000" y="730775"/>
            <a:ext cx="4275000" cy="4016700"/>
          </a:xfrm>
          <a:prstGeom prst="roundRect">
            <a:avLst>
              <a:gd name="adj" fmla="val 2361"/>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5K - Texte / Fond Grey 11">
  <p:cSld name="TITLE_AND_TWO_COLUMNS_1_2">
    <p:bg>
      <p:bgPr>
        <a:solidFill>
          <a:schemeClr val="accent1"/>
        </a:solidFill>
        <a:effectLst/>
      </p:bgPr>
    </p:bg>
    <p:spTree>
      <p:nvGrpSpPr>
        <p:cNvPr id="1" name="Shape 357"/>
        <p:cNvGrpSpPr/>
        <p:nvPr/>
      </p:nvGrpSpPr>
      <p:grpSpPr>
        <a:xfrm>
          <a:off x="0" y="0"/>
          <a:ext cx="0" cy="0"/>
          <a:chOff x="0" y="0"/>
          <a:chExt cx="0" cy="0"/>
        </a:xfrm>
      </p:grpSpPr>
      <p:sp>
        <p:nvSpPr>
          <p:cNvPr id="358" name="Google Shape;358;p49"/>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9" name="Google Shape;359;p4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60" name="Google Shape;360;p4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61" name="Google Shape;361;p49"/>
          <p:cNvSpPr txBox="1">
            <a:spLocks noGrp="1"/>
          </p:cNvSpPr>
          <p:nvPr>
            <p:ph type="body" idx="2"/>
          </p:nvPr>
        </p:nvSpPr>
        <p:spPr>
          <a:xfrm>
            <a:off x="197925"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62" name="Google Shape;362;p49"/>
          <p:cNvSpPr txBox="1">
            <a:spLocks noGrp="1"/>
          </p:cNvSpPr>
          <p:nvPr>
            <p:ph type="body" idx="3"/>
          </p:nvPr>
        </p:nvSpPr>
        <p:spPr>
          <a:xfrm>
            <a:off x="3179963"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63" name="Google Shape;363;p49"/>
          <p:cNvSpPr txBox="1">
            <a:spLocks noGrp="1"/>
          </p:cNvSpPr>
          <p:nvPr>
            <p:ph type="body" idx="4"/>
          </p:nvPr>
        </p:nvSpPr>
        <p:spPr>
          <a:xfrm>
            <a:off x="6162000"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L - Texte &amp; Image / Fond Grey 12">
  <p:cSld name="TITLE_AND_TWO_COLUMNS_1_2_1">
    <p:bg>
      <p:bgPr>
        <a:solidFill>
          <a:schemeClr val="accent1"/>
        </a:solidFill>
        <a:effectLst/>
      </p:bgPr>
    </p:bg>
    <p:spTree>
      <p:nvGrpSpPr>
        <p:cNvPr id="1" name="Shape 364"/>
        <p:cNvGrpSpPr/>
        <p:nvPr/>
      </p:nvGrpSpPr>
      <p:grpSpPr>
        <a:xfrm>
          <a:off x="0" y="0"/>
          <a:ext cx="0" cy="0"/>
          <a:chOff x="0" y="0"/>
          <a:chExt cx="0" cy="0"/>
        </a:xfrm>
      </p:grpSpPr>
      <p:sp>
        <p:nvSpPr>
          <p:cNvPr id="365" name="Google Shape;365;p50"/>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66" name="Google Shape;366;p50"/>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67" name="Google Shape;367;p50"/>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68" name="Google Shape;368;p50"/>
          <p:cNvSpPr txBox="1">
            <a:spLocks noGrp="1"/>
          </p:cNvSpPr>
          <p:nvPr>
            <p:ph type="body" idx="2"/>
          </p:nvPr>
        </p:nvSpPr>
        <p:spPr>
          <a:xfrm>
            <a:off x="19792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69" name="Google Shape;369;p50"/>
          <p:cNvSpPr txBox="1">
            <a:spLocks noGrp="1"/>
          </p:cNvSpPr>
          <p:nvPr>
            <p:ph type="body" idx="3"/>
          </p:nvPr>
        </p:nvSpPr>
        <p:spPr>
          <a:xfrm>
            <a:off x="243445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70" name="Google Shape;370;p50"/>
          <p:cNvSpPr txBox="1">
            <a:spLocks noGrp="1"/>
          </p:cNvSpPr>
          <p:nvPr>
            <p:ph type="body" idx="4"/>
          </p:nvPr>
        </p:nvSpPr>
        <p:spPr>
          <a:xfrm>
            <a:off x="467097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71" name="Google Shape;371;p50"/>
          <p:cNvSpPr txBox="1">
            <a:spLocks noGrp="1"/>
          </p:cNvSpPr>
          <p:nvPr>
            <p:ph type="body" idx="5"/>
          </p:nvPr>
        </p:nvSpPr>
        <p:spPr>
          <a:xfrm>
            <a:off x="690750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72" name="Google Shape;372;p50"/>
          <p:cNvSpPr>
            <a:spLocks noGrp="1"/>
          </p:cNvSpPr>
          <p:nvPr>
            <p:ph type="pic" idx="6"/>
          </p:nvPr>
        </p:nvSpPr>
        <p:spPr>
          <a:xfrm>
            <a:off x="197925" y="700500"/>
            <a:ext cx="2038500" cy="1673400"/>
          </a:xfrm>
          <a:prstGeom prst="roundRect">
            <a:avLst>
              <a:gd name="adj" fmla="val 2361"/>
            </a:avLst>
          </a:prstGeom>
          <a:noFill/>
          <a:ln>
            <a:noFill/>
          </a:ln>
        </p:spPr>
      </p:sp>
      <p:sp>
        <p:nvSpPr>
          <p:cNvPr id="373" name="Google Shape;373;p50"/>
          <p:cNvSpPr>
            <a:spLocks noGrp="1"/>
          </p:cNvSpPr>
          <p:nvPr>
            <p:ph type="pic" idx="7"/>
          </p:nvPr>
        </p:nvSpPr>
        <p:spPr>
          <a:xfrm>
            <a:off x="2434450" y="700500"/>
            <a:ext cx="2038500" cy="1673400"/>
          </a:xfrm>
          <a:prstGeom prst="roundRect">
            <a:avLst>
              <a:gd name="adj" fmla="val 2361"/>
            </a:avLst>
          </a:prstGeom>
          <a:noFill/>
          <a:ln>
            <a:noFill/>
          </a:ln>
        </p:spPr>
      </p:sp>
      <p:sp>
        <p:nvSpPr>
          <p:cNvPr id="374" name="Google Shape;374;p50"/>
          <p:cNvSpPr>
            <a:spLocks noGrp="1"/>
          </p:cNvSpPr>
          <p:nvPr>
            <p:ph type="pic" idx="8"/>
          </p:nvPr>
        </p:nvSpPr>
        <p:spPr>
          <a:xfrm>
            <a:off x="4670975" y="700500"/>
            <a:ext cx="2038500" cy="1673400"/>
          </a:xfrm>
          <a:prstGeom prst="roundRect">
            <a:avLst>
              <a:gd name="adj" fmla="val 2361"/>
            </a:avLst>
          </a:prstGeom>
          <a:noFill/>
          <a:ln>
            <a:noFill/>
          </a:ln>
        </p:spPr>
      </p:sp>
      <p:sp>
        <p:nvSpPr>
          <p:cNvPr id="375" name="Google Shape;375;p50"/>
          <p:cNvSpPr>
            <a:spLocks noGrp="1"/>
          </p:cNvSpPr>
          <p:nvPr>
            <p:ph type="pic" idx="9"/>
          </p:nvPr>
        </p:nvSpPr>
        <p:spPr>
          <a:xfrm>
            <a:off x="6907500" y="700500"/>
            <a:ext cx="2038500" cy="1673400"/>
          </a:xfrm>
          <a:prstGeom prst="roundRect">
            <a:avLst>
              <a:gd name="adj" fmla="val 2361"/>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5M - Texte &amp; Image / Fond Grey 13">
  <p:cSld name="TITLE_AND_TWO_COLUMNS_1_2_1_1">
    <p:bg>
      <p:bgPr>
        <a:solidFill>
          <a:schemeClr val="accent1"/>
        </a:solidFill>
        <a:effectLst/>
      </p:bgPr>
    </p:bg>
    <p:spTree>
      <p:nvGrpSpPr>
        <p:cNvPr id="1" name="Shape 376"/>
        <p:cNvGrpSpPr/>
        <p:nvPr/>
      </p:nvGrpSpPr>
      <p:grpSpPr>
        <a:xfrm>
          <a:off x="0" y="0"/>
          <a:ext cx="0" cy="0"/>
          <a:chOff x="0" y="0"/>
          <a:chExt cx="0" cy="0"/>
        </a:xfrm>
      </p:grpSpPr>
      <p:sp>
        <p:nvSpPr>
          <p:cNvPr id="377" name="Google Shape;377;p51"/>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8" name="Google Shape;378;p5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79" name="Google Shape;379;p5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80" name="Google Shape;380;p51"/>
          <p:cNvSpPr txBox="1">
            <a:spLocks noGrp="1"/>
          </p:cNvSpPr>
          <p:nvPr>
            <p:ph type="body" idx="2"/>
          </p:nvPr>
        </p:nvSpPr>
        <p:spPr>
          <a:xfrm>
            <a:off x="943350" y="2571750"/>
            <a:ext cx="72573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1" name="Google Shape;381;p51"/>
          <p:cNvSpPr>
            <a:spLocks noGrp="1"/>
          </p:cNvSpPr>
          <p:nvPr>
            <p:ph type="pic" idx="3"/>
          </p:nvPr>
        </p:nvSpPr>
        <p:spPr>
          <a:xfrm>
            <a:off x="943350" y="700500"/>
            <a:ext cx="7257300" cy="1673400"/>
          </a:xfrm>
          <a:prstGeom prst="roundRect">
            <a:avLst>
              <a:gd name="adj" fmla="val 2361"/>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5N - Texte / Fond Grey 14">
  <p:cSld name="TITLE_AND_TWO_COLUMNS_1_1">
    <p:bg>
      <p:bgPr>
        <a:solidFill>
          <a:schemeClr val="accent1"/>
        </a:solidFill>
        <a:effectLst/>
      </p:bgPr>
    </p:bg>
    <p:spTree>
      <p:nvGrpSpPr>
        <p:cNvPr id="1" name="Shape 382"/>
        <p:cNvGrpSpPr/>
        <p:nvPr/>
      </p:nvGrpSpPr>
      <p:grpSpPr>
        <a:xfrm>
          <a:off x="0" y="0"/>
          <a:ext cx="0" cy="0"/>
          <a:chOff x="0" y="0"/>
          <a:chExt cx="0" cy="0"/>
        </a:xfrm>
      </p:grpSpPr>
      <p:sp>
        <p:nvSpPr>
          <p:cNvPr id="383" name="Google Shape;383;p52"/>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84" name="Google Shape;384;p5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85" name="Google Shape;385;p5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86" name="Google Shape;386;p52"/>
          <p:cNvSpPr txBox="1">
            <a:spLocks noGrp="1"/>
          </p:cNvSpPr>
          <p:nvPr>
            <p:ph type="body" idx="2"/>
          </p:nvPr>
        </p:nvSpPr>
        <p:spPr>
          <a:xfrm>
            <a:off x="197925"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7" name="Google Shape;387;p52"/>
          <p:cNvSpPr txBox="1">
            <a:spLocks noGrp="1"/>
          </p:cNvSpPr>
          <p:nvPr>
            <p:ph type="body" idx="3"/>
          </p:nvPr>
        </p:nvSpPr>
        <p:spPr>
          <a:xfrm>
            <a:off x="4671000"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8" name="Google Shape;388;p52"/>
          <p:cNvSpPr txBox="1">
            <a:spLocks noGrp="1"/>
          </p:cNvSpPr>
          <p:nvPr>
            <p:ph type="body" idx="4"/>
          </p:nvPr>
        </p:nvSpPr>
        <p:spPr>
          <a:xfrm>
            <a:off x="4671000"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9" name="Google Shape;389;p52"/>
          <p:cNvSpPr txBox="1">
            <a:spLocks noGrp="1"/>
          </p:cNvSpPr>
          <p:nvPr>
            <p:ph type="body" idx="5"/>
          </p:nvPr>
        </p:nvSpPr>
        <p:spPr>
          <a:xfrm>
            <a:off x="197925"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5O - Vide / Fond Grey 15">
  <p:cSld name="TITLE_AND_TWO_COLUMNS_1_1_1">
    <p:bg>
      <p:bgPr>
        <a:solidFill>
          <a:schemeClr val="accent1"/>
        </a:solidFill>
        <a:effectLst/>
      </p:bgPr>
    </p:bg>
    <p:spTree>
      <p:nvGrpSpPr>
        <p:cNvPr id="1" name="Shape 390"/>
        <p:cNvGrpSpPr/>
        <p:nvPr/>
      </p:nvGrpSpPr>
      <p:grpSpPr>
        <a:xfrm>
          <a:off x="0" y="0"/>
          <a:ext cx="0" cy="0"/>
          <a:chOff x="0" y="0"/>
          <a:chExt cx="0" cy="0"/>
        </a:xfrm>
      </p:grpSpPr>
      <p:pic>
        <p:nvPicPr>
          <p:cNvPr id="391" name="Google Shape;391;p5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4A - Transition avec Photo">
  <p:cSld name="CUSTOM_1_2">
    <p:bg>
      <p:bgPr>
        <a:solidFill>
          <a:schemeClr val="dk2"/>
        </a:solidFill>
        <a:effectLst/>
      </p:bgPr>
    </p:bg>
    <p:spTree>
      <p:nvGrpSpPr>
        <p:cNvPr id="1" name="Shape 392"/>
        <p:cNvGrpSpPr/>
        <p:nvPr/>
      </p:nvGrpSpPr>
      <p:grpSpPr>
        <a:xfrm>
          <a:off x="0" y="0"/>
          <a:ext cx="0" cy="0"/>
          <a:chOff x="0" y="0"/>
          <a:chExt cx="0" cy="0"/>
        </a:xfrm>
      </p:grpSpPr>
      <p:sp>
        <p:nvSpPr>
          <p:cNvPr id="393" name="Google Shape;393;p54"/>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pic>
        <p:nvPicPr>
          <p:cNvPr id="394" name="Google Shape;394;p54"/>
          <p:cNvPicPr preferRelativeResize="0"/>
          <p:nvPr/>
        </p:nvPicPr>
        <p:blipFill rotWithShape="1">
          <a:blip r:embed="rId2">
            <a:alphaModFix/>
          </a:blip>
          <a:srcRect l="24199" r="9303" b="4215"/>
          <a:stretch/>
        </p:blipFill>
        <p:spPr>
          <a:xfrm>
            <a:off x="4179650" y="187275"/>
            <a:ext cx="4758300" cy="4568400"/>
          </a:xfrm>
          <a:prstGeom prst="roundRect">
            <a:avLst>
              <a:gd name="adj" fmla="val 2605"/>
            </a:avLst>
          </a:prstGeom>
          <a:noFill/>
          <a:ln>
            <a:noFill/>
          </a:ln>
        </p:spPr>
      </p:pic>
      <p:sp>
        <p:nvSpPr>
          <p:cNvPr id="395" name="Google Shape;395;p54"/>
          <p:cNvSpPr txBox="1">
            <a:spLocks noGrp="1"/>
          </p:cNvSpPr>
          <p:nvPr>
            <p:ph type="title"/>
          </p:nvPr>
        </p:nvSpPr>
        <p:spPr>
          <a:xfrm>
            <a:off x="198000" y="198000"/>
            <a:ext cx="3529500" cy="45495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9pPr>
          </a:lstStyle>
          <a:p>
            <a:endParaRPr/>
          </a:p>
        </p:txBody>
      </p:sp>
      <p:pic>
        <p:nvPicPr>
          <p:cNvPr id="396" name="Google Shape;396;p54"/>
          <p:cNvPicPr preferRelativeResize="0"/>
          <p:nvPr/>
        </p:nvPicPr>
        <p:blipFill>
          <a:blip r:embed="rId3">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4C - Transition avec Photo &amp; Forme">
  <p:cSld name="CUSTOM_1_2_1">
    <p:bg>
      <p:bgPr>
        <a:solidFill>
          <a:schemeClr val="dk2"/>
        </a:solidFill>
        <a:effectLst/>
      </p:bgPr>
    </p:bg>
    <p:spTree>
      <p:nvGrpSpPr>
        <p:cNvPr id="1" name="Shape 397"/>
        <p:cNvGrpSpPr/>
        <p:nvPr/>
      </p:nvGrpSpPr>
      <p:grpSpPr>
        <a:xfrm>
          <a:off x="0" y="0"/>
          <a:ext cx="0" cy="0"/>
          <a:chOff x="0" y="0"/>
          <a:chExt cx="0" cy="0"/>
        </a:xfrm>
      </p:grpSpPr>
      <p:sp>
        <p:nvSpPr>
          <p:cNvPr id="398" name="Google Shape;398;p55"/>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pic>
        <p:nvPicPr>
          <p:cNvPr id="399" name="Google Shape;399;p55"/>
          <p:cNvPicPr preferRelativeResize="0"/>
          <p:nvPr/>
        </p:nvPicPr>
        <p:blipFill rotWithShape="1">
          <a:blip r:embed="rId2">
            <a:alphaModFix/>
          </a:blip>
          <a:srcRect l="24199" r="9303" b="4215"/>
          <a:stretch/>
        </p:blipFill>
        <p:spPr>
          <a:xfrm>
            <a:off x="4179650" y="187275"/>
            <a:ext cx="4758300" cy="4568400"/>
          </a:xfrm>
          <a:prstGeom prst="roundRect">
            <a:avLst>
              <a:gd name="adj" fmla="val 2605"/>
            </a:avLst>
          </a:prstGeom>
          <a:noFill/>
          <a:ln>
            <a:noFill/>
          </a:ln>
        </p:spPr>
      </p:pic>
      <p:pic>
        <p:nvPicPr>
          <p:cNvPr id="400" name="Google Shape;400;p55"/>
          <p:cNvPicPr preferRelativeResize="0"/>
          <p:nvPr/>
        </p:nvPicPr>
        <p:blipFill>
          <a:blip r:embed="rId3">
            <a:alphaModFix/>
          </a:blip>
          <a:stretch>
            <a:fillRect/>
          </a:stretch>
        </p:blipFill>
        <p:spPr>
          <a:xfrm rot="10800000">
            <a:off x="4860175" y="329425"/>
            <a:ext cx="8490126" cy="4201250"/>
          </a:xfrm>
          <a:prstGeom prst="rect">
            <a:avLst/>
          </a:prstGeom>
          <a:noFill/>
          <a:ln>
            <a:noFill/>
          </a:ln>
        </p:spPr>
      </p:pic>
      <p:sp>
        <p:nvSpPr>
          <p:cNvPr id="401" name="Google Shape;401;p55"/>
          <p:cNvSpPr txBox="1">
            <a:spLocks noGrp="1"/>
          </p:cNvSpPr>
          <p:nvPr>
            <p:ph type="title"/>
          </p:nvPr>
        </p:nvSpPr>
        <p:spPr>
          <a:xfrm>
            <a:off x="198000" y="198000"/>
            <a:ext cx="3529500" cy="45495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9pPr>
          </a:lstStyle>
          <a:p>
            <a:endParaRPr/>
          </a:p>
        </p:txBody>
      </p:sp>
      <p:pic>
        <p:nvPicPr>
          <p:cNvPr id="402" name="Google Shape;402;p55"/>
          <p:cNvPicPr preferRelativeResize="0"/>
          <p:nvPr/>
        </p:nvPicPr>
        <p:blipFill>
          <a:blip r:embed="rId4">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7A - Transition / Data &amp; IA">
  <p:cSld name="CUSTOM">
    <p:bg>
      <p:bgPr>
        <a:solidFill>
          <a:schemeClr val="accent3"/>
        </a:solidFill>
        <a:effectLst/>
      </p:bgPr>
    </p:bg>
    <p:spTree>
      <p:nvGrpSpPr>
        <p:cNvPr id="1" name="Shape 408"/>
        <p:cNvGrpSpPr/>
        <p:nvPr/>
      </p:nvGrpSpPr>
      <p:grpSpPr>
        <a:xfrm>
          <a:off x="0" y="0"/>
          <a:ext cx="0" cy="0"/>
          <a:chOff x="0" y="0"/>
          <a:chExt cx="0" cy="0"/>
        </a:xfrm>
      </p:grpSpPr>
      <p:sp>
        <p:nvSpPr>
          <p:cNvPr id="409" name="Google Shape;409;p57"/>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10" name="Google Shape;410;p57"/>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11" name="Google Shape;411;p5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12" name="Google Shape;412;p57" title="Fichier 14.png"/>
          <p:cNvPicPr preferRelativeResize="0"/>
          <p:nvPr/>
        </p:nvPicPr>
        <p:blipFill>
          <a:blip r:embed="rId3">
            <a:alphaModFix/>
          </a:blip>
          <a:stretch>
            <a:fillRect/>
          </a:stretch>
        </p:blipFill>
        <p:spPr>
          <a:xfrm>
            <a:off x="4670987" y="3322434"/>
            <a:ext cx="4778949" cy="234180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7B - Transition &amp; Image / Data &amp; IA">
  <p:cSld name="CUSTOM_3">
    <p:bg>
      <p:bgPr>
        <a:solidFill>
          <a:schemeClr val="accent3"/>
        </a:solidFill>
        <a:effectLst/>
      </p:bgPr>
    </p:bg>
    <p:spTree>
      <p:nvGrpSpPr>
        <p:cNvPr id="1" name="Shape 413"/>
        <p:cNvGrpSpPr/>
        <p:nvPr/>
      </p:nvGrpSpPr>
      <p:grpSpPr>
        <a:xfrm>
          <a:off x="0" y="0"/>
          <a:ext cx="0" cy="0"/>
          <a:chOff x="0" y="0"/>
          <a:chExt cx="0" cy="0"/>
        </a:xfrm>
      </p:grpSpPr>
      <p:sp>
        <p:nvSpPr>
          <p:cNvPr id="414" name="Google Shape;414;p58"/>
          <p:cNvSpPr>
            <a:spLocks noGrp="1"/>
          </p:cNvSpPr>
          <p:nvPr>
            <p:ph type="pic" idx="2"/>
          </p:nvPr>
        </p:nvSpPr>
        <p:spPr>
          <a:xfrm>
            <a:off x="5218500" y="0"/>
            <a:ext cx="3925500" cy="5143500"/>
          </a:xfrm>
          <a:prstGeom prst="rect">
            <a:avLst/>
          </a:prstGeom>
          <a:noFill/>
          <a:ln>
            <a:noFill/>
          </a:ln>
        </p:spPr>
      </p:sp>
      <p:sp>
        <p:nvSpPr>
          <p:cNvPr id="415" name="Google Shape;415;p58"/>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16" name="Google Shape;416;p58"/>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17" name="Google Shape;417;p5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18" name="Google Shape;418;p58" title="Fichier 21.png"/>
          <p:cNvPicPr preferRelativeResize="0"/>
          <p:nvPr/>
        </p:nvPicPr>
        <p:blipFill>
          <a:blip r:embed="rId3">
            <a:alphaModFix/>
          </a:blip>
          <a:stretch>
            <a:fillRect/>
          </a:stretch>
        </p:blipFill>
        <p:spPr>
          <a:xfrm>
            <a:off x="-1262115" y="3219518"/>
            <a:ext cx="4625650" cy="2273334"/>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7C - Transition &amp; Texte / Data &amp; IA">
  <p:cSld name="CUSTOM_3_1">
    <p:bg>
      <p:bgPr>
        <a:solidFill>
          <a:schemeClr val="lt1"/>
        </a:solidFill>
        <a:effectLst/>
      </p:bgPr>
    </p:bg>
    <p:spTree>
      <p:nvGrpSpPr>
        <p:cNvPr id="1" name="Shape 419"/>
        <p:cNvGrpSpPr/>
        <p:nvPr/>
      </p:nvGrpSpPr>
      <p:grpSpPr>
        <a:xfrm>
          <a:off x="0" y="0"/>
          <a:ext cx="0" cy="0"/>
          <a:chOff x="0" y="0"/>
          <a:chExt cx="0" cy="0"/>
        </a:xfrm>
      </p:grpSpPr>
      <p:sp>
        <p:nvSpPr>
          <p:cNvPr id="420" name="Google Shape;420;p59"/>
          <p:cNvSpPr/>
          <p:nvPr/>
        </p:nvSpPr>
        <p:spPr>
          <a:xfrm>
            <a:off x="-57225" y="-86025"/>
            <a:ext cx="5275800" cy="5315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 name="Google Shape;421;p59"/>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22" name="Google Shape;422;p59"/>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sp>
        <p:nvSpPr>
          <p:cNvPr id="423" name="Google Shape;423;p59"/>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24" name="Google Shape;424;p5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25" name="Google Shape;425;p59" title="Fichier 20.png"/>
          <p:cNvPicPr preferRelativeResize="0"/>
          <p:nvPr/>
        </p:nvPicPr>
        <p:blipFill>
          <a:blip r:embed="rId3">
            <a:alphaModFix/>
          </a:blip>
          <a:stretch>
            <a:fillRect/>
          </a:stretch>
        </p:blipFill>
        <p:spPr>
          <a:xfrm rot="-5400000">
            <a:off x="-1702026" y="4617290"/>
            <a:ext cx="5951726" cy="29426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7D - Transition / Digital">
  <p:cSld name="CUSTOM_5">
    <p:bg>
      <p:bgPr>
        <a:solidFill>
          <a:schemeClr val="accent4"/>
        </a:solidFill>
        <a:effectLst/>
      </p:bgPr>
    </p:bg>
    <p:spTree>
      <p:nvGrpSpPr>
        <p:cNvPr id="1" name="Shape 426"/>
        <p:cNvGrpSpPr/>
        <p:nvPr/>
      </p:nvGrpSpPr>
      <p:grpSpPr>
        <a:xfrm>
          <a:off x="0" y="0"/>
          <a:ext cx="0" cy="0"/>
          <a:chOff x="0" y="0"/>
          <a:chExt cx="0" cy="0"/>
        </a:xfrm>
      </p:grpSpPr>
      <p:pic>
        <p:nvPicPr>
          <p:cNvPr id="427" name="Google Shape;427;p60"/>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28" name="Google Shape;428;p60"/>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29" name="Google Shape;429;p60"/>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30" name="Google Shape;430;p60" title="Fichier 14.png"/>
          <p:cNvPicPr preferRelativeResize="0"/>
          <p:nvPr/>
        </p:nvPicPr>
        <p:blipFill>
          <a:blip r:embed="rId3">
            <a:alphaModFix/>
          </a:blip>
          <a:stretch>
            <a:fillRect/>
          </a:stretch>
        </p:blipFill>
        <p:spPr>
          <a:xfrm>
            <a:off x="4671000" y="3322429"/>
            <a:ext cx="4778949" cy="233757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7E - Transition &amp; Image / Digital">
  <p:cSld name="CUSTOM_3_2">
    <p:bg>
      <p:bgPr>
        <a:solidFill>
          <a:schemeClr val="accent4"/>
        </a:solidFill>
        <a:effectLst/>
      </p:bgPr>
    </p:bg>
    <p:spTree>
      <p:nvGrpSpPr>
        <p:cNvPr id="1" name="Shape 431"/>
        <p:cNvGrpSpPr/>
        <p:nvPr/>
      </p:nvGrpSpPr>
      <p:grpSpPr>
        <a:xfrm>
          <a:off x="0" y="0"/>
          <a:ext cx="0" cy="0"/>
          <a:chOff x="0" y="0"/>
          <a:chExt cx="0" cy="0"/>
        </a:xfrm>
      </p:grpSpPr>
      <p:pic>
        <p:nvPicPr>
          <p:cNvPr id="432" name="Google Shape;432;p61"/>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33" name="Google Shape;433;p61"/>
          <p:cNvSpPr>
            <a:spLocks noGrp="1"/>
          </p:cNvSpPr>
          <p:nvPr>
            <p:ph type="pic" idx="2"/>
          </p:nvPr>
        </p:nvSpPr>
        <p:spPr>
          <a:xfrm>
            <a:off x="5218500" y="0"/>
            <a:ext cx="3925500" cy="5143500"/>
          </a:xfrm>
          <a:prstGeom prst="rect">
            <a:avLst/>
          </a:prstGeom>
          <a:noFill/>
          <a:ln>
            <a:noFill/>
          </a:ln>
        </p:spPr>
      </p:sp>
      <p:sp>
        <p:nvSpPr>
          <p:cNvPr id="434" name="Google Shape;434;p61"/>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35" name="Google Shape;435;p61"/>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36" name="Google Shape;436;p61" title="Fichier 21.png"/>
          <p:cNvPicPr preferRelativeResize="0"/>
          <p:nvPr/>
        </p:nvPicPr>
        <p:blipFill>
          <a:blip r:embed="rId3">
            <a:alphaModFix/>
          </a:blip>
          <a:stretch>
            <a:fillRect/>
          </a:stretch>
        </p:blipFill>
        <p:spPr>
          <a:xfrm>
            <a:off x="-1262125" y="3223499"/>
            <a:ext cx="4625651" cy="226934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7F - Transition &amp; Texte / Digital">
  <p:cSld name="CUSTOM_3_1_1">
    <p:bg>
      <p:bgPr>
        <a:solidFill>
          <a:schemeClr val="lt1"/>
        </a:solidFill>
        <a:effectLst/>
      </p:bgPr>
    </p:bg>
    <p:spTree>
      <p:nvGrpSpPr>
        <p:cNvPr id="1" name="Shape 437"/>
        <p:cNvGrpSpPr/>
        <p:nvPr/>
      </p:nvGrpSpPr>
      <p:grpSpPr>
        <a:xfrm>
          <a:off x="0" y="0"/>
          <a:ext cx="0" cy="0"/>
          <a:chOff x="0" y="0"/>
          <a:chExt cx="0" cy="0"/>
        </a:xfrm>
      </p:grpSpPr>
      <p:sp>
        <p:nvSpPr>
          <p:cNvPr id="438" name="Google Shape;438;p62"/>
          <p:cNvSpPr/>
          <p:nvPr/>
        </p:nvSpPr>
        <p:spPr>
          <a:xfrm>
            <a:off x="-64600" y="-56475"/>
            <a:ext cx="5283000" cy="525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39" name="Google Shape;439;p62"/>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40" name="Google Shape;440;p62"/>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41" name="Google Shape;441;p62"/>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sp>
        <p:nvSpPr>
          <p:cNvPr id="442" name="Google Shape;442;p62"/>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43" name="Google Shape;443;p62" title="Fichier 20.png"/>
          <p:cNvPicPr preferRelativeResize="0"/>
          <p:nvPr/>
        </p:nvPicPr>
        <p:blipFill>
          <a:blip r:embed="rId3">
            <a:alphaModFix/>
          </a:blip>
          <a:stretch>
            <a:fillRect/>
          </a:stretch>
        </p:blipFill>
        <p:spPr>
          <a:xfrm rot="-5400000">
            <a:off x="-1715650" y="4618471"/>
            <a:ext cx="5970801" cy="2946900"/>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7G - Transition / Soft Dev">
  <p:cSld name="CUSTOM_5_1">
    <p:bg>
      <p:bgPr>
        <a:solidFill>
          <a:schemeClr val="accent2"/>
        </a:solidFill>
        <a:effectLst/>
      </p:bgPr>
    </p:bg>
    <p:spTree>
      <p:nvGrpSpPr>
        <p:cNvPr id="1" name="Shape 444"/>
        <p:cNvGrpSpPr/>
        <p:nvPr/>
      </p:nvGrpSpPr>
      <p:grpSpPr>
        <a:xfrm>
          <a:off x="0" y="0"/>
          <a:ext cx="0" cy="0"/>
          <a:chOff x="0" y="0"/>
          <a:chExt cx="0" cy="0"/>
        </a:xfrm>
      </p:grpSpPr>
      <p:sp>
        <p:nvSpPr>
          <p:cNvPr id="445" name="Google Shape;445;p63"/>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46" name="Google Shape;446;p63"/>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47" name="Google Shape;447;p6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48" name="Google Shape;448;p63" title="Fichier 14.png"/>
          <p:cNvPicPr preferRelativeResize="0"/>
          <p:nvPr/>
        </p:nvPicPr>
        <p:blipFill>
          <a:blip r:embed="rId3">
            <a:alphaModFix/>
          </a:blip>
          <a:stretch>
            <a:fillRect/>
          </a:stretch>
        </p:blipFill>
        <p:spPr>
          <a:xfrm>
            <a:off x="4670987" y="3322434"/>
            <a:ext cx="4778949" cy="234180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7H - Transition &amp; Image / Soft Dev">
  <p:cSld name="CUSTOM_3_2_1">
    <p:bg>
      <p:bgPr>
        <a:solidFill>
          <a:schemeClr val="accent2"/>
        </a:solidFill>
        <a:effectLst/>
      </p:bgPr>
    </p:bg>
    <p:spTree>
      <p:nvGrpSpPr>
        <p:cNvPr id="1" name="Shape 449"/>
        <p:cNvGrpSpPr/>
        <p:nvPr/>
      </p:nvGrpSpPr>
      <p:grpSpPr>
        <a:xfrm>
          <a:off x="0" y="0"/>
          <a:ext cx="0" cy="0"/>
          <a:chOff x="0" y="0"/>
          <a:chExt cx="0" cy="0"/>
        </a:xfrm>
      </p:grpSpPr>
      <p:sp>
        <p:nvSpPr>
          <p:cNvPr id="450" name="Google Shape;450;p64"/>
          <p:cNvSpPr>
            <a:spLocks noGrp="1"/>
          </p:cNvSpPr>
          <p:nvPr>
            <p:ph type="pic" idx="2"/>
          </p:nvPr>
        </p:nvSpPr>
        <p:spPr>
          <a:xfrm>
            <a:off x="5218500" y="0"/>
            <a:ext cx="3925500" cy="5143500"/>
          </a:xfrm>
          <a:prstGeom prst="rect">
            <a:avLst/>
          </a:prstGeom>
          <a:noFill/>
          <a:ln>
            <a:noFill/>
          </a:ln>
        </p:spPr>
      </p:sp>
      <p:sp>
        <p:nvSpPr>
          <p:cNvPr id="451" name="Google Shape;451;p64"/>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52" name="Google Shape;452;p64"/>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53" name="Google Shape;453;p64"/>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54" name="Google Shape;454;p64" title="Fichier 21.png"/>
          <p:cNvPicPr preferRelativeResize="0"/>
          <p:nvPr/>
        </p:nvPicPr>
        <p:blipFill>
          <a:blip r:embed="rId3">
            <a:alphaModFix/>
          </a:blip>
          <a:stretch>
            <a:fillRect/>
          </a:stretch>
        </p:blipFill>
        <p:spPr>
          <a:xfrm>
            <a:off x="-1262115" y="3219518"/>
            <a:ext cx="4625650" cy="227333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7I - Transition &amp; Texte / Soft Dev">
  <p:cSld name="CUSTOM_3_1_1_1">
    <p:bg>
      <p:bgPr>
        <a:solidFill>
          <a:schemeClr val="lt1"/>
        </a:solidFill>
        <a:effectLst/>
      </p:bgPr>
    </p:bg>
    <p:spTree>
      <p:nvGrpSpPr>
        <p:cNvPr id="1" name="Shape 455"/>
        <p:cNvGrpSpPr/>
        <p:nvPr/>
      </p:nvGrpSpPr>
      <p:grpSpPr>
        <a:xfrm>
          <a:off x="0" y="0"/>
          <a:ext cx="0" cy="0"/>
          <a:chOff x="0" y="0"/>
          <a:chExt cx="0" cy="0"/>
        </a:xfrm>
      </p:grpSpPr>
      <p:sp>
        <p:nvSpPr>
          <p:cNvPr id="456" name="Google Shape;456;p65"/>
          <p:cNvSpPr/>
          <p:nvPr/>
        </p:nvSpPr>
        <p:spPr>
          <a:xfrm>
            <a:off x="-57225" y="-63875"/>
            <a:ext cx="5275800" cy="5271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 name="Google Shape;457;p65"/>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1pPr>
            <a:lvl2pPr lvl="1">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2pPr>
            <a:lvl3pPr lvl="2">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3pPr>
            <a:lvl4pPr lvl="3">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4pPr>
            <a:lvl5pPr lvl="4">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5pPr>
            <a:lvl6pPr lvl="5">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6pPr>
            <a:lvl7pPr lvl="6">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7pPr>
            <a:lvl8pPr lvl="7">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8pPr>
            <a:lvl9pPr lvl="8">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9pPr>
          </a:lstStyle>
          <a:p>
            <a:endParaRPr/>
          </a:p>
        </p:txBody>
      </p:sp>
      <p:sp>
        <p:nvSpPr>
          <p:cNvPr id="458" name="Google Shape;458;p65"/>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1pPr>
            <a:lvl2pPr lvl="1">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2pPr>
            <a:lvl3pPr lvl="2">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3pPr>
            <a:lvl4pPr lvl="3">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4pPr>
            <a:lvl5pPr lvl="4">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5pPr>
            <a:lvl6pPr lvl="5">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6pPr>
            <a:lvl7pPr lvl="6">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7pPr>
            <a:lvl8pPr lvl="7">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8pPr>
            <a:lvl9pPr lvl="8">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9pPr>
          </a:lstStyle>
          <a:p>
            <a:endParaRPr/>
          </a:p>
        </p:txBody>
      </p:sp>
      <p:sp>
        <p:nvSpPr>
          <p:cNvPr id="459" name="Google Shape;459;p65"/>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60" name="Google Shape;460;p65"/>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61" name="Google Shape;461;p65" title="Fichier 20.png"/>
          <p:cNvPicPr preferRelativeResize="0"/>
          <p:nvPr/>
        </p:nvPicPr>
        <p:blipFill>
          <a:blip r:embed="rId3">
            <a:alphaModFix/>
          </a:blip>
          <a:stretch>
            <a:fillRect/>
          </a:stretch>
        </p:blipFill>
        <p:spPr>
          <a:xfrm rot="-5400000">
            <a:off x="-1702026" y="4617290"/>
            <a:ext cx="5951726" cy="294267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7J - Transition / Cybersecurity">
  <p:cSld name="CUSTOM_5_1_1">
    <p:bg>
      <p:bgPr>
        <a:solidFill>
          <a:schemeClr val="accent5"/>
        </a:solidFill>
        <a:effectLst/>
      </p:bgPr>
    </p:bg>
    <p:spTree>
      <p:nvGrpSpPr>
        <p:cNvPr id="1" name="Shape 462"/>
        <p:cNvGrpSpPr/>
        <p:nvPr/>
      </p:nvGrpSpPr>
      <p:grpSpPr>
        <a:xfrm>
          <a:off x="0" y="0"/>
          <a:ext cx="0" cy="0"/>
          <a:chOff x="0" y="0"/>
          <a:chExt cx="0" cy="0"/>
        </a:xfrm>
      </p:grpSpPr>
      <p:pic>
        <p:nvPicPr>
          <p:cNvPr id="463" name="Google Shape;463;p66"/>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64" name="Google Shape;464;p66"/>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65" name="Google Shape;465;p66"/>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66" name="Google Shape;466;p66" title="Fichier 14.png"/>
          <p:cNvPicPr preferRelativeResize="0"/>
          <p:nvPr/>
        </p:nvPicPr>
        <p:blipFill>
          <a:blip r:embed="rId3">
            <a:alphaModFix/>
          </a:blip>
          <a:stretch>
            <a:fillRect/>
          </a:stretch>
        </p:blipFill>
        <p:spPr>
          <a:xfrm>
            <a:off x="4671000" y="3322429"/>
            <a:ext cx="4778949" cy="233757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7K - Transition &amp; Image / Cybersecurity">
  <p:cSld name="CUSTOM_3_2_1_1">
    <p:bg>
      <p:bgPr>
        <a:solidFill>
          <a:schemeClr val="accent5"/>
        </a:solidFill>
        <a:effectLst/>
      </p:bgPr>
    </p:bg>
    <p:spTree>
      <p:nvGrpSpPr>
        <p:cNvPr id="1" name="Shape 467"/>
        <p:cNvGrpSpPr/>
        <p:nvPr/>
      </p:nvGrpSpPr>
      <p:grpSpPr>
        <a:xfrm>
          <a:off x="0" y="0"/>
          <a:ext cx="0" cy="0"/>
          <a:chOff x="0" y="0"/>
          <a:chExt cx="0" cy="0"/>
        </a:xfrm>
      </p:grpSpPr>
      <p:pic>
        <p:nvPicPr>
          <p:cNvPr id="468" name="Google Shape;468;p67"/>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69" name="Google Shape;469;p67"/>
          <p:cNvSpPr>
            <a:spLocks noGrp="1"/>
          </p:cNvSpPr>
          <p:nvPr>
            <p:ph type="pic" idx="2"/>
          </p:nvPr>
        </p:nvSpPr>
        <p:spPr>
          <a:xfrm>
            <a:off x="5218500" y="0"/>
            <a:ext cx="3925500" cy="5143500"/>
          </a:xfrm>
          <a:prstGeom prst="rect">
            <a:avLst/>
          </a:prstGeom>
          <a:noFill/>
          <a:ln>
            <a:noFill/>
          </a:ln>
        </p:spPr>
      </p:sp>
      <p:sp>
        <p:nvSpPr>
          <p:cNvPr id="470" name="Google Shape;470;p67"/>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71" name="Google Shape;471;p67"/>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72" name="Google Shape;472;p67" title="Fichier 21.png"/>
          <p:cNvPicPr preferRelativeResize="0"/>
          <p:nvPr/>
        </p:nvPicPr>
        <p:blipFill>
          <a:blip r:embed="rId3">
            <a:alphaModFix/>
          </a:blip>
          <a:stretch>
            <a:fillRect/>
          </a:stretch>
        </p:blipFill>
        <p:spPr>
          <a:xfrm>
            <a:off x="-1262125" y="3223499"/>
            <a:ext cx="4625651" cy="226934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7L - Transition &amp; Texte / Cybersecurity">
  <p:cSld name="CUSTOM_3_1_1_1_1">
    <p:bg>
      <p:bgPr>
        <a:solidFill>
          <a:schemeClr val="lt1"/>
        </a:solidFill>
        <a:effectLst/>
      </p:bgPr>
    </p:bg>
    <p:spTree>
      <p:nvGrpSpPr>
        <p:cNvPr id="1" name="Shape 473"/>
        <p:cNvGrpSpPr/>
        <p:nvPr/>
      </p:nvGrpSpPr>
      <p:grpSpPr>
        <a:xfrm>
          <a:off x="0" y="0"/>
          <a:ext cx="0" cy="0"/>
          <a:chOff x="0" y="0"/>
          <a:chExt cx="0" cy="0"/>
        </a:xfrm>
      </p:grpSpPr>
      <p:sp>
        <p:nvSpPr>
          <p:cNvPr id="474" name="Google Shape;474;p68"/>
          <p:cNvSpPr/>
          <p:nvPr/>
        </p:nvSpPr>
        <p:spPr>
          <a:xfrm>
            <a:off x="-88300" y="-102500"/>
            <a:ext cx="5306700" cy="5348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75" name="Google Shape;475;p68"/>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76" name="Google Shape;476;p68"/>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77" name="Google Shape;477;p68"/>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sp>
        <p:nvSpPr>
          <p:cNvPr id="478" name="Google Shape;478;p68"/>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79" name="Google Shape;479;p68" title="Fichier 20.png"/>
          <p:cNvPicPr preferRelativeResize="0"/>
          <p:nvPr/>
        </p:nvPicPr>
        <p:blipFill>
          <a:blip r:embed="rId3">
            <a:alphaModFix/>
          </a:blip>
          <a:stretch>
            <a:fillRect/>
          </a:stretch>
        </p:blipFill>
        <p:spPr>
          <a:xfrm rot="-5400000">
            <a:off x="-1715650" y="4618471"/>
            <a:ext cx="5970801" cy="29469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3C - Texte &amp; Image Fond Clair 3">
  <p:cSld name="CUSTOM_4">
    <p:spTree>
      <p:nvGrpSpPr>
        <p:cNvPr id="1" name="Shape 480"/>
        <p:cNvGrpSpPr/>
        <p:nvPr/>
      </p:nvGrpSpPr>
      <p:grpSpPr>
        <a:xfrm>
          <a:off x="0" y="0"/>
          <a:ext cx="0" cy="0"/>
          <a:chOff x="0" y="0"/>
          <a:chExt cx="0" cy="0"/>
        </a:xfrm>
      </p:grpSpPr>
      <p:pic>
        <p:nvPicPr>
          <p:cNvPr id="481" name="Google Shape;481;p6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482" name="Google Shape;482;p6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483" name="Google Shape;483;p69"/>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84" name="Google Shape;484;p69" title="Laptop Mockup.png"/>
          <p:cNvPicPr preferRelativeResize="0"/>
          <p:nvPr/>
        </p:nvPicPr>
        <p:blipFill rotWithShape="1">
          <a:blip r:embed="rId3">
            <a:alphaModFix/>
          </a:blip>
          <a:srcRect b="8139"/>
          <a:stretch/>
        </p:blipFill>
        <p:spPr>
          <a:xfrm>
            <a:off x="1208600" y="928126"/>
            <a:ext cx="6726799" cy="4215375"/>
          </a:xfrm>
          <a:prstGeom prst="rect">
            <a:avLst/>
          </a:prstGeom>
          <a:noFill/>
          <a:ln>
            <a:noFill/>
          </a:ln>
        </p:spPr>
      </p:pic>
      <p:sp>
        <p:nvSpPr>
          <p:cNvPr id="485" name="Google Shape;485;p69"/>
          <p:cNvSpPr/>
          <p:nvPr/>
        </p:nvSpPr>
        <p:spPr>
          <a:xfrm>
            <a:off x="1830500" y="1111250"/>
            <a:ext cx="5412300" cy="35217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486;p69"/>
          <p:cNvSpPr>
            <a:spLocks noGrp="1"/>
          </p:cNvSpPr>
          <p:nvPr>
            <p:ph type="pic" idx="2"/>
          </p:nvPr>
        </p:nvSpPr>
        <p:spPr>
          <a:xfrm>
            <a:off x="1821475" y="1101825"/>
            <a:ext cx="5404500" cy="3531000"/>
          </a:xfrm>
          <a:prstGeom prst="roundRect">
            <a:avLst>
              <a:gd name="adj" fmla="val 1781"/>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C - Fin">
  <p:cSld name="CUSTOM_6">
    <p:bg>
      <p:bgPr>
        <a:solidFill>
          <a:schemeClr val="dk2"/>
        </a:solidFill>
        <a:effectLst/>
      </p:bgPr>
    </p:bg>
    <p:spTree>
      <p:nvGrpSpPr>
        <p:cNvPr id="1" name="Shape 487"/>
        <p:cNvGrpSpPr/>
        <p:nvPr/>
      </p:nvGrpSpPr>
      <p:grpSpPr>
        <a:xfrm>
          <a:off x="0" y="0"/>
          <a:ext cx="0" cy="0"/>
          <a:chOff x="0" y="0"/>
          <a:chExt cx="0" cy="0"/>
        </a:xfrm>
      </p:grpSpPr>
      <p:pic>
        <p:nvPicPr>
          <p:cNvPr id="488" name="Google Shape;488;p70"/>
          <p:cNvPicPr preferRelativeResize="0"/>
          <p:nvPr/>
        </p:nvPicPr>
        <p:blipFill>
          <a:blip r:embed="rId2">
            <a:alphaModFix/>
          </a:blip>
          <a:stretch>
            <a:fillRect/>
          </a:stretch>
        </p:blipFill>
        <p:spPr>
          <a:xfrm flipH="1">
            <a:off x="-4928766" y="481824"/>
            <a:ext cx="9144026" cy="4524833"/>
          </a:xfrm>
          <a:prstGeom prst="rect">
            <a:avLst/>
          </a:prstGeom>
          <a:noFill/>
          <a:ln>
            <a:noFill/>
          </a:ln>
        </p:spPr>
      </p:pic>
      <p:sp>
        <p:nvSpPr>
          <p:cNvPr id="489" name="Google Shape;489;p70"/>
          <p:cNvSpPr txBox="1"/>
          <p:nvPr/>
        </p:nvSpPr>
        <p:spPr>
          <a:xfrm>
            <a:off x="1802950" y="4747508"/>
            <a:ext cx="2021400" cy="132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fr" sz="900">
                <a:solidFill>
                  <a:srgbClr val="FFFFFF"/>
                </a:solidFill>
                <a:latin typeface="Work Sans Light"/>
                <a:ea typeface="Work Sans Light"/>
                <a:cs typeface="Work Sans Light"/>
                <a:sym typeface="Work Sans Light"/>
              </a:rPr>
              <a:t>YOUR FUTURE, </a:t>
            </a:r>
            <a:r>
              <a:rPr lang="fr" sz="900" b="1">
                <a:solidFill>
                  <a:srgbClr val="FFFFFF"/>
                </a:solidFill>
                <a:latin typeface="Work Sans"/>
                <a:ea typeface="Work Sans"/>
                <a:cs typeface="Work Sans"/>
                <a:sym typeface="Work Sans"/>
              </a:rPr>
              <a:t>DECODED.</a:t>
            </a:r>
            <a:endParaRPr sz="900" b="1">
              <a:solidFill>
                <a:srgbClr val="FFFFFF"/>
              </a:solidFill>
              <a:latin typeface="Work Sans"/>
              <a:ea typeface="Work Sans"/>
              <a:cs typeface="Work Sans"/>
              <a:sym typeface="Work Sans"/>
            </a:endParaRPr>
          </a:p>
        </p:txBody>
      </p:sp>
      <p:pic>
        <p:nvPicPr>
          <p:cNvPr id="490" name="Google Shape;490;p70"/>
          <p:cNvPicPr preferRelativeResize="0"/>
          <p:nvPr/>
        </p:nvPicPr>
        <p:blipFill>
          <a:blip r:embed="rId3">
            <a:alphaModFix/>
          </a:blip>
          <a:stretch>
            <a:fillRect/>
          </a:stretch>
        </p:blipFill>
        <p:spPr>
          <a:xfrm>
            <a:off x="8398500" y="4747499"/>
            <a:ext cx="547501" cy="172176"/>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Diapositive de titre 1">
  <p:cSld name="TITLE_1_1">
    <p:spTree>
      <p:nvGrpSpPr>
        <p:cNvPr id="1" name="Shape 498"/>
        <p:cNvGrpSpPr/>
        <p:nvPr/>
      </p:nvGrpSpPr>
      <p:grpSpPr>
        <a:xfrm>
          <a:off x="0" y="0"/>
          <a:ext cx="0" cy="0"/>
          <a:chOff x="0" y="0"/>
          <a:chExt cx="0" cy="0"/>
        </a:xfrm>
      </p:grpSpPr>
      <p:sp>
        <p:nvSpPr>
          <p:cNvPr id="499" name="Google Shape;499;p7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500" name="Google Shape;500;p7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01" name="Google Shape;501;p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exte - TITRE en annonce">
  <p:cSld name="TITLE_AND_BODY_1_3">
    <p:bg>
      <p:bgPr>
        <a:solidFill>
          <a:srgbClr val="E8E3D4"/>
        </a:solidFill>
        <a:effectLst/>
      </p:bgPr>
    </p:bg>
    <p:spTree>
      <p:nvGrpSpPr>
        <p:cNvPr id="1" name="Shape 502"/>
        <p:cNvGrpSpPr/>
        <p:nvPr/>
      </p:nvGrpSpPr>
      <p:grpSpPr>
        <a:xfrm>
          <a:off x="0" y="0"/>
          <a:ext cx="0" cy="0"/>
          <a:chOff x="0" y="0"/>
          <a:chExt cx="0" cy="0"/>
        </a:xfrm>
      </p:grpSpPr>
      <p:sp>
        <p:nvSpPr>
          <p:cNvPr id="503" name="Google Shape;503;p73"/>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04" name="Google Shape;504;p73"/>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5" name="Google Shape;505;p73"/>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06" name="Google Shape;506;p73"/>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07" name="Google Shape;507;p73"/>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08" name="Google Shape;508;p73"/>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09" name="Google Shape;509;p73"/>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10" name="Google Shape;510;p73"/>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11" name="Google Shape;511;p73"/>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exte - TITRE en annonce 5">
  <p:cSld name="TITLE_AND_BODY_6">
    <p:bg>
      <p:bgPr>
        <a:solidFill>
          <a:srgbClr val="E8E3D4"/>
        </a:solidFill>
        <a:effectLst/>
      </p:bgPr>
    </p:bg>
    <p:spTree>
      <p:nvGrpSpPr>
        <p:cNvPr id="1" name="Shape 512"/>
        <p:cNvGrpSpPr/>
        <p:nvPr/>
      </p:nvGrpSpPr>
      <p:grpSpPr>
        <a:xfrm>
          <a:off x="0" y="0"/>
          <a:ext cx="0" cy="0"/>
          <a:chOff x="0" y="0"/>
          <a:chExt cx="0" cy="0"/>
        </a:xfrm>
      </p:grpSpPr>
      <p:sp>
        <p:nvSpPr>
          <p:cNvPr id="513" name="Google Shape;513;p74"/>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14" name="Google Shape;514;p74"/>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5" name="Google Shape;515;p74"/>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16" name="Google Shape;516;p74"/>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17" name="Google Shape;517;p74"/>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18" name="Google Shape;518;p74"/>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19" name="Google Shape;519;p74"/>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20" name="Google Shape;520;p74"/>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21" name="Google Shape;521;p74"/>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exte - TITRE en annonce 1">
  <p:cSld name="TITLE_AND_BODY_7">
    <p:bg>
      <p:bgPr>
        <a:solidFill>
          <a:srgbClr val="E8E3D4"/>
        </a:solidFill>
        <a:effectLst/>
      </p:bgPr>
    </p:bg>
    <p:spTree>
      <p:nvGrpSpPr>
        <p:cNvPr id="1" name="Shape 522"/>
        <p:cNvGrpSpPr/>
        <p:nvPr/>
      </p:nvGrpSpPr>
      <p:grpSpPr>
        <a:xfrm>
          <a:off x="0" y="0"/>
          <a:ext cx="0" cy="0"/>
          <a:chOff x="0" y="0"/>
          <a:chExt cx="0" cy="0"/>
        </a:xfrm>
      </p:grpSpPr>
      <p:sp>
        <p:nvSpPr>
          <p:cNvPr id="523" name="Google Shape;523;p75"/>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24" name="Google Shape;524;p75"/>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5" name="Google Shape;525;p75"/>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26" name="Google Shape;526;p75"/>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27" name="Google Shape;527;p75"/>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28" name="Google Shape;528;p75"/>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29" name="Google Shape;529;p75"/>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exte - TITRE en annonce 2">
  <p:cSld name="TITLE_AND_BODY_8">
    <p:bg>
      <p:bgPr>
        <a:solidFill>
          <a:srgbClr val="E8E3D4"/>
        </a:solidFill>
        <a:effectLst/>
      </p:bgPr>
    </p:bg>
    <p:spTree>
      <p:nvGrpSpPr>
        <p:cNvPr id="1" name="Shape 530"/>
        <p:cNvGrpSpPr/>
        <p:nvPr/>
      </p:nvGrpSpPr>
      <p:grpSpPr>
        <a:xfrm>
          <a:off x="0" y="0"/>
          <a:ext cx="0" cy="0"/>
          <a:chOff x="0" y="0"/>
          <a:chExt cx="0" cy="0"/>
        </a:xfrm>
      </p:grpSpPr>
      <p:sp>
        <p:nvSpPr>
          <p:cNvPr id="531" name="Google Shape;531;p76"/>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32" name="Google Shape;532;p76"/>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3" name="Google Shape;533;p76"/>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34" name="Google Shape;534;p76"/>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35" name="Google Shape;535;p76"/>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36" name="Google Shape;536;p76"/>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37" name="Google Shape;537;p76"/>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38" name="Google Shape;538;p76"/>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39" name="Google Shape;539;p76"/>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exte - TITRE en annonce 3">
  <p:cSld name="TITLE_AND_BODY_9">
    <p:bg>
      <p:bgPr>
        <a:solidFill>
          <a:srgbClr val="E8E3D4"/>
        </a:solidFill>
        <a:effectLst/>
      </p:bgPr>
    </p:bg>
    <p:spTree>
      <p:nvGrpSpPr>
        <p:cNvPr id="1" name="Shape 540"/>
        <p:cNvGrpSpPr/>
        <p:nvPr/>
      </p:nvGrpSpPr>
      <p:grpSpPr>
        <a:xfrm>
          <a:off x="0" y="0"/>
          <a:ext cx="0" cy="0"/>
          <a:chOff x="0" y="0"/>
          <a:chExt cx="0" cy="0"/>
        </a:xfrm>
      </p:grpSpPr>
      <p:sp>
        <p:nvSpPr>
          <p:cNvPr id="541" name="Google Shape;541;p77"/>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42" name="Google Shape;542;p77"/>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3" name="Google Shape;543;p77"/>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44" name="Google Shape;544;p77"/>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45" name="Google Shape;545;p77"/>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46" name="Google Shape;546;p77"/>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47" name="Google Shape;547;p77"/>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48" name="Google Shape;548;p77"/>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49" name="Google Shape;549;p77"/>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ransition">
  <p:cSld name="SECTION_HEADER_2">
    <p:bg>
      <p:bgPr>
        <a:solidFill>
          <a:srgbClr val="E8E3D4"/>
        </a:solidFill>
        <a:effectLst/>
      </p:bgPr>
    </p:bg>
    <p:spTree>
      <p:nvGrpSpPr>
        <p:cNvPr id="1" name="Shape 550"/>
        <p:cNvGrpSpPr/>
        <p:nvPr/>
      </p:nvGrpSpPr>
      <p:grpSpPr>
        <a:xfrm>
          <a:off x="0" y="0"/>
          <a:ext cx="0" cy="0"/>
          <a:chOff x="0" y="0"/>
          <a:chExt cx="0" cy="0"/>
        </a:xfrm>
      </p:grpSpPr>
      <p:sp>
        <p:nvSpPr>
          <p:cNvPr id="551" name="Google Shape;551;p78"/>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52" name="Google Shape;552;p78"/>
          <p:cNvPicPr preferRelativeResize="0"/>
          <p:nvPr/>
        </p:nvPicPr>
        <p:blipFill>
          <a:blip r:embed="rId2">
            <a:alphaModFix/>
          </a:blip>
          <a:stretch>
            <a:fillRect/>
          </a:stretch>
        </p:blipFill>
        <p:spPr>
          <a:xfrm>
            <a:off x="8548275" y="4547775"/>
            <a:ext cx="443325" cy="443325"/>
          </a:xfrm>
          <a:prstGeom prst="rect">
            <a:avLst/>
          </a:prstGeom>
          <a:noFill/>
          <a:ln>
            <a:noFill/>
          </a:ln>
        </p:spPr>
      </p:pic>
      <p:pic>
        <p:nvPicPr>
          <p:cNvPr id="553" name="Google Shape;553;p78"/>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54" name="Google Shape;554;p78"/>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exte - TITRE en annonce 4">
  <p:cSld name="TITLE_AND_BODY_10">
    <p:bg>
      <p:bgPr>
        <a:solidFill>
          <a:srgbClr val="E8E3D4"/>
        </a:solidFill>
        <a:effectLst/>
      </p:bgPr>
    </p:bg>
    <p:spTree>
      <p:nvGrpSpPr>
        <p:cNvPr id="1" name="Shape 555"/>
        <p:cNvGrpSpPr/>
        <p:nvPr/>
      </p:nvGrpSpPr>
      <p:grpSpPr>
        <a:xfrm>
          <a:off x="0" y="0"/>
          <a:ext cx="0" cy="0"/>
          <a:chOff x="0" y="0"/>
          <a:chExt cx="0" cy="0"/>
        </a:xfrm>
      </p:grpSpPr>
      <p:sp>
        <p:nvSpPr>
          <p:cNvPr id="556" name="Google Shape;556;p79"/>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57" name="Google Shape;557;p79"/>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8" name="Google Shape;558;p79"/>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59" name="Google Shape;559;p79"/>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60" name="Google Shape;560;p79"/>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61" name="Google Shape;561;p79"/>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62" name="Google Shape;562;p79"/>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63" name="Google Shape;563;p79"/>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64" name="Google Shape;564;p79"/>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exte - TITRE en annonce 6">
  <p:cSld name="TITLE_AND_BODY_11">
    <p:bg>
      <p:bgPr>
        <a:solidFill>
          <a:srgbClr val="E8E3D4"/>
        </a:solidFill>
        <a:effectLst/>
      </p:bgPr>
    </p:bg>
    <p:spTree>
      <p:nvGrpSpPr>
        <p:cNvPr id="1" name="Shape 565"/>
        <p:cNvGrpSpPr/>
        <p:nvPr/>
      </p:nvGrpSpPr>
      <p:grpSpPr>
        <a:xfrm>
          <a:off x="0" y="0"/>
          <a:ext cx="0" cy="0"/>
          <a:chOff x="0" y="0"/>
          <a:chExt cx="0" cy="0"/>
        </a:xfrm>
      </p:grpSpPr>
      <p:sp>
        <p:nvSpPr>
          <p:cNvPr id="566" name="Google Shape;566;p80"/>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67" name="Google Shape;567;p80"/>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8" name="Google Shape;568;p80"/>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69" name="Google Shape;569;p80"/>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70" name="Google Shape;570;p80"/>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71" name="Google Shape;571;p80"/>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72" name="Google Shape;572;p80"/>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73" name="Google Shape;573;p80"/>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74" name="Google Shape;574;p80"/>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exte - TITRE en annonce 7">
  <p:cSld name="TITLE_AND_BODY_12">
    <p:bg>
      <p:bgPr>
        <a:solidFill>
          <a:srgbClr val="E8E3D4"/>
        </a:solidFill>
        <a:effectLst/>
      </p:bgPr>
    </p:bg>
    <p:spTree>
      <p:nvGrpSpPr>
        <p:cNvPr id="1" name="Shape 575"/>
        <p:cNvGrpSpPr/>
        <p:nvPr/>
      </p:nvGrpSpPr>
      <p:grpSpPr>
        <a:xfrm>
          <a:off x="0" y="0"/>
          <a:ext cx="0" cy="0"/>
          <a:chOff x="0" y="0"/>
          <a:chExt cx="0" cy="0"/>
        </a:xfrm>
      </p:grpSpPr>
      <p:sp>
        <p:nvSpPr>
          <p:cNvPr id="576" name="Google Shape;576;p81"/>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77" name="Google Shape;577;p81"/>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8" name="Google Shape;578;p81"/>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79" name="Google Shape;579;p81"/>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80" name="Google Shape;580;p81"/>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81" name="Google Shape;581;p81"/>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82" name="Google Shape;582;p81"/>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ransition 1">
  <p:cSld name="SECTION_HEADER_3">
    <p:bg>
      <p:bgPr>
        <a:solidFill>
          <a:srgbClr val="E8E3D4"/>
        </a:solidFill>
        <a:effectLst/>
      </p:bgPr>
    </p:bg>
    <p:spTree>
      <p:nvGrpSpPr>
        <p:cNvPr id="1" name="Shape 583"/>
        <p:cNvGrpSpPr/>
        <p:nvPr/>
      </p:nvGrpSpPr>
      <p:grpSpPr>
        <a:xfrm>
          <a:off x="0" y="0"/>
          <a:ext cx="0" cy="0"/>
          <a:chOff x="0" y="0"/>
          <a:chExt cx="0" cy="0"/>
        </a:xfrm>
      </p:grpSpPr>
      <p:sp>
        <p:nvSpPr>
          <p:cNvPr id="584" name="Google Shape;584;p82"/>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85" name="Google Shape;585;p82"/>
          <p:cNvPicPr preferRelativeResize="0"/>
          <p:nvPr/>
        </p:nvPicPr>
        <p:blipFill>
          <a:blip r:embed="rId2">
            <a:alphaModFix/>
          </a:blip>
          <a:stretch>
            <a:fillRect/>
          </a:stretch>
        </p:blipFill>
        <p:spPr>
          <a:xfrm>
            <a:off x="8548275" y="4547775"/>
            <a:ext cx="443325" cy="443325"/>
          </a:xfrm>
          <a:prstGeom prst="rect">
            <a:avLst/>
          </a:prstGeom>
          <a:noFill/>
          <a:ln>
            <a:noFill/>
          </a:ln>
        </p:spPr>
      </p:pic>
      <p:pic>
        <p:nvPicPr>
          <p:cNvPr id="586" name="Google Shape;586;p82"/>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87" name="Google Shape;587;p82"/>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_2">
  <p:cSld name="TITLE_2">
    <p:bg>
      <p:bgPr>
        <a:solidFill>
          <a:srgbClr val="E8E3D4"/>
        </a:solidFill>
        <a:effectLst/>
      </p:bgPr>
    </p:bg>
    <p:spTree>
      <p:nvGrpSpPr>
        <p:cNvPr id="1" name="Shape 588"/>
        <p:cNvGrpSpPr/>
        <p:nvPr/>
      </p:nvGrpSpPr>
      <p:grpSpPr>
        <a:xfrm>
          <a:off x="0" y="0"/>
          <a:ext cx="0" cy="0"/>
          <a:chOff x="0" y="0"/>
          <a:chExt cx="0" cy="0"/>
        </a:xfrm>
      </p:grpSpPr>
      <p:pic>
        <p:nvPicPr>
          <p:cNvPr id="589" name="Google Shape;589;p83"/>
          <p:cNvPicPr preferRelativeResize="0"/>
          <p:nvPr/>
        </p:nvPicPr>
        <p:blipFill>
          <a:blip r:embed="rId2">
            <a:alphaModFix/>
          </a:blip>
          <a:stretch>
            <a:fillRect/>
          </a:stretch>
        </p:blipFill>
        <p:spPr>
          <a:xfrm>
            <a:off x="438330" y="403365"/>
            <a:ext cx="1076958" cy="824400"/>
          </a:xfrm>
          <a:prstGeom prst="rect">
            <a:avLst/>
          </a:prstGeom>
          <a:noFill/>
          <a:ln>
            <a:noFill/>
          </a:ln>
        </p:spPr>
      </p:pic>
      <p:pic>
        <p:nvPicPr>
          <p:cNvPr id="590" name="Google Shape;590;p83"/>
          <p:cNvPicPr preferRelativeResize="0"/>
          <p:nvPr/>
        </p:nvPicPr>
        <p:blipFill>
          <a:blip r:embed="rId3">
            <a:alphaModFix/>
          </a:blip>
          <a:stretch>
            <a:fillRect/>
          </a:stretch>
        </p:blipFill>
        <p:spPr>
          <a:xfrm>
            <a:off x="3254263" y="4337565"/>
            <a:ext cx="2635477" cy="518950"/>
          </a:xfrm>
          <a:prstGeom prst="rect">
            <a:avLst/>
          </a:prstGeom>
          <a:noFill/>
          <a:ln>
            <a:noFill/>
          </a:ln>
        </p:spPr>
      </p:pic>
      <p:pic>
        <p:nvPicPr>
          <p:cNvPr id="591" name="Google Shape;591;p83"/>
          <p:cNvPicPr preferRelativeResize="0"/>
          <p:nvPr/>
        </p:nvPicPr>
        <p:blipFill>
          <a:blip r:embed="rId4">
            <a:alphaModFix/>
          </a:blip>
          <a:stretch>
            <a:fillRect/>
          </a:stretch>
        </p:blipFill>
        <p:spPr>
          <a:xfrm>
            <a:off x="7660579" y="4002409"/>
            <a:ext cx="1076975" cy="676023"/>
          </a:xfrm>
          <a:prstGeom prst="rect">
            <a:avLst/>
          </a:prstGeom>
          <a:noFill/>
          <a:ln>
            <a:noFill/>
          </a:ln>
        </p:spPr>
      </p:pic>
      <p:sp>
        <p:nvSpPr>
          <p:cNvPr id="592" name="Google Shape;592;p83"/>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Arrière-plan simple" type="blank">
  <p:cSld name="BLANK">
    <p:bg>
      <p:bgPr>
        <a:solidFill>
          <a:srgbClr val="E8E3D4"/>
        </a:solidFill>
        <a:effectLst/>
      </p:bgPr>
    </p:bg>
    <p:spTree>
      <p:nvGrpSpPr>
        <p:cNvPr id="1" name="Shape 593"/>
        <p:cNvGrpSpPr/>
        <p:nvPr/>
      </p:nvGrpSpPr>
      <p:grpSpPr>
        <a:xfrm>
          <a:off x="0" y="0"/>
          <a:ext cx="0" cy="0"/>
          <a:chOff x="0" y="0"/>
          <a:chExt cx="0" cy="0"/>
        </a:xfrm>
      </p:grpSpPr>
      <p:pic>
        <p:nvPicPr>
          <p:cNvPr id="594" name="Google Shape;594;p84"/>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95" name="Google Shape;595;p84"/>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exte - TITRE en annonce 8">
  <p:cSld name="TITLE_AND_BODY_13">
    <p:bg>
      <p:bgPr>
        <a:solidFill>
          <a:srgbClr val="E8E3D4"/>
        </a:solidFill>
        <a:effectLst/>
      </p:bgPr>
    </p:bg>
    <p:spTree>
      <p:nvGrpSpPr>
        <p:cNvPr id="1" name="Shape 596"/>
        <p:cNvGrpSpPr/>
        <p:nvPr/>
      </p:nvGrpSpPr>
      <p:grpSpPr>
        <a:xfrm>
          <a:off x="0" y="0"/>
          <a:ext cx="0" cy="0"/>
          <a:chOff x="0" y="0"/>
          <a:chExt cx="0" cy="0"/>
        </a:xfrm>
      </p:grpSpPr>
      <p:sp>
        <p:nvSpPr>
          <p:cNvPr id="597" name="Google Shape;597;p85"/>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98" name="Google Shape;598;p85"/>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9" name="Google Shape;599;p85"/>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00" name="Google Shape;600;p85"/>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601" name="Google Shape;601;p85"/>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602" name="Google Shape;602;p85"/>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603" name="Google Shape;603;p85"/>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ransition 2">
  <p:cSld name="SECTION_HEADER_4">
    <p:bg>
      <p:bgPr>
        <a:solidFill>
          <a:srgbClr val="E8E3D4"/>
        </a:solidFill>
        <a:effectLst/>
      </p:bgPr>
    </p:bg>
    <p:spTree>
      <p:nvGrpSpPr>
        <p:cNvPr id="1" name="Shape 604"/>
        <p:cNvGrpSpPr/>
        <p:nvPr/>
      </p:nvGrpSpPr>
      <p:grpSpPr>
        <a:xfrm>
          <a:off x="0" y="0"/>
          <a:ext cx="0" cy="0"/>
          <a:chOff x="0" y="0"/>
          <a:chExt cx="0" cy="0"/>
        </a:xfrm>
      </p:grpSpPr>
      <p:sp>
        <p:nvSpPr>
          <p:cNvPr id="605" name="Google Shape;605;p86"/>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06" name="Google Shape;606;p86"/>
          <p:cNvPicPr preferRelativeResize="0"/>
          <p:nvPr/>
        </p:nvPicPr>
        <p:blipFill>
          <a:blip r:embed="rId2">
            <a:alphaModFix/>
          </a:blip>
          <a:stretch>
            <a:fillRect/>
          </a:stretch>
        </p:blipFill>
        <p:spPr>
          <a:xfrm>
            <a:off x="8548275" y="4547775"/>
            <a:ext cx="443325" cy="443325"/>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Diapositive de titre 1 1">
  <p:cSld name="TITLE_1_2">
    <p:bg>
      <p:bgPr>
        <a:solidFill>
          <a:srgbClr val="E8E3D4"/>
        </a:solidFill>
        <a:effectLst/>
      </p:bgPr>
    </p:bg>
    <p:spTree>
      <p:nvGrpSpPr>
        <p:cNvPr id="1" name="Shape 607"/>
        <p:cNvGrpSpPr/>
        <p:nvPr/>
      </p:nvGrpSpPr>
      <p:grpSpPr>
        <a:xfrm>
          <a:off x="0" y="0"/>
          <a:ext cx="0" cy="0"/>
          <a:chOff x="0" y="0"/>
          <a:chExt cx="0" cy="0"/>
        </a:xfrm>
      </p:grpSpPr>
      <p:pic>
        <p:nvPicPr>
          <p:cNvPr id="608" name="Google Shape;608;p87"/>
          <p:cNvPicPr preferRelativeResize="0"/>
          <p:nvPr/>
        </p:nvPicPr>
        <p:blipFill>
          <a:blip r:embed="rId2">
            <a:alphaModFix/>
          </a:blip>
          <a:stretch>
            <a:fillRect/>
          </a:stretch>
        </p:blipFill>
        <p:spPr>
          <a:xfrm>
            <a:off x="438330" y="403365"/>
            <a:ext cx="1076958" cy="824400"/>
          </a:xfrm>
          <a:prstGeom prst="rect">
            <a:avLst/>
          </a:prstGeom>
          <a:noFill/>
          <a:ln>
            <a:noFill/>
          </a:ln>
        </p:spPr>
      </p:pic>
      <p:pic>
        <p:nvPicPr>
          <p:cNvPr id="609" name="Google Shape;609;p87"/>
          <p:cNvPicPr preferRelativeResize="0"/>
          <p:nvPr/>
        </p:nvPicPr>
        <p:blipFill>
          <a:blip r:embed="rId3">
            <a:alphaModFix/>
          </a:blip>
          <a:stretch>
            <a:fillRect/>
          </a:stretch>
        </p:blipFill>
        <p:spPr>
          <a:xfrm>
            <a:off x="3254263" y="4337565"/>
            <a:ext cx="2635477" cy="518950"/>
          </a:xfrm>
          <a:prstGeom prst="rect">
            <a:avLst/>
          </a:prstGeom>
          <a:noFill/>
          <a:ln>
            <a:noFill/>
          </a:ln>
        </p:spPr>
      </p:pic>
      <p:pic>
        <p:nvPicPr>
          <p:cNvPr id="610" name="Google Shape;610;p87"/>
          <p:cNvPicPr preferRelativeResize="0"/>
          <p:nvPr/>
        </p:nvPicPr>
        <p:blipFill>
          <a:blip r:embed="rId4">
            <a:alphaModFix/>
          </a:blip>
          <a:stretch>
            <a:fillRect/>
          </a:stretch>
        </p:blipFill>
        <p:spPr>
          <a:xfrm>
            <a:off x="7660579" y="4002409"/>
            <a:ext cx="1076975" cy="676023"/>
          </a:xfrm>
          <a:prstGeom prst="rect">
            <a:avLst/>
          </a:prstGeom>
          <a:noFill/>
          <a:ln>
            <a:noFill/>
          </a:ln>
        </p:spPr>
      </p:pic>
      <p:sp>
        <p:nvSpPr>
          <p:cNvPr id="611" name="Google Shape;611;p87"/>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_AND_BODY_13_1">
  <p:cSld name="TITLE_AND_BODY_13_1">
    <p:spTree>
      <p:nvGrpSpPr>
        <p:cNvPr id="1" name="Shape 612"/>
        <p:cNvGrpSpPr/>
        <p:nvPr/>
      </p:nvGrpSpPr>
      <p:grpSpPr>
        <a:xfrm>
          <a:off x="0" y="0"/>
          <a:ext cx="0" cy="0"/>
          <a:chOff x="0" y="0"/>
          <a:chExt cx="0" cy="0"/>
        </a:xfrm>
      </p:grpSpPr>
      <p:sp>
        <p:nvSpPr>
          <p:cNvPr id="613" name="Google Shape;613;p8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614" name="Google Shape;614;p8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15" name="Google Shape;615;p88"/>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2A - Sommaire uni 1">
  <p:cSld name="CUSTOM_6_1_1">
    <p:bg>
      <p:bgPr>
        <a:solidFill>
          <a:schemeClr val="accent1"/>
        </a:solidFill>
        <a:effectLst/>
      </p:bgPr>
    </p:bg>
    <p:spTree>
      <p:nvGrpSpPr>
        <p:cNvPr id="1" name="Shape 616"/>
        <p:cNvGrpSpPr/>
        <p:nvPr/>
      </p:nvGrpSpPr>
      <p:grpSpPr>
        <a:xfrm>
          <a:off x="0" y="0"/>
          <a:ext cx="0" cy="0"/>
          <a:chOff x="0" y="0"/>
          <a:chExt cx="0" cy="0"/>
        </a:xfrm>
      </p:grpSpPr>
      <p:sp>
        <p:nvSpPr>
          <p:cNvPr id="617" name="Google Shape;617;p8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49799"/>
              </a:srgbClr>
            </a:outerShdw>
          </a:effectLst>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1pPr>
            <a:lvl2pPr marL="0" marR="0" lvl="1"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2pPr>
            <a:lvl3pPr marL="0" marR="0" lvl="2"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3pPr>
            <a:lvl4pPr marL="0" marR="0" lvl="3"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4pPr>
            <a:lvl5pPr marL="0" marR="0" lvl="4"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5pPr>
            <a:lvl6pPr marL="0" marR="0" lvl="5"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6pPr>
            <a:lvl7pPr marL="0" marR="0" lvl="6"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7pPr>
            <a:lvl8pPr marL="0" marR="0" lvl="7"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8pPr>
            <a:lvl9pPr marL="0" marR="0" lvl="8"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pic>
        <p:nvPicPr>
          <p:cNvPr id="618" name="Google Shape;618;p8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619" name="Google Shape;619;p89"/>
          <p:cNvSpPr txBox="1">
            <a:spLocks noGrp="1"/>
          </p:cNvSpPr>
          <p:nvPr>
            <p:ph type="title"/>
          </p:nvPr>
        </p:nvSpPr>
        <p:spPr>
          <a:xfrm>
            <a:off x="198000" y="198100"/>
            <a:ext cx="2038500" cy="34572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1pPr>
            <a:lvl2pPr marR="0" lvl="1"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2pPr>
            <a:lvl3pPr marR="0" lvl="2"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3pPr>
            <a:lvl4pPr marR="0" lvl="3"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4pPr>
            <a:lvl5pPr marR="0" lvl="4"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5pPr>
            <a:lvl6pPr marR="0" lvl="5"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6pPr>
            <a:lvl7pPr marR="0" lvl="6"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7pPr>
            <a:lvl8pPr marR="0" lvl="7"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8pPr>
            <a:lvl9pPr marR="0" lvl="8"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9pPr>
          </a:lstStyle>
          <a:p>
            <a:endParaRPr/>
          </a:p>
        </p:txBody>
      </p:sp>
      <p:sp>
        <p:nvSpPr>
          <p:cNvPr id="620" name="Google Shape;620;p89"/>
          <p:cNvSpPr txBox="1">
            <a:spLocks noGrp="1"/>
          </p:cNvSpPr>
          <p:nvPr>
            <p:ph type="title" idx="2"/>
          </p:nvPr>
        </p:nvSpPr>
        <p:spPr>
          <a:xfrm>
            <a:off x="2434500" y="198100"/>
            <a:ext cx="547500" cy="4549500"/>
          </a:xfrm>
          <a:prstGeom prst="rect">
            <a:avLst/>
          </a:prstGeom>
          <a:noFill/>
          <a:ln>
            <a:noFill/>
          </a:ln>
        </p:spPr>
        <p:txBody>
          <a:bodyPr spcFirstLastPara="1" wrap="square" lIns="0" tIns="0" rIns="0" bIns="0" anchor="ctr" anchorCtr="0">
            <a:noAutofit/>
          </a:bodyPr>
          <a:lstStyle>
            <a:lvl1pPr marR="0" lvl="0"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1pPr>
            <a:lvl2pPr marR="0" lvl="1"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2pPr>
            <a:lvl3pPr marR="0" lvl="2"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3pPr>
            <a:lvl4pPr marR="0" lvl="3"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4pPr>
            <a:lvl5pPr marR="0" lvl="4"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5pPr>
            <a:lvl6pPr marR="0" lvl="5"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6pPr>
            <a:lvl7pPr marR="0" lvl="6"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7pPr>
            <a:lvl8pPr marR="0" lvl="7"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8pPr>
            <a:lvl9pPr marR="0" lvl="8"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9pPr>
          </a:lstStyle>
          <a:p>
            <a:endParaRPr/>
          </a:p>
        </p:txBody>
      </p:sp>
      <p:sp>
        <p:nvSpPr>
          <p:cNvPr id="621" name="Google Shape;621;p89"/>
          <p:cNvSpPr txBox="1">
            <a:spLocks noGrp="1"/>
          </p:cNvSpPr>
          <p:nvPr>
            <p:ph type="title" idx="3"/>
          </p:nvPr>
        </p:nvSpPr>
        <p:spPr>
          <a:xfrm>
            <a:off x="3180000" y="198100"/>
            <a:ext cx="4275000" cy="4549500"/>
          </a:xfrm>
          <a:prstGeom prst="rect">
            <a:avLst/>
          </a:prstGeom>
          <a:noFill/>
          <a:ln>
            <a:noFill/>
          </a:ln>
        </p:spPr>
        <p:txBody>
          <a:bodyPr spcFirstLastPara="1" wrap="square" lIns="0" tIns="0" rIns="0" bIns="0" anchor="ctr" anchorCtr="0">
            <a:noAutofit/>
          </a:bodyPr>
          <a:lstStyle>
            <a:lvl1pPr marR="0" lvl="0" algn="l">
              <a:lnSpc>
                <a:spcPct val="200000"/>
              </a:lnSpc>
              <a:spcBef>
                <a:spcPts val="0"/>
              </a:spcBef>
              <a:spcAft>
                <a:spcPts val="0"/>
              </a:spcAft>
              <a:buClr>
                <a:srgbClr val="1A1A33"/>
              </a:buClr>
              <a:buSzPts val="1200"/>
              <a:buFont typeface="Inter Medium"/>
              <a:buChar char="●"/>
              <a:defRPr sz="1200" b="0" i="0" u="none" strike="noStrike" cap="none">
                <a:solidFill>
                  <a:srgbClr val="1A1A33"/>
                </a:solidFill>
                <a:latin typeface="Inter Medium"/>
                <a:ea typeface="Inter Medium"/>
                <a:cs typeface="Inter Medium"/>
                <a:sym typeface="Inter Medium"/>
              </a:defRPr>
            </a:lvl1pPr>
            <a:lvl2pPr marR="0" lvl="1"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2pPr>
            <a:lvl3pPr marR="0" lvl="2"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3pPr>
            <a:lvl4pPr marR="0" lvl="3"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4pPr>
            <a:lvl5pPr marR="0" lvl="4"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5pPr>
            <a:lvl6pPr marR="0" lvl="5"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6pPr>
            <a:lvl7pPr marR="0" lvl="6"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7pPr>
            <a:lvl8pPr marR="0" lvl="7"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8pPr>
            <a:lvl9pPr marR="0" lvl="8"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9pPr>
          </a:lstStyle>
          <a:p>
            <a:endParaRPr/>
          </a:p>
        </p:txBody>
      </p:sp>
      <p:pic>
        <p:nvPicPr>
          <p:cNvPr id="622" name="Google Shape;622;p89" title="Fichier 17.png"/>
          <p:cNvPicPr preferRelativeResize="0"/>
          <p:nvPr/>
        </p:nvPicPr>
        <p:blipFill rotWithShape="1">
          <a:blip r:embed="rId3">
            <a:alphaModFix/>
          </a:blip>
          <a:srcRect/>
          <a:stretch/>
        </p:blipFill>
        <p:spPr>
          <a:xfrm>
            <a:off x="6709501" y="2571740"/>
            <a:ext cx="4892924" cy="24047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6" r:id="rId16"/>
    <p:sldLayoutId id="2147483677" r:id="rId17"/>
    <p:sldLayoutId id="2147483678" r:id="rId18"/>
    <p:sldLayoutId id="2147483679" r:id="rId19"/>
    <p:sldLayoutId id="2147483680" r:id="rId20"/>
    <p:sldLayoutId id="2147483681" r:id="rId21"/>
    <p:sldLayoutId id="2147483682" r:id="rId22"/>
    <p:sldLayoutId id="2147483737"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7" r:id="rId56"/>
    <p:sldLayoutId id="2147483718" r:id="rId57"/>
    <p:sldLayoutId id="2147483719" r:id="rId58"/>
    <p:sldLayoutId id="2147483720" r:id="rId59"/>
    <p:sldLayoutId id="2147483721" r:id="rId60"/>
    <p:sldLayoutId id="2147483722" r:id="rId61"/>
    <p:sldLayoutId id="2147483723" r:id="rId62"/>
    <p:sldLayoutId id="2147483724" r:id="rId63"/>
    <p:sldLayoutId id="2147483725" r:id="rId64"/>
    <p:sldLayoutId id="2147483726" r:id="rId65"/>
    <p:sldLayoutId id="2147483727" r:id="rId66"/>
    <p:sldLayoutId id="2147483728" r:id="rId67"/>
    <p:sldLayoutId id="2147483729" r:id="rId68"/>
    <p:sldLayoutId id="2147483730" r:id="rId69"/>
    <p:sldLayoutId id="2147483731" r:id="rId70"/>
    <p:sldLayoutId id="2147483732" r:id="rId71"/>
    <p:sldLayoutId id="2147483733" r:id="rId72"/>
    <p:sldLayoutId id="2147483734" r:id="rId7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25">
          <p15:clr>
            <a:srgbClr val="E46962"/>
          </p15:clr>
        </p15:guide>
        <p15:guide id="2" pos="470">
          <p15:clr>
            <a:srgbClr val="E46962"/>
          </p15:clr>
        </p15:guide>
        <p15:guide id="3" pos="594">
          <p15:clr>
            <a:srgbClr val="E46962"/>
          </p15:clr>
        </p15:guide>
        <p15:guide id="4" pos="939">
          <p15:clr>
            <a:srgbClr val="E46962"/>
          </p15:clr>
        </p15:guide>
        <p15:guide id="5" pos="1064">
          <p15:clr>
            <a:srgbClr val="E46962"/>
          </p15:clr>
        </p15:guide>
        <p15:guide id="6" pos="1409">
          <p15:clr>
            <a:srgbClr val="E46962"/>
          </p15:clr>
        </p15:guide>
        <p15:guide id="7" pos="1534">
          <p15:clr>
            <a:srgbClr val="E46962"/>
          </p15:clr>
        </p15:guide>
        <p15:guide id="8" pos="1878">
          <p15:clr>
            <a:srgbClr val="E46962"/>
          </p15:clr>
        </p15:guide>
        <p15:guide id="9" pos="2003">
          <p15:clr>
            <a:srgbClr val="E46962"/>
          </p15:clr>
        </p15:guide>
        <p15:guide id="10" pos="2348">
          <p15:clr>
            <a:srgbClr val="E46962"/>
          </p15:clr>
        </p15:guide>
        <p15:guide id="11" pos="2473">
          <p15:clr>
            <a:srgbClr val="E46962"/>
          </p15:clr>
        </p15:guide>
        <p15:guide id="12" pos="2818">
          <p15:clr>
            <a:srgbClr val="E46962"/>
          </p15:clr>
        </p15:guide>
        <p15:guide id="13" pos="2942">
          <p15:clr>
            <a:srgbClr val="E46962"/>
          </p15:clr>
        </p15:guide>
        <p15:guide id="14" pos="3287">
          <p15:clr>
            <a:srgbClr val="E46962"/>
          </p15:clr>
        </p15:guide>
        <p15:guide id="15" pos="3412">
          <p15:clr>
            <a:srgbClr val="E46962"/>
          </p15:clr>
        </p15:guide>
        <p15:guide id="16" pos="3757">
          <p15:clr>
            <a:srgbClr val="E46962"/>
          </p15:clr>
        </p15:guide>
        <p15:guide id="17" pos="3882">
          <p15:clr>
            <a:srgbClr val="E46962"/>
          </p15:clr>
        </p15:guide>
        <p15:guide id="18" pos="4226">
          <p15:clr>
            <a:srgbClr val="E46962"/>
          </p15:clr>
        </p15:guide>
        <p15:guide id="19" pos="4351">
          <p15:clr>
            <a:srgbClr val="E46962"/>
          </p15:clr>
        </p15:guide>
        <p15:guide id="20" pos="4696">
          <p15:clr>
            <a:srgbClr val="E46962"/>
          </p15:clr>
        </p15:guide>
        <p15:guide id="21" pos="4821">
          <p15:clr>
            <a:srgbClr val="E46962"/>
          </p15:clr>
        </p15:guide>
        <p15:guide id="22" pos="5166">
          <p15:clr>
            <a:srgbClr val="E46962"/>
          </p15:clr>
        </p15:guide>
        <p15:guide id="23" pos="5290">
          <p15:clr>
            <a:srgbClr val="E46962"/>
          </p15:clr>
        </p15:guide>
        <p15:guide id="24" pos="5635">
          <p15:clr>
            <a:srgbClr val="E46962"/>
          </p15:clr>
        </p15:guide>
        <p15:guide id="25" orient="horz" pos="125">
          <p15:clr>
            <a:srgbClr val="E46962"/>
          </p15:clr>
        </p15:guide>
        <p15:guide id="26" orient="horz" pos="2991">
          <p15:clr>
            <a:srgbClr val="E46962"/>
          </p15:clr>
        </p15:guide>
        <p15:guide id="27" orient="horz" pos="1495">
          <p15:clr>
            <a:srgbClr val="E46962"/>
          </p15:clr>
        </p15:guide>
        <p15:guide id="28" orient="horz" pos="1620">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35.png"/><Relationship Id="rId1" Type="http://schemas.openxmlformats.org/officeDocument/2006/relationships/slideLayout" Target="../slideLayouts/slideLayout2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2.pn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2.xml"/><Relationship Id="rId6" Type="http://schemas.openxmlformats.org/officeDocument/2006/relationships/image" Target="../media/image38.png"/><Relationship Id="rId11" Type="http://schemas.openxmlformats.org/officeDocument/2006/relationships/image" Target="../media/image42.svg"/><Relationship Id="rId5" Type="http://schemas.openxmlformats.org/officeDocument/2006/relationships/image" Target="../media/image34.png"/><Relationship Id="rId10" Type="http://schemas.openxmlformats.org/officeDocument/2006/relationships/image" Target="../media/image41.png"/><Relationship Id="rId4" Type="http://schemas.openxmlformats.org/officeDocument/2006/relationships/image" Target="../media/image28.png"/><Relationship Id="rId9" Type="http://schemas.openxmlformats.org/officeDocument/2006/relationships/image" Target="../media/image4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2.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34.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37.png"/><Relationship Id="rId4" Type="http://schemas.openxmlformats.org/officeDocument/2006/relationships/image" Target="../media/image3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5.png"/><Relationship Id="rId18"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34.png"/><Relationship Id="rId12" Type="http://schemas.openxmlformats.org/officeDocument/2006/relationships/image" Target="../media/image44.png"/><Relationship Id="rId17" Type="http://schemas.openxmlformats.org/officeDocument/2006/relationships/image" Target="../media/image39.png"/><Relationship Id="rId2" Type="http://schemas.openxmlformats.org/officeDocument/2006/relationships/notesSlide" Target="../notesSlides/notesSlide10.xml"/><Relationship Id="rId16" Type="http://schemas.openxmlformats.org/officeDocument/2006/relationships/image" Target="../media/image47.png"/><Relationship Id="rId1" Type="http://schemas.openxmlformats.org/officeDocument/2006/relationships/slideLayout" Target="../slideLayouts/slideLayout22.xml"/><Relationship Id="rId6" Type="http://schemas.openxmlformats.org/officeDocument/2006/relationships/image" Target="../media/image28.png"/><Relationship Id="rId11" Type="http://schemas.openxmlformats.org/officeDocument/2006/relationships/image" Target="../media/image43.png"/><Relationship Id="rId5" Type="http://schemas.openxmlformats.org/officeDocument/2006/relationships/image" Target="../media/image27.png"/><Relationship Id="rId15" Type="http://schemas.openxmlformats.org/officeDocument/2006/relationships/image" Target="../media/image35.png"/><Relationship Id="rId10" Type="http://schemas.openxmlformats.org/officeDocument/2006/relationships/image" Target="../media/image23.png"/><Relationship Id="rId19" Type="http://schemas.openxmlformats.org/officeDocument/2006/relationships/image" Target="../media/image37.png"/><Relationship Id="rId4" Type="http://schemas.openxmlformats.org/officeDocument/2006/relationships/image" Target="../media/image25.png"/><Relationship Id="rId9" Type="http://schemas.openxmlformats.org/officeDocument/2006/relationships/image" Target="../media/image29.png"/><Relationship Id="rId14"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2.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2.xml"/><Relationship Id="rId6" Type="http://schemas.openxmlformats.org/officeDocument/2006/relationships/image" Target="../media/image28.png"/><Relationship Id="rId5" Type="http://schemas.openxmlformats.org/officeDocument/2006/relationships/image" Target="../media/image39.png"/><Relationship Id="rId10" Type="http://schemas.openxmlformats.org/officeDocument/2006/relationships/image" Target="../media/image45.png"/><Relationship Id="rId4" Type="http://schemas.openxmlformats.org/officeDocument/2006/relationships/image" Target="../media/image47.png"/><Relationship Id="rId9"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2.xml"/><Relationship Id="rId6" Type="http://schemas.openxmlformats.org/officeDocument/2006/relationships/image" Target="../media/image54.gif"/><Relationship Id="rId5" Type="http://schemas.openxmlformats.org/officeDocument/2006/relationships/image" Target="../media/image53.png"/><Relationship Id="rId4" Type="http://schemas.openxmlformats.org/officeDocument/2006/relationships/image" Target="../media/image5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90"/>
          <p:cNvSpPr txBox="1">
            <a:spLocks noGrp="1"/>
          </p:cNvSpPr>
          <p:nvPr>
            <p:ph type="title"/>
          </p:nvPr>
        </p:nvSpPr>
        <p:spPr>
          <a:xfrm>
            <a:off x="198000" y="1506075"/>
            <a:ext cx="5766000" cy="529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fr" dirty="0">
                <a:highlight>
                  <a:srgbClr val="FF6745"/>
                </a:highlight>
                <a:latin typeface="Inter SemiBold"/>
                <a:ea typeface="Inter SemiBold"/>
                <a:cs typeface="Inter SemiBold"/>
                <a:sym typeface="Inter SemiBold"/>
              </a:rPr>
              <a:t>DATA ENGINEER</a:t>
            </a:r>
            <a:endParaRPr dirty="0">
              <a:latin typeface="Inter SemiBold"/>
              <a:ea typeface="Inter SemiBold"/>
              <a:cs typeface="Inter SemiBold"/>
              <a:sym typeface="Inter SemiBold"/>
            </a:endParaRPr>
          </a:p>
        </p:txBody>
      </p:sp>
      <p:sp>
        <p:nvSpPr>
          <p:cNvPr id="628" name="Google Shape;628;p90"/>
          <p:cNvSpPr txBox="1">
            <a:spLocks noGrp="1"/>
          </p:cNvSpPr>
          <p:nvPr>
            <p:ph type="title" idx="2"/>
          </p:nvPr>
        </p:nvSpPr>
        <p:spPr>
          <a:xfrm>
            <a:off x="198000" y="198000"/>
            <a:ext cx="5918400" cy="1242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Project </a:t>
            </a:r>
            <a:r>
              <a:rPr lang="en-US" b="1" dirty="0" err="1">
                <a:latin typeface="Work Sans"/>
                <a:ea typeface="Work Sans"/>
                <a:cs typeface="Work Sans"/>
                <a:sym typeface="Work Sans"/>
              </a:rPr>
              <a:t>Defence</a:t>
            </a:r>
            <a:endParaRPr b="1" dirty="0">
              <a:latin typeface="Work Sans"/>
              <a:ea typeface="Work Sans"/>
              <a:cs typeface="Work Sans"/>
              <a:sym typeface="Work Sans"/>
            </a:endParaRPr>
          </a:p>
          <a:p>
            <a:pPr marL="0" lvl="0" indent="0" algn="l" rtl="0">
              <a:spcBef>
                <a:spcPts val="0"/>
              </a:spcBef>
              <a:spcAft>
                <a:spcPts val="0"/>
              </a:spcAft>
              <a:buNone/>
            </a:pPr>
            <a:r>
              <a:rPr lang="fr" b="1" dirty="0">
                <a:solidFill>
                  <a:schemeClr val="lt2"/>
                </a:solidFill>
                <a:latin typeface="Work Sans"/>
                <a:ea typeface="Work Sans"/>
                <a:cs typeface="Work Sans"/>
                <a:sym typeface="Work Sans"/>
              </a:rPr>
              <a:t>Job Market</a:t>
            </a:r>
            <a:endParaRPr b="1" dirty="0">
              <a:solidFill>
                <a:schemeClr val="lt2"/>
              </a:solidFill>
              <a:latin typeface="Work Sans"/>
              <a:ea typeface="Work Sans"/>
              <a:cs typeface="Work Sans"/>
              <a:sym typeface="Work Sans"/>
            </a:endParaRPr>
          </a:p>
        </p:txBody>
      </p:sp>
      <p:sp>
        <p:nvSpPr>
          <p:cNvPr id="2" name="TextBox 1">
            <a:extLst>
              <a:ext uri="{FF2B5EF4-FFF2-40B4-BE49-F238E27FC236}">
                <a16:creationId xmlns:a16="http://schemas.microsoft.com/office/drawing/2014/main" id="{90D4BDE3-9AF6-1ADF-FEA4-63E21C5DED61}"/>
              </a:ext>
            </a:extLst>
          </p:cNvPr>
          <p:cNvSpPr txBox="1"/>
          <p:nvPr/>
        </p:nvSpPr>
        <p:spPr>
          <a:xfrm>
            <a:off x="198000" y="2167813"/>
            <a:ext cx="6173934" cy="307777"/>
          </a:xfrm>
          <a:prstGeom prst="rect">
            <a:avLst/>
          </a:prstGeom>
          <a:noFill/>
        </p:spPr>
        <p:txBody>
          <a:bodyPr wrap="square" rtlCol="0">
            <a:spAutoFit/>
          </a:bodyPr>
          <a:lstStyle/>
          <a:p>
            <a:r>
              <a:rPr lang="en-US" dirty="0">
                <a:solidFill>
                  <a:schemeClr val="bg1"/>
                </a:solidFill>
              </a:rPr>
              <a:t>Sergey Krutikov, François </a:t>
            </a:r>
            <a:r>
              <a:rPr lang="en-US" dirty="0" err="1">
                <a:solidFill>
                  <a:schemeClr val="bg1"/>
                </a:solidFill>
              </a:rPr>
              <a:t>Grygoryan</a:t>
            </a:r>
            <a:r>
              <a:rPr lang="en-US" dirty="0">
                <a:solidFill>
                  <a:schemeClr val="bg1"/>
                </a:solidFill>
              </a:rPr>
              <a:t>-Rolland, Ahmet Günay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025829B5-B234-74D5-6DBC-AFB3BA6F10B5}"/>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200DCD83-686D-5390-4DD3-F2D39264A846}"/>
              </a:ext>
            </a:extLst>
          </p:cNvPr>
          <p:cNvSpPr/>
          <p:nvPr/>
        </p:nvSpPr>
        <p:spPr>
          <a:xfrm>
            <a:off x="1692235" y="2854622"/>
            <a:ext cx="6467034" cy="1700184"/>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3AC58F0-9776-7648-A6BE-E1061A485578}"/>
              </a:ext>
            </a:extLst>
          </p:cNvPr>
          <p:cNvSpPr/>
          <p:nvPr/>
        </p:nvSpPr>
        <p:spPr>
          <a:xfrm>
            <a:off x="1702931" y="571500"/>
            <a:ext cx="6467034" cy="205243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Google Shape;633;p91">
            <a:extLst>
              <a:ext uri="{FF2B5EF4-FFF2-40B4-BE49-F238E27FC236}">
                <a16:creationId xmlns:a16="http://schemas.microsoft.com/office/drawing/2014/main" id="{B4D2D3B7-D6EC-1D68-F9E8-67BDD6D0FCE4}"/>
              </a:ext>
            </a:extLst>
          </p:cNvPr>
          <p:cNvSpPr txBox="1">
            <a:spLocks noGrp="1" noRot="1" noMove="1" noResize="1" noEditPoints="1" noAdjustHandles="1" noChangeArrowheads="1" noChangeShapeType="1"/>
          </p:cNvSpPr>
          <p:nvPr>
            <p:ph type="subTitle" idx="1"/>
          </p:nvPr>
        </p:nvSpPr>
        <p:spPr>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Motivation &amp; Objectives</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AD007350-06F1-5C56-8225-689231CEC640}"/>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660BC6A0-7CCE-564F-D496-423CF356A1D9}"/>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12" name="TextBox 11">
            <a:extLst>
              <a:ext uri="{FF2B5EF4-FFF2-40B4-BE49-F238E27FC236}">
                <a16:creationId xmlns:a16="http://schemas.microsoft.com/office/drawing/2014/main" id="{F91CC337-B225-7971-694B-5F984AB832B9}"/>
              </a:ext>
            </a:extLst>
          </p:cNvPr>
          <p:cNvSpPr txBox="1"/>
          <p:nvPr/>
        </p:nvSpPr>
        <p:spPr>
          <a:xfrm>
            <a:off x="2526208" y="731871"/>
            <a:ext cx="4820480" cy="307777"/>
          </a:xfrm>
          <a:prstGeom prst="rect">
            <a:avLst/>
          </a:prstGeom>
          <a:noFill/>
        </p:spPr>
        <p:txBody>
          <a:bodyPr wrap="square" rtlCol="0">
            <a:spAutoFit/>
          </a:bodyPr>
          <a:lstStyle/>
          <a:p>
            <a:pPr algn="ctr"/>
            <a:r>
              <a:rPr lang="en-US" dirty="0"/>
              <a:t>Job advertisements provide insight into the </a:t>
            </a:r>
            <a:r>
              <a:rPr lang="en-US" dirty="0" err="1"/>
              <a:t>labour</a:t>
            </a:r>
            <a:r>
              <a:rPr lang="en-US" dirty="0"/>
              <a:t> market</a:t>
            </a:r>
          </a:p>
        </p:txBody>
      </p:sp>
      <p:grpSp>
        <p:nvGrpSpPr>
          <p:cNvPr id="42" name="Group 41">
            <a:extLst>
              <a:ext uri="{FF2B5EF4-FFF2-40B4-BE49-F238E27FC236}">
                <a16:creationId xmlns:a16="http://schemas.microsoft.com/office/drawing/2014/main" id="{8CF65993-B1F4-6A93-5221-6D2815B3C5D5}"/>
              </a:ext>
            </a:extLst>
          </p:cNvPr>
          <p:cNvGrpSpPr/>
          <p:nvPr/>
        </p:nvGrpSpPr>
        <p:grpSpPr>
          <a:xfrm>
            <a:off x="1881836" y="1109748"/>
            <a:ext cx="6089194" cy="229330"/>
            <a:chOff x="1560443" y="1107877"/>
            <a:chExt cx="6089194" cy="229330"/>
          </a:xfrm>
        </p:grpSpPr>
        <p:sp>
          <p:nvSpPr>
            <p:cNvPr id="13" name="Rectangle 12">
              <a:extLst>
                <a:ext uri="{FF2B5EF4-FFF2-40B4-BE49-F238E27FC236}">
                  <a16:creationId xmlns:a16="http://schemas.microsoft.com/office/drawing/2014/main" id="{1F6AE94D-E308-CD50-33DD-25E3214A3B94}"/>
                </a:ext>
              </a:extLst>
            </p:cNvPr>
            <p:cNvSpPr/>
            <p:nvPr/>
          </p:nvSpPr>
          <p:spPr>
            <a:xfrm>
              <a:off x="1560443" y="1107877"/>
              <a:ext cx="969066" cy="229330"/>
            </a:xfrm>
            <a:prstGeom prst="rect">
              <a:avLst/>
            </a:prstGeom>
            <a:solidFill>
              <a:schemeClr val="accent2">
                <a:lumMod val="60000"/>
                <a:lumOff val="4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companies</a:t>
              </a:r>
            </a:p>
          </p:txBody>
        </p:sp>
        <p:sp>
          <p:nvSpPr>
            <p:cNvPr id="15" name="Rectangle 14">
              <a:extLst>
                <a:ext uri="{FF2B5EF4-FFF2-40B4-BE49-F238E27FC236}">
                  <a16:creationId xmlns:a16="http://schemas.microsoft.com/office/drawing/2014/main" id="{081C4263-3088-57ED-BF55-014CA3B5720C}"/>
                </a:ext>
              </a:extLst>
            </p:cNvPr>
            <p:cNvSpPr/>
            <p:nvPr/>
          </p:nvSpPr>
          <p:spPr>
            <a:xfrm>
              <a:off x="2676938" y="1107877"/>
              <a:ext cx="969066" cy="229330"/>
            </a:xfrm>
            <a:prstGeom prst="rect">
              <a:avLst/>
            </a:prstGeom>
            <a:solidFill>
              <a:schemeClr val="accent2">
                <a:lumMod val="60000"/>
                <a:lumOff val="4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occupations</a:t>
              </a:r>
            </a:p>
          </p:txBody>
        </p:sp>
        <p:sp>
          <p:nvSpPr>
            <p:cNvPr id="16" name="Rectangle 15">
              <a:extLst>
                <a:ext uri="{FF2B5EF4-FFF2-40B4-BE49-F238E27FC236}">
                  <a16:creationId xmlns:a16="http://schemas.microsoft.com/office/drawing/2014/main" id="{B95359FA-7597-87CE-4019-8DB11252A579}"/>
                </a:ext>
              </a:extLst>
            </p:cNvPr>
            <p:cNvSpPr/>
            <p:nvPr/>
          </p:nvSpPr>
          <p:spPr>
            <a:xfrm>
              <a:off x="3793433" y="1107877"/>
              <a:ext cx="810926" cy="229330"/>
            </a:xfrm>
            <a:prstGeom prst="rect">
              <a:avLst/>
            </a:prstGeom>
            <a:solidFill>
              <a:schemeClr val="accent2">
                <a:lumMod val="60000"/>
                <a:lumOff val="4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locations</a:t>
              </a:r>
            </a:p>
          </p:txBody>
        </p:sp>
        <p:sp>
          <p:nvSpPr>
            <p:cNvPr id="17" name="Rectangle 16">
              <a:extLst>
                <a:ext uri="{FF2B5EF4-FFF2-40B4-BE49-F238E27FC236}">
                  <a16:creationId xmlns:a16="http://schemas.microsoft.com/office/drawing/2014/main" id="{7CC29AC9-D5E2-A945-F314-1F3E29FC359A}"/>
                </a:ext>
              </a:extLst>
            </p:cNvPr>
            <p:cNvSpPr/>
            <p:nvPr/>
          </p:nvSpPr>
          <p:spPr>
            <a:xfrm>
              <a:off x="4751788" y="1107877"/>
              <a:ext cx="1375210" cy="229330"/>
            </a:xfrm>
            <a:prstGeom prst="rect">
              <a:avLst/>
            </a:prstGeom>
            <a:solidFill>
              <a:schemeClr val="accent2">
                <a:lumMod val="60000"/>
                <a:lumOff val="4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working conditions</a:t>
              </a:r>
            </a:p>
          </p:txBody>
        </p:sp>
        <p:sp>
          <p:nvSpPr>
            <p:cNvPr id="18" name="Rectangle 17">
              <a:extLst>
                <a:ext uri="{FF2B5EF4-FFF2-40B4-BE49-F238E27FC236}">
                  <a16:creationId xmlns:a16="http://schemas.microsoft.com/office/drawing/2014/main" id="{99180437-8FA8-8E64-E82F-452AB84519EC}"/>
                </a:ext>
              </a:extLst>
            </p:cNvPr>
            <p:cNvSpPr/>
            <p:nvPr/>
          </p:nvSpPr>
          <p:spPr>
            <a:xfrm>
              <a:off x="6274427" y="1107877"/>
              <a:ext cx="1375210" cy="229330"/>
            </a:xfrm>
            <a:prstGeom prst="rect">
              <a:avLst/>
            </a:prstGeom>
            <a:solidFill>
              <a:schemeClr val="accent2">
                <a:lumMod val="60000"/>
                <a:lumOff val="4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publication trends</a:t>
              </a:r>
            </a:p>
          </p:txBody>
        </p:sp>
      </p:grpSp>
      <p:sp>
        <p:nvSpPr>
          <p:cNvPr id="20" name="TextBox 19">
            <a:extLst>
              <a:ext uri="{FF2B5EF4-FFF2-40B4-BE49-F238E27FC236}">
                <a16:creationId xmlns:a16="http://schemas.microsoft.com/office/drawing/2014/main" id="{D5962D0D-F51A-1E58-91AD-26FBE8CE95A9}"/>
              </a:ext>
            </a:extLst>
          </p:cNvPr>
          <p:cNvSpPr txBox="1"/>
          <p:nvPr/>
        </p:nvSpPr>
        <p:spPr>
          <a:xfrm>
            <a:off x="2526208" y="1504420"/>
            <a:ext cx="4820480" cy="307777"/>
          </a:xfrm>
          <a:prstGeom prst="rect">
            <a:avLst/>
          </a:prstGeom>
          <a:noFill/>
        </p:spPr>
        <p:txBody>
          <a:bodyPr wrap="square" rtlCol="0">
            <a:spAutoFit/>
          </a:bodyPr>
          <a:lstStyle/>
          <a:p>
            <a:pPr algn="ctr"/>
            <a:r>
              <a:rPr lang="en-US" dirty="0"/>
              <a:t>But the market is continuously changing</a:t>
            </a:r>
          </a:p>
        </p:txBody>
      </p:sp>
      <p:grpSp>
        <p:nvGrpSpPr>
          <p:cNvPr id="43" name="Group 42">
            <a:extLst>
              <a:ext uri="{FF2B5EF4-FFF2-40B4-BE49-F238E27FC236}">
                <a16:creationId xmlns:a16="http://schemas.microsoft.com/office/drawing/2014/main" id="{BD66D11B-F49E-A9D1-2D0A-EAC79041E94F}"/>
              </a:ext>
            </a:extLst>
          </p:cNvPr>
          <p:cNvGrpSpPr/>
          <p:nvPr/>
        </p:nvGrpSpPr>
        <p:grpSpPr>
          <a:xfrm>
            <a:off x="2464089" y="1877325"/>
            <a:ext cx="4944718" cy="229330"/>
            <a:chOff x="2365512" y="1847732"/>
            <a:chExt cx="4944718" cy="229330"/>
          </a:xfrm>
        </p:grpSpPr>
        <p:sp>
          <p:nvSpPr>
            <p:cNvPr id="22" name="Rectangle 21">
              <a:extLst>
                <a:ext uri="{FF2B5EF4-FFF2-40B4-BE49-F238E27FC236}">
                  <a16:creationId xmlns:a16="http://schemas.microsoft.com/office/drawing/2014/main" id="{EA00B73D-E101-2B09-6E64-48AF1D74B6ED}"/>
                </a:ext>
              </a:extLst>
            </p:cNvPr>
            <p:cNvSpPr/>
            <p:nvPr/>
          </p:nvSpPr>
          <p:spPr>
            <a:xfrm>
              <a:off x="2365512" y="1847732"/>
              <a:ext cx="596289" cy="229330"/>
            </a:xfrm>
            <a:prstGeom prst="rect">
              <a:avLst/>
            </a:prstGeom>
            <a:solidFill>
              <a:schemeClr val="accent2">
                <a:lumMod val="60000"/>
                <a:lumOff val="4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NEW</a:t>
              </a:r>
            </a:p>
          </p:txBody>
        </p:sp>
        <p:sp>
          <p:nvSpPr>
            <p:cNvPr id="24" name="Rectangle 23">
              <a:extLst>
                <a:ext uri="{FF2B5EF4-FFF2-40B4-BE49-F238E27FC236}">
                  <a16:creationId xmlns:a16="http://schemas.microsoft.com/office/drawing/2014/main" id="{4192A6BC-02DC-DFD4-17A0-46CAD6BF5B1A}"/>
                </a:ext>
              </a:extLst>
            </p:cNvPr>
            <p:cNvSpPr/>
            <p:nvPr/>
          </p:nvSpPr>
          <p:spPr>
            <a:xfrm>
              <a:off x="3288195" y="1847732"/>
              <a:ext cx="1927421" cy="229330"/>
            </a:xfrm>
            <a:prstGeom prst="rect">
              <a:avLst/>
            </a:prstGeom>
            <a:solidFill>
              <a:schemeClr val="accent2">
                <a:lumMod val="60000"/>
                <a:lumOff val="4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MODIFIED / REPUBLISHED</a:t>
              </a:r>
            </a:p>
          </p:txBody>
        </p:sp>
        <p:sp>
          <p:nvSpPr>
            <p:cNvPr id="26" name="Rectangle 25">
              <a:extLst>
                <a:ext uri="{FF2B5EF4-FFF2-40B4-BE49-F238E27FC236}">
                  <a16:creationId xmlns:a16="http://schemas.microsoft.com/office/drawing/2014/main" id="{C0DEFFB8-DA5F-3016-FE83-9A9CD16DE8D8}"/>
                </a:ext>
              </a:extLst>
            </p:cNvPr>
            <p:cNvSpPr/>
            <p:nvPr/>
          </p:nvSpPr>
          <p:spPr>
            <a:xfrm>
              <a:off x="5542008" y="1847732"/>
              <a:ext cx="1768222" cy="229330"/>
            </a:xfrm>
            <a:prstGeom prst="rect">
              <a:avLst/>
            </a:prstGeom>
            <a:solidFill>
              <a:schemeClr val="accent2">
                <a:lumMod val="60000"/>
                <a:lumOff val="4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NO LONGER OBSERVED</a:t>
              </a:r>
            </a:p>
          </p:txBody>
        </p:sp>
        <p:cxnSp>
          <p:nvCxnSpPr>
            <p:cNvPr id="30" name="Straight Arrow Connector 29">
              <a:extLst>
                <a:ext uri="{FF2B5EF4-FFF2-40B4-BE49-F238E27FC236}">
                  <a16:creationId xmlns:a16="http://schemas.microsoft.com/office/drawing/2014/main" id="{940EC19C-7456-38A6-31A4-10FC47063A16}"/>
                </a:ext>
              </a:extLst>
            </p:cNvPr>
            <p:cNvCxnSpPr>
              <a:cxnSpLocks/>
              <a:stCxn id="22" idx="3"/>
              <a:endCxn id="24" idx="1"/>
            </p:cNvCxnSpPr>
            <p:nvPr/>
          </p:nvCxnSpPr>
          <p:spPr>
            <a:xfrm>
              <a:off x="2961801" y="1962397"/>
              <a:ext cx="326394" cy="0"/>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527C8CF-59B2-17CF-B299-155FA158C9A2}"/>
                </a:ext>
              </a:extLst>
            </p:cNvPr>
            <p:cNvCxnSpPr>
              <a:cxnSpLocks/>
              <a:stCxn id="24" idx="3"/>
              <a:endCxn id="26" idx="1"/>
            </p:cNvCxnSpPr>
            <p:nvPr/>
          </p:nvCxnSpPr>
          <p:spPr>
            <a:xfrm>
              <a:off x="5215616" y="1962397"/>
              <a:ext cx="326392" cy="0"/>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29698505-31C7-67AF-86A8-6EB74DA27B70}"/>
              </a:ext>
            </a:extLst>
          </p:cNvPr>
          <p:cNvSpPr txBox="1"/>
          <p:nvPr/>
        </p:nvSpPr>
        <p:spPr>
          <a:xfrm>
            <a:off x="2526207" y="2222707"/>
            <a:ext cx="4820481" cy="307777"/>
          </a:xfrm>
          <a:prstGeom prst="rect">
            <a:avLst/>
          </a:prstGeom>
          <a:noFill/>
        </p:spPr>
        <p:txBody>
          <a:bodyPr wrap="square" rtlCol="0">
            <a:spAutoFit/>
          </a:bodyPr>
          <a:lstStyle/>
          <a:p>
            <a:pPr algn="ctr"/>
            <a:r>
              <a:rPr lang="en-US" dirty="0"/>
              <a:t>⇒ A single snapshot is not enough.</a:t>
            </a:r>
          </a:p>
        </p:txBody>
      </p:sp>
      <p:graphicFrame>
        <p:nvGraphicFramePr>
          <p:cNvPr id="44" name="Table 43">
            <a:extLst>
              <a:ext uri="{FF2B5EF4-FFF2-40B4-BE49-F238E27FC236}">
                <a16:creationId xmlns:a16="http://schemas.microsoft.com/office/drawing/2014/main" id="{28216A94-93F6-A5EF-C423-B6D3D163E4D1}"/>
              </a:ext>
            </a:extLst>
          </p:cNvPr>
          <p:cNvGraphicFramePr>
            <a:graphicFrameLocks noGrp="1"/>
          </p:cNvGraphicFramePr>
          <p:nvPr>
            <p:extLst>
              <p:ext uri="{D42A27DB-BD31-4B8C-83A1-F6EECF244321}">
                <p14:modId xmlns:p14="http://schemas.microsoft.com/office/powerpoint/2010/main" val="1776611442"/>
              </p:ext>
            </p:extLst>
          </p:nvPr>
        </p:nvGraphicFramePr>
        <p:xfrm>
          <a:off x="1748472" y="2913493"/>
          <a:ext cx="6375952" cy="1483360"/>
        </p:xfrm>
        <a:graphic>
          <a:graphicData uri="http://schemas.openxmlformats.org/drawingml/2006/table">
            <a:tbl>
              <a:tblPr firstRow="1" bandRow="1">
                <a:tableStyleId>{5C22544A-7EE6-4342-B048-85BDC9FD1C3A}</a:tableStyleId>
              </a:tblPr>
              <a:tblGrid>
                <a:gridCol w="2519570">
                  <a:extLst>
                    <a:ext uri="{9D8B030D-6E8A-4147-A177-3AD203B41FA5}">
                      <a16:colId xmlns:a16="http://schemas.microsoft.com/office/drawing/2014/main" val="1193601996"/>
                    </a:ext>
                  </a:extLst>
                </a:gridCol>
                <a:gridCol w="3856382">
                  <a:extLst>
                    <a:ext uri="{9D8B030D-6E8A-4147-A177-3AD203B41FA5}">
                      <a16:colId xmlns:a16="http://schemas.microsoft.com/office/drawing/2014/main" val="3244989977"/>
                    </a:ext>
                  </a:extLst>
                </a:gridCol>
              </a:tblGrid>
              <a:tr h="370840">
                <a:tc>
                  <a:txBody>
                    <a:bodyPr/>
                    <a:lstStyle/>
                    <a:p>
                      <a:pPr algn="r"/>
                      <a:r>
                        <a:rPr lang="en-US" b="1" dirty="0">
                          <a:solidFill>
                            <a:schemeClr val="bg2">
                              <a:lumMod val="75000"/>
                              <a:lumOff val="25000"/>
                            </a:schemeClr>
                          </a:solidFill>
                        </a:rPr>
                        <a:t>COLLECT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b="0" dirty="0">
                          <a:solidFill>
                            <a:schemeClr val="tx1">
                              <a:lumMod val="95000"/>
                              <a:lumOff val="5000"/>
                            </a:schemeClr>
                          </a:solidFill>
                        </a:rPr>
                        <a:t>job advertisements regularly</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2876076"/>
                  </a:ext>
                </a:extLst>
              </a:tr>
              <a:tr h="370840">
                <a:tc>
                  <a:txBody>
                    <a:bodyPr/>
                    <a:lstStyle/>
                    <a:p>
                      <a:pPr algn="r"/>
                      <a:r>
                        <a:rPr lang="en-US" b="1" dirty="0">
                          <a:solidFill>
                            <a:schemeClr val="bg2">
                              <a:lumMod val="75000"/>
                              <a:lumOff val="25000"/>
                            </a:schemeClr>
                          </a:solidFill>
                        </a:rPr>
                        <a:t>PRESERVE &amp; TRANSFORM</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b="0" dirty="0">
                          <a:solidFill>
                            <a:schemeClr val="tx1">
                              <a:lumMod val="95000"/>
                              <a:lumOff val="5000"/>
                            </a:schemeClr>
                          </a:solidFill>
                        </a:rPr>
                        <a:t>raw source data into a consistent dataset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39306823"/>
                  </a:ext>
                </a:extLst>
              </a:tr>
              <a:tr h="370840">
                <a:tc>
                  <a:txBody>
                    <a:bodyPr/>
                    <a:lstStyle/>
                    <a:p>
                      <a:pPr algn="r"/>
                      <a:r>
                        <a:rPr lang="en-US" b="1" dirty="0">
                          <a:solidFill>
                            <a:schemeClr val="bg2">
                              <a:lumMod val="75000"/>
                              <a:lumOff val="25000"/>
                            </a:schemeClr>
                          </a:solidFill>
                        </a:rPr>
                        <a:t>EXPLORE &amp; ANALYSE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b="0" dirty="0">
                          <a:solidFill>
                            <a:schemeClr val="tx1">
                              <a:lumMod val="95000"/>
                              <a:lumOff val="5000"/>
                            </a:schemeClr>
                          </a:solidFill>
                        </a:rPr>
                        <a:t>through search, filters, statistics, </a:t>
                      </a:r>
                      <a:r>
                        <a:rPr lang="en-US" b="0" dirty="0" err="1">
                          <a:solidFill>
                            <a:schemeClr val="tx1">
                              <a:lumMod val="95000"/>
                              <a:lumOff val="5000"/>
                            </a:schemeClr>
                          </a:solidFill>
                        </a:rPr>
                        <a:t>visualisation</a:t>
                      </a:r>
                      <a:endParaRPr lang="en-US" b="0" dirty="0">
                        <a:solidFill>
                          <a:schemeClr val="tx1">
                            <a:lumMod val="95000"/>
                            <a:lumOff val="5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68828996"/>
                  </a:ext>
                </a:extLst>
              </a:tr>
              <a:tr h="370840">
                <a:tc>
                  <a:txBody>
                    <a:bodyPr/>
                    <a:lstStyle/>
                    <a:p>
                      <a:pPr algn="r"/>
                      <a:r>
                        <a:rPr lang="en-US" b="1" dirty="0">
                          <a:solidFill>
                            <a:schemeClr val="bg2">
                              <a:lumMod val="75000"/>
                              <a:lumOff val="25000"/>
                            </a:schemeClr>
                          </a:solidFill>
                        </a:rPr>
                        <a:t>AUTOMATE &amp; OBSERVE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b="0" dirty="0">
                          <a:solidFill>
                            <a:schemeClr val="tx1">
                              <a:lumMod val="95000"/>
                              <a:lumOff val="5000"/>
                            </a:schemeClr>
                          </a:solidFill>
                        </a:rPr>
                        <a:t>the end-to-end pipeline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22065965"/>
                  </a:ext>
                </a:extLst>
              </a:tr>
            </a:tbl>
          </a:graphicData>
        </a:graphic>
      </p:graphicFrame>
      <p:sp>
        <p:nvSpPr>
          <p:cNvPr id="45" name="TextBox 44">
            <a:extLst>
              <a:ext uri="{FF2B5EF4-FFF2-40B4-BE49-F238E27FC236}">
                <a16:creationId xmlns:a16="http://schemas.microsoft.com/office/drawing/2014/main" id="{4D8DD5E7-F859-3341-CC4F-FC9AD69FDFC0}"/>
              </a:ext>
            </a:extLst>
          </p:cNvPr>
          <p:cNvSpPr txBox="1"/>
          <p:nvPr/>
        </p:nvSpPr>
        <p:spPr>
          <a:xfrm>
            <a:off x="263387" y="1195960"/>
            <a:ext cx="1375210" cy="307777"/>
          </a:xfrm>
          <a:prstGeom prst="rect">
            <a:avLst/>
          </a:prstGeom>
          <a:noFill/>
        </p:spPr>
        <p:txBody>
          <a:bodyPr wrap="square" rtlCol="0">
            <a:spAutoFit/>
          </a:bodyPr>
          <a:lstStyle/>
          <a:p>
            <a:r>
              <a:rPr lang="en-US" b="1" dirty="0"/>
              <a:t>Motivation:</a:t>
            </a:r>
          </a:p>
        </p:txBody>
      </p:sp>
      <p:sp>
        <p:nvSpPr>
          <p:cNvPr id="47" name="TextBox 46">
            <a:extLst>
              <a:ext uri="{FF2B5EF4-FFF2-40B4-BE49-F238E27FC236}">
                <a16:creationId xmlns:a16="http://schemas.microsoft.com/office/drawing/2014/main" id="{FA201D1A-F59F-E51B-8066-438D12B2F811}"/>
              </a:ext>
            </a:extLst>
          </p:cNvPr>
          <p:cNvSpPr txBox="1"/>
          <p:nvPr/>
        </p:nvSpPr>
        <p:spPr>
          <a:xfrm>
            <a:off x="263386" y="3396937"/>
            <a:ext cx="1375210" cy="307777"/>
          </a:xfrm>
          <a:prstGeom prst="rect">
            <a:avLst/>
          </a:prstGeom>
          <a:noFill/>
        </p:spPr>
        <p:txBody>
          <a:bodyPr wrap="square" rtlCol="0">
            <a:spAutoFit/>
          </a:bodyPr>
          <a:lstStyle/>
          <a:p>
            <a:r>
              <a:rPr lang="en-US" b="1" dirty="0"/>
              <a:t>Objectives:</a:t>
            </a:r>
          </a:p>
        </p:txBody>
      </p:sp>
    </p:spTree>
    <p:extLst>
      <p:ext uri="{BB962C8B-B14F-4D97-AF65-F5344CB8AC3E}">
        <p14:creationId xmlns:p14="http://schemas.microsoft.com/office/powerpoint/2010/main" val="3379445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8" name="Rectangle 7">
            <a:extLst>
              <a:ext uri="{FF2B5EF4-FFF2-40B4-BE49-F238E27FC236}">
                <a16:creationId xmlns:a16="http://schemas.microsoft.com/office/drawing/2014/main" id="{D1C6A085-9504-8E91-8454-C69F19D256F2}"/>
              </a:ext>
            </a:extLst>
          </p:cNvPr>
          <p:cNvSpPr/>
          <p:nvPr/>
        </p:nvSpPr>
        <p:spPr>
          <a:xfrm>
            <a:off x="705946" y="564948"/>
            <a:ext cx="7555738" cy="3996356"/>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3" name="Google Shape;633;p91"/>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Project Overview</a:t>
            </a:r>
            <a:endParaRPr sz="1500" dirty="0">
              <a:solidFill>
                <a:schemeClr val="dk2"/>
              </a:solidFill>
            </a:endParaRPr>
          </a:p>
        </p:txBody>
      </p:sp>
      <p:pic>
        <p:nvPicPr>
          <p:cNvPr id="640" name="Google Shape;640;p91" title="Fichier 20.png"/>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grpSp>
        <p:nvGrpSpPr>
          <p:cNvPr id="625" name="Group 624">
            <a:extLst>
              <a:ext uri="{FF2B5EF4-FFF2-40B4-BE49-F238E27FC236}">
                <a16:creationId xmlns:a16="http://schemas.microsoft.com/office/drawing/2014/main" id="{398B0777-E877-D93E-BD92-C04A16A920FE}"/>
              </a:ext>
            </a:extLst>
          </p:cNvPr>
          <p:cNvGrpSpPr/>
          <p:nvPr/>
        </p:nvGrpSpPr>
        <p:grpSpPr>
          <a:xfrm>
            <a:off x="3438876" y="1748938"/>
            <a:ext cx="858424" cy="423153"/>
            <a:chOff x="4142788" y="2171346"/>
            <a:chExt cx="858424" cy="423153"/>
          </a:xfrm>
          <a:solidFill>
            <a:schemeClr val="bg2">
              <a:lumMod val="50000"/>
              <a:lumOff val="50000"/>
            </a:schemeClr>
          </a:solidFill>
        </p:grpSpPr>
        <p:sp>
          <p:nvSpPr>
            <p:cNvPr id="11" name="Rectangle 10">
              <a:extLst>
                <a:ext uri="{FF2B5EF4-FFF2-40B4-BE49-F238E27FC236}">
                  <a16:creationId xmlns:a16="http://schemas.microsoft.com/office/drawing/2014/main" id="{0DC02452-9375-CBE7-83E6-04F974B56B92}"/>
                </a:ext>
              </a:extLst>
            </p:cNvPr>
            <p:cNvSpPr/>
            <p:nvPr/>
          </p:nvSpPr>
          <p:spPr>
            <a:xfrm>
              <a:off x="4142788" y="2171346"/>
              <a:ext cx="858424"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ETL</a:t>
              </a:r>
            </a:p>
          </p:txBody>
        </p:sp>
        <p:pic>
          <p:nvPicPr>
            <p:cNvPr id="5" name="Picture 4" descr="Python (programming language) - Wikipedia">
              <a:extLst>
                <a:ext uri="{FF2B5EF4-FFF2-40B4-BE49-F238E27FC236}">
                  <a16:creationId xmlns:a16="http://schemas.microsoft.com/office/drawing/2014/main" id="{82223FD1-8496-6C81-F2F1-F0D840AF50B4}"/>
                </a:ext>
              </a:extLst>
            </p:cNvPr>
            <p:cNvPicPr>
              <a:picLocks noChangeAspect="1"/>
            </p:cNvPicPr>
            <p:nvPr/>
          </p:nvPicPr>
          <p:blipFill>
            <a:blip r:embed="rId4"/>
            <a:stretch>
              <a:fillRect/>
            </a:stretch>
          </p:blipFill>
          <p:spPr>
            <a:xfrm>
              <a:off x="4237121" y="2231011"/>
              <a:ext cx="299163" cy="299163"/>
            </a:xfrm>
            <a:prstGeom prst="rect">
              <a:avLst/>
            </a:prstGeom>
            <a:grpFill/>
            <a:ln>
              <a:noFill/>
            </a:ln>
          </p:spPr>
        </p:pic>
      </p:grpSp>
      <p:grpSp>
        <p:nvGrpSpPr>
          <p:cNvPr id="624" name="Group 623">
            <a:extLst>
              <a:ext uri="{FF2B5EF4-FFF2-40B4-BE49-F238E27FC236}">
                <a16:creationId xmlns:a16="http://schemas.microsoft.com/office/drawing/2014/main" id="{A5A0CC1E-9DDB-6C92-FB4E-EF480D1C78F1}"/>
              </a:ext>
            </a:extLst>
          </p:cNvPr>
          <p:cNvGrpSpPr/>
          <p:nvPr/>
        </p:nvGrpSpPr>
        <p:grpSpPr>
          <a:xfrm>
            <a:off x="2930621" y="756895"/>
            <a:ext cx="1874928" cy="423153"/>
            <a:chOff x="952134" y="2258330"/>
            <a:chExt cx="1874928" cy="423153"/>
          </a:xfrm>
          <a:solidFill>
            <a:schemeClr val="bg2">
              <a:lumMod val="50000"/>
              <a:lumOff val="50000"/>
            </a:schemeClr>
          </a:solidFill>
        </p:grpSpPr>
        <p:sp>
          <p:nvSpPr>
            <p:cNvPr id="35" name="Rectangle 34">
              <a:extLst>
                <a:ext uri="{FF2B5EF4-FFF2-40B4-BE49-F238E27FC236}">
                  <a16:creationId xmlns:a16="http://schemas.microsoft.com/office/drawing/2014/main" id="{C81B1997-A097-3A4C-BF2A-B6366A474C25}"/>
                </a:ext>
              </a:extLst>
            </p:cNvPr>
            <p:cNvSpPr/>
            <p:nvPr/>
          </p:nvSpPr>
          <p:spPr>
            <a:xfrm>
              <a:off x="952134" y="2258330"/>
              <a:ext cx="1874928"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err="1"/>
                <a:t>Arbeitsagentur</a:t>
              </a:r>
              <a:r>
                <a:rPr lang="en-US" sz="1200" dirty="0"/>
                <a:t> API</a:t>
              </a:r>
            </a:p>
          </p:txBody>
        </p:sp>
        <p:pic>
          <p:nvPicPr>
            <p:cNvPr id="3" name="Picture 2">
              <a:extLst>
                <a:ext uri="{FF2B5EF4-FFF2-40B4-BE49-F238E27FC236}">
                  <a16:creationId xmlns:a16="http://schemas.microsoft.com/office/drawing/2014/main" id="{32C43E67-FADA-3F37-4E20-971537F7D9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7978" y="2316101"/>
              <a:ext cx="326543" cy="326543"/>
            </a:xfrm>
            <a:prstGeom prst="rect">
              <a:avLst/>
            </a:prstGeom>
            <a:grpFill/>
            <a:ln>
              <a:noFill/>
            </a:ln>
          </p:spPr>
        </p:pic>
      </p:grpSp>
      <p:pic>
        <p:nvPicPr>
          <p:cNvPr id="44" name="Picture 43">
            <a:extLst>
              <a:ext uri="{FF2B5EF4-FFF2-40B4-BE49-F238E27FC236}">
                <a16:creationId xmlns:a16="http://schemas.microsoft.com/office/drawing/2014/main" id="{83D93FB8-C976-FD61-4A75-03ED41F49C72}"/>
              </a:ext>
            </a:extLst>
          </p:cNvPr>
          <p:cNvPicPr>
            <a:picLocks noChangeAspect="1"/>
          </p:cNvPicPr>
          <p:nvPr/>
        </p:nvPicPr>
        <p:blipFill>
          <a:blip r:embed="rId6"/>
          <a:stretch>
            <a:fillRect/>
          </a:stretch>
        </p:blipFill>
        <p:spPr>
          <a:xfrm>
            <a:off x="6147991" y="1750129"/>
            <a:ext cx="473331" cy="423153"/>
          </a:xfrm>
          <a:prstGeom prst="rect">
            <a:avLst/>
          </a:prstGeom>
        </p:spPr>
      </p:pic>
      <p:pic>
        <p:nvPicPr>
          <p:cNvPr id="46" name="Picture 45">
            <a:extLst>
              <a:ext uri="{FF2B5EF4-FFF2-40B4-BE49-F238E27FC236}">
                <a16:creationId xmlns:a16="http://schemas.microsoft.com/office/drawing/2014/main" id="{A444A515-4F48-6511-2111-3AE0A97D838F}"/>
              </a:ext>
            </a:extLst>
          </p:cNvPr>
          <p:cNvPicPr>
            <a:picLocks noChangeAspect="1"/>
          </p:cNvPicPr>
          <p:nvPr/>
        </p:nvPicPr>
        <p:blipFill>
          <a:blip r:embed="rId7"/>
          <a:stretch>
            <a:fillRect/>
          </a:stretch>
        </p:blipFill>
        <p:spPr>
          <a:xfrm>
            <a:off x="1115768" y="1748938"/>
            <a:ext cx="393496" cy="452741"/>
          </a:xfrm>
          <a:prstGeom prst="rect">
            <a:avLst/>
          </a:prstGeom>
        </p:spPr>
      </p:pic>
      <p:sp>
        <p:nvSpPr>
          <p:cNvPr id="630" name="TextBox 629">
            <a:extLst>
              <a:ext uri="{FF2B5EF4-FFF2-40B4-BE49-F238E27FC236}">
                <a16:creationId xmlns:a16="http://schemas.microsoft.com/office/drawing/2014/main" id="{7D7D51CE-BB6A-E548-BFE4-315091EE825B}"/>
              </a:ext>
            </a:extLst>
          </p:cNvPr>
          <p:cNvSpPr txBox="1"/>
          <p:nvPr/>
        </p:nvSpPr>
        <p:spPr>
          <a:xfrm>
            <a:off x="3851910" y="1257177"/>
            <a:ext cx="1580100" cy="276999"/>
          </a:xfrm>
          <a:prstGeom prst="rect">
            <a:avLst/>
          </a:prstGeom>
          <a:noFill/>
        </p:spPr>
        <p:txBody>
          <a:bodyPr wrap="square" rtlCol="0">
            <a:spAutoFit/>
          </a:bodyPr>
          <a:lstStyle/>
          <a:p>
            <a:r>
              <a:rPr lang="en-US" sz="1200" dirty="0">
                <a:solidFill>
                  <a:schemeClr val="tx1">
                    <a:lumMod val="75000"/>
                    <a:lumOff val="25000"/>
                  </a:schemeClr>
                </a:solidFill>
              </a:rPr>
              <a:t>job data (JSON)</a:t>
            </a:r>
          </a:p>
        </p:txBody>
      </p:sp>
      <p:pic>
        <p:nvPicPr>
          <p:cNvPr id="661" name="Picture 660">
            <a:extLst>
              <a:ext uri="{FF2B5EF4-FFF2-40B4-BE49-F238E27FC236}">
                <a16:creationId xmlns:a16="http://schemas.microsoft.com/office/drawing/2014/main" id="{07FF058C-1A44-770B-699A-FAD84F0BB73C}"/>
              </a:ext>
            </a:extLst>
          </p:cNvPr>
          <p:cNvPicPr>
            <a:picLocks noChangeAspect="1"/>
          </p:cNvPicPr>
          <p:nvPr/>
        </p:nvPicPr>
        <p:blipFill>
          <a:blip r:embed="rId8"/>
          <a:stretch>
            <a:fillRect/>
          </a:stretch>
        </p:blipFill>
        <p:spPr>
          <a:xfrm>
            <a:off x="2795073" y="3439301"/>
            <a:ext cx="641289" cy="509775"/>
          </a:xfrm>
          <a:prstGeom prst="rect">
            <a:avLst/>
          </a:prstGeom>
        </p:spPr>
      </p:pic>
      <p:cxnSp>
        <p:nvCxnSpPr>
          <p:cNvPr id="664" name="Straight Arrow Connector 663">
            <a:extLst>
              <a:ext uri="{FF2B5EF4-FFF2-40B4-BE49-F238E27FC236}">
                <a16:creationId xmlns:a16="http://schemas.microsoft.com/office/drawing/2014/main" id="{DA38EAE7-6C33-11B7-E6A0-B58DA3CCA933}"/>
              </a:ext>
            </a:extLst>
          </p:cNvPr>
          <p:cNvCxnSpPr>
            <a:cxnSpLocks/>
            <a:stCxn id="35" idx="2"/>
            <a:endCxn id="11" idx="0"/>
          </p:cNvCxnSpPr>
          <p:nvPr/>
        </p:nvCxnSpPr>
        <p:spPr>
          <a:xfrm>
            <a:off x="3868085" y="1180048"/>
            <a:ext cx="3" cy="56889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70" name="TextBox 669">
            <a:extLst>
              <a:ext uri="{FF2B5EF4-FFF2-40B4-BE49-F238E27FC236}">
                <a16:creationId xmlns:a16="http://schemas.microsoft.com/office/drawing/2014/main" id="{220A921E-3BED-CF0C-A6C8-5CD5F4DF1141}"/>
              </a:ext>
            </a:extLst>
          </p:cNvPr>
          <p:cNvSpPr txBox="1"/>
          <p:nvPr/>
        </p:nvSpPr>
        <p:spPr>
          <a:xfrm>
            <a:off x="1573271" y="1724195"/>
            <a:ext cx="1856287" cy="276999"/>
          </a:xfrm>
          <a:prstGeom prst="rect">
            <a:avLst/>
          </a:prstGeom>
          <a:noFill/>
        </p:spPr>
        <p:txBody>
          <a:bodyPr wrap="square" rtlCol="0">
            <a:spAutoFit/>
          </a:bodyPr>
          <a:lstStyle/>
          <a:p>
            <a:pPr algn="ctr"/>
            <a:r>
              <a:rPr lang="en-US" sz="1200" dirty="0">
                <a:solidFill>
                  <a:schemeClr val="tx1">
                    <a:lumMod val="75000"/>
                    <a:lumOff val="25000"/>
                  </a:schemeClr>
                </a:solidFill>
              </a:rPr>
              <a:t>raw + processed JSON</a:t>
            </a:r>
          </a:p>
        </p:txBody>
      </p:sp>
      <p:sp>
        <p:nvSpPr>
          <p:cNvPr id="672" name="TextBox 671">
            <a:extLst>
              <a:ext uri="{FF2B5EF4-FFF2-40B4-BE49-F238E27FC236}">
                <a16:creationId xmlns:a16="http://schemas.microsoft.com/office/drawing/2014/main" id="{6F35D384-14C9-9240-4218-473451B1D645}"/>
              </a:ext>
            </a:extLst>
          </p:cNvPr>
          <p:cNvSpPr txBox="1"/>
          <p:nvPr/>
        </p:nvSpPr>
        <p:spPr>
          <a:xfrm>
            <a:off x="6612918" y="1519296"/>
            <a:ext cx="1113341" cy="461665"/>
          </a:xfrm>
          <a:prstGeom prst="rect">
            <a:avLst/>
          </a:prstGeom>
          <a:noFill/>
        </p:spPr>
        <p:txBody>
          <a:bodyPr wrap="square" rtlCol="0">
            <a:spAutoFit/>
          </a:bodyPr>
          <a:lstStyle/>
          <a:p>
            <a:pPr algn="ctr"/>
            <a:r>
              <a:rPr lang="en-US" sz="1200" dirty="0">
                <a:solidFill>
                  <a:schemeClr val="tx1">
                    <a:lumMod val="75000"/>
                    <a:lumOff val="25000"/>
                  </a:schemeClr>
                </a:solidFill>
              </a:rPr>
              <a:t>job data</a:t>
            </a:r>
          </a:p>
          <a:p>
            <a:pPr algn="ctr"/>
            <a:r>
              <a:rPr lang="en-US" sz="1200" dirty="0">
                <a:solidFill>
                  <a:schemeClr val="tx1">
                    <a:lumMod val="75000"/>
                    <a:lumOff val="25000"/>
                  </a:schemeClr>
                </a:solidFill>
              </a:rPr>
              <a:t>(for indexing)</a:t>
            </a:r>
          </a:p>
        </p:txBody>
      </p:sp>
      <p:sp>
        <p:nvSpPr>
          <p:cNvPr id="681" name="TextBox 680">
            <a:extLst>
              <a:ext uri="{FF2B5EF4-FFF2-40B4-BE49-F238E27FC236}">
                <a16:creationId xmlns:a16="http://schemas.microsoft.com/office/drawing/2014/main" id="{11355667-9E18-D083-460B-4CFD7B8F0CD5}"/>
              </a:ext>
            </a:extLst>
          </p:cNvPr>
          <p:cNvSpPr txBox="1"/>
          <p:nvPr/>
        </p:nvSpPr>
        <p:spPr>
          <a:xfrm>
            <a:off x="756203" y="2184533"/>
            <a:ext cx="1077370" cy="276999"/>
          </a:xfrm>
          <a:prstGeom prst="rect">
            <a:avLst/>
          </a:prstGeom>
          <a:noFill/>
        </p:spPr>
        <p:txBody>
          <a:bodyPr wrap="square" rtlCol="0">
            <a:spAutoFit/>
          </a:bodyPr>
          <a:lstStyle/>
          <a:p>
            <a:pPr algn="ctr"/>
            <a:r>
              <a:rPr lang="en-US" sz="1200" dirty="0">
                <a:solidFill>
                  <a:schemeClr val="bg2">
                    <a:lumMod val="50000"/>
                    <a:lumOff val="50000"/>
                  </a:schemeClr>
                </a:solidFill>
              </a:rPr>
              <a:t>Data Archive</a:t>
            </a:r>
          </a:p>
        </p:txBody>
      </p:sp>
      <p:pic>
        <p:nvPicPr>
          <p:cNvPr id="713" name="Picture 712">
            <a:extLst>
              <a:ext uri="{FF2B5EF4-FFF2-40B4-BE49-F238E27FC236}">
                <a16:creationId xmlns:a16="http://schemas.microsoft.com/office/drawing/2014/main" id="{35AC9762-5AB8-847D-E042-C929950FA8D5}"/>
              </a:ext>
            </a:extLst>
          </p:cNvPr>
          <p:cNvPicPr>
            <a:picLocks noChangeAspect="1"/>
          </p:cNvPicPr>
          <p:nvPr/>
        </p:nvPicPr>
        <p:blipFill>
          <a:blip r:embed="rId9"/>
          <a:stretch>
            <a:fillRect/>
          </a:stretch>
        </p:blipFill>
        <p:spPr>
          <a:xfrm>
            <a:off x="4730160" y="3980795"/>
            <a:ext cx="701850" cy="129515"/>
          </a:xfrm>
          <a:prstGeom prst="rect">
            <a:avLst/>
          </a:prstGeom>
        </p:spPr>
      </p:pic>
      <p:pic>
        <p:nvPicPr>
          <p:cNvPr id="715" name="Picture 714">
            <a:extLst>
              <a:ext uri="{FF2B5EF4-FFF2-40B4-BE49-F238E27FC236}">
                <a16:creationId xmlns:a16="http://schemas.microsoft.com/office/drawing/2014/main" id="{1D508615-F7DD-7779-19BA-0980A2B87756}"/>
              </a:ext>
            </a:extLst>
          </p:cNvPr>
          <p:cNvPicPr>
            <a:picLocks noChangeAspect="1"/>
          </p:cNvPicPr>
          <p:nvPr/>
        </p:nvPicPr>
        <p:blipFill>
          <a:blip r:embed="rId10"/>
          <a:stretch>
            <a:fillRect/>
          </a:stretch>
        </p:blipFill>
        <p:spPr>
          <a:xfrm>
            <a:off x="4741521" y="3423026"/>
            <a:ext cx="690489" cy="509775"/>
          </a:xfrm>
          <a:prstGeom prst="rect">
            <a:avLst/>
          </a:prstGeom>
        </p:spPr>
      </p:pic>
      <p:pic>
        <p:nvPicPr>
          <p:cNvPr id="721" name="Picture 720">
            <a:extLst>
              <a:ext uri="{FF2B5EF4-FFF2-40B4-BE49-F238E27FC236}">
                <a16:creationId xmlns:a16="http://schemas.microsoft.com/office/drawing/2014/main" id="{690CBB62-758B-2BC9-70D3-8F63BD4138C5}"/>
              </a:ext>
            </a:extLst>
          </p:cNvPr>
          <p:cNvPicPr>
            <a:picLocks noChangeAspect="1"/>
          </p:cNvPicPr>
          <p:nvPr/>
        </p:nvPicPr>
        <p:blipFill>
          <a:blip r:embed="rId11"/>
          <a:stretch>
            <a:fillRect/>
          </a:stretch>
        </p:blipFill>
        <p:spPr>
          <a:xfrm>
            <a:off x="1925551" y="3993350"/>
            <a:ext cx="268468" cy="299468"/>
          </a:xfrm>
          <a:prstGeom prst="rect">
            <a:avLst/>
          </a:prstGeom>
        </p:spPr>
      </p:pic>
      <p:pic>
        <p:nvPicPr>
          <p:cNvPr id="723" name="Picture 722">
            <a:extLst>
              <a:ext uri="{FF2B5EF4-FFF2-40B4-BE49-F238E27FC236}">
                <a16:creationId xmlns:a16="http://schemas.microsoft.com/office/drawing/2014/main" id="{0AC96730-7A28-4752-CA99-E58F565EFE8F}"/>
              </a:ext>
            </a:extLst>
          </p:cNvPr>
          <p:cNvPicPr>
            <a:picLocks noChangeAspect="1"/>
          </p:cNvPicPr>
          <p:nvPr/>
        </p:nvPicPr>
        <p:blipFill>
          <a:blip r:embed="rId12"/>
          <a:stretch>
            <a:fillRect/>
          </a:stretch>
        </p:blipFill>
        <p:spPr>
          <a:xfrm>
            <a:off x="1923592" y="3123955"/>
            <a:ext cx="300157" cy="307778"/>
          </a:xfrm>
          <a:prstGeom prst="rect">
            <a:avLst/>
          </a:prstGeom>
        </p:spPr>
      </p:pic>
      <p:pic>
        <p:nvPicPr>
          <p:cNvPr id="725" name="Picture 724">
            <a:extLst>
              <a:ext uri="{FF2B5EF4-FFF2-40B4-BE49-F238E27FC236}">
                <a16:creationId xmlns:a16="http://schemas.microsoft.com/office/drawing/2014/main" id="{FB64D3D1-413D-52A3-5DA2-B490982608E7}"/>
              </a:ext>
            </a:extLst>
          </p:cNvPr>
          <p:cNvPicPr>
            <a:picLocks noChangeAspect="1"/>
          </p:cNvPicPr>
          <p:nvPr/>
        </p:nvPicPr>
        <p:blipFill>
          <a:blip r:embed="rId13"/>
          <a:stretch>
            <a:fillRect/>
          </a:stretch>
        </p:blipFill>
        <p:spPr>
          <a:xfrm>
            <a:off x="1920761" y="3578758"/>
            <a:ext cx="305821" cy="263412"/>
          </a:xfrm>
          <a:prstGeom prst="rect">
            <a:avLst/>
          </a:prstGeom>
        </p:spPr>
      </p:pic>
      <p:cxnSp>
        <p:nvCxnSpPr>
          <p:cNvPr id="727" name="Straight Arrow Connector 726">
            <a:extLst>
              <a:ext uri="{FF2B5EF4-FFF2-40B4-BE49-F238E27FC236}">
                <a16:creationId xmlns:a16="http://schemas.microsoft.com/office/drawing/2014/main" id="{53619467-1B8B-23F0-54A3-86287FE183B8}"/>
              </a:ext>
            </a:extLst>
          </p:cNvPr>
          <p:cNvCxnSpPr>
            <a:cxnSpLocks/>
            <a:stCxn id="661" idx="1"/>
            <a:endCxn id="723" idx="3"/>
          </p:cNvCxnSpPr>
          <p:nvPr/>
        </p:nvCxnSpPr>
        <p:spPr>
          <a:xfrm flipH="1" flipV="1">
            <a:off x="2223749" y="3277844"/>
            <a:ext cx="571324" cy="41634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8" name="Straight Arrow Connector 727">
            <a:extLst>
              <a:ext uri="{FF2B5EF4-FFF2-40B4-BE49-F238E27FC236}">
                <a16:creationId xmlns:a16="http://schemas.microsoft.com/office/drawing/2014/main" id="{94E5BC87-C648-21B8-3792-380F77D3D9B9}"/>
              </a:ext>
            </a:extLst>
          </p:cNvPr>
          <p:cNvCxnSpPr>
            <a:cxnSpLocks/>
            <a:stCxn id="661" idx="1"/>
            <a:endCxn id="725" idx="3"/>
          </p:cNvCxnSpPr>
          <p:nvPr/>
        </p:nvCxnSpPr>
        <p:spPr>
          <a:xfrm flipH="1">
            <a:off x="2226582" y="3694189"/>
            <a:ext cx="568491" cy="1627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9" name="Straight Arrow Connector 728">
            <a:extLst>
              <a:ext uri="{FF2B5EF4-FFF2-40B4-BE49-F238E27FC236}">
                <a16:creationId xmlns:a16="http://schemas.microsoft.com/office/drawing/2014/main" id="{6E46181C-2FE8-4E34-2ABB-17A3297CCE1B}"/>
              </a:ext>
            </a:extLst>
          </p:cNvPr>
          <p:cNvCxnSpPr>
            <a:cxnSpLocks/>
            <a:stCxn id="661" idx="1"/>
            <a:endCxn id="721" idx="3"/>
          </p:cNvCxnSpPr>
          <p:nvPr/>
        </p:nvCxnSpPr>
        <p:spPr>
          <a:xfrm flipH="1">
            <a:off x="2194019" y="3694189"/>
            <a:ext cx="601054" cy="44889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7" name="Straight Arrow Connector 756">
            <a:extLst>
              <a:ext uri="{FF2B5EF4-FFF2-40B4-BE49-F238E27FC236}">
                <a16:creationId xmlns:a16="http://schemas.microsoft.com/office/drawing/2014/main" id="{2260DACB-E59B-1BD8-43F9-0A3098A4B1B4}"/>
              </a:ext>
            </a:extLst>
          </p:cNvPr>
          <p:cNvCxnSpPr>
            <a:cxnSpLocks/>
            <a:stCxn id="11" idx="3"/>
            <a:endCxn id="44" idx="1"/>
          </p:cNvCxnSpPr>
          <p:nvPr/>
        </p:nvCxnSpPr>
        <p:spPr>
          <a:xfrm>
            <a:off x="4297300" y="1960515"/>
            <a:ext cx="1850691" cy="119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4" name="TextBox 3">
            <a:extLst>
              <a:ext uri="{FF2B5EF4-FFF2-40B4-BE49-F238E27FC236}">
                <a16:creationId xmlns:a16="http://schemas.microsoft.com/office/drawing/2014/main" id="{A729F841-F7C4-39BB-E88B-CF0626736FA0}"/>
              </a:ext>
            </a:extLst>
          </p:cNvPr>
          <p:cNvSpPr txBox="1"/>
          <p:nvPr/>
        </p:nvSpPr>
        <p:spPr>
          <a:xfrm>
            <a:off x="3513132" y="3234168"/>
            <a:ext cx="1267884" cy="461665"/>
          </a:xfrm>
          <a:prstGeom prst="rect">
            <a:avLst/>
          </a:prstGeom>
          <a:noFill/>
        </p:spPr>
        <p:txBody>
          <a:bodyPr wrap="square" rtlCol="0">
            <a:spAutoFit/>
          </a:bodyPr>
          <a:lstStyle/>
          <a:p>
            <a:pPr algn="ctr"/>
            <a:r>
              <a:rPr lang="en-US" sz="1200" dirty="0">
                <a:solidFill>
                  <a:schemeClr val="tx1">
                    <a:lumMod val="75000"/>
                    <a:lumOff val="25000"/>
                  </a:schemeClr>
                </a:solidFill>
              </a:rPr>
              <a:t>(ordered) jobs</a:t>
            </a:r>
          </a:p>
          <a:p>
            <a:pPr algn="ctr"/>
            <a:r>
              <a:rPr lang="en-US" sz="1200" dirty="0">
                <a:solidFill>
                  <a:schemeClr val="tx1">
                    <a:lumMod val="75000"/>
                    <a:lumOff val="25000"/>
                  </a:schemeClr>
                </a:solidFill>
              </a:rPr>
              <a:t>/ statistics</a:t>
            </a:r>
          </a:p>
        </p:txBody>
      </p:sp>
      <p:pic>
        <p:nvPicPr>
          <p:cNvPr id="13" name="Picture 12">
            <a:extLst>
              <a:ext uri="{FF2B5EF4-FFF2-40B4-BE49-F238E27FC236}">
                <a16:creationId xmlns:a16="http://schemas.microsoft.com/office/drawing/2014/main" id="{2D41D5D3-B3F8-6607-2DE3-689101A959A6}"/>
              </a:ext>
            </a:extLst>
          </p:cNvPr>
          <p:cNvPicPr>
            <a:picLocks noChangeAspect="1"/>
          </p:cNvPicPr>
          <p:nvPr/>
        </p:nvPicPr>
        <p:blipFill>
          <a:blip r:embed="rId14"/>
          <a:stretch>
            <a:fillRect/>
          </a:stretch>
        </p:blipFill>
        <p:spPr>
          <a:xfrm>
            <a:off x="1080290" y="3411669"/>
            <a:ext cx="437687" cy="597589"/>
          </a:xfrm>
          <a:prstGeom prst="rect">
            <a:avLst/>
          </a:prstGeom>
        </p:spPr>
      </p:pic>
      <p:sp>
        <p:nvSpPr>
          <p:cNvPr id="37" name="Left Brace 36">
            <a:extLst>
              <a:ext uri="{FF2B5EF4-FFF2-40B4-BE49-F238E27FC236}">
                <a16:creationId xmlns:a16="http://schemas.microsoft.com/office/drawing/2014/main" id="{B1286058-816B-B65D-F947-CD976A3C30CA}"/>
              </a:ext>
            </a:extLst>
          </p:cNvPr>
          <p:cNvSpPr/>
          <p:nvPr/>
        </p:nvSpPr>
        <p:spPr>
          <a:xfrm>
            <a:off x="1517977" y="3119061"/>
            <a:ext cx="307907" cy="1173757"/>
          </a:xfrm>
          <a:prstGeom prst="leftBrace">
            <a:avLst>
              <a:gd name="adj1" fmla="val 33555"/>
              <a:gd name="adj2" fmla="val 50000"/>
            </a:avLst>
          </a:prstGeom>
          <a:ln>
            <a:solidFill>
              <a:schemeClr val="bg2">
                <a:lumMod val="25000"/>
                <a:lumOff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4517D947-891A-BA7B-AB6F-E8AB3BAA2B62}"/>
              </a:ext>
            </a:extLst>
          </p:cNvPr>
          <p:cNvCxnSpPr>
            <a:cxnSpLocks/>
            <a:stCxn id="11" idx="1"/>
            <a:endCxn id="46" idx="3"/>
          </p:cNvCxnSpPr>
          <p:nvPr/>
        </p:nvCxnSpPr>
        <p:spPr>
          <a:xfrm flipH="1">
            <a:off x="1509264" y="1960515"/>
            <a:ext cx="1929612" cy="14794"/>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grpSp>
        <p:nvGrpSpPr>
          <p:cNvPr id="6" name="Group 5">
            <a:extLst>
              <a:ext uri="{FF2B5EF4-FFF2-40B4-BE49-F238E27FC236}">
                <a16:creationId xmlns:a16="http://schemas.microsoft.com/office/drawing/2014/main" id="{02AB8232-238F-5F89-B109-26400E1CE2C1}"/>
              </a:ext>
            </a:extLst>
          </p:cNvPr>
          <p:cNvGrpSpPr/>
          <p:nvPr/>
        </p:nvGrpSpPr>
        <p:grpSpPr>
          <a:xfrm>
            <a:off x="756203" y="620303"/>
            <a:ext cx="5119894" cy="1883507"/>
            <a:chOff x="756203" y="620303"/>
            <a:chExt cx="5119894" cy="1883507"/>
          </a:xfrm>
        </p:grpSpPr>
        <p:sp>
          <p:nvSpPr>
            <p:cNvPr id="29" name="Rectangle 28">
              <a:extLst>
                <a:ext uri="{FF2B5EF4-FFF2-40B4-BE49-F238E27FC236}">
                  <a16:creationId xmlns:a16="http://schemas.microsoft.com/office/drawing/2014/main" id="{C1B20CA4-062A-C0D9-CA7B-D7D3E29C9972}"/>
                </a:ext>
              </a:extLst>
            </p:cNvPr>
            <p:cNvSpPr/>
            <p:nvPr/>
          </p:nvSpPr>
          <p:spPr>
            <a:xfrm>
              <a:off x="756204" y="620303"/>
              <a:ext cx="5119893" cy="1883507"/>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CD96F168-5B4B-E39E-0A23-4DE5C0FCB69D}"/>
                </a:ext>
              </a:extLst>
            </p:cNvPr>
            <p:cNvSpPr txBox="1"/>
            <p:nvPr/>
          </p:nvSpPr>
          <p:spPr>
            <a:xfrm>
              <a:off x="756203" y="620303"/>
              <a:ext cx="914400"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Ingestion</a:t>
              </a:r>
            </a:p>
          </p:txBody>
        </p:sp>
      </p:grpSp>
      <p:grpSp>
        <p:nvGrpSpPr>
          <p:cNvPr id="12" name="Group 11">
            <a:extLst>
              <a:ext uri="{FF2B5EF4-FFF2-40B4-BE49-F238E27FC236}">
                <a16:creationId xmlns:a16="http://schemas.microsoft.com/office/drawing/2014/main" id="{A88A6252-6421-4A57-414B-ADEB3F70E455}"/>
              </a:ext>
            </a:extLst>
          </p:cNvPr>
          <p:cNvGrpSpPr/>
          <p:nvPr/>
        </p:nvGrpSpPr>
        <p:grpSpPr>
          <a:xfrm>
            <a:off x="756203" y="2740982"/>
            <a:ext cx="5119894" cy="1782826"/>
            <a:chOff x="756203" y="2740982"/>
            <a:chExt cx="5119894" cy="1782826"/>
          </a:xfrm>
        </p:grpSpPr>
        <p:sp>
          <p:nvSpPr>
            <p:cNvPr id="31" name="Rectangle 30">
              <a:extLst>
                <a:ext uri="{FF2B5EF4-FFF2-40B4-BE49-F238E27FC236}">
                  <a16:creationId xmlns:a16="http://schemas.microsoft.com/office/drawing/2014/main" id="{30D7693D-30AC-7B09-48A7-3238EA5C6CB7}"/>
                </a:ext>
              </a:extLst>
            </p:cNvPr>
            <p:cNvSpPr/>
            <p:nvPr/>
          </p:nvSpPr>
          <p:spPr>
            <a:xfrm>
              <a:off x="756203" y="2740982"/>
              <a:ext cx="5119894" cy="1782826"/>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D4082A1-593C-B160-4449-6305DC10DA77}"/>
                </a:ext>
              </a:extLst>
            </p:cNvPr>
            <p:cNvSpPr txBox="1"/>
            <p:nvPr/>
          </p:nvSpPr>
          <p:spPr>
            <a:xfrm>
              <a:off x="766079" y="2754037"/>
              <a:ext cx="891051"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Runtime</a:t>
              </a:r>
            </a:p>
          </p:txBody>
        </p:sp>
      </p:grpSp>
      <p:pic>
        <p:nvPicPr>
          <p:cNvPr id="2" name="Picture 1" descr="File:PostgreSQL logo.3colors.540x557.png">
            <a:extLst>
              <a:ext uri="{FF2B5EF4-FFF2-40B4-BE49-F238E27FC236}">
                <a16:creationId xmlns:a16="http://schemas.microsoft.com/office/drawing/2014/main" id="{1DDD42E8-14EE-E62B-0B2E-C5C00F50B77B}"/>
              </a:ext>
            </a:extLst>
          </p:cNvPr>
          <p:cNvPicPr>
            <a:picLocks noChangeAspect="1"/>
          </p:cNvPicPr>
          <p:nvPr/>
        </p:nvPicPr>
        <p:blipFill>
          <a:blip r:embed="rId15"/>
          <a:stretch>
            <a:fillRect/>
          </a:stretch>
        </p:blipFill>
        <p:spPr>
          <a:xfrm>
            <a:off x="6253646" y="1432798"/>
            <a:ext cx="274086" cy="282715"/>
          </a:xfrm>
          <a:prstGeom prst="rect">
            <a:avLst/>
          </a:prstGeom>
        </p:spPr>
      </p:pic>
      <p:pic>
        <p:nvPicPr>
          <p:cNvPr id="7" name="Picture 6">
            <a:extLst>
              <a:ext uri="{FF2B5EF4-FFF2-40B4-BE49-F238E27FC236}">
                <a16:creationId xmlns:a16="http://schemas.microsoft.com/office/drawing/2014/main" id="{1C491A15-024F-79E0-69DD-445DCED9C515}"/>
              </a:ext>
            </a:extLst>
          </p:cNvPr>
          <p:cNvPicPr>
            <a:picLocks noChangeAspect="1"/>
          </p:cNvPicPr>
          <p:nvPr/>
        </p:nvPicPr>
        <p:blipFill>
          <a:blip r:embed="rId16"/>
          <a:stretch>
            <a:fillRect/>
          </a:stretch>
        </p:blipFill>
        <p:spPr>
          <a:xfrm>
            <a:off x="2687069" y="3965352"/>
            <a:ext cx="857296" cy="157394"/>
          </a:xfrm>
          <a:prstGeom prst="rect">
            <a:avLst/>
          </a:prstGeom>
        </p:spPr>
      </p:pic>
      <p:pic>
        <p:nvPicPr>
          <p:cNvPr id="10" name="Picture 9">
            <a:extLst>
              <a:ext uri="{FF2B5EF4-FFF2-40B4-BE49-F238E27FC236}">
                <a16:creationId xmlns:a16="http://schemas.microsoft.com/office/drawing/2014/main" id="{0142F1A4-C140-4460-3CA0-48A6F4C18476}"/>
              </a:ext>
            </a:extLst>
          </p:cNvPr>
          <p:cNvPicPr>
            <a:picLocks noChangeAspect="1"/>
          </p:cNvPicPr>
          <p:nvPr/>
        </p:nvPicPr>
        <p:blipFill>
          <a:blip r:embed="rId17"/>
          <a:stretch>
            <a:fillRect/>
          </a:stretch>
        </p:blipFill>
        <p:spPr>
          <a:xfrm>
            <a:off x="1192724" y="1435563"/>
            <a:ext cx="253705" cy="279950"/>
          </a:xfrm>
          <a:prstGeom prst="rect">
            <a:avLst/>
          </a:prstGeom>
        </p:spPr>
      </p:pic>
      <p:pic>
        <p:nvPicPr>
          <p:cNvPr id="18" name="Picture 17">
            <a:extLst>
              <a:ext uri="{FF2B5EF4-FFF2-40B4-BE49-F238E27FC236}">
                <a16:creationId xmlns:a16="http://schemas.microsoft.com/office/drawing/2014/main" id="{73A23106-2A25-7B27-978E-FD3725DB8FBC}"/>
              </a:ext>
            </a:extLst>
          </p:cNvPr>
          <p:cNvPicPr>
            <a:picLocks noChangeAspect="1"/>
          </p:cNvPicPr>
          <p:nvPr/>
        </p:nvPicPr>
        <p:blipFill>
          <a:blip r:embed="rId6"/>
          <a:stretch>
            <a:fillRect/>
          </a:stretch>
        </p:blipFill>
        <p:spPr>
          <a:xfrm>
            <a:off x="7742435" y="1748938"/>
            <a:ext cx="473331" cy="423153"/>
          </a:xfrm>
          <a:prstGeom prst="rect">
            <a:avLst/>
          </a:prstGeom>
        </p:spPr>
      </p:pic>
      <p:cxnSp>
        <p:nvCxnSpPr>
          <p:cNvPr id="23" name="Straight Arrow Connector 22">
            <a:extLst>
              <a:ext uri="{FF2B5EF4-FFF2-40B4-BE49-F238E27FC236}">
                <a16:creationId xmlns:a16="http://schemas.microsoft.com/office/drawing/2014/main" id="{4F793FD6-EB05-0FC5-0AE0-D969175F3D22}"/>
              </a:ext>
            </a:extLst>
          </p:cNvPr>
          <p:cNvCxnSpPr>
            <a:cxnSpLocks/>
            <a:stCxn id="44" idx="3"/>
            <a:endCxn id="18" idx="1"/>
          </p:cNvCxnSpPr>
          <p:nvPr/>
        </p:nvCxnSpPr>
        <p:spPr>
          <a:xfrm flipV="1">
            <a:off x="6621322" y="1960515"/>
            <a:ext cx="1121113" cy="119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33" name="Picture 32">
            <a:extLst>
              <a:ext uri="{FF2B5EF4-FFF2-40B4-BE49-F238E27FC236}">
                <a16:creationId xmlns:a16="http://schemas.microsoft.com/office/drawing/2014/main" id="{9DE97DCC-3122-A5DE-835F-1CCBF7C99D76}"/>
              </a:ext>
            </a:extLst>
          </p:cNvPr>
          <p:cNvPicPr>
            <a:picLocks noChangeAspect="1"/>
          </p:cNvPicPr>
          <p:nvPr/>
        </p:nvPicPr>
        <p:blipFill>
          <a:blip r:embed="rId18"/>
          <a:stretch>
            <a:fillRect/>
          </a:stretch>
        </p:blipFill>
        <p:spPr>
          <a:xfrm>
            <a:off x="7837742" y="1439158"/>
            <a:ext cx="282715" cy="282715"/>
          </a:xfrm>
          <a:prstGeom prst="rect">
            <a:avLst/>
          </a:prstGeom>
        </p:spPr>
      </p:pic>
      <p:cxnSp>
        <p:nvCxnSpPr>
          <p:cNvPr id="588" name="Straight Arrow Connector 587">
            <a:extLst>
              <a:ext uri="{FF2B5EF4-FFF2-40B4-BE49-F238E27FC236}">
                <a16:creationId xmlns:a16="http://schemas.microsoft.com/office/drawing/2014/main" id="{184FC1D6-6717-58A9-46F8-8C3C86B99327}"/>
              </a:ext>
            </a:extLst>
          </p:cNvPr>
          <p:cNvCxnSpPr>
            <a:cxnSpLocks/>
            <a:stCxn id="715" idx="1"/>
            <a:endCxn id="661" idx="3"/>
          </p:cNvCxnSpPr>
          <p:nvPr/>
        </p:nvCxnSpPr>
        <p:spPr>
          <a:xfrm flipH="1">
            <a:off x="3436362" y="3677914"/>
            <a:ext cx="1305159" cy="16275"/>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05" name="Rectangle 604">
            <a:extLst>
              <a:ext uri="{FF2B5EF4-FFF2-40B4-BE49-F238E27FC236}">
                <a16:creationId xmlns:a16="http://schemas.microsoft.com/office/drawing/2014/main" id="{BB537319-88C9-3161-B33D-8543292F34CA}"/>
              </a:ext>
            </a:extLst>
          </p:cNvPr>
          <p:cNvSpPr/>
          <p:nvPr/>
        </p:nvSpPr>
        <p:spPr>
          <a:xfrm>
            <a:off x="5275518" y="3423025"/>
            <a:ext cx="156492" cy="287438"/>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Rectangle 608">
            <a:extLst>
              <a:ext uri="{FF2B5EF4-FFF2-40B4-BE49-F238E27FC236}">
                <a16:creationId xmlns:a16="http://schemas.microsoft.com/office/drawing/2014/main" id="{C5B58E3C-8158-F84D-D865-BA372312EAA2}"/>
              </a:ext>
            </a:extLst>
          </p:cNvPr>
          <p:cNvSpPr/>
          <p:nvPr/>
        </p:nvSpPr>
        <p:spPr>
          <a:xfrm>
            <a:off x="5275518" y="3677914"/>
            <a:ext cx="156492" cy="318880"/>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1" name="Connector: Elbow 610">
            <a:extLst>
              <a:ext uri="{FF2B5EF4-FFF2-40B4-BE49-F238E27FC236}">
                <a16:creationId xmlns:a16="http://schemas.microsoft.com/office/drawing/2014/main" id="{1BBD5613-37FE-E1FD-8160-109F1F602399}"/>
              </a:ext>
            </a:extLst>
          </p:cNvPr>
          <p:cNvCxnSpPr>
            <a:cxnSpLocks/>
            <a:stCxn id="44" idx="2"/>
            <a:endCxn id="605" idx="3"/>
          </p:cNvCxnSpPr>
          <p:nvPr/>
        </p:nvCxnSpPr>
        <p:spPr>
          <a:xfrm rot="5400000">
            <a:off x="5211603" y="2393690"/>
            <a:ext cx="1393462" cy="952647"/>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634" name="Connector: Elbow 633">
            <a:extLst>
              <a:ext uri="{FF2B5EF4-FFF2-40B4-BE49-F238E27FC236}">
                <a16:creationId xmlns:a16="http://schemas.microsoft.com/office/drawing/2014/main" id="{B2EDC0BF-AFC2-0DCD-5B2E-9F9DFBB09E6B}"/>
              </a:ext>
            </a:extLst>
          </p:cNvPr>
          <p:cNvCxnSpPr>
            <a:cxnSpLocks/>
            <a:stCxn id="18" idx="2"/>
            <a:endCxn id="609" idx="3"/>
          </p:cNvCxnSpPr>
          <p:nvPr/>
        </p:nvCxnSpPr>
        <p:spPr>
          <a:xfrm rot="5400000">
            <a:off x="5872925" y="1731177"/>
            <a:ext cx="1665263" cy="2547091"/>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647" name="TextBox 646">
            <a:extLst>
              <a:ext uri="{FF2B5EF4-FFF2-40B4-BE49-F238E27FC236}">
                <a16:creationId xmlns:a16="http://schemas.microsoft.com/office/drawing/2014/main" id="{B6EFF458-9E48-A793-431D-50C56334DC54}"/>
              </a:ext>
            </a:extLst>
          </p:cNvPr>
          <p:cNvSpPr txBox="1"/>
          <p:nvPr/>
        </p:nvSpPr>
        <p:spPr>
          <a:xfrm>
            <a:off x="4445402" y="1693939"/>
            <a:ext cx="1446870" cy="276999"/>
          </a:xfrm>
          <a:prstGeom prst="rect">
            <a:avLst/>
          </a:prstGeom>
          <a:noFill/>
        </p:spPr>
        <p:txBody>
          <a:bodyPr wrap="square" rtlCol="0">
            <a:spAutoFit/>
          </a:bodyPr>
          <a:lstStyle/>
          <a:p>
            <a:pPr algn="ctr"/>
            <a:r>
              <a:rPr lang="en-US" sz="1200" dirty="0">
                <a:solidFill>
                  <a:schemeClr val="tx1">
                    <a:lumMod val="75000"/>
                    <a:lumOff val="25000"/>
                  </a:schemeClr>
                </a:solidFill>
              </a:rPr>
              <a:t>structured job data</a:t>
            </a:r>
          </a:p>
        </p:txBody>
      </p:sp>
      <p:sp>
        <p:nvSpPr>
          <p:cNvPr id="677" name="TextBox 676">
            <a:extLst>
              <a:ext uri="{FF2B5EF4-FFF2-40B4-BE49-F238E27FC236}">
                <a16:creationId xmlns:a16="http://schemas.microsoft.com/office/drawing/2014/main" id="{360B69CB-B9B6-034D-EA88-83EE80188FF7}"/>
              </a:ext>
            </a:extLst>
          </p:cNvPr>
          <p:cNvSpPr txBox="1"/>
          <p:nvPr/>
        </p:nvSpPr>
        <p:spPr>
          <a:xfrm rot="16200000">
            <a:off x="5556076" y="2730322"/>
            <a:ext cx="1393462" cy="276999"/>
          </a:xfrm>
          <a:prstGeom prst="rect">
            <a:avLst/>
          </a:prstGeom>
          <a:noFill/>
        </p:spPr>
        <p:txBody>
          <a:bodyPr wrap="square" rtlCol="0">
            <a:spAutoFit/>
          </a:bodyPr>
          <a:lstStyle/>
          <a:p>
            <a:pPr algn="ctr"/>
            <a:r>
              <a:rPr lang="en-US" sz="1200" dirty="0">
                <a:solidFill>
                  <a:schemeClr val="tx1">
                    <a:lumMod val="75000"/>
                    <a:lumOff val="25000"/>
                  </a:schemeClr>
                </a:solidFill>
              </a:rPr>
              <a:t>jobs / statistics</a:t>
            </a:r>
          </a:p>
        </p:txBody>
      </p:sp>
      <p:sp>
        <p:nvSpPr>
          <p:cNvPr id="682" name="TextBox 681">
            <a:extLst>
              <a:ext uri="{FF2B5EF4-FFF2-40B4-BE49-F238E27FC236}">
                <a16:creationId xmlns:a16="http://schemas.microsoft.com/office/drawing/2014/main" id="{D7776ED6-C7CE-73AE-5C84-FDC04C1FA984}"/>
              </a:ext>
            </a:extLst>
          </p:cNvPr>
          <p:cNvSpPr txBox="1"/>
          <p:nvPr/>
        </p:nvSpPr>
        <p:spPr>
          <a:xfrm rot="16200000">
            <a:off x="6926716" y="2768791"/>
            <a:ext cx="1675460" cy="461665"/>
          </a:xfrm>
          <a:prstGeom prst="rect">
            <a:avLst/>
          </a:prstGeom>
          <a:noFill/>
        </p:spPr>
        <p:txBody>
          <a:bodyPr wrap="square" rtlCol="0">
            <a:spAutoFit/>
          </a:bodyPr>
          <a:lstStyle/>
          <a:p>
            <a:pPr algn="ctr"/>
            <a:r>
              <a:rPr lang="en-US" sz="1200" dirty="0">
                <a:solidFill>
                  <a:schemeClr val="tx1">
                    <a:lumMod val="75000"/>
                    <a:lumOff val="25000"/>
                  </a:schemeClr>
                </a:solidFill>
              </a:rPr>
              <a:t>ranked reference numbers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30460230-DC4A-FBDA-D54A-FCB81BE00465}"/>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FF5FF86D-7528-C5BE-FEEB-F35CD53B0B11}"/>
              </a:ext>
            </a:extLst>
          </p:cNvPr>
          <p:cNvSpPr/>
          <p:nvPr/>
        </p:nvSpPr>
        <p:spPr>
          <a:xfrm>
            <a:off x="709544" y="1447339"/>
            <a:ext cx="7664173" cy="1982857"/>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7" name="Table 16">
            <a:extLst>
              <a:ext uri="{FF2B5EF4-FFF2-40B4-BE49-F238E27FC236}">
                <a16:creationId xmlns:a16="http://schemas.microsoft.com/office/drawing/2014/main" id="{8CB0A6E1-73E1-2370-D612-F3084943BAA7}"/>
              </a:ext>
            </a:extLst>
          </p:cNvPr>
          <p:cNvGraphicFramePr>
            <a:graphicFrameLocks noGrp="1"/>
          </p:cNvGraphicFramePr>
          <p:nvPr>
            <p:extLst>
              <p:ext uri="{D42A27DB-BD31-4B8C-83A1-F6EECF244321}">
                <p14:modId xmlns:p14="http://schemas.microsoft.com/office/powerpoint/2010/main" val="3198127650"/>
              </p:ext>
            </p:extLst>
          </p:nvPr>
        </p:nvGraphicFramePr>
        <p:xfrm>
          <a:off x="770725" y="1539702"/>
          <a:ext cx="7523035" cy="1797711"/>
        </p:xfrm>
        <a:graphic>
          <a:graphicData uri="http://schemas.openxmlformats.org/drawingml/2006/table">
            <a:tbl>
              <a:tblPr firstRow="1" bandRow="1">
                <a:tableStyleId>{5C22544A-7EE6-4342-B048-85BDC9FD1C3A}</a:tableStyleId>
              </a:tblPr>
              <a:tblGrid>
                <a:gridCol w="1504607">
                  <a:extLst>
                    <a:ext uri="{9D8B030D-6E8A-4147-A177-3AD203B41FA5}">
                      <a16:colId xmlns:a16="http://schemas.microsoft.com/office/drawing/2014/main" val="42408300"/>
                    </a:ext>
                  </a:extLst>
                </a:gridCol>
                <a:gridCol w="1504607">
                  <a:extLst>
                    <a:ext uri="{9D8B030D-6E8A-4147-A177-3AD203B41FA5}">
                      <a16:colId xmlns:a16="http://schemas.microsoft.com/office/drawing/2014/main" val="4207326481"/>
                    </a:ext>
                  </a:extLst>
                </a:gridCol>
                <a:gridCol w="1504607">
                  <a:extLst>
                    <a:ext uri="{9D8B030D-6E8A-4147-A177-3AD203B41FA5}">
                      <a16:colId xmlns:a16="http://schemas.microsoft.com/office/drawing/2014/main" val="4011442136"/>
                    </a:ext>
                  </a:extLst>
                </a:gridCol>
                <a:gridCol w="1504607">
                  <a:extLst>
                    <a:ext uri="{9D8B030D-6E8A-4147-A177-3AD203B41FA5}">
                      <a16:colId xmlns:a16="http://schemas.microsoft.com/office/drawing/2014/main" val="1579474570"/>
                    </a:ext>
                  </a:extLst>
                </a:gridCol>
                <a:gridCol w="1504607">
                  <a:extLst>
                    <a:ext uri="{9D8B030D-6E8A-4147-A177-3AD203B41FA5}">
                      <a16:colId xmlns:a16="http://schemas.microsoft.com/office/drawing/2014/main" val="2907646003"/>
                    </a:ext>
                  </a:extLst>
                </a:gridCol>
              </a:tblGrid>
              <a:tr h="599237">
                <a:tc>
                  <a:txBody>
                    <a:bodyPr/>
                    <a:lstStyle/>
                    <a:p>
                      <a:r>
                        <a:rPr lang="en-US" dirty="0"/>
                        <a:t>Frontend</a:t>
                      </a:r>
                    </a:p>
                  </a:txBody>
                  <a:tcPr anchor="ctr">
                    <a:solidFill>
                      <a:schemeClr val="accent5"/>
                    </a:solidFill>
                  </a:tcPr>
                </a:tc>
                <a:tc>
                  <a:txBody>
                    <a:bodyPr/>
                    <a:lstStyle/>
                    <a:p>
                      <a:r>
                        <a:rPr lang="en-US" dirty="0"/>
                        <a:t>Backend</a:t>
                      </a:r>
                    </a:p>
                  </a:txBody>
                  <a:tcPr anchor="ctr">
                    <a:solidFill>
                      <a:schemeClr val="accent5"/>
                    </a:solidFill>
                  </a:tcPr>
                </a:tc>
                <a:tc>
                  <a:txBody>
                    <a:bodyPr/>
                    <a:lstStyle/>
                    <a:p>
                      <a:r>
                        <a:rPr lang="en-US" dirty="0"/>
                        <a:t>Data</a:t>
                      </a:r>
                    </a:p>
                  </a:txBody>
                  <a:tcPr anchor="ctr">
                    <a:solidFill>
                      <a:schemeClr val="accent5"/>
                    </a:solidFill>
                  </a:tcPr>
                </a:tc>
                <a:tc>
                  <a:txBody>
                    <a:bodyPr/>
                    <a:lstStyle/>
                    <a:p>
                      <a:r>
                        <a:rPr lang="en-US" dirty="0"/>
                        <a:t>Workflow</a:t>
                      </a:r>
                    </a:p>
                  </a:txBody>
                  <a:tcPr anchor="ctr">
                    <a:solidFill>
                      <a:schemeClr val="accent5"/>
                    </a:solidFill>
                  </a:tcPr>
                </a:tc>
                <a:tc>
                  <a:txBody>
                    <a:bodyPr/>
                    <a:lstStyle/>
                    <a:p>
                      <a:r>
                        <a:rPr lang="en-US" dirty="0"/>
                        <a:t>Monitoring</a:t>
                      </a:r>
                    </a:p>
                  </a:txBody>
                  <a:tcPr anchor="ctr">
                    <a:solidFill>
                      <a:schemeClr val="accent5"/>
                    </a:solidFill>
                  </a:tcPr>
                </a:tc>
                <a:extLst>
                  <a:ext uri="{0D108BD9-81ED-4DB2-BD59-A6C34878D82A}">
                    <a16:rowId xmlns:a16="http://schemas.microsoft.com/office/drawing/2014/main" val="4259655577"/>
                  </a:ext>
                </a:extLst>
              </a:tr>
              <a:tr h="599237">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89314828"/>
                  </a:ext>
                </a:extLst>
              </a:tr>
              <a:tr h="599237">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850848736"/>
                  </a:ext>
                </a:extLst>
              </a:tr>
            </a:tbl>
          </a:graphicData>
        </a:graphic>
      </p:graphicFrame>
      <p:sp>
        <p:nvSpPr>
          <p:cNvPr id="32" name="Rectangle 31">
            <a:extLst>
              <a:ext uri="{FF2B5EF4-FFF2-40B4-BE49-F238E27FC236}">
                <a16:creationId xmlns:a16="http://schemas.microsoft.com/office/drawing/2014/main" id="{4E1C042B-B55F-8898-B5E6-C98C34B21286}"/>
              </a:ext>
            </a:extLst>
          </p:cNvPr>
          <p:cNvSpPr/>
          <p:nvPr/>
        </p:nvSpPr>
        <p:spPr>
          <a:xfrm>
            <a:off x="889326" y="2270139"/>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718E242-7BE0-85F6-4AC0-F97166A6C6E5}"/>
              </a:ext>
            </a:extLst>
          </p:cNvPr>
          <p:cNvSpPr/>
          <p:nvPr/>
        </p:nvSpPr>
        <p:spPr>
          <a:xfrm>
            <a:off x="2392249" y="2270139"/>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EFEC2DF-1561-D453-9750-35163361AE45}"/>
              </a:ext>
            </a:extLst>
          </p:cNvPr>
          <p:cNvSpPr/>
          <p:nvPr/>
        </p:nvSpPr>
        <p:spPr>
          <a:xfrm>
            <a:off x="3903593" y="2270139"/>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2B20746-9E81-C098-D2AB-5C1D9B27EF68}"/>
              </a:ext>
            </a:extLst>
          </p:cNvPr>
          <p:cNvSpPr/>
          <p:nvPr/>
        </p:nvSpPr>
        <p:spPr>
          <a:xfrm>
            <a:off x="5406516" y="2270139"/>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D0056AC-D77C-7CE2-4EB4-119DA7E73BB1}"/>
              </a:ext>
            </a:extLst>
          </p:cNvPr>
          <p:cNvSpPr/>
          <p:nvPr/>
        </p:nvSpPr>
        <p:spPr>
          <a:xfrm>
            <a:off x="6909439" y="2270139"/>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4C5AB23-BD00-07B3-BEA9-B076EFF3CC93}"/>
              </a:ext>
            </a:extLst>
          </p:cNvPr>
          <p:cNvSpPr/>
          <p:nvPr/>
        </p:nvSpPr>
        <p:spPr>
          <a:xfrm>
            <a:off x="889326" y="2867703"/>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E0F8F97-60CF-5F87-0F83-B6AADDA0ADC6}"/>
              </a:ext>
            </a:extLst>
          </p:cNvPr>
          <p:cNvSpPr/>
          <p:nvPr/>
        </p:nvSpPr>
        <p:spPr>
          <a:xfrm>
            <a:off x="2392249" y="2867703"/>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7FAF81BB-9BD9-1278-53A2-0C24827FE2C8}"/>
              </a:ext>
            </a:extLst>
          </p:cNvPr>
          <p:cNvSpPr/>
          <p:nvPr/>
        </p:nvSpPr>
        <p:spPr>
          <a:xfrm>
            <a:off x="3903593" y="2867703"/>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E685F019-4642-F6E0-A84F-5C7C990BD0D8}"/>
              </a:ext>
            </a:extLst>
          </p:cNvPr>
          <p:cNvSpPr/>
          <p:nvPr/>
        </p:nvSpPr>
        <p:spPr>
          <a:xfrm>
            <a:off x="5406516" y="2867703"/>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D53DD0D-7034-40CB-6890-FC1BAAC4F535}"/>
              </a:ext>
            </a:extLst>
          </p:cNvPr>
          <p:cNvSpPr/>
          <p:nvPr/>
        </p:nvSpPr>
        <p:spPr>
          <a:xfrm>
            <a:off x="6909439" y="2867703"/>
            <a:ext cx="1265724" cy="33372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Google Shape;633;p91">
            <a:extLst>
              <a:ext uri="{FF2B5EF4-FFF2-40B4-BE49-F238E27FC236}">
                <a16:creationId xmlns:a16="http://schemas.microsoft.com/office/drawing/2014/main" id="{16F5A1E8-1EC5-BEC6-C35D-B44FA698FBFA}"/>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Tech stack</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D07B7935-F342-9585-3BB0-8B5874807982}"/>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F5467453-AF2A-A5D1-0386-ADBFE3BA631D}"/>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pic>
        <p:nvPicPr>
          <p:cNvPr id="713" name="Picture 712">
            <a:extLst>
              <a:ext uri="{FF2B5EF4-FFF2-40B4-BE49-F238E27FC236}">
                <a16:creationId xmlns:a16="http://schemas.microsoft.com/office/drawing/2014/main" id="{AD8CEF48-CB9C-19E2-EBC2-2AB8B9F3FAEE}"/>
              </a:ext>
            </a:extLst>
          </p:cNvPr>
          <p:cNvPicPr>
            <a:picLocks noChangeAspect="1"/>
          </p:cNvPicPr>
          <p:nvPr/>
        </p:nvPicPr>
        <p:blipFill>
          <a:blip r:embed="rId4"/>
          <a:stretch>
            <a:fillRect/>
          </a:stretch>
        </p:blipFill>
        <p:spPr>
          <a:xfrm>
            <a:off x="2607013" y="2369980"/>
            <a:ext cx="773924" cy="142814"/>
          </a:xfrm>
          <a:prstGeom prst="rect">
            <a:avLst/>
          </a:prstGeom>
        </p:spPr>
      </p:pic>
      <p:pic>
        <p:nvPicPr>
          <p:cNvPr id="5" name="Picture 4" descr="File:PostgreSQL logo.3colors.540x557.png">
            <a:extLst>
              <a:ext uri="{FF2B5EF4-FFF2-40B4-BE49-F238E27FC236}">
                <a16:creationId xmlns:a16="http://schemas.microsoft.com/office/drawing/2014/main" id="{28114944-216A-5077-971C-C1FDF782E7CB}"/>
              </a:ext>
            </a:extLst>
          </p:cNvPr>
          <p:cNvPicPr>
            <a:picLocks noChangeAspect="1"/>
          </p:cNvPicPr>
          <p:nvPr/>
        </p:nvPicPr>
        <p:blipFill>
          <a:blip r:embed="rId5"/>
          <a:stretch>
            <a:fillRect/>
          </a:stretch>
        </p:blipFill>
        <p:spPr>
          <a:xfrm>
            <a:off x="3985812" y="2304716"/>
            <a:ext cx="245547" cy="253278"/>
          </a:xfrm>
          <a:prstGeom prst="rect">
            <a:avLst/>
          </a:prstGeom>
        </p:spPr>
      </p:pic>
      <p:pic>
        <p:nvPicPr>
          <p:cNvPr id="3" name="Picture 2">
            <a:extLst>
              <a:ext uri="{FF2B5EF4-FFF2-40B4-BE49-F238E27FC236}">
                <a16:creationId xmlns:a16="http://schemas.microsoft.com/office/drawing/2014/main" id="{8629D334-5F8A-FC02-26BB-93FEF818F2A5}"/>
              </a:ext>
            </a:extLst>
          </p:cNvPr>
          <p:cNvPicPr>
            <a:picLocks noChangeAspect="1"/>
          </p:cNvPicPr>
          <p:nvPr/>
        </p:nvPicPr>
        <p:blipFill>
          <a:blip r:embed="rId6"/>
          <a:stretch>
            <a:fillRect/>
          </a:stretch>
        </p:blipFill>
        <p:spPr>
          <a:xfrm>
            <a:off x="5671196" y="2298441"/>
            <a:ext cx="736364" cy="285709"/>
          </a:xfrm>
          <a:prstGeom prst="rect">
            <a:avLst/>
          </a:prstGeom>
        </p:spPr>
      </p:pic>
      <p:pic>
        <p:nvPicPr>
          <p:cNvPr id="6" name="Picture 5">
            <a:extLst>
              <a:ext uri="{FF2B5EF4-FFF2-40B4-BE49-F238E27FC236}">
                <a16:creationId xmlns:a16="http://schemas.microsoft.com/office/drawing/2014/main" id="{789942DF-679E-251C-B66D-9434CFC1A70E}"/>
              </a:ext>
            </a:extLst>
          </p:cNvPr>
          <p:cNvPicPr>
            <a:picLocks noChangeAspect="1"/>
          </p:cNvPicPr>
          <p:nvPr/>
        </p:nvPicPr>
        <p:blipFill>
          <a:blip r:embed="rId7"/>
          <a:stretch>
            <a:fillRect/>
          </a:stretch>
        </p:blipFill>
        <p:spPr>
          <a:xfrm>
            <a:off x="930730" y="2333447"/>
            <a:ext cx="1175839" cy="215877"/>
          </a:xfrm>
          <a:prstGeom prst="rect">
            <a:avLst/>
          </a:prstGeom>
        </p:spPr>
      </p:pic>
      <p:pic>
        <p:nvPicPr>
          <p:cNvPr id="11" name="Picture 10">
            <a:extLst>
              <a:ext uri="{FF2B5EF4-FFF2-40B4-BE49-F238E27FC236}">
                <a16:creationId xmlns:a16="http://schemas.microsoft.com/office/drawing/2014/main" id="{52268635-B030-E0CA-7676-4CE0296EC725}"/>
              </a:ext>
            </a:extLst>
          </p:cNvPr>
          <p:cNvPicPr>
            <a:picLocks noChangeAspect="1"/>
          </p:cNvPicPr>
          <p:nvPr/>
        </p:nvPicPr>
        <p:blipFill>
          <a:blip r:embed="rId8"/>
          <a:stretch>
            <a:fillRect/>
          </a:stretch>
        </p:blipFill>
        <p:spPr>
          <a:xfrm>
            <a:off x="6990154" y="2299911"/>
            <a:ext cx="266387" cy="266387"/>
          </a:xfrm>
          <a:prstGeom prst="rect">
            <a:avLst/>
          </a:prstGeom>
        </p:spPr>
      </p:pic>
      <p:pic>
        <p:nvPicPr>
          <p:cNvPr id="33" name="Picture 32">
            <a:extLst>
              <a:ext uri="{FF2B5EF4-FFF2-40B4-BE49-F238E27FC236}">
                <a16:creationId xmlns:a16="http://schemas.microsoft.com/office/drawing/2014/main" id="{04B193C8-063D-BA76-F24D-BE2CC2EA4A35}"/>
              </a:ext>
            </a:extLst>
          </p:cNvPr>
          <p:cNvPicPr>
            <a:picLocks noChangeAspect="1"/>
          </p:cNvPicPr>
          <p:nvPr/>
        </p:nvPicPr>
        <p:blipFill>
          <a:blip r:embed="rId9"/>
          <a:stretch>
            <a:fillRect/>
          </a:stretch>
        </p:blipFill>
        <p:spPr>
          <a:xfrm>
            <a:off x="2538576" y="2918039"/>
            <a:ext cx="973070" cy="237566"/>
          </a:xfrm>
          <a:prstGeom prst="rect">
            <a:avLst/>
          </a:prstGeom>
        </p:spPr>
      </p:pic>
      <p:pic>
        <p:nvPicPr>
          <p:cNvPr id="37" name="Picture 36">
            <a:extLst>
              <a:ext uri="{FF2B5EF4-FFF2-40B4-BE49-F238E27FC236}">
                <a16:creationId xmlns:a16="http://schemas.microsoft.com/office/drawing/2014/main" id="{6CC438AB-FC16-9D0D-B8A5-54A4BEF8C9F9}"/>
              </a:ext>
            </a:extLst>
          </p:cNvPr>
          <p:cNvPicPr>
            <a:picLocks noChangeAspect="1"/>
          </p:cNvPicPr>
          <p:nvPr/>
        </p:nvPicPr>
        <p:blipFill>
          <a:blip r:embed="rId10"/>
          <a:stretch>
            <a:fillRect/>
          </a:stretch>
        </p:blipFill>
        <p:spPr>
          <a:xfrm>
            <a:off x="6990155" y="2897288"/>
            <a:ext cx="744115" cy="280283"/>
          </a:xfrm>
          <a:prstGeom prst="rect">
            <a:avLst/>
          </a:prstGeom>
        </p:spPr>
      </p:pic>
      <p:sp>
        <p:nvSpPr>
          <p:cNvPr id="38" name="TextBox 37">
            <a:extLst>
              <a:ext uri="{FF2B5EF4-FFF2-40B4-BE49-F238E27FC236}">
                <a16:creationId xmlns:a16="http://schemas.microsoft.com/office/drawing/2014/main" id="{2103D174-4CAD-E662-5D14-2468D456B831}"/>
              </a:ext>
            </a:extLst>
          </p:cNvPr>
          <p:cNvSpPr txBox="1"/>
          <p:nvPr/>
        </p:nvSpPr>
        <p:spPr>
          <a:xfrm>
            <a:off x="7227834" y="2294604"/>
            <a:ext cx="1006628" cy="276999"/>
          </a:xfrm>
          <a:prstGeom prst="rect">
            <a:avLst/>
          </a:prstGeom>
          <a:noFill/>
        </p:spPr>
        <p:txBody>
          <a:bodyPr wrap="square" rtlCol="0">
            <a:spAutoFit/>
          </a:bodyPr>
          <a:lstStyle/>
          <a:p>
            <a:r>
              <a:rPr lang="en-US" sz="1200" dirty="0">
                <a:solidFill>
                  <a:srgbClr val="EF552E"/>
                </a:solidFill>
              </a:rPr>
              <a:t>Prometheus</a:t>
            </a:r>
          </a:p>
        </p:txBody>
      </p:sp>
      <p:sp>
        <p:nvSpPr>
          <p:cNvPr id="43" name="TextBox 42">
            <a:extLst>
              <a:ext uri="{FF2B5EF4-FFF2-40B4-BE49-F238E27FC236}">
                <a16:creationId xmlns:a16="http://schemas.microsoft.com/office/drawing/2014/main" id="{E3F35DCC-E3E3-31E5-0F51-52967482C28D}"/>
              </a:ext>
            </a:extLst>
          </p:cNvPr>
          <p:cNvSpPr txBox="1"/>
          <p:nvPr/>
        </p:nvSpPr>
        <p:spPr>
          <a:xfrm>
            <a:off x="4196736" y="2295558"/>
            <a:ext cx="1129823" cy="276999"/>
          </a:xfrm>
          <a:prstGeom prst="rect">
            <a:avLst/>
          </a:prstGeom>
          <a:noFill/>
        </p:spPr>
        <p:txBody>
          <a:bodyPr wrap="square" rtlCol="0">
            <a:spAutoFit/>
          </a:bodyPr>
          <a:lstStyle/>
          <a:p>
            <a:r>
              <a:rPr lang="en-US" sz="1200" dirty="0">
                <a:solidFill>
                  <a:srgbClr val="585858"/>
                </a:solidFill>
              </a:rPr>
              <a:t>Postgre</a:t>
            </a:r>
            <a:r>
              <a:rPr lang="en-US" sz="1200" dirty="0">
                <a:solidFill>
                  <a:srgbClr val="336791"/>
                </a:solidFill>
              </a:rPr>
              <a:t>SQL</a:t>
            </a:r>
          </a:p>
        </p:txBody>
      </p:sp>
      <p:pic>
        <p:nvPicPr>
          <p:cNvPr id="4" name="Graphic 3">
            <a:extLst>
              <a:ext uri="{FF2B5EF4-FFF2-40B4-BE49-F238E27FC236}">
                <a16:creationId xmlns:a16="http://schemas.microsoft.com/office/drawing/2014/main" id="{45BEDCF0-225C-38E3-A986-DABE7C79C9B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85812" y="2911163"/>
            <a:ext cx="1098275" cy="241085"/>
          </a:xfrm>
          <a:prstGeom prst="rect">
            <a:avLst/>
          </a:prstGeom>
        </p:spPr>
      </p:pic>
      <p:pic>
        <p:nvPicPr>
          <p:cNvPr id="581" name="Picture 580">
            <a:extLst>
              <a:ext uri="{FF2B5EF4-FFF2-40B4-BE49-F238E27FC236}">
                <a16:creationId xmlns:a16="http://schemas.microsoft.com/office/drawing/2014/main" id="{7EFF7D95-9A16-06B3-5853-3583C223841E}"/>
              </a:ext>
            </a:extLst>
          </p:cNvPr>
          <p:cNvPicPr>
            <a:picLocks noChangeAspect="1"/>
          </p:cNvPicPr>
          <p:nvPr/>
        </p:nvPicPr>
        <p:blipFill>
          <a:blip r:embed="rId9"/>
          <a:stretch>
            <a:fillRect/>
          </a:stretch>
        </p:blipFill>
        <p:spPr>
          <a:xfrm>
            <a:off x="1035653" y="2920739"/>
            <a:ext cx="973070" cy="237566"/>
          </a:xfrm>
          <a:prstGeom prst="rect">
            <a:avLst/>
          </a:prstGeom>
        </p:spPr>
      </p:pic>
      <p:pic>
        <p:nvPicPr>
          <p:cNvPr id="583" name="Picture 582">
            <a:extLst>
              <a:ext uri="{FF2B5EF4-FFF2-40B4-BE49-F238E27FC236}">
                <a16:creationId xmlns:a16="http://schemas.microsoft.com/office/drawing/2014/main" id="{ED5B258F-AFC6-B8BC-6D40-14E31EA9FE9B}"/>
              </a:ext>
            </a:extLst>
          </p:cNvPr>
          <p:cNvPicPr>
            <a:picLocks noChangeAspect="1"/>
          </p:cNvPicPr>
          <p:nvPr/>
        </p:nvPicPr>
        <p:blipFill>
          <a:blip r:embed="rId9"/>
          <a:stretch>
            <a:fillRect/>
          </a:stretch>
        </p:blipFill>
        <p:spPr>
          <a:xfrm>
            <a:off x="5554495" y="2910314"/>
            <a:ext cx="973070" cy="237566"/>
          </a:xfrm>
          <a:prstGeom prst="rect">
            <a:avLst/>
          </a:prstGeom>
        </p:spPr>
      </p:pic>
    </p:spTree>
    <p:extLst>
      <p:ext uri="{BB962C8B-B14F-4D97-AF65-F5344CB8AC3E}">
        <p14:creationId xmlns:p14="http://schemas.microsoft.com/office/powerpoint/2010/main" val="1576881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20E490BF-88B9-A419-DD8C-36815D018E3E}"/>
            </a:ext>
          </a:extLst>
        </p:cNvPr>
        <p:cNvGrpSpPr/>
        <p:nvPr/>
      </p:nvGrpSpPr>
      <p:grpSpPr>
        <a:xfrm>
          <a:off x="0" y="0"/>
          <a:ext cx="0" cy="0"/>
          <a:chOff x="0" y="0"/>
          <a:chExt cx="0" cy="0"/>
        </a:xfrm>
      </p:grpSpPr>
      <p:sp>
        <p:nvSpPr>
          <p:cNvPr id="695" name="Rectangle 694">
            <a:extLst>
              <a:ext uri="{FF2B5EF4-FFF2-40B4-BE49-F238E27FC236}">
                <a16:creationId xmlns:a16="http://schemas.microsoft.com/office/drawing/2014/main" id="{542A867A-3841-9C74-CEA4-B7F71F69431B}"/>
              </a:ext>
            </a:extLst>
          </p:cNvPr>
          <p:cNvSpPr/>
          <p:nvPr/>
        </p:nvSpPr>
        <p:spPr>
          <a:xfrm>
            <a:off x="690770" y="1188841"/>
            <a:ext cx="7638220" cy="2465023"/>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3" name="Google Shape;633;p91">
            <a:extLst>
              <a:ext uri="{FF2B5EF4-FFF2-40B4-BE49-F238E27FC236}">
                <a16:creationId xmlns:a16="http://schemas.microsoft.com/office/drawing/2014/main" id="{3FDAC067-FE7F-244B-6ABB-084E732D2B8C}"/>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lvl="0"/>
            <a:r>
              <a:rPr lang="en-US" b="1" dirty="0" err="1">
                <a:latin typeface="Work Sans"/>
                <a:ea typeface="Work Sans"/>
                <a:cs typeface="Work Sans"/>
                <a:sym typeface="Work Sans"/>
              </a:rPr>
              <a:t>Arbeitsagentur</a:t>
            </a:r>
            <a:r>
              <a:rPr lang="en-US" b="1" dirty="0">
                <a:latin typeface="Work Sans"/>
                <a:ea typeface="Work Sans"/>
                <a:cs typeface="Work Sans"/>
                <a:sym typeface="Work Sans"/>
              </a:rPr>
              <a:t> API</a:t>
            </a:r>
          </a:p>
        </p:txBody>
      </p:sp>
      <p:pic>
        <p:nvPicPr>
          <p:cNvPr id="640" name="Google Shape;640;p91" title="Fichier 20.png">
            <a:extLst>
              <a:ext uri="{FF2B5EF4-FFF2-40B4-BE49-F238E27FC236}">
                <a16:creationId xmlns:a16="http://schemas.microsoft.com/office/drawing/2014/main" id="{D16916BC-1913-9E16-C388-C93680CC1DD7}"/>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8EB040F8-C50E-2B9E-FE6E-2B8311BF2544}"/>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pic>
        <p:nvPicPr>
          <p:cNvPr id="7" name="Picture 6">
            <a:extLst>
              <a:ext uri="{FF2B5EF4-FFF2-40B4-BE49-F238E27FC236}">
                <a16:creationId xmlns:a16="http://schemas.microsoft.com/office/drawing/2014/main" id="{BE043243-9A47-B9BB-0256-DF603A9C3E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7582" y="1517126"/>
            <a:ext cx="456800" cy="456798"/>
          </a:xfrm>
          <a:prstGeom prst="rect">
            <a:avLst/>
          </a:prstGeom>
          <a:noFill/>
          <a:ln>
            <a:noFill/>
          </a:ln>
        </p:spPr>
      </p:pic>
      <p:sp>
        <p:nvSpPr>
          <p:cNvPr id="8" name="Rectangle 7">
            <a:extLst>
              <a:ext uri="{FF2B5EF4-FFF2-40B4-BE49-F238E27FC236}">
                <a16:creationId xmlns:a16="http://schemas.microsoft.com/office/drawing/2014/main" id="{33E83199-6A1D-D6AD-31FD-3B50BF4D648F}"/>
              </a:ext>
            </a:extLst>
          </p:cNvPr>
          <p:cNvSpPr/>
          <p:nvPr/>
        </p:nvSpPr>
        <p:spPr>
          <a:xfrm>
            <a:off x="750404" y="1591945"/>
            <a:ext cx="1208593" cy="304800"/>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lumMod val="85000"/>
                    <a:lumOff val="15000"/>
                  </a:schemeClr>
                </a:solidFill>
              </a:rPr>
              <a:t>Data Analyst</a:t>
            </a:r>
          </a:p>
        </p:txBody>
      </p:sp>
      <p:sp>
        <p:nvSpPr>
          <p:cNvPr id="41" name="Rectangle 40">
            <a:extLst>
              <a:ext uri="{FF2B5EF4-FFF2-40B4-BE49-F238E27FC236}">
                <a16:creationId xmlns:a16="http://schemas.microsoft.com/office/drawing/2014/main" id="{09E4E6C5-3D7E-36FA-8AD8-08555BE7FF43}"/>
              </a:ext>
            </a:extLst>
          </p:cNvPr>
          <p:cNvSpPr/>
          <p:nvPr/>
        </p:nvSpPr>
        <p:spPr>
          <a:xfrm>
            <a:off x="3129608" y="1587089"/>
            <a:ext cx="733162"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1</a:t>
            </a:r>
          </a:p>
        </p:txBody>
      </p:sp>
      <p:sp>
        <p:nvSpPr>
          <p:cNvPr id="46" name="Rectangle 45">
            <a:extLst>
              <a:ext uri="{FF2B5EF4-FFF2-40B4-BE49-F238E27FC236}">
                <a16:creationId xmlns:a16="http://schemas.microsoft.com/office/drawing/2014/main" id="{B58A120E-955F-AEE4-CB78-16E44FD3B0B6}"/>
              </a:ext>
            </a:extLst>
          </p:cNvPr>
          <p:cNvSpPr/>
          <p:nvPr/>
        </p:nvSpPr>
        <p:spPr>
          <a:xfrm>
            <a:off x="3129608" y="2143381"/>
            <a:ext cx="733162"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2</a:t>
            </a:r>
          </a:p>
        </p:txBody>
      </p:sp>
      <p:sp>
        <p:nvSpPr>
          <p:cNvPr id="49" name="Rectangle 48">
            <a:extLst>
              <a:ext uri="{FF2B5EF4-FFF2-40B4-BE49-F238E27FC236}">
                <a16:creationId xmlns:a16="http://schemas.microsoft.com/office/drawing/2014/main" id="{71E435B9-FD8B-239B-7931-CBF905ED7B59}"/>
              </a:ext>
            </a:extLst>
          </p:cNvPr>
          <p:cNvSpPr/>
          <p:nvPr/>
        </p:nvSpPr>
        <p:spPr>
          <a:xfrm>
            <a:off x="3110558" y="2699673"/>
            <a:ext cx="733162"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a:t>
            </a:r>
          </a:p>
        </p:txBody>
      </p:sp>
      <p:sp>
        <p:nvSpPr>
          <p:cNvPr id="58" name="Rectangle 57">
            <a:extLst>
              <a:ext uri="{FF2B5EF4-FFF2-40B4-BE49-F238E27FC236}">
                <a16:creationId xmlns:a16="http://schemas.microsoft.com/office/drawing/2014/main" id="{F6958F62-A446-FC73-FC9C-7681723C7699}"/>
              </a:ext>
            </a:extLst>
          </p:cNvPr>
          <p:cNvSpPr/>
          <p:nvPr/>
        </p:nvSpPr>
        <p:spPr>
          <a:xfrm>
            <a:off x="5385989" y="1580854"/>
            <a:ext cx="1144897"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1 details</a:t>
            </a:r>
          </a:p>
        </p:txBody>
      </p:sp>
      <p:sp>
        <p:nvSpPr>
          <p:cNvPr id="10" name="Rectangle 9">
            <a:extLst>
              <a:ext uri="{FF2B5EF4-FFF2-40B4-BE49-F238E27FC236}">
                <a16:creationId xmlns:a16="http://schemas.microsoft.com/office/drawing/2014/main" id="{CE20FC42-A05A-447A-22DD-7E32BB983503}"/>
              </a:ext>
            </a:extLst>
          </p:cNvPr>
          <p:cNvSpPr/>
          <p:nvPr/>
        </p:nvSpPr>
        <p:spPr>
          <a:xfrm>
            <a:off x="750403" y="1948779"/>
            <a:ext cx="1208593" cy="304800"/>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lumMod val="85000"/>
                    <a:lumOff val="15000"/>
                  </a:schemeClr>
                </a:solidFill>
              </a:rPr>
              <a:t>AI Engineer</a:t>
            </a:r>
          </a:p>
        </p:txBody>
      </p:sp>
      <p:sp>
        <p:nvSpPr>
          <p:cNvPr id="584" name="Left Brace 583">
            <a:extLst>
              <a:ext uri="{FF2B5EF4-FFF2-40B4-BE49-F238E27FC236}">
                <a16:creationId xmlns:a16="http://schemas.microsoft.com/office/drawing/2014/main" id="{F66B0442-9892-E7AF-42F2-14B636FA1D74}"/>
              </a:ext>
            </a:extLst>
          </p:cNvPr>
          <p:cNvSpPr/>
          <p:nvPr/>
        </p:nvSpPr>
        <p:spPr>
          <a:xfrm rot="16200000">
            <a:off x="1266728" y="1767988"/>
            <a:ext cx="175942" cy="1208594"/>
          </a:xfrm>
          <a:prstGeom prst="leftBrace">
            <a:avLst>
              <a:gd name="adj1" fmla="val 33555"/>
              <a:gd name="adj2" fmla="val 50000"/>
            </a:avLst>
          </a:prstGeom>
          <a:ln>
            <a:solidFill>
              <a:schemeClr val="bg2">
                <a:lumMod val="25000"/>
                <a:lumOff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5" name="TextBox 584">
            <a:extLst>
              <a:ext uri="{FF2B5EF4-FFF2-40B4-BE49-F238E27FC236}">
                <a16:creationId xmlns:a16="http://schemas.microsoft.com/office/drawing/2014/main" id="{B0D16EC0-E034-864D-3E93-4F28AEC141A1}"/>
              </a:ext>
            </a:extLst>
          </p:cNvPr>
          <p:cNvSpPr txBox="1"/>
          <p:nvPr/>
        </p:nvSpPr>
        <p:spPr>
          <a:xfrm>
            <a:off x="750400" y="2413562"/>
            <a:ext cx="1208595" cy="276999"/>
          </a:xfrm>
          <a:prstGeom prst="rect">
            <a:avLst/>
          </a:prstGeom>
          <a:noFill/>
        </p:spPr>
        <p:txBody>
          <a:bodyPr wrap="square" rtlCol="0">
            <a:spAutoFit/>
          </a:bodyPr>
          <a:lstStyle/>
          <a:p>
            <a:pPr algn="ctr"/>
            <a:r>
              <a:rPr lang="en-US" sz="1200" dirty="0"/>
              <a:t>keywords</a:t>
            </a:r>
          </a:p>
        </p:txBody>
      </p:sp>
      <p:sp>
        <p:nvSpPr>
          <p:cNvPr id="589" name="Rectangle 588">
            <a:extLst>
              <a:ext uri="{FF2B5EF4-FFF2-40B4-BE49-F238E27FC236}">
                <a16:creationId xmlns:a16="http://schemas.microsoft.com/office/drawing/2014/main" id="{F98FA149-6752-9958-52ED-9FA6E7FCF16F}"/>
              </a:ext>
            </a:extLst>
          </p:cNvPr>
          <p:cNvSpPr/>
          <p:nvPr/>
        </p:nvSpPr>
        <p:spPr>
          <a:xfrm>
            <a:off x="3110558" y="3255965"/>
            <a:ext cx="733162"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a:t>
            </a:r>
            <a:r>
              <a:rPr lang="en-US" sz="1200" i="1" dirty="0">
                <a:solidFill>
                  <a:schemeClr val="tx1">
                    <a:lumMod val="85000"/>
                    <a:lumOff val="15000"/>
                  </a:schemeClr>
                </a:solidFill>
              </a:rPr>
              <a:t>n</a:t>
            </a:r>
          </a:p>
        </p:txBody>
      </p:sp>
      <p:cxnSp>
        <p:nvCxnSpPr>
          <p:cNvPr id="592" name="Straight Arrow Connector 591">
            <a:extLst>
              <a:ext uri="{FF2B5EF4-FFF2-40B4-BE49-F238E27FC236}">
                <a16:creationId xmlns:a16="http://schemas.microsoft.com/office/drawing/2014/main" id="{71D72AA6-1641-D4EC-B009-71D4F7267838}"/>
              </a:ext>
            </a:extLst>
          </p:cNvPr>
          <p:cNvCxnSpPr>
            <a:cxnSpLocks/>
            <a:stCxn id="7" idx="3"/>
            <a:endCxn id="41" idx="1"/>
          </p:cNvCxnSpPr>
          <p:nvPr/>
        </p:nvCxnSpPr>
        <p:spPr>
          <a:xfrm flipV="1">
            <a:off x="2884382" y="1739489"/>
            <a:ext cx="245226" cy="6036"/>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95" name="Straight Arrow Connector 594">
            <a:extLst>
              <a:ext uri="{FF2B5EF4-FFF2-40B4-BE49-F238E27FC236}">
                <a16:creationId xmlns:a16="http://schemas.microsoft.com/office/drawing/2014/main" id="{56995CC4-0EB5-2C69-50F9-231945279161}"/>
              </a:ext>
            </a:extLst>
          </p:cNvPr>
          <p:cNvCxnSpPr>
            <a:cxnSpLocks/>
            <a:stCxn id="41" idx="3"/>
            <a:endCxn id="54" idx="1"/>
          </p:cNvCxnSpPr>
          <p:nvPr/>
        </p:nvCxnSpPr>
        <p:spPr>
          <a:xfrm>
            <a:off x="3862770" y="1739489"/>
            <a:ext cx="862798" cy="0"/>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98" name="Straight Arrow Connector 597">
            <a:extLst>
              <a:ext uri="{FF2B5EF4-FFF2-40B4-BE49-F238E27FC236}">
                <a16:creationId xmlns:a16="http://schemas.microsoft.com/office/drawing/2014/main" id="{15138234-6E44-51BC-92FD-31C4E520360C}"/>
              </a:ext>
            </a:extLst>
          </p:cNvPr>
          <p:cNvCxnSpPr>
            <a:cxnSpLocks/>
            <a:stCxn id="54" idx="3"/>
            <a:endCxn id="58" idx="1"/>
          </p:cNvCxnSpPr>
          <p:nvPr/>
        </p:nvCxnSpPr>
        <p:spPr>
          <a:xfrm flipV="1">
            <a:off x="5170296" y="1733254"/>
            <a:ext cx="215693" cy="6235"/>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54" name="Picture 53">
            <a:extLst>
              <a:ext uri="{FF2B5EF4-FFF2-40B4-BE49-F238E27FC236}">
                <a16:creationId xmlns:a16="http://schemas.microsoft.com/office/drawing/2014/main" id="{515AD38B-552A-5825-3FC7-5C11158D27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5568" y="1517126"/>
            <a:ext cx="444728" cy="444726"/>
          </a:xfrm>
          <a:prstGeom prst="rect">
            <a:avLst/>
          </a:prstGeom>
          <a:noFill/>
          <a:ln>
            <a:noFill/>
          </a:ln>
        </p:spPr>
      </p:pic>
      <p:sp>
        <p:nvSpPr>
          <p:cNvPr id="615" name="TextBox 614">
            <a:extLst>
              <a:ext uri="{FF2B5EF4-FFF2-40B4-BE49-F238E27FC236}">
                <a16:creationId xmlns:a16="http://schemas.microsoft.com/office/drawing/2014/main" id="{D6870E41-0300-36B0-615C-9D7238419388}"/>
              </a:ext>
            </a:extLst>
          </p:cNvPr>
          <p:cNvSpPr txBox="1"/>
          <p:nvPr/>
        </p:nvSpPr>
        <p:spPr>
          <a:xfrm>
            <a:off x="3870316" y="1467460"/>
            <a:ext cx="810729" cy="276999"/>
          </a:xfrm>
          <a:prstGeom prst="rect">
            <a:avLst/>
          </a:prstGeom>
          <a:noFill/>
        </p:spPr>
        <p:txBody>
          <a:bodyPr wrap="square" rtlCol="0">
            <a:spAutoFit/>
          </a:bodyPr>
          <a:lstStyle/>
          <a:p>
            <a:pPr algn="ctr"/>
            <a:r>
              <a:rPr lang="en-US" sz="1200" dirty="0"/>
              <a:t>ref. no. 1</a:t>
            </a:r>
          </a:p>
        </p:txBody>
      </p:sp>
      <p:cxnSp>
        <p:nvCxnSpPr>
          <p:cNvPr id="623" name="Connector: Elbow 622">
            <a:extLst>
              <a:ext uri="{FF2B5EF4-FFF2-40B4-BE49-F238E27FC236}">
                <a16:creationId xmlns:a16="http://schemas.microsoft.com/office/drawing/2014/main" id="{906B7A1B-45CC-6604-78D9-BFE1CD87BFF9}"/>
              </a:ext>
            </a:extLst>
          </p:cNvPr>
          <p:cNvCxnSpPr>
            <a:cxnSpLocks/>
            <a:stCxn id="7" idx="2"/>
            <a:endCxn id="46" idx="1"/>
          </p:cNvCxnSpPr>
          <p:nvPr/>
        </p:nvCxnSpPr>
        <p:spPr>
          <a:xfrm rot="16200000" flipH="1">
            <a:off x="2731867" y="1898039"/>
            <a:ext cx="321857" cy="473626"/>
          </a:xfrm>
          <a:prstGeom prst="bentConnector2">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24" name="Connector: Elbow 623">
            <a:extLst>
              <a:ext uri="{FF2B5EF4-FFF2-40B4-BE49-F238E27FC236}">
                <a16:creationId xmlns:a16="http://schemas.microsoft.com/office/drawing/2014/main" id="{36CE5DE0-37D7-52D0-CE2E-AF5E65D56E38}"/>
              </a:ext>
            </a:extLst>
          </p:cNvPr>
          <p:cNvCxnSpPr>
            <a:cxnSpLocks/>
            <a:stCxn id="7" idx="2"/>
            <a:endCxn id="589" idx="1"/>
          </p:cNvCxnSpPr>
          <p:nvPr/>
        </p:nvCxnSpPr>
        <p:spPr>
          <a:xfrm rot="16200000" flipH="1">
            <a:off x="2166050" y="2463856"/>
            <a:ext cx="1434441" cy="454576"/>
          </a:xfrm>
          <a:prstGeom prst="bentConnector2">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34" name="Rectangle 633">
            <a:extLst>
              <a:ext uri="{FF2B5EF4-FFF2-40B4-BE49-F238E27FC236}">
                <a16:creationId xmlns:a16="http://schemas.microsoft.com/office/drawing/2014/main" id="{70925A01-DB99-A641-1B63-B6966253C641}"/>
              </a:ext>
            </a:extLst>
          </p:cNvPr>
          <p:cNvSpPr/>
          <p:nvPr/>
        </p:nvSpPr>
        <p:spPr>
          <a:xfrm>
            <a:off x="5385989" y="2141053"/>
            <a:ext cx="1144897"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2 details</a:t>
            </a:r>
          </a:p>
        </p:txBody>
      </p:sp>
      <p:cxnSp>
        <p:nvCxnSpPr>
          <p:cNvPr id="635" name="Straight Arrow Connector 634">
            <a:extLst>
              <a:ext uri="{FF2B5EF4-FFF2-40B4-BE49-F238E27FC236}">
                <a16:creationId xmlns:a16="http://schemas.microsoft.com/office/drawing/2014/main" id="{4EDEC558-26C9-57CD-7509-2F47D571D526}"/>
              </a:ext>
            </a:extLst>
          </p:cNvPr>
          <p:cNvCxnSpPr>
            <a:cxnSpLocks/>
            <a:stCxn id="46" idx="3"/>
            <a:endCxn id="637" idx="1"/>
          </p:cNvCxnSpPr>
          <p:nvPr/>
        </p:nvCxnSpPr>
        <p:spPr>
          <a:xfrm flipV="1">
            <a:off x="3862770" y="2295780"/>
            <a:ext cx="862798" cy="1"/>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36" name="Straight Arrow Connector 635">
            <a:extLst>
              <a:ext uri="{FF2B5EF4-FFF2-40B4-BE49-F238E27FC236}">
                <a16:creationId xmlns:a16="http://schemas.microsoft.com/office/drawing/2014/main" id="{A4784266-FC74-82C0-948F-CFA24E2C5895}"/>
              </a:ext>
            </a:extLst>
          </p:cNvPr>
          <p:cNvCxnSpPr>
            <a:cxnSpLocks/>
            <a:stCxn id="637" idx="3"/>
            <a:endCxn id="634" idx="1"/>
          </p:cNvCxnSpPr>
          <p:nvPr/>
        </p:nvCxnSpPr>
        <p:spPr>
          <a:xfrm flipV="1">
            <a:off x="5170296" y="2293453"/>
            <a:ext cx="215693" cy="2327"/>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637" name="Picture 636">
            <a:extLst>
              <a:ext uri="{FF2B5EF4-FFF2-40B4-BE49-F238E27FC236}">
                <a16:creationId xmlns:a16="http://schemas.microsoft.com/office/drawing/2014/main" id="{1E076C9B-92FE-200C-806B-711FE92086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5568" y="2073417"/>
            <a:ext cx="444728" cy="444726"/>
          </a:xfrm>
          <a:prstGeom prst="rect">
            <a:avLst/>
          </a:prstGeom>
          <a:noFill/>
          <a:ln>
            <a:noFill/>
          </a:ln>
        </p:spPr>
      </p:pic>
      <p:sp>
        <p:nvSpPr>
          <p:cNvPr id="638" name="TextBox 637">
            <a:extLst>
              <a:ext uri="{FF2B5EF4-FFF2-40B4-BE49-F238E27FC236}">
                <a16:creationId xmlns:a16="http://schemas.microsoft.com/office/drawing/2014/main" id="{B1EECF01-56C8-DDB4-93A3-4D78D7A5831E}"/>
              </a:ext>
            </a:extLst>
          </p:cNvPr>
          <p:cNvSpPr txBox="1"/>
          <p:nvPr/>
        </p:nvSpPr>
        <p:spPr>
          <a:xfrm>
            <a:off x="3870316" y="2011518"/>
            <a:ext cx="810729" cy="276999"/>
          </a:xfrm>
          <a:prstGeom prst="rect">
            <a:avLst/>
          </a:prstGeom>
          <a:noFill/>
        </p:spPr>
        <p:txBody>
          <a:bodyPr wrap="square" rtlCol="0">
            <a:spAutoFit/>
          </a:bodyPr>
          <a:lstStyle/>
          <a:p>
            <a:pPr algn="ctr"/>
            <a:r>
              <a:rPr lang="en-US" sz="1200" dirty="0"/>
              <a:t>ref. no. 2</a:t>
            </a:r>
          </a:p>
        </p:txBody>
      </p:sp>
      <p:sp>
        <p:nvSpPr>
          <p:cNvPr id="645" name="Rectangle 644">
            <a:extLst>
              <a:ext uri="{FF2B5EF4-FFF2-40B4-BE49-F238E27FC236}">
                <a16:creationId xmlns:a16="http://schemas.microsoft.com/office/drawing/2014/main" id="{13D1585E-C127-DE77-D2E3-AD73E25094EA}"/>
              </a:ext>
            </a:extLst>
          </p:cNvPr>
          <p:cNvSpPr/>
          <p:nvPr/>
        </p:nvSpPr>
        <p:spPr>
          <a:xfrm>
            <a:off x="5366939" y="3251478"/>
            <a:ext cx="1144897"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a:t>
            </a:r>
            <a:r>
              <a:rPr lang="en-US" sz="1200" i="1" dirty="0">
                <a:solidFill>
                  <a:schemeClr val="tx1">
                    <a:lumMod val="85000"/>
                    <a:lumOff val="15000"/>
                  </a:schemeClr>
                </a:solidFill>
              </a:rPr>
              <a:t>n</a:t>
            </a:r>
            <a:r>
              <a:rPr lang="en-US" sz="1200" dirty="0">
                <a:solidFill>
                  <a:schemeClr val="tx1">
                    <a:lumMod val="85000"/>
                    <a:lumOff val="15000"/>
                  </a:schemeClr>
                </a:solidFill>
              </a:rPr>
              <a:t> details</a:t>
            </a:r>
          </a:p>
        </p:txBody>
      </p:sp>
      <p:cxnSp>
        <p:nvCxnSpPr>
          <p:cNvPr id="646" name="Straight Arrow Connector 645">
            <a:extLst>
              <a:ext uri="{FF2B5EF4-FFF2-40B4-BE49-F238E27FC236}">
                <a16:creationId xmlns:a16="http://schemas.microsoft.com/office/drawing/2014/main" id="{7CE68FAF-6211-A773-72E7-F312494BC434}"/>
              </a:ext>
            </a:extLst>
          </p:cNvPr>
          <p:cNvCxnSpPr>
            <a:cxnSpLocks/>
            <a:stCxn id="589" idx="3"/>
            <a:endCxn id="648" idx="1"/>
          </p:cNvCxnSpPr>
          <p:nvPr/>
        </p:nvCxnSpPr>
        <p:spPr>
          <a:xfrm flipV="1">
            <a:off x="3843720" y="3406205"/>
            <a:ext cx="862798" cy="2160"/>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47" name="Straight Arrow Connector 646">
            <a:extLst>
              <a:ext uri="{FF2B5EF4-FFF2-40B4-BE49-F238E27FC236}">
                <a16:creationId xmlns:a16="http://schemas.microsoft.com/office/drawing/2014/main" id="{5AA8C00B-53BF-E303-6561-03DD19EF13F1}"/>
              </a:ext>
            </a:extLst>
          </p:cNvPr>
          <p:cNvCxnSpPr>
            <a:cxnSpLocks/>
            <a:stCxn id="648" idx="3"/>
            <a:endCxn id="645" idx="1"/>
          </p:cNvCxnSpPr>
          <p:nvPr/>
        </p:nvCxnSpPr>
        <p:spPr>
          <a:xfrm flipV="1">
            <a:off x="5151246" y="3403878"/>
            <a:ext cx="215693" cy="2327"/>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648" name="Picture 647">
            <a:extLst>
              <a:ext uri="{FF2B5EF4-FFF2-40B4-BE49-F238E27FC236}">
                <a16:creationId xmlns:a16="http://schemas.microsoft.com/office/drawing/2014/main" id="{E9B80EA8-C0F6-A83D-C114-D73C7D5025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6518" y="3183842"/>
            <a:ext cx="444728" cy="444726"/>
          </a:xfrm>
          <a:prstGeom prst="rect">
            <a:avLst/>
          </a:prstGeom>
          <a:noFill/>
          <a:ln>
            <a:noFill/>
          </a:ln>
        </p:spPr>
      </p:pic>
      <p:sp>
        <p:nvSpPr>
          <p:cNvPr id="651" name="TextBox 650">
            <a:extLst>
              <a:ext uri="{FF2B5EF4-FFF2-40B4-BE49-F238E27FC236}">
                <a16:creationId xmlns:a16="http://schemas.microsoft.com/office/drawing/2014/main" id="{1A2F4AD3-1779-A4DA-E19F-E5A77B99D85E}"/>
              </a:ext>
            </a:extLst>
          </p:cNvPr>
          <p:cNvSpPr txBox="1"/>
          <p:nvPr/>
        </p:nvSpPr>
        <p:spPr>
          <a:xfrm>
            <a:off x="3843720" y="3121942"/>
            <a:ext cx="833098" cy="276999"/>
          </a:xfrm>
          <a:prstGeom prst="rect">
            <a:avLst/>
          </a:prstGeom>
          <a:noFill/>
        </p:spPr>
        <p:txBody>
          <a:bodyPr wrap="square" rtlCol="0">
            <a:spAutoFit/>
          </a:bodyPr>
          <a:lstStyle/>
          <a:p>
            <a:pPr algn="ctr"/>
            <a:r>
              <a:rPr lang="en-US" sz="1200" dirty="0"/>
              <a:t>ref. no. </a:t>
            </a:r>
            <a:r>
              <a:rPr lang="en-US" sz="1200" i="1" dirty="0"/>
              <a:t>n</a:t>
            </a:r>
          </a:p>
        </p:txBody>
      </p:sp>
      <p:cxnSp>
        <p:nvCxnSpPr>
          <p:cNvPr id="653" name="Connector: Elbow 652">
            <a:extLst>
              <a:ext uri="{FF2B5EF4-FFF2-40B4-BE49-F238E27FC236}">
                <a16:creationId xmlns:a16="http://schemas.microsoft.com/office/drawing/2014/main" id="{7D531AE7-EBA9-87B5-3E65-BDD9D25D56C2}"/>
              </a:ext>
            </a:extLst>
          </p:cNvPr>
          <p:cNvCxnSpPr>
            <a:cxnSpLocks/>
            <a:stCxn id="7" idx="2"/>
            <a:endCxn id="49" idx="1"/>
          </p:cNvCxnSpPr>
          <p:nvPr/>
        </p:nvCxnSpPr>
        <p:spPr>
          <a:xfrm rot="16200000" flipH="1">
            <a:off x="2444196" y="2185710"/>
            <a:ext cx="878149" cy="454576"/>
          </a:xfrm>
          <a:prstGeom prst="bentConnector2">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5" name="Connector: Elbow 664">
            <a:extLst>
              <a:ext uri="{FF2B5EF4-FFF2-40B4-BE49-F238E27FC236}">
                <a16:creationId xmlns:a16="http://schemas.microsoft.com/office/drawing/2014/main" id="{98039151-42CF-4332-0DD8-CDF3CA8DC53F}"/>
              </a:ext>
            </a:extLst>
          </p:cNvPr>
          <p:cNvCxnSpPr>
            <a:cxnSpLocks/>
            <a:stCxn id="5" idx="3"/>
            <a:endCxn id="7" idx="1"/>
          </p:cNvCxnSpPr>
          <p:nvPr/>
        </p:nvCxnSpPr>
        <p:spPr>
          <a:xfrm>
            <a:off x="1958995" y="1393415"/>
            <a:ext cx="468587" cy="352110"/>
          </a:xfrm>
          <a:prstGeom prst="bentConnector3">
            <a:avLst>
              <a:gd name="adj1" fmla="val 50000"/>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8" name="Connector: Elbow 667">
            <a:extLst>
              <a:ext uri="{FF2B5EF4-FFF2-40B4-BE49-F238E27FC236}">
                <a16:creationId xmlns:a16="http://schemas.microsoft.com/office/drawing/2014/main" id="{9339A5C1-F157-8023-AD72-228FE733A92D}"/>
              </a:ext>
            </a:extLst>
          </p:cNvPr>
          <p:cNvCxnSpPr>
            <a:cxnSpLocks/>
            <a:stCxn id="10" idx="3"/>
            <a:endCxn id="7" idx="1"/>
          </p:cNvCxnSpPr>
          <p:nvPr/>
        </p:nvCxnSpPr>
        <p:spPr>
          <a:xfrm flipV="1">
            <a:off x="1958996" y="1745525"/>
            <a:ext cx="468586" cy="355654"/>
          </a:xfrm>
          <a:prstGeom prst="bentConnector3">
            <a:avLst>
              <a:gd name="adj1" fmla="val 50000"/>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16" name="Rectangle 715">
            <a:extLst>
              <a:ext uri="{FF2B5EF4-FFF2-40B4-BE49-F238E27FC236}">
                <a16:creationId xmlns:a16="http://schemas.microsoft.com/office/drawing/2014/main" id="{D6967E82-4C29-9106-10F3-024EFB9459EA}"/>
              </a:ext>
            </a:extLst>
          </p:cNvPr>
          <p:cNvSpPr/>
          <p:nvPr/>
        </p:nvSpPr>
        <p:spPr>
          <a:xfrm>
            <a:off x="6820570" y="1587221"/>
            <a:ext cx="1450082" cy="1969057"/>
          </a:xfrm>
          <a:prstGeom prst="rect">
            <a:avLst/>
          </a:prstGeom>
          <a:solidFill>
            <a:schemeClr val="tx1">
              <a:lumMod val="75000"/>
              <a:lumOff val="25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chemeClr val="accent6">
                  <a:lumMod val="95000"/>
                </a:schemeClr>
              </a:buClr>
            </a:pPr>
            <a:r>
              <a:rPr lang="en-US" sz="1200" b="1" dirty="0">
                <a:solidFill>
                  <a:schemeClr val="accent6">
                    <a:lumMod val="95000"/>
                  </a:schemeClr>
                </a:solidFill>
              </a:rPr>
              <a:t>Job Details:</a:t>
            </a:r>
          </a:p>
          <a:p>
            <a:pPr marL="171450" indent="-171450">
              <a:buClr>
                <a:schemeClr val="accent6">
                  <a:lumMod val="95000"/>
                </a:schemeClr>
              </a:buClr>
              <a:buFont typeface="Arial" panose="020B0604020202020204" pitchFamily="34" charset="0"/>
              <a:buChar char="•"/>
            </a:pPr>
            <a:r>
              <a:rPr lang="en-US" sz="1200" dirty="0">
                <a:solidFill>
                  <a:schemeClr val="accent6">
                    <a:lumMod val="95000"/>
                  </a:schemeClr>
                </a:solidFill>
              </a:rPr>
              <a:t>title</a:t>
            </a:r>
          </a:p>
          <a:p>
            <a:pPr marL="171450" indent="-171450">
              <a:buClr>
                <a:schemeClr val="accent6">
                  <a:lumMod val="95000"/>
                </a:schemeClr>
              </a:buClr>
              <a:buFont typeface="Arial" panose="020B0604020202020204" pitchFamily="34" charset="0"/>
              <a:buChar char="•"/>
            </a:pPr>
            <a:r>
              <a:rPr lang="en-US" sz="1200" dirty="0">
                <a:solidFill>
                  <a:schemeClr val="accent6">
                    <a:lumMod val="95000"/>
                  </a:schemeClr>
                </a:solidFill>
              </a:rPr>
              <a:t>occupation</a:t>
            </a:r>
          </a:p>
          <a:p>
            <a:pPr marL="171450" indent="-171450">
              <a:buClr>
                <a:schemeClr val="accent6">
                  <a:lumMod val="95000"/>
                </a:schemeClr>
              </a:buClr>
              <a:buFont typeface="Arial" panose="020B0604020202020204" pitchFamily="34" charset="0"/>
              <a:buChar char="•"/>
            </a:pPr>
            <a:r>
              <a:rPr lang="en-US" sz="1200" dirty="0">
                <a:solidFill>
                  <a:schemeClr val="accent6">
                    <a:lumMod val="95000"/>
                  </a:schemeClr>
                </a:solidFill>
              </a:rPr>
              <a:t>employer</a:t>
            </a:r>
          </a:p>
          <a:p>
            <a:pPr marL="171450" indent="-171450">
              <a:buClr>
                <a:schemeClr val="accent6">
                  <a:lumMod val="95000"/>
                </a:schemeClr>
              </a:buClr>
              <a:buFont typeface="Arial" panose="020B0604020202020204" pitchFamily="34" charset="0"/>
              <a:buChar char="•"/>
            </a:pPr>
            <a:r>
              <a:rPr lang="en-US" sz="1200" dirty="0">
                <a:solidFill>
                  <a:schemeClr val="accent6">
                    <a:lumMod val="95000"/>
                  </a:schemeClr>
                </a:solidFill>
              </a:rPr>
              <a:t>description</a:t>
            </a:r>
          </a:p>
          <a:p>
            <a:pPr marL="171450" indent="-171450">
              <a:buClr>
                <a:schemeClr val="accent6">
                  <a:lumMod val="95000"/>
                </a:schemeClr>
              </a:buClr>
              <a:buFont typeface="Arial" panose="020B0604020202020204" pitchFamily="34" charset="0"/>
              <a:buChar char="•"/>
            </a:pPr>
            <a:r>
              <a:rPr lang="en-US" sz="1200" dirty="0">
                <a:solidFill>
                  <a:schemeClr val="accent6">
                    <a:lumMod val="95000"/>
                  </a:schemeClr>
                </a:solidFill>
              </a:rPr>
              <a:t>…</a:t>
            </a:r>
          </a:p>
          <a:p>
            <a:pPr marL="171450" indent="-171450">
              <a:buClr>
                <a:schemeClr val="accent6">
                  <a:lumMod val="95000"/>
                </a:schemeClr>
              </a:buClr>
              <a:buFont typeface="Arial" panose="020B0604020202020204" pitchFamily="34" charset="0"/>
              <a:buChar char="•"/>
            </a:pPr>
            <a:r>
              <a:rPr lang="en-US" sz="1200" dirty="0">
                <a:solidFill>
                  <a:schemeClr val="accent6">
                    <a:lumMod val="95000"/>
                  </a:schemeClr>
                </a:solidFill>
              </a:rPr>
              <a:t>publication date</a:t>
            </a:r>
          </a:p>
          <a:p>
            <a:pPr marL="171450" indent="-171450">
              <a:buClr>
                <a:schemeClr val="accent6">
                  <a:lumMod val="95000"/>
                </a:schemeClr>
              </a:buClr>
              <a:buFont typeface="Arial" panose="020B0604020202020204" pitchFamily="34" charset="0"/>
              <a:buChar char="•"/>
            </a:pPr>
            <a:r>
              <a:rPr lang="en-US" sz="1200" dirty="0">
                <a:solidFill>
                  <a:schemeClr val="accent6">
                    <a:lumMod val="95000"/>
                  </a:schemeClr>
                </a:solidFill>
              </a:rPr>
              <a:t>modification date</a:t>
            </a:r>
          </a:p>
          <a:p>
            <a:pPr marL="171450" indent="-171450">
              <a:buClr>
                <a:schemeClr val="accent6">
                  <a:lumMod val="95000"/>
                </a:schemeClr>
              </a:buClr>
              <a:buFont typeface="Arial" panose="020B0604020202020204" pitchFamily="34" charset="0"/>
              <a:buChar char="•"/>
            </a:pPr>
            <a:r>
              <a:rPr lang="en-US" sz="1200" dirty="0">
                <a:solidFill>
                  <a:schemeClr val="accent6">
                    <a:lumMod val="95000"/>
                  </a:schemeClr>
                </a:solidFill>
              </a:rPr>
              <a:t>location(s)</a:t>
            </a:r>
          </a:p>
        </p:txBody>
      </p:sp>
      <p:sp>
        <p:nvSpPr>
          <p:cNvPr id="5" name="Rectangle 4">
            <a:extLst>
              <a:ext uri="{FF2B5EF4-FFF2-40B4-BE49-F238E27FC236}">
                <a16:creationId xmlns:a16="http://schemas.microsoft.com/office/drawing/2014/main" id="{2D8ADBA4-F383-BFFD-3BFE-E2C852FCBA2F}"/>
              </a:ext>
            </a:extLst>
          </p:cNvPr>
          <p:cNvSpPr/>
          <p:nvPr/>
        </p:nvSpPr>
        <p:spPr>
          <a:xfrm>
            <a:off x="750402" y="1241015"/>
            <a:ext cx="1208593" cy="304800"/>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lumMod val="85000"/>
                    <a:lumOff val="15000"/>
                  </a:schemeClr>
                </a:solidFill>
              </a:rPr>
              <a:t>Data Engineer</a:t>
            </a:r>
          </a:p>
        </p:txBody>
      </p:sp>
      <p:cxnSp>
        <p:nvCxnSpPr>
          <p:cNvPr id="6" name="Straight Arrow Connector 5">
            <a:extLst>
              <a:ext uri="{FF2B5EF4-FFF2-40B4-BE49-F238E27FC236}">
                <a16:creationId xmlns:a16="http://schemas.microsoft.com/office/drawing/2014/main" id="{59C75C2F-93DE-6853-4563-C1DE4D6B8421}"/>
              </a:ext>
            </a:extLst>
          </p:cNvPr>
          <p:cNvCxnSpPr>
            <a:cxnSpLocks/>
            <a:stCxn id="8" idx="3"/>
            <a:endCxn id="7" idx="1"/>
          </p:cNvCxnSpPr>
          <p:nvPr/>
        </p:nvCxnSpPr>
        <p:spPr>
          <a:xfrm>
            <a:off x="1958997" y="1744345"/>
            <a:ext cx="468585" cy="1180"/>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12665A6-FF3D-4C60-A3FB-F66E63068E9D}"/>
              </a:ext>
            </a:extLst>
          </p:cNvPr>
          <p:cNvSpPr txBox="1"/>
          <p:nvPr/>
        </p:nvSpPr>
        <p:spPr>
          <a:xfrm>
            <a:off x="2207286" y="1216506"/>
            <a:ext cx="1062712" cy="246221"/>
          </a:xfrm>
          <a:prstGeom prst="rect">
            <a:avLst/>
          </a:prstGeom>
          <a:noFill/>
        </p:spPr>
        <p:txBody>
          <a:bodyPr wrap="square" rtlCol="0">
            <a:spAutoFit/>
          </a:bodyPr>
          <a:lstStyle/>
          <a:p>
            <a:pPr algn="ctr"/>
            <a:r>
              <a:rPr lang="en-US" sz="1000" b="1" dirty="0"/>
              <a:t>GET /jobs</a:t>
            </a:r>
          </a:p>
        </p:txBody>
      </p:sp>
      <p:sp>
        <p:nvSpPr>
          <p:cNvPr id="21" name="TextBox 20">
            <a:extLst>
              <a:ext uri="{FF2B5EF4-FFF2-40B4-BE49-F238E27FC236}">
                <a16:creationId xmlns:a16="http://schemas.microsoft.com/office/drawing/2014/main" id="{D3BD625A-D9FD-8C53-4073-AD945DFB616C}"/>
              </a:ext>
            </a:extLst>
          </p:cNvPr>
          <p:cNvSpPr txBox="1"/>
          <p:nvPr/>
        </p:nvSpPr>
        <p:spPr>
          <a:xfrm>
            <a:off x="4440719" y="1205040"/>
            <a:ext cx="2328976" cy="246221"/>
          </a:xfrm>
          <a:prstGeom prst="rect">
            <a:avLst/>
          </a:prstGeom>
          <a:noFill/>
        </p:spPr>
        <p:txBody>
          <a:bodyPr wrap="square" rtlCol="0">
            <a:spAutoFit/>
          </a:bodyPr>
          <a:lstStyle/>
          <a:p>
            <a:pPr algn="ctr"/>
            <a:r>
              <a:rPr lang="en-US" sz="1000" b="1" dirty="0"/>
              <a:t>GET /job{</a:t>
            </a:r>
            <a:r>
              <a:rPr lang="en-US" sz="1000" b="1" dirty="0" err="1"/>
              <a:t>reference_number</a:t>
            </a:r>
            <a:r>
              <a:rPr lang="en-US" sz="1000" b="1" dirty="0"/>
              <a:t>}</a:t>
            </a:r>
          </a:p>
        </p:txBody>
      </p:sp>
    </p:spTree>
    <p:extLst>
      <p:ext uri="{BB962C8B-B14F-4D97-AF65-F5344CB8AC3E}">
        <p14:creationId xmlns:p14="http://schemas.microsoft.com/office/powerpoint/2010/main" val="652692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5EC19C66-44B2-A0A6-17A2-02250407AF2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097D37C-C17D-40DC-A22D-59CE8DD0ADE4}"/>
              </a:ext>
            </a:extLst>
          </p:cNvPr>
          <p:cNvSpPr/>
          <p:nvPr/>
        </p:nvSpPr>
        <p:spPr>
          <a:xfrm>
            <a:off x="716377" y="599893"/>
            <a:ext cx="7659282" cy="3579700"/>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487AABF-7BDD-3D5B-9915-9B3131A35293}"/>
              </a:ext>
            </a:extLst>
          </p:cNvPr>
          <p:cNvSpPr/>
          <p:nvPr/>
        </p:nvSpPr>
        <p:spPr>
          <a:xfrm>
            <a:off x="968336" y="3083680"/>
            <a:ext cx="7353124" cy="1037904"/>
          </a:xfrm>
          <a:prstGeom prst="rect">
            <a:avLst/>
          </a:prstGeom>
          <a:solidFill>
            <a:srgbClr val="00B050">
              <a:alpha val="6000"/>
            </a:srgbClr>
          </a:solid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63DB2E5-F5AD-9248-7AD3-DA6F418696E4}"/>
              </a:ext>
            </a:extLst>
          </p:cNvPr>
          <p:cNvSpPr/>
          <p:nvPr/>
        </p:nvSpPr>
        <p:spPr>
          <a:xfrm>
            <a:off x="968336" y="1874384"/>
            <a:ext cx="7353124" cy="1037904"/>
          </a:xfrm>
          <a:prstGeom prst="rect">
            <a:avLst/>
          </a:prstGeom>
          <a:solidFill>
            <a:srgbClr val="FFFF00">
              <a:alpha val="6000"/>
            </a:srgbClr>
          </a:solid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7D99FF4-8212-DAB9-2372-6F7EDCEF3727}"/>
              </a:ext>
            </a:extLst>
          </p:cNvPr>
          <p:cNvSpPr/>
          <p:nvPr/>
        </p:nvSpPr>
        <p:spPr>
          <a:xfrm>
            <a:off x="968338" y="664298"/>
            <a:ext cx="7354956" cy="1037904"/>
          </a:xfrm>
          <a:prstGeom prst="rect">
            <a:avLst/>
          </a:prstGeom>
          <a:solidFill>
            <a:schemeClr val="tx2">
              <a:lumMod val="75000"/>
              <a:alpha val="6000"/>
            </a:schemeClr>
          </a:solid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3" name="Google Shape;633;p91">
            <a:extLst>
              <a:ext uri="{FF2B5EF4-FFF2-40B4-BE49-F238E27FC236}">
                <a16:creationId xmlns:a16="http://schemas.microsoft.com/office/drawing/2014/main" id="{F507A431-3C08-473B-C965-5E29A3EFE230}"/>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Data Ingestion &amp; Enrichment</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48E9993E-0C9C-AD83-8F48-BDED9E912DC6}"/>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BED5E245-59AD-8853-F54D-F34696F0C44F}"/>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pic>
        <p:nvPicPr>
          <p:cNvPr id="44" name="Picture 43">
            <a:extLst>
              <a:ext uri="{FF2B5EF4-FFF2-40B4-BE49-F238E27FC236}">
                <a16:creationId xmlns:a16="http://schemas.microsoft.com/office/drawing/2014/main" id="{047E348C-E630-4A57-F157-481CD280B0CE}"/>
              </a:ext>
            </a:extLst>
          </p:cNvPr>
          <p:cNvPicPr>
            <a:picLocks noChangeAspect="1"/>
          </p:cNvPicPr>
          <p:nvPr/>
        </p:nvPicPr>
        <p:blipFill>
          <a:blip r:embed="rId4"/>
          <a:stretch>
            <a:fillRect/>
          </a:stretch>
        </p:blipFill>
        <p:spPr>
          <a:xfrm>
            <a:off x="5835549" y="3426310"/>
            <a:ext cx="473331" cy="423153"/>
          </a:xfrm>
          <a:prstGeom prst="rect">
            <a:avLst/>
          </a:prstGeom>
        </p:spPr>
      </p:pic>
      <p:pic>
        <p:nvPicPr>
          <p:cNvPr id="46" name="Picture 45">
            <a:extLst>
              <a:ext uri="{FF2B5EF4-FFF2-40B4-BE49-F238E27FC236}">
                <a16:creationId xmlns:a16="http://schemas.microsoft.com/office/drawing/2014/main" id="{E971FE9C-9C52-62DA-37C3-7A393C645105}"/>
              </a:ext>
            </a:extLst>
          </p:cNvPr>
          <p:cNvPicPr>
            <a:picLocks noChangeAspect="1"/>
          </p:cNvPicPr>
          <p:nvPr/>
        </p:nvPicPr>
        <p:blipFill>
          <a:blip r:embed="rId5"/>
          <a:stretch>
            <a:fillRect/>
          </a:stretch>
        </p:blipFill>
        <p:spPr>
          <a:xfrm>
            <a:off x="5906080" y="963907"/>
            <a:ext cx="393496" cy="452741"/>
          </a:xfrm>
          <a:prstGeom prst="rect">
            <a:avLst/>
          </a:prstGeom>
        </p:spPr>
      </p:pic>
      <p:cxnSp>
        <p:nvCxnSpPr>
          <p:cNvPr id="664" name="Straight Arrow Connector 663">
            <a:extLst>
              <a:ext uri="{FF2B5EF4-FFF2-40B4-BE49-F238E27FC236}">
                <a16:creationId xmlns:a16="http://schemas.microsoft.com/office/drawing/2014/main" id="{B55CA858-D422-DD00-058F-6D5062AE8A07}"/>
              </a:ext>
            </a:extLst>
          </p:cNvPr>
          <p:cNvCxnSpPr>
            <a:cxnSpLocks/>
            <a:stCxn id="58" idx="3"/>
            <a:endCxn id="584" idx="1"/>
          </p:cNvCxnSpPr>
          <p:nvPr/>
        </p:nvCxnSpPr>
        <p:spPr>
          <a:xfrm flipV="1">
            <a:off x="1626651" y="1186955"/>
            <a:ext cx="266930" cy="1819"/>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21" name="Connector: Elbow 20">
            <a:extLst>
              <a:ext uri="{FF2B5EF4-FFF2-40B4-BE49-F238E27FC236}">
                <a16:creationId xmlns:a16="http://schemas.microsoft.com/office/drawing/2014/main" id="{A448E902-E18B-7259-446C-1044F482FCC6}"/>
              </a:ext>
            </a:extLst>
          </p:cNvPr>
          <p:cNvCxnSpPr>
            <a:cxnSpLocks/>
            <a:stCxn id="46" idx="2"/>
            <a:endCxn id="615" idx="3"/>
          </p:cNvCxnSpPr>
          <p:nvPr/>
        </p:nvCxnSpPr>
        <p:spPr>
          <a:xfrm rot="5400000">
            <a:off x="5369310" y="1692234"/>
            <a:ext cx="1009104" cy="457932"/>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3E73B30B-30AC-9627-4CBB-5190ADF9A0D2}"/>
              </a:ext>
            </a:extLst>
          </p:cNvPr>
          <p:cNvPicPr>
            <a:picLocks noChangeAspect="1"/>
          </p:cNvPicPr>
          <p:nvPr/>
        </p:nvPicPr>
        <p:blipFill>
          <a:blip r:embed="rId5"/>
          <a:stretch>
            <a:fillRect/>
          </a:stretch>
        </p:blipFill>
        <p:spPr>
          <a:xfrm>
            <a:off x="1269202" y="2201286"/>
            <a:ext cx="393496" cy="452741"/>
          </a:xfrm>
          <a:prstGeom prst="rect">
            <a:avLst/>
          </a:prstGeom>
        </p:spPr>
      </p:pic>
      <p:sp>
        <p:nvSpPr>
          <p:cNvPr id="10" name="TextBox 9">
            <a:extLst>
              <a:ext uri="{FF2B5EF4-FFF2-40B4-BE49-F238E27FC236}">
                <a16:creationId xmlns:a16="http://schemas.microsoft.com/office/drawing/2014/main" id="{A20F836C-3BAC-F8B6-9D77-22266462D29D}"/>
              </a:ext>
            </a:extLst>
          </p:cNvPr>
          <p:cNvSpPr txBox="1"/>
          <p:nvPr/>
        </p:nvSpPr>
        <p:spPr>
          <a:xfrm rot="16200000">
            <a:off x="392193" y="1034322"/>
            <a:ext cx="1046249" cy="307777"/>
          </a:xfrm>
          <a:prstGeom prst="rect">
            <a:avLst/>
          </a:prstGeom>
          <a:solidFill>
            <a:schemeClr val="bg2">
              <a:lumMod val="75000"/>
              <a:lumOff val="25000"/>
            </a:schemeClr>
          </a:solidFill>
        </p:spPr>
        <p:txBody>
          <a:bodyPr wrap="square" rtlCol="0">
            <a:spAutoFit/>
          </a:bodyPr>
          <a:lstStyle/>
          <a:p>
            <a:pPr algn="ctr"/>
            <a:r>
              <a:rPr lang="en-US" dirty="0">
                <a:solidFill>
                  <a:schemeClr val="bg1"/>
                </a:solidFill>
              </a:rPr>
              <a:t>Extract</a:t>
            </a:r>
          </a:p>
        </p:txBody>
      </p:sp>
      <p:sp>
        <p:nvSpPr>
          <p:cNvPr id="12" name="TextBox 11">
            <a:extLst>
              <a:ext uri="{FF2B5EF4-FFF2-40B4-BE49-F238E27FC236}">
                <a16:creationId xmlns:a16="http://schemas.microsoft.com/office/drawing/2014/main" id="{57019352-08BE-F2D2-EDDA-CC8575E806EB}"/>
              </a:ext>
            </a:extLst>
          </p:cNvPr>
          <p:cNvSpPr txBox="1"/>
          <p:nvPr/>
        </p:nvSpPr>
        <p:spPr>
          <a:xfrm rot="16200000">
            <a:off x="399106" y="2243619"/>
            <a:ext cx="1046249" cy="307777"/>
          </a:xfrm>
          <a:prstGeom prst="rect">
            <a:avLst/>
          </a:prstGeom>
          <a:solidFill>
            <a:schemeClr val="bg2">
              <a:lumMod val="75000"/>
              <a:lumOff val="25000"/>
            </a:schemeClr>
          </a:solidFill>
        </p:spPr>
        <p:txBody>
          <a:bodyPr wrap="square" rtlCol="0">
            <a:spAutoFit/>
          </a:bodyPr>
          <a:lstStyle/>
          <a:p>
            <a:pPr algn="ctr"/>
            <a:r>
              <a:rPr lang="en-US" dirty="0">
                <a:solidFill>
                  <a:schemeClr val="bg1"/>
                </a:solidFill>
              </a:rPr>
              <a:t>Transform</a:t>
            </a:r>
          </a:p>
        </p:txBody>
      </p:sp>
      <p:sp>
        <p:nvSpPr>
          <p:cNvPr id="16" name="TextBox 15">
            <a:extLst>
              <a:ext uri="{FF2B5EF4-FFF2-40B4-BE49-F238E27FC236}">
                <a16:creationId xmlns:a16="http://schemas.microsoft.com/office/drawing/2014/main" id="{ED437FD0-9C11-A30E-2E3F-BFE788934BAD}"/>
              </a:ext>
            </a:extLst>
          </p:cNvPr>
          <p:cNvSpPr txBox="1"/>
          <p:nvPr/>
        </p:nvSpPr>
        <p:spPr>
          <a:xfrm rot="16200000">
            <a:off x="393951" y="3451154"/>
            <a:ext cx="1042731" cy="307777"/>
          </a:xfrm>
          <a:prstGeom prst="rect">
            <a:avLst/>
          </a:prstGeom>
          <a:solidFill>
            <a:schemeClr val="bg2">
              <a:lumMod val="75000"/>
              <a:lumOff val="25000"/>
            </a:schemeClr>
          </a:solidFill>
        </p:spPr>
        <p:txBody>
          <a:bodyPr wrap="square" rtlCol="0">
            <a:spAutoFit/>
          </a:bodyPr>
          <a:lstStyle/>
          <a:p>
            <a:pPr algn="ctr"/>
            <a:r>
              <a:rPr lang="en-US" dirty="0">
                <a:solidFill>
                  <a:schemeClr val="bg1"/>
                </a:solidFill>
              </a:rPr>
              <a:t>Load</a:t>
            </a:r>
          </a:p>
        </p:txBody>
      </p:sp>
      <p:pic>
        <p:nvPicPr>
          <p:cNvPr id="25" name="Picture 24" descr="File:PostgreSQL logo.3colors.540x557.png">
            <a:extLst>
              <a:ext uri="{FF2B5EF4-FFF2-40B4-BE49-F238E27FC236}">
                <a16:creationId xmlns:a16="http://schemas.microsoft.com/office/drawing/2014/main" id="{C1BAF5E8-F08F-4DC6-F6D0-652EC26F9223}"/>
              </a:ext>
            </a:extLst>
          </p:cNvPr>
          <p:cNvPicPr>
            <a:picLocks noChangeAspect="1"/>
          </p:cNvPicPr>
          <p:nvPr/>
        </p:nvPicPr>
        <p:blipFill>
          <a:blip r:embed="rId6"/>
          <a:stretch>
            <a:fillRect/>
          </a:stretch>
        </p:blipFill>
        <p:spPr>
          <a:xfrm>
            <a:off x="5956694" y="3155189"/>
            <a:ext cx="231040" cy="238314"/>
          </a:xfrm>
          <a:prstGeom prst="rect">
            <a:avLst/>
          </a:prstGeom>
        </p:spPr>
      </p:pic>
      <p:cxnSp>
        <p:nvCxnSpPr>
          <p:cNvPr id="30" name="Connector: Elbow 29">
            <a:extLst>
              <a:ext uri="{FF2B5EF4-FFF2-40B4-BE49-F238E27FC236}">
                <a16:creationId xmlns:a16="http://schemas.microsoft.com/office/drawing/2014/main" id="{5A1544F6-58E8-7006-27B2-97E819A5EED7}"/>
              </a:ext>
            </a:extLst>
          </p:cNvPr>
          <p:cNvCxnSpPr>
            <a:cxnSpLocks/>
            <a:stCxn id="24" idx="2"/>
            <a:endCxn id="646" idx="1"/>
          </p:cNvCxnSpPr>
          <p:nvPr/>
        </p:nvCxnSpPr>
        <p:spPr>
          <a:xfrm rot="16200000" flipH="1">
            <a:off x="1863153" y="2256824"/>
            <a:ext cx="983860" cy="1778266"/>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pic>
        <p:nvPicPr>
          <p:cNvPr id="58" name="Picture 57">
            <a:extLst>
              <a:ext uri="{FF2B5EF4-FFF2-40B4-BE49-F238E27FC236}">
                <a16:creationId xmlns:a16="http://schemas.microsoft.com/office/drawing/2014/main" id="{CC821966-7098-1CCC-5471-E9F4E64779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69202" y="1010049"/>
            <a:ext cx="357449" cy="357449"/>
          </a:xfrm>
          <a:prstGeom prst="rect">
            <a:avLst/>
          </a:prstGeom>
          <a:noFill/>
          <a:ln>
            <a:noFill/>
          </a:ln>
        </p:spPr>
      </p:pic>
      <p:sp>
        <p:nvSpPr>
          <p:cNvPr id="584" name="Rectangle: Rounded Corners 583">
            <a:extLst>
              <a:ext uri="{FF2B5EF4-FFF2-40B4-BE49-F238E27FC236}">
                <a16:creationId xmlns:a16="http://schemas.microsoft.com/office/drawing/2014/main" id="{BE78CD90-E400-E30D-5DA2-1D6E568B3A6B}"/>
              </a:ext>
            </a:extLst>
          </p:cNvPr>
          <p:cNvSpPr/>
          <p:nvPr/>
        </p:nvSpPr>
        <p:spPr>
          <a:xfrm>
            <a:off x="1893581" y="809985"/>
            <a:ext cx="1074401" cy="75394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Search pages</a:t>
            </a:r>
          </a:p>
        </p:txBody>
      </p:sp>
      <p:sp>
        <p:nvSpPr>
          <p:cNvPr id="586" name="Rectangle: Rounded Corners 585">
            <a:extLst>
              <a:ext uri="{FF2B5EF4-FFF2-40B4-BE49-F238E27FC236}">
                <a16:creationId xmlns:a16="http://schemas.microsoft.com/office/drawing/2014/main" id="{B0759ABA-32FB-787A-3BB7-5D5F72605966}"/>
              </a:ext>
            </a:extLst>
          </p:cNvPr>
          <p:cNvSpPr/>
          <p:nvPr/>
        </p:nvSpPr>
        <p:spPr>
          <a:xfrm>
            <a:off x="3234912" y="801852"/>
            <a:ext cx="1074401" cy="770206"/>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Deduplicate </a:t>
            </a:r>
          </a:p>
        </p:txBody>
      </p:sp>
      <p:cxnSp>
        <p:nvCxnSpPr>
          <p:cNvPr id="589" name="Straight Arrow Connector 588">
            <a:extLst>
              <a:ext uri="{FF2B5EF4-FFF2-40B4-BE49-F238E27FC236}">
                <a16:creationId xmlns:a16="http://schemas.microsoft.com/office/drawing/2014/main" id="{3E5399C2-9116-5725-12F8-314ECC68B921}"/>
              </a:ext>
            </a:extLst>
          </p:cNvPr>
          <p:cNvCxnSpPr>
            <a:cxnSpLocks/>
            <a:stCxn id="584" idx="3"/>
            <a:endCxn id="586" idx="1"/>
          </p:cNvCxnSpPr>
          <p:nvPr/>
        </p:nvCxnSpPr>
        <p:spPr>
          <a:xfrm>
            <a:off x="2967982" y="1186955"/>
            <a:ext cx="266930"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596" name="Rectangle: Rounded Corners 595">
            <a:extLst>
              <a:ext uri="{FF2B5EF4-FFF2-40B4-BE49-F238E27FC236}">
                <a16:creationId xmlns:a16="http://schemas.microsoft.com/office/drawing/2014/main" id="{32688380-D69F-5BCA-A6B4-A1EC9374DEB9}"/>
              </a:ext>
            </a:extLst>
          </p:cNvPr>
          <p:cNvSpPr/>
          <p:nvPr/>
        </p:nvSpPr>
        <p:spPr>
          <a:xfrm>
            <a:off x="4570496" y="801852"/>
            <a:ext cx="1074401" cy="770206"/>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Retrieve details </a:t>
            </a:r>
          </a:p>
        </p:txBody>
      </p:sp>
      <p:cxnSp>
        <p:nvCxnSpPr>
          <p:cNvPr id="597" name="Straight Arrow Connector 596">
            <a:extLst>
              <a:ext uri="{FF2B5EF4-FFF2-40B4-BE49-F238E27FC236}">
                <a16:creationId xmlns:a16="http://schemas.microsoft.com/office/drawing/2014/main" id="{DD76276A-2DDC-4284-3A04-5C5DA8C40FDF}"/>
              </a:ext>
            </a:extLst>
          </p:cNvPr>
          <p:cNvCxnSpPr>
            <a:cxnSpLocks/>
            <a:stCxn id="586" idx="3"/>
            <a:endCxn id="596" idx="1"/>
          </p:cNvCxnSpPr>
          <p:nvPr/>
        </p:nvCxnSpPr>
        <p:spPr>
          <a:xfrm>
            <a:off x="4309313" y="1186955"/>
            <a:ext cx="261183"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02" name="Straight Arrow Connector 601">
            <a:extLst>
              <a:ext uri="{FF2B5EF4-FFF2-40B4-BE49-F238E27FC236}">
                <a16:creationId xmlns:a16="http://schemas.microsoft.com/office/drawing/2014/main" id="{D802E682-B53F-8E4E-E917-337C3359B7F8}"/>
              </a:ext>
            </a:extLst>
          </p:cNvPr>
          <p:cNvCxnSpPr>
            <a:cxnSpLocks/>
            <a:stCxn id="596" idx="3"/>
            <a:endCxn id="46" idx="1"/>
          </p:cNvCxnSpPr>
          <p:nvPr/>
        </p:nvCxnSpPr>
        <p:spPr>
          <a:xfrm>
            <a:off x="5644897" y="1186955"/>
            <a:ext cx="261183" cy="3323"/>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13" name="Rectangle: Rounded Corners 612">
            <a:extLst>
              <a:ext uri="{FF2B5EF4-FFF2-40B4-BE49-F238E27FC236}">
                <a16:creationId xmlns:a16="http://schemas.microsoft.com/office/drawing/2014/main" id="{D32BFF97-8A79-87EE-716F-28D14EC69828}"/>
              </a:ext>
            </a:extLst>
          </p:cNvPr>
          <p:cNvSpPr/>
          <p:nvPr/>
        </p:nvSpPr>
        <p:spPr>
          <a:xfrm>
            <a:off x="1895157" y="2054902"/>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Geocode missing coordinates </a:t>
            </a:r>
          </a:p>
        </p:txBody>
      </p:sp>
      <p:sp>
        <p:nvSpPr>
          <p:cNvPr id="615" name="Rectangle: Rounded Corners 614">
            <a:extLst>
              <a:ext uri="{FF2B5EF4-FFF2-40B4-BE49-F238E27FC236}">
                <a16:creationId xmlns:a16="http://schemas.microsoft.com/office/drawing/2014/main" id="{7DFE8153-B517-60EF-9FC9-DE43EFCB6005}"/>
              </a:ext>
            </a:extLst>
          </p:cNvPr>
          <p:cNvSpPr/>
          <p:nvPr/>
        </p:nvSpPr>
        <p:spPr>
          <a:xfrm>
            <a:off x="4570495" y="2054902"/>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Convert to internal schema</a:t>
            </a:r>
          </a:p>
        </p:txBody>
      </p:sp>
      <p:cxnSp>
        <p:nvCxnSpPr>
          <p:cNvPr id="623" name="Straight Arrow Connector 622">
            <a:extLst>
              <a:ext uri="{FF2B5EF4-FFF2-40B4-BE49-F238E27FC236}">
                <a16:creationId xmlns:a16="http://schemas.microsoft.com/office/drawing/2014/main" id="{5D395E18-4581-9793-4CDF-62B6621BE0CE}"/>
              </a:ext>
            </a:extLst>
          </p:cNvPr>
          <p:cNvCxnSpPr>
            <a:cxnSpLocks/>
            <a:stCxn id="615" idx="1"/>
            <a:endCxn id="33" idx="3"/>
          </p:cNvCxnSpPr>
          <p:nvPr/>
        </p:nvCxnSpPr>
        <p:spPr>
          <a:xfrm flipH="1">
            <a:off x="4307226" y="2425752"/>
            <a:ext cx="263269" cy="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27" name="Straight Arrow Connector 626">
            <a:extLst>
              <a:ext uri="{FF2B5EF4-FFF2-40B4-BE49-F238E27FC236}">
                <a16:creationId xmlns:a16="http://schemas.microsoft.com/office/drawing/2014/main" id="{6C55DF61-3240-4D37-F1C1-C496222FA367}"/>
              </a:ext>
            </a:extLst>
          </p:cNvPr>
          <p:cNvCxnSpPr>
            <a:cxnSpLocks/>
            <a:stCxn id="613" idx="1"/>
            <a:endCxn id="24" idx="3"/>
          </p:cNvCxnSpPr>
          <p:nvPr/>
        </p:nvCxnSpPr>
        <p:spPr>
          <a:xfrm flipH="1">
            <a:off x="1662698" y="2425752"/>
            <a:ext cx="232459" cy="1905"/>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46" name="Rectangle: Rounded Corners 645">
            <a:extLst>
              <a:ext uri="{FF2B5EF4-FFF2-40B4-BE49-F238E27FC236}">
                <a16:creationId xmlns:a16="http://schemas.microsoft.com/office/drawing/2014/main" id="{FAC9641B-898E-685A-51E9-A1BF9DD6284F}"/>
              </a:ext>
            </a:extLst>
          </p:cNvPr>
          <p:cNvSpPr/>
          <p:nvPr/>
        </p:nvSpPr>
        <p:spPr>
          <a:xfrm>
            <a:off x="3244216" y="3267037"/>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or update DB  records</a:t>
            </a:r>
          </a:p>
        </p:txBody>
      </p:sp>
      <p:sp>
        <p:nvSpPr>
          <p:cNvPr id="681" name="Rectangle 680">
            <a:extLst>
              <a:ext uri="{FF2B5EF4-FFF2-40B4-BE49-F238E27FC236}">
                <a16:creationId xmlns:a16="http://schemas.microsoft.com/office/drawing/2014/main" id="{6F6B7538-04AE-7A7E-4B93-029BE0A67469}"/>
              </a:ext>
            </a:extLst>
          </p:cNvPr>
          <p:cNvSpPr/>
          <p:nvPr/>
        </p:nvSpPr>
        <p:spPr>
          <a:xfrm>
            <a:off x="6503185" y="1876342"/>
            <a:ext cx="1818275" cy="103790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95000"/>
                  </a:schemeClr>
                </a:solidFill>
                <a:latin typeface="Consolas" panose="020B0609020204030204" pitchFamily="49" charset="0"/>
              </a:rPr>
              <a:t>data/processed/</a:t>
            </a:r>
            <a:r>
              <a:rPr lang="en-US" sz="800" dirty="0" err="1">
                <a:solidFill>
                  <a:schemeClr val="bg1">
                    <a:lumMod val="95000"/>
                  </a:schemeClr>
                </a:solidFill>
                <a:latin typeface="Consolas" panose="020B0609020204030204" pitchFamily="49" charset="0"/>
              </a:rPr>
              <a:t>arbeitsagentur</a:t>
            </a:r>
            <a:endParaRPr lang="en-US" sz="800" dirty="0">
              <a:solidFill>
                <a:schemeClr val="bg1">
                  <a:lumMod val="95000"/>
                </a:schemeClr>
              </a:solidFill>
              <a:latin typeface="Consolas" panose="020B0609020204030204" pitchFamily="49" charset="0"/>
            </a:endParaRPr>
          </a:p>
          <a:p>
            <a:r>
              <a:rPr lang="en-US" sz="800" dirty="0">
                <a:solidFill>
                  <a:schemeClr val="bg1">
                    <a:lumMod val="95000"/>
                  </a:schemeClr>
                </a:solidFill>
                <a:latin typeface="Consolas" panose="020B0609020204030204" pitchFamily="49" charset="0"/>
              </a:rPr>
              <a:t>└───2026-08-03T11-14-18Z</a:t>
            </a:r>
          </a:p>
          <a:p>
            <a:r>
              <a:rPr lang="en-US" sz="800" dirty="0">
                <a:solidFill>
                  <a:schemeClr val="bg1">
                    <a:lumMod val="95000"/>
                  </a:schemeClr>
                </a:solidFill>
                <a:latin typeface="Consolas" panose="020B0609020204030204" pitchFamily="49" charset="0"/>
              </a:rPr>
              <a:t>    │   </a:t>
            </a:r>
            <a:r>
              <a:rPr lang="en-US" sz="800" dirty="0">
                <a:solidFill>
                  <a:schemeClr val="bg1">
                    <a:lumMod val="95000"/>
                  </a:schemeClr>
                </a:solidFill>
              </a:rPr>
              <a:t>clean-</a:t>
            </a:r>
            <a:r>
              <a:rPr lang="en-US" sz="800" dirty="0" err="1">
                <a:solidFill>
                  <a:schemeClr val="bg1">
                    <a:lumMod val="95000"/>
                  </a:schemeClr>
                </a:solidFill>
              </a:rPr>
              <a:t>jobs.json</a:t>
            </a:r>
            <a:endParaRPr lang="en-US" sz="800" dirty="0">
              <a:solidFill>
                <a:schemeClr val="bg1">
                  <a:lumMod val="95000"/>
                </a:schemeClr>
              </a:solidFill>
              <a:latin typeface="Consolas" panose="020B0609020204030204" pitchFamily="49" charset="0"/>
            </a:endParaRPr>
          </a:p>
        </p:txBody>
      </p:sp>
      <p:sp>
        <p:nvSpPr>
          <p:cNvPr id="683" name="Rectangle 682">
            <a:extLst>
              <a:ext uri="{FF2B5EF4-FFF2-40B4-BE49-F238E27FC236}">
                <a16:creationId xmlns:a16="http://schemas.microsoft.com/office/drawing/2014/main" id="{E57FDD88-1AA5-BE87-F562-464E2B16FA5D}"/>
              </a:ext>
            </a:extLst>
          </p:cNvPr>
          <p:cNvSpPr/>
          <p:nvPr/>
        </p:nvSpPr>
        <p:spPr>
          <a:xfrm>
            <a:off x="6503185" y="659574"/>
            <a:ext cx="1818275" cy="103790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95000"/>
                  </a:schemeClr>
                </a:solidFill>
                <a:latin typeface="Consolas" panose="020B0609020204030204" pitchFamily="49" charset="0"/>
              </a:rPr>
              <a:t>data/raw/</a:t>
            </a:r>
            <a:r>
              <a:rPr lang="en-US" sz="800" dirty="0" err="1">
                <a:solidFill>
                  <a:schemeClr val="bg1">
                    <a:lumMod val="95000"/>
                  </a:schemeClr>
                </a:solidFill>
                <a:latin typeface="Consolas" panose="020B0609020204030204" pitchFamily="49" charset="0"/>
              </a:rPr>
              <a:t>arbeitsagentur</a:t>
            </a:r>
            <a:endParaRPr lang="en-US" sz="800" dirty="0">
              <a:solidFill>
                <a:schemeClr val="bg1">
                  <a:lumMod val="95000"/>
                </a:schemeClr>
              </a:solidFill>
              <a:latin typeface="Consolas" panose="020B0609020204030204" pitchFamily="49" charset="0"/>
            </a:endParaRPr>
          </a:p>
          <a:p>
            <a:r>
              <a:rPr lang="en-US" sz="800" dirty="0">
                <a:solidFill>
                  <a:schemeClr val="bg1">
                    <a:lumMod val="95000"/>
                  </a:schemeClr>
                </a:solidFill>
                <a:latin typeface="Consolas" panose="020B0609020204030204" pitchFamily="49" charset="0"/>
              </a:rPr>
              <a:t>└───2026-08-03T11-14-18Z</a:t>
            </a:r>
          </a:p>
          <a:p>
            <a:r>
              <a:rPr lang="en-US" sz="800" dirty="0">
                <a:solidFill>
                  <a:schemeClr val="bg1">
                    <a:lumMod val="95000"/>
                  </a:schemeClr>
                </a:solidFill>
                <a:latin typeface="Consolas" panose="020B0609020204030204" pitchFamily="49" charset="0"/>
              </a:rPr>
              <a:t>    │   job-</a:t>
            </a:r>
            <a:r>
              <a:rPr lang="en-US" sz="800" dirty="0" err="1">
                <a:solidFill>
                  <a:schemeClr val="bg1">
                    <a:lumMod val="95000"/>
                  </a:schemeClr>
                </a:solidFill>
                <a:latin typeface="Consolas" panose="020B0609020204030204" pitchFamily="49" charset="0"/>
              </a:rPr>
              <a:t>details.json</a:t>
            </a:r>
            <a:endParaRPr lang="en-US" sz="800" dirty="0">
              <a:solidFill>
                <a:schemeClr val="bg1">
                  <a:lumMod val="95000"/>
                </a:schemeClr>
              </a:solidFill>
              <a:latin typeface="Consolas" panose="020B0609020204030204" pitchFamily="49" charset="0"/>
            </a:endParaRPr>
          </a:p>
          <a:p>
            <a:r>
              <a:rPr lang="en-US" sz="800" dirty="0">
                <a:solidFill>
                  <a:schemeClr val="bg1">
                    <a:lumMod val="95000"/>
                  </a:schemeClr>
                </a:solidFill>
                <a:latin typeface="Consolas" panose="020B0609020204030204" pitchFamily="49" charset="0"/>
              </a:rPr>
              <a:t>    │   job-details-</a:t>
            </a:r>
            <a:r>
              <a:rPr lang="en-US" sz="800" dirty="0" err="1">
                <a:solidFill>
                  <a:schemeClr val="bg1">
                    <a:lumMod val="95000"/>
                  </a:schemeClr>
                </a:solidFill>
                <a:latin typeface="Consolas" panose="020B0609020204030204" pitchFamily="49" charset="0"/>
              </a:rPr>
              <a:t>f.json</a:t>
            </a:r>
            <a:endParaRPr lang="en-US" sz="800" dirty="0">
              <a:solidFill>
                <a:schemeClr val="bg1">
                  <a:lumMod val="95000"/>
                </a:schemeClr>
              </a:solidFill>
              <a:latin typeface="Consolas" panose="020B0609020204030204" pitchFamily="49" charset="0"/>
            </a:endParaRPr>
          </a:p>
          <a:p>
            <a:r>
              <a:rPr lang="en-US" sz="800" dirty="0">
                <a:solidFill>
                  <a:schemeClr val="bg1">
                    <a:lumMod val="95000"/>
                  </a:schemeClr>
                </a:solidFill>
                <a:latin typeface="Consolas" panose="020B0609020204030204" pitchFamily="49" charset="0"/>
              </a:rPr>
              <a:t>    └───search-results</a:t>
            </a:r>
          </a:p>
          <a:p>
            <a:r>
              <a:rPr lang="en-US" sz="800" dirty="0">
                <a:solidFill>
                  <a:schemeClr val="bg1">
                    <a:lumMod val="95000"/>
                  </a:schemeClr>
                </a:solidFill>
                <a:latin typeface="Consolas" panose="020B0609020204030204" pitchFamily="49" charset="0"/>
              </a:rPr>
              <a:t>        └───data-engineer</a:t>
            </a:r>
          </a:p>
          <a:p>
            <a:r>
              <a:rPr lang="en-US" sz="800" dirty="0">
                <a:solidFill>
                  <a:schemeClr val="bg1">
                    <a:lumMod val="95000"/>
                  </a:schemeClr>
                </a:solidFill>
                <a:latin typeface="Consolas" panose="020B0609020204030204" pitchFamily="49" charset="0"/>
              </a:rPr>
              <a:t>                page-001.json</a:t>
            </a:r>
          </a:p>
          <a:p>
            <a:r>
              <a:rPr lang="en-US" sz="800" dirty="0">
                <a:solidFill>
                  <a:schemeClr val="bg1">
                    <a:lumMod val="95000"/>
                  </a:schemeClr>
                </a:solidFill>
                <a:latin typeface="Consolas" panose="020B0609020204030204" pitchFamily="49" charset="0"/>
              </a:rPr>
              <a:t>                page-002.json</a:t>
            </a:r>
            <a:endParaRPr lang="en-US" sz="800" dirty="0"/>
          </a:p>
        </p:txBody>
      </p:sp>
      <p:cxnSp>
        <p:nvCxnSpPr>
          <p:cNvPr id="693" name="Straight Arrow Connector 692">
            <a:extLst>
              <a:ext uri="{FF2B5EF4-FFF2-40B4-BE49-F238E27FC236}">
                <a16:creationId xmlns:a16="http://schemas.microsoft.com/office/drawing/2014/main" id="{0EF52BA8-C289-7336-A68A-33F03BDB8964}"/>
              </a:ext>
            </a:extLst>
          </p:cNvPr>
          <p:cNvCxnSpPr>
            <a:cxnSpLocks/>
            <a:stCxn id="646" idx="3"/>
            <a:endCxn id="44" idx="1"/>
          </p:cNvCxnSpPr>
          <p:nvPr/>
        </p:nvCxnSpPr>
        <p:spPr>
          <a:xfrm>
            <a:off x="4318617" y="3637887"/>
            <a:ext cx="1516932"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3" name="Picture 2">
            <a:extLst>
              <a:ext uri="{FF2B5EF4-FFF2-40B4-BE49-F238E27FC236}">
                <a16:creationId xmlns:a16="http://schemas.microsoft.com/office/drawing/2014/main" id="{7975EE54-85E5-3D7E-6B24-B886D2DB4AA1}"/>
              </a:ext>
            </a:extLst>
          </p:cNvPr>
          <p:cNvPicPr>
            <a:picLocks noChangeAspect="1"/>
          </p:cNvPicPr>
          <p:nvPr/>
        </p:nvPicPr>
        <p:blipFill>
          <a:blip r:embed="rId8"/>
          <a:stretch>
            <a:fillRect/>
          </a:stretch>
        </p:blipFill>
        <p:spPr>
          <a:xfrm>
            <a:off x="6008646" y="691786"/>
            <a:ext cx="207645" cy="229125"/>
          </a:xfrm>
          <a:prstGeom prst="rect">
            <a:avLst/>
          </a:prstGeom>
        </p:spPr>
      </p:pic>
      <p:pic>
        <p:nvPicPr>
          <p:cNvPr id="6" name="Picture 5">
            <a:extLst>
              <a:ext uri="{FF2B5EF4-FFF2-40B4-BE49-F238E27FC236}">
                <a16:creationId xmlns:a16="http://schemas.microsoft.com/office/drawing/2014/main" id="{4295C1F3-4ABB-3509-9B36-3EC51D91049C}"/>
              </a:ext>
            </a:extLst>
          </p:cNvPr>
          <p:cNvPicPr>
            <a:picLocks noChangeAspect="1"/>
          </p:cNvPicPr>
          <p:nvPr/>
        </p:nvPicPr>
        <p:blipFill>
          <a:blip r:embed="rId8"/>
          <a:stretch>
            <a:fillRect/>
          </a:stretch>
        </p:blipFill>
        <p:spPr>
          <a:xfrm>
            <a:off x="1374476" y="1923609"/>
            <a:ext cx="207645" cy="229125"/>
          </a:xfrm>
          <a:prstGeom prst="rect">
            <a:avLst/>
          </a:prstGeom>
        </p:spPr>
      </p:pic>
      <p:pic>
        <p:nvPicPr>
          <p:cNvPr id="31" name="Picture 30">
            <a:extLst>
              <a:ext uri="{FF2B5EF4-FFF2-40B4-BE49-F238E27FC236}">
                <a16:creationId xmlns:a16="http://schemas.microsoft.com/office/drawing/2014/main" id="{CB7110E9-19F6-1DEF-4900-FCE0B48247F3}"/>
              </a:ext>
            </a:extLst>
          </p:cNvPr>
          <p:cNvPicPr>
            <a:picLocks noChangeAspect="1"/>
          </p:cNvPicPr>
          <p:nvPr/>
        </p:nvPicPr>
        <p:blipFill>
          <a:blip r:embed="rId9"/>
          <a:stretch>
            <a:fillRect/>
          </a:stretch>
        </p:blipFill>
        <p:spPr>
          <a:xfrm>
            <a:off x="3028747" y="4354845"/>
            <a:ext cx="736364" cy="285709"/>
          </a:xfrm>
          <a:prstGeom prst="rect">
            <a:avLst/>
          </a:prstGeom>
        </p:spPr>
      </p:pic>
      <p:sp>
        <p:nvSpPr>
          <p:cNvPr id="32" name="TextBox 31">
            <a:extLst>
              <a:ext uri="{FF2B5EF4-FFF2-40B4-BE49-F238E27FC236}">
                <a16:creationId xmlns:a16="http://schemas.microsoft.com/office/drawing/2014/main" id="{2E764D6E-DA91-7F0D-FC43-0D2528EDDD29}"/>
              </a:ext>
            </a:extLst>
          </p:cNvPr>
          <p:cNvSpPr txBox="1"/>
          <p:nvPr/>
        </p:nvSpPr>
        <p:spPr>
          <a:xfrm>
            <a:off x="3818107" y="4380480"/>
            <a:ext cx="4503354" cy="246221"/>
          </a:xfrm>
          <a:prstGeom prst="rect">
            <a:avLst/>
          </a:prstGeom>
          <a:noFill/>
        </p:spPr>
        <p:txBody>
          <a:bodyPr wrap="square" rtlCol="0">
            <a:spAutoFit/>
          </a:bodyPr>
          <a:lstStyle/>
          <a:p>
            <a:r>
              <a:rPr lang="en-US" sz="1000" b="1" dirty="0">
                <a:solidFill>
                  <a:schemeClr val="tx1">
                    <a:lumMod val="85000"/>
                    <a:lumOff val="15000"/>
                  </a:schemeClr>
                </a:solidFill>
              </a:rPr>
              <a:t>Extract</a:t>
            </a:r>
            <a:r>
              <a:rPr lang="en-US" sz="1000" dirty="0">
                <a:solidFill>
                  <a:schemeClr val="tx1">
                    <a:lumMod val="85000"/>
                    <a:lumOff val="15000"/>
                  </a:schemeClr>
                </a:solidFill>
              </a:rPr>
              <a:t> → </a:t>
            </a:r>
            <a:r>
              <a:rPr lang="en-US" sz="1000" b="1" dirty="0">
                <a:solidFill>
                  <a:schemeClr val="tx1">
                    <a:lumMod val="85000"/>
                    <a:lumOff val="15000"/>
                  </a:schemeClr>
                </a:solidFill>
              </a:rPr>
              <a:t>Transform</a:t>
            </a:r>
            <a:r>
              <a:rPr lang="en-US" sz="1000" dirty="0">
                <a:solidFill>
                  <a:schemeClr val="tx1">
                    <a:lumMod val="85000"/>
                    <a:lumOff val="15000"/>
                  </a:schemeClr>
                </a:solidFill>
              </a:rPr>
              <a:t> → </a:t>
            </a:r>
            <a:r>
              <a:rPr lang="en-US" sz="1000" b="1" dirty="0">
                <a:solidFill>
                  <a:schemeClr val="tx1">
                    <a:lumMod val="85000"/>
                    <a:lumOff val="15000"/>
                  </a:schemeClr>
                </a:solidFill>
              </a:rPr>
              <a:t>Load</a:t>
            </a:r>
            <a:r>
              <a:rPr lang="en-US" sz="1000" dirty="0">
                <a:solidFill>
                  <a:schemeClr val="tx1">
                    <a:lumMod val="85000"/>
                    <a:lumOff val="15000"/>
                  </a:schemeClr>
                </a:solidFill>
              </a:rPr>
              <a:t> → Update Freshness → Sync Elasticsearch</a:t>
            </a:r>
          </a:p>
        </p:txBody>
      </p:sp>
      <p:sp>
        <p:nvSpPr>
          <p:cNvPr id="34" name="TextBox 33">
            <a:extLst>
              <a:ext uri="{FF2B5EF4-FFF2-40B4-BE49-F238E27FC236}">
                <a16:creationId xmlns:a16="http://schemas.microsoft.com/office/drawing/2014/main" id="{33374BB4-C656-AE7F-C9B2-DA2956EE5DE0}"/>
              </a:ext>
            </a:extLst>
          </p:cNvPr>
          <p:cNvSpPr txBox="1"/>
          <p:nvPr/>
        </p:nvSpPr>
        <p:spPr>
          <a:xfrm>
            <a:off x="768340" y="4367614"/>
            <a:ext cx="2222555" cy="276999"/>
          </a:xfrm>
          <a:prstGeom prst="rect">
            <a:avLst/>
          </a:prstGeom>
          <a:noFill/>
        </p:spPr>
        <p:txBody>
          <a:bodyPr wrap="square">
            <a:spAutoFit/>
          </a:bodyPr>
          <a:lstStyle/>
          <a:p>
            <a:r>
              <a:rPr lang="en-US" sz="1200" dirty="0">
                <a:solidFill>
                  <a:schemeClr val="tx1">
                    <a:lumMod val="85000"/>
                    <a:lumOff val="15000"/>
                  </a:schemeClr>
                </a:solidFill>
              </a:rPr>
              <a:t>Automated daily at 06:00 with </a:t>
            </a:r>
          </a:p>
        </p:txBody>
      </p:sp>
      <p:sp>
        <p:nvSpPr>
          <p:cNvPr id="33" name="Rectangle: Rounded Corners 32">
            <a:extLst>
              <a:ext uri="{FF2B5EF4-FFF2-40B4-BE49-F238E27FC236}">
                <a16:creationId xmlns:a16="http://schemas.microsoft.com/office/drawing/2014/main" id="{F6F70656-97FF-9183-F453-3747DA27C3D1}"/>
              </a:ext>
            </a:extLst>
          </p:cNvPr>
          <p:cNvSpPr/>
          <p:nvPr/>
        </p:nvSpPr>
        <p:spPr>
          <a:xfrm>
            <a:off x="3232825" y="2054903"/>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Filter for Germany</a:t>
            </a:r>
          </a:p>
        </p:txBody>
      </p:sp>
      <p:cxnSp>
        <p:nvCxnSpPr>
          <p:cNvPr id="13" name="Straight Arrow Connector 12">
            <a:extLst>
              <a:ext uri="{FF2B5EF4-FFF2-40B4-BE49-F238E27FC236}">
                <a16:creationId xmlns:a16="http://schemas.microsoft.com/office/drawing/2014/main" id="{ACC0E25F-D1E6-242E-C585-DB1CA25BD7FF}"/>
              </a:ext>
            </a:extLst>
          </p:cNvPr>
          <p:cNvCxnSpPr>
            <a:cxnSpLocks/>
            <a:stCxn id="33" idx="1"/>
            <a:endCxn id="613" idx="3"/>
          </p:cNvCxnSpPr>
          <p:nvPr/>
        </p:nvCxnSpPr>
        <p:spPr>
          <a:xfrm flipH="1" flipV="1">
            <a:off x="2969558" y="2425752"/>
            <a:ext cx="263267" cy="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956861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86BCAE19-626F-0A4C-20D7-099167624F53}"/>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B4DFAF18-B280-861B-8053-3C0E71346A42}"/>
              </a:ext>
            </a:extLst>
          </p:cNvPr>
          <p:cNvSpPr/>
          <p:nvPr/>
        </p:nvSpPr>
        <p:spPr>
          <a:xfrm>
            <a:off x="1764323" y="629161"/>
            <a:ext cx="6280717" cy="4047198"/>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3" name="Google Shape;633;p91">
            <a:extLst>
              <a:ext uri="{FF2B5EF4-FFF2-40B4-BE49-F238E27FC236}">
                <a16:creationId xmlns:a16="http://schemas.microsoft.com/office/drawing/2014/main" id="{D35DCA47-32C4-3F81-5E1F-3545BA4DAB98}"/>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Data Enrichment &amp; Standardization</a:t>
            </a:r>
            <a:endParaRPr lang="en-US" sz="1500" dirty="0">
              <a:solidFill>
                <a:schemeClr val="dk2"/>
              </a:solidFill>
            </a:endParaRPr>
          </a:p>
        </p:txBody>
      </p:sp>
      <p:pic>
        <p:nvPicPr>
          <p:cNvPr id="640" name="Google Shape;640;p91" title="Fichier 20.png">
            <a:extLst>
              <a:ext uri="{FF2B5EF4-FFF2-40B4-BE49-F238E27FC236}">
                <a16:creationId xmlns:a16="http://schemas.microsoft.com/office/drawing/2014/main" id="{E52905AB-80C8-4057-C442-3DC5527B7A42}"/>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332F1C11-21A7-EA60-2DB3-5D3A8339AC79}"/>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2" name="Rectangle 1">
            <a:extLst>
              <a:ext uri="{FF2B5EF4-FFF2-40B4-BE49-F238E27FC236}">
                <a16:creationId xmlns:a16="http://schemas.microsoft.com/office/drawing/2014/main" id="{47526F36-899D-A9B6-26DC-620C1FE30E55}"/>
              </a:ext>
            </a:extLst>
          </p:cNvPr>
          <p:cNvSpPr/>
          <p:nvPr/>
        </p:nvSpPr>
        <p:spPr>
          <a:xfrm>
            <a:off x="4572000" y="1032252"/>
            <a:ext cx="2154994" cy="1158664"/>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a:solidFill>
                  <a:schemeClr val="tx1">
                    <a:lumMod val="85000"/>
                    <a:lumOff val="15000"/>
                  </a:schemeClr>
                </a:solidFill>
              </a:rPr>
              <a:t>Data Engineer</a:t>
            </a:r>
          </a:p>
          <a:p>
            <a:pPr marL="171450" indent="-171450">
              <a:buFont typeface="Arial" panose="020B0604020202020204" pitchFamily="34" charset="0"/>
              <a:buChar char="•"/>
            </a:pPr>
            <a:r>
              <a:rPr lang="en-US" sz="1000" dirty="0">
                <a:solidFill>
                  <a:schemeClr val="tx1">
                    <a:lumMod val="85000"/>
                    <a:lumOff val="15000"/>
                  </a:schemeClr>
                </a:solidFill>
              </a:rPr>
              <a:t>Senior Data Platform Engineer</a:t>
            </a:r>
          </a:p>
          <a:p>
            <a:pPr marL="171450" indent="-171450">
              <a:buFont typeface="Arial" panose="020B0604020202020204" pitchFamily="34" charset="0"/>
              <a:buChar char="•"/>
            </a:pPr>
            <a:r>
              <a:rPr lang="en-US" sz="1000" dirty="0">
                <a:solidFill>
                  <a:schemeClr val="tx1">
                    <a:lumMod val="85000"/>
                    <a:lumOff val="15000"/>
                  </a:schemeClr>
                </a:solidFill>
              </a:rPr>
              <a:t>AI Backend Engineer</a:t>
            </a:r>
          </a:p>
          <a:p>
            <a:pPr marL="171450" indent="-171450">
              <a:buFont typeface="Arial" panose="020B0604020202020204" pitchFamily="34" charset="0"/>
              <a:buChar char="•"/>
            </a:pPr>
            <a:r>
              <a:rPr lang="en-US" sz="1000" dirty="0">
                <a:solidFill>
                  <a:schemeClr val="tx1">
                    <a:lumMod val="85000"/>
                    <a:lumOff val="15000"/>
                  </a:schemeClr>
                </a:solidFill>
              </a:rPr>
              <a:t>Machine Learning Engineer</a:t>
            </a:r>
          </a:p>
          <a:p>
            <a:pPr marL="171450" indent="-171450">
              <a:buFont typeface="Arial" panose="020B0604020202020204" pitchFamily="34" charset="0"/>
              <a:buChar char="•"/>
            </a:pPr>
            <a:r>
              <a:rPr lang="en-US" sz="1000" dirty="0">
                <a:solidFill>
                  <a:schemeClr val="tx1">
                    <a:lumMod val="85000"/>
                    <a:lumOff val="15000"/>
                  </a:schemeClr>
                </a:solidFill>
              </a:rPr>
              <a:t>Cloud Data Specialist</a:t>
            </a:r>
          </a:p>
          <a:p>
            <a:pPr marL="171450" indent="-171450">
              <a:buFont typeface="Arial" panose="020B0604020202020204" pitchFamily="34" charset="0"/>
              <a:buChar char="•"/>
            </a:pPr>
            <a:r>
              <a:rPr lang="en-US" sz="1000" dirty="0">
                <a:solidFill>
                  <a:schemeClr val="tx1">
                    <a:lumMod val="85000"/>
                    <a:lumOff val="15000"/>
                  </a:schemeClr>
                </a:solidFill>
              </a:rPr>
              <a:t>Python Developer</a:t>
            </a:r>
          </a:p>
          <a:p>
            <a:pPr marL="171450" indent="-171450">
              <a:buFont typeface="Arial" panose="020B0604020202020204" pitchFamily="34" charset="0"/>
              <a:buChar char="•"/>
            </a:pPr>
            <a:r>
              <a:rPr lang="en-US" sz="1000" dirty="0">
                <a:solidFill>
                  <a:schemeClr val="tx1">
                    <a:lumMod val="85000"/>
                    <a:lumOff val="15000"/>
                  </a:schemeClr>
                </a:solidFill>
              </a:rPr>
              <a:t>...</a:t>
            </a:r>
          </a:p>
        </p:txBody>
      </p:sp>
      <p:sp>
        <p:nvSpPr>
          <p:cNvPr id="4" name="Rectangle 3">
            <a:extLst>
              <a:ext uri="{FF2B5EF4-FFF2-40B4-BE49-F238E27FC236}">
                <a16:creationId xmlns:a16="http://schemas.microsoft.com/office/drawing/2014/main" id="{552FAFB4-C365-A9C8-0428-BB40BCCDC4BA}"/>
              </a:ext>
            </a:extLst>
          </p:cNvPr>
          <p:cNvSpPr/>
          <p:nvPr/>
        </p:nvSpPr>
        <p:spPr>
          <a:xfrm>
            <a:off x="4571999" y="2730722"/>
            <a:ext cx="2154994" cy="1158664"/>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Font typeface="+mj-lt"/>
              <a:buAutoNum type="arabicPeriod"/>
            </a:pPr>
            <a:r>
              <a:rPr lang="en-US" sz="1000" dirty="0">
                <a:solidFill>
                  <a:schemeClr val="tx1">
                    <a:lumMod val="85000"/>
                    <a:lumOff val="15000"/>
                  </a:schemeClr>
                </a:solidFill>
              </a:rPr>
              <a:t>AI / Machine Learning</a:t>
            </a:r>
          </a:p>
          <a:p>
            <a:pPr marL="228600" indent="-228600">
              <a:buFont typeface="+mj-lt"/>
              <a:buAutoNum type="arabicPeriod"/>
            </a:pPr>
            <a:r>
              <a:rPr lang="en-US" sz="1000" dirty="0">
                <a:solidFill>
                  <a:schemeClr val="tx1">
                    <a:lumMod val="85000"/>
                    <a:lumOff val="15000"/>
                  </a:schemeClr>
                </a:solidFill>
              </a:rPr>
              <a:t>Data Engineering</a:t>
            </a:r>
          </a:p>
          <a:p>
            <a:pPr marL="228600" indent="-228600">
              <a:buFont typeface="+mj-lt"/>
              <a:buAutoNum type="arabicPeriod"/>
            </a:pPr>
            <a:r>
              <a:rPr lang="en-US" sz="1000" dirty="0">
                <a:solidFill>
                  <a:schemeClr val="tx1">
                    <a:lumMod val="85000"/>
                    <a:lumOff val="15000"/>
                  </a:schemeClr>
                </a:solidFill>
              </a:rPr>
              <a:t>Data Analysis</a:t>
            </a:r>
          </a:p>
          <a:p>
            <a:pPr marL="228600" indent="-228600">
              <a:buFont typeface="+mj-lt"/>
              <a:buAutoNum type="arabicPeriod"/>
            </a:pPr>
            <a:r>
              <a:rPr lang="en-US" sz="1000" dirty="0">
                <a:solidFill>
                  <a:schemeClr val="tx1">
                    <a:lumMod val="85000"/>
                    <a:lumOff val="15000"/>
                  </a:schemeClr>
                </a:solidFill>
              </a:rPr>
              <a:t>Cloud / DevOps</a:t>
            </a:r>
          </a:p>
          <a:p>
            <a:pPr marL="228600" indent="-228600">
              <a:buFont typeface="+mj-lt"/>
              <a:buAutoNum type="arabicPeriod"/>
            </a:pPr>
            <a:r>
              <a:rPr lang="en-US" sz="1000" dirty="0">
                <a:solidFill>
                  <a:schemeClr val="tx1">
                    <a:lumMod val="85000"/>
                    <a:lumOff val="15000"/>
                  </a:schemeClr>
                </a:solidFill>
              </a:rPr>
              <a:t>Backend Development</a:t>
            </a:r>
          </a:p>
          <a:p>
            <a:pPr marL="228600" indent="-228600">
              <a:buFont typeface="Courier New" panose="02070309020205020404" pitchFamily="49" charset="0"/>
              <a:buChar char="o"/>
            </a:pPr>
            <a:r>
              <a:rPr lang="en-US" sz="1000" dirty="0">
                <a:solidFill>
                  <a:schemeClr val="tx1">
                    <a:lumMod val="85000"/>
                    <a:lumOff val="15000"/>
                  </a:schemeClr>
                </a:solidFill>
              </a:rPr>
              <a:t>Other</a:t>
            </a:r>
          </a:p>
        </p:txBody>
      </p:sp>
      <p:cxnSp>
        <p:nvCxnSpPr>
          <p:cNvPr id="6" name="Straight Arrow Connector 5">
            <a:extLst>
              <a:ext uri="{FF2B5EF4-FFF2-40B4-BE49-F238E27FC236}">
                <a16:creationId xmlns:a16="http://schemas.microsoft.com/office/drawing/2014/main" id="{3497B89A-E88D-C0A2-B042-997509BB5C2F}"/>
              </a:ext>
            </a:extLst>
          </p:cNvPr>
          <p:cNvCxnSpPr>
            <a:cxnSpLocks/>
            <a:stCxn id="2" idx="2"/>
            <a:endCxn id="4" idx="0"/>
          </p:cNvCxnSpPr>
          <p:nvPr/>
        </p:nvCxnSpPr>
        <p:spPr>
          <a:xfrm flipH="1">
            <a:off x="5649496" y="2190916"/>
            <a:ext cx="1" cy="539806"/>
          </a:xfrm>
          <a:prstGeom prst="straightConnector1">
            <a:avLst/>
          </a:prstGeom>
          <a:ln w="15875">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F97B41B-10D5-8F9B-C134-9C036E59C7DF}"/>
              </a:ext>
            </a:extLst>
          </p:cNvPr>
          <p:cNvSpPr txBox="1"/>
          <p:nvPr/>
        </p:nvSpPr>
        <p:spPr>
          <a:xfrm>
            <a:off x="6726994" y="1299263"/>
            <a:ext cx="1318047" cy="707886"/>
          </a:xfrm>
          <a:prstGeom prst="rect">
            <a:avLst/>
          </a:prstGeom>
          <a:noFill/>
        </p:spPr>
        <p:txBody>
          <a:bodyPr wrap="square" rtlCol="0">
            <a:spAutoFit/>
          </a:bodyPr>
          <a:lstStyle/>
          <a:p>
            <a:r>
              <a:rPr lang="en-US" sz="1000" dirty="0">
                <a:solidFill>
                  <a:schemeClr val="tx1">
                    <a:lumMod val="85000"/>
                    <a:lumOff val="15000"/>
                  </a:schemeClr>
                </a:solidFill>
              </a:rPr>
              <a:t>Raw titles are too </a:t>
            </a:r>
            <a:r>
              <a:rPr lang="en-US" sz="1000" b="1" dirty="0">
                <a:solidFill>
                  <a:schemeClr val="tx1">
                    <a:lumMod val="85000"/>
                    <a:lumOff val="15000"/>
                  </a:schemeClr>
                </a:solidFill>
              </a:rPr>
              <a:t>heterogeneous</a:t>
            </a:r>
            <a:r>
              <a:rPr lang="en-US" sz="1000" dirty="0">
                <a:solidFill>
                  <a:schemeClr val="tx1">
                    <a:lumMod val="85000"/>
                    <a:lumOff val="15000"/>
                  </a:schemeClr>
                </a:solidFill>
              </a:rPr>
              <a:t> for consistent analysis and </a:t>
            </a:r>
            <a:r>
              <a:rPr lang="en-US" sz="1000" dirty="0" err="1">
                <a:solidFill>
                  <a:schemeClr val="tx1">
                    <a:lumMod val="85000"/>
                    <a:lumOff val="15000"/>
                  </a:schemeClr>
                </a:solidFill>
              </a:rPr>
              <a:t>visualisation</a:t>
            </a:r>
            <a:r>
              <a:rPr lang="en-US" sz="1000" dirty="0">
                <a:solidFill>
                  <a:schemeClr val="tx1">
                    <a:lumMod val="85000"/>
                    <a:lumOff val="15000"/>
                  </a:schemeClr>
                </a:solidFill>
              </a:rPr>
              <a:t>.</a:t>
            </a:r>
          </a:p>
        </p:txBody>
      </p:sp>
      <p:sp>
        <p:nvSpPr>
          <p:cNvPr id="13" name="TextBox 12">
            <a:extLst>
              <a:ext uri="{FF2B5EF4-FFF2-40B4-BE49-F238E27FC236}">
                <a16:creationId xmlns:a16="http://schemas.microsoft.com/office/drawing/2014/main" id="{2843BC4A-AFB7-ACD6-0C63-A7D083DF12FD}"/>
              </a:ext>
            </a:extLst>
          </p:cNvPr>
          <p:cNvSpPr txBox="1"/>
          <p:nvPr/>
        </p:nvSpPr>
        <p:spPr>
          <a:xfrm>
            <a:off x="6726994" y="2879167"/>
            <a:ext cx="1318046" cy="861774"/>
          </a:xfrm>
          <a:prstGeom prst="rect">
            <a:avLst/>
          </a:prstGeom>
          <a:noFill/>
        </p:spPr>
        <p:txBody>
          <a:bodyPr wrap="square" rtlCol="0">
            <a:spAutoFit/>
          </a:bodyPr>
          <a:lstStyle/>
          <a:p>
            <a:r>
              <a:rPr lang="en-US" sz="1000" dirty="0">
                <a:solidFill>
                  <a:schemeClr val="tx1">
                    <a:lumMod val="85000"/>
                    <a:lumOff val="15000"/>
                  </a:schemeClr>
                </a:solidFill>
              </a:rPr>
              <a:t>Broad standardized categories derived from </a:t>
            </a:r>
            <a:r>
              <a:rPr lang="en-US" sz="1000" b="1" dirty="0">
                <a:solidFill>
                  <a:schemeClr val="tx1">
                    <a:lumMod val="85000"/>
                    <a:lumOff val="15000"/>
                  </a:schemeClr>
                </a:solidFill>
              </a:rPr>
              <a:t>title</a:t>
            </a:r>
            <a:r>
              <a:rPr lang="en-US" sz="1000" dirty="0">
                <a:solidFill>
                  <a:schemeClr val="tx1">
                    <a:lumMod val="85000"/>
                    <a:lumOff val="15000"/>
                  </a:schemeClr>
                </a:solidFill>
              </a:rPr>
              <a:t> and </a:t>
            </a:r>
            <a:r>
              <a:rPr lang="en-US" sz="1000" b="1" dirty="0">
                <a:solidFill>
                  <a:schemeClr val="tx1">
                    <a:lumMod val="85000"/>
                    <a:lumOff val="15000"/>
                  </a:schemeClr>
                </a:solidFill>
              </a:rPr>
              <a:t>occupation</a:t>
            </a:r>
            <a:r>
              <a:rPr lang="en-US" sz="1000" dirty="0">
                <a:solidFill>
                  <a:schemeClr val="tx1">
                    <a:lumMod val="85000"/>
                    <a:lumOff val="15000"/>
                  </a:schemeClr>
                </a:solidFill>
              </a:rPr>
              <a:t>, with “Other” as fallback.</a:t>
            </a:r>
          </a:p>
        </p:txBody>
      </p:sp>
      <p:sp>
        <p:nvSpPr>
          <p:cNvPr id="16" name="TextBox 15">
            <a:extLst>
              <a:ext uri="{FF2B5EF4-FFF2-40B4-BE49-F238E27FC236}">
                <a16:creationId xmlns:a16="http://schemas.microsoft.com/office/drawing/2014/main" id="{67979BEE-7BA6-2F43-E283-EA8B994D252A}"/>
              </a:ext>
            </a:extLst>
          </p:cNvPr>
          <p:cNvSpPr txBox="1"/>
          <p:nvPr/>
        </p:nvSpPr>
        <p:spPr>
          <a:xfrm>
            <a:off x="5649497" y="2300734"/>
            <a:ext cx="2011886" cy="246221"/>
          </a:xfrm>
          <a:prstGeom prst="rect">
            <a:avLst/>
          </a:prstGeom>
          <a:noFill/>
        </p:spPr>
        <p:txBody>
          <a:bodyPr wrap="square" rtlCol="0">
            <a:spAutoFit/>
          </a:bodyPr>
          <a:lstStyle/>
          <a:p>
            <a:r>
              <a:rPr lang="en-US" sz="1000" dirty="0"/>
              <a:t>rule-based classification</a:t>
            </a:r>
            <a:endParaRPr lang="en-US" sz="1000" dirty="0">
              <a:solidFill>
                <a:schemeClr val="tx1">
                  <a:lumMod val="85000"/>
                  <a:lumOff val="15000"/>
                </a:schemeClr>
              </a:solidFill>
            </a:endParaRPr>
          </a:p>
        </p:txBody>
      </p:sp>
      <p:sp>
        <p:nvSpPr>
          <p:cNvPr id="22" name="TextBox 21">
            <a:extLst>
              <a:ext uri="{FF2B5EF4-FFF2-40B4-BE49-F238E27FC236}">
                <a16:creationId xmlns:a16="http://schemas.microsoft.com/office/drawing/2014/main" id="{F3CA642B-3E30-7625-F750-89191B7DE988}"/>
              </a:ext>
            </a:extLst>
          </p:cNvPr>
          <p:cNvSpPr txBox="1"/>
          <p:nvPr/>
        </p:nvSpPr>
        <p:spPr>
          <a:xfrm>
            <a:off x="4572000" y="4080096"/>
            <a:ext cx="2603088" cy="553998"/>
          </a:xfrm>
          <a:prstGeom prst="rect">
            <a:avLst/>
          </a:prstGeom>
          <a:noFill/>
        </p:spPr>
        <p:txBody>
          <a:bodyPr wrap="square" rtlCol="0">
            <a:spAutoFit/>
          </a:bodyPr>
          <a:lstStyle/>
          <a:p>
            <a:r>
              <a:rPr lang="en-US" sz="1000" b="1" i="1" dirty="0"/>
              <a:t>Priority example:</a:t>
            </a:r>
          </a:p>
          <a:p>
            <a:r>
              <a:rPr lang="en-US" sz="1000" i="1" dirty="0"/>
              <a:t>“Backend Developer for Machine Learning” → “AI / Machine Learning”</a:t>
            </a:r>
          </a:p>
        </p:txBody>
      </p:sp>
      <p:cxnSp>
        <p:nvCxnSpPr>
          <p:cNvPr id="9" name="Straight Connector 8">
            <a:extLst>
              <a:ext uri="{FF2B5EF4-FFF2-40B4-BE49-F238E27FC236}">
                <a16:creationId xmlns:a16="http://schemas.microsoft.com/office/drawing/2014/main" id="{3F5FC365-CAB0-A7B7-9DA4-962D4D9E65E9}"/>
              </a:ext>
            </a:extLst>
          </p:cNvPr>
          <p:cNvCxnSpPr>
            <a:cxnSpLocks/>
          </p:cNvCxnSpPr>
          <p:nvPr/>
        </p:nvCxnSpPr>
        <p:spPr>
          <a:xfrm>
            <a:off x="4403246" y="629161"/>
            <a:ext cx="2" cy="404719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901EDBD-AB10-498A-BEDC-D74398AA7CD6}"/>
              </a:ext>
            </a:extLst>
          </p:cNvPr>
          <p:cNvSpPr txBox="1"/>
          <p:nvPr/>
        </p:nvSpPr>
        <p:spPr>
          <a:xfrm>
            <a:off x="4572000" y="629161"/>
            <a:ext cx="3473040" cy="307777"/>
          </a:xfrm>
          <a:prstGeom prst="rect">
            <a:avLst/>
          </a:prstGeom>
          <a:noFill/>
        </p:spPr>
        <p:txBody>
          <a:bodyPr wrap="square" rtlCol="0">
            <a:spAutoFit/>
          </a:bodyPr>
          <a:lstStyle/>
          <a:p>
            <a:pPr algn="ctr"/>
            <a:r>
              <a:rPr lang="en-US" b="1" dirty="0"/>
              <a:t>Job Classification</a:t>
            </a:r>
            <a:endParaRPr lang="en-US" dirty="0"/>
          </a:p>
        </p:txBody>
      </p:sp>
      <p:sp>
        <p:nvSpPr>
          <p:cNvPr id="25" name="TextBox 24">
            <a:extLst>
              <a:ext uri="{FF2B5EF4-FFF2-40B4-BE49-F238E27FC236}">
                <a16:creationId xmlns:a16="http://schemas.microsoft.com/office/drawing/2014/main" id="{F2E4259F-A987-E2C8-0520-920CB488AA29}"/>
              </a:ext>
            </a:extLst>
          </p:cNvPr>
          <p:cNvSpPr txBox="1"/>
          <p:nvPr/>
        </p:nvSpPr>
        <p:spPr>
          <a:xfrm>
            <a:off x="1983373" y="629161"/>
            <a:ext cx="2419873" cy="307777"/>
          </a:xfrm>
          <a:prstGeom prst="rect">
            <a:avLst/>
          </a:prstGeom>
          <a:noFill/>
        </p:spPr>
        <p:txBody>
          <a:bodyPr wrap="square" rtlCol="0">
            <a:spAutoFit/>
          </a:bodyPr>
          <a:lstStyle/>
          <a:p>
            <a:pPr algn="ctr"/>
            <a:r>
              <a:rPr lang="en-US" b="1" dirty="0"/>
              <a:t>Location Enrichment</a:t>
            </a:r>
            <a:endParaRPr lang="en-US" dirty="0"/>
          </a:p>
        </p:txBody>
      </p:sp>
      <p:sp>
        <p:nvSpPr>
          <p:cNvPr id="26" name="Rectangle 25">
            <a:extLst>
              <a:ext uri="{FF2B5EF4-FFF2-40B4-BE49-F238E27FC236}">
                <a16:creationId xmlns:a16="http://schemas.microsoft.com/office/drawing/2014/main" id="{DB2CE279-A0BE-573B-FD32-5FBD1D927579}"/>
              </a:ext>
            </a:extLst>
          </p:cNvPr>
          <p:cNvSpPr/>
          <p:nvPr/>
        </p:nvSpPr>
        <p:spPr>
          <a:xfrm>
            <a:off x="1866504" y="1032252"/>
            <a:ext cx="2154994" cy="1162152"/>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95000"/>
                    <a:lumOff val="5000"/>
                  </a:schemeClr>
                </a:solidFill>
              </a:rPr>
              <a:t>Missing coordinates</a:t>
            </a:r>
            <a:br>
              <a:rPr lang="en-US" sz="1000" dirty="0">
                <a:solidFill>
                  <a:schemeClr val="tx1">
                    <a:lumMod val="95000"/>
                    <a:lumOff val="5000"/>
                  </a:schemeClr>
                </a:solidFill>
              </a:rPr>
            </a:br>
            <a:r>
              <a:rPr lang="en-US" sz="1000" dirty="0">
                <a:solidFill>
                  <a:schemeClr val="tx1">
                    <a:lumMod val="95000"/>
                    <a:lumOff val="5000"/>
                  </a:schemeClr>
                </a:solidFill>
              </a:rPr>
              <a:t>city + postal code + country</a:t>
            </a:r>
          </a:p>
        </p:txBody>
      </p:sp>
      <p:sp>
        <p:nvSpPr>
          <p:cNvPr id="27" name="Rectangle 26">
            <a:extLst>
              <a:ext uri="{FF2B5EF4-FFF2-40B4-BE49-F238E27FC236}">
                <a16:creationId xmlns:a16="http://schemas.microsoft.com/office/drawing/2014/main" id="{F84C485A-C594-858D-AB11-45B10445857C}"/>
              </a:ext>
            </a:extLst>
          </p:cNvPr>
          <p:cNvSpPr/>
          <p:nvPr/>
        </p:nvSpPr>
        <p:spPr>
          <a:xfrm>
            <a:off x="1866504" y="2730721"/>
            <a:ext cx="2154994" cy="1158665"/>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latitude + longitude</a:t>
            </a:r>
          </a:p>
        </p:txBody>
      </p:sp>
      <p:cxnSp>
        <p:nvCxnSpPr>
          <p:cNvPr id="28" name="Straight Arrow Connector 27">
            <a:extLst>
              <a:ext uri="{FF2B5EF4-FFF2-40B4-BE49-F238E27FC236}">
                <a16:creationId xmlns:a16="http://schemas.microsoft.com/office/drawing/2014/main" id="{1A7FA29C-EFC4-3117-AB58-A69AA5EE17B8}"/>
              </a:ext>
            </a:extLst>
          </p:cNvPr>
          <p:cNvCxnSpPr>
            <a:cxnSpLocks/>
            <a:stCxn id="26" idx="2"/>
            <a:endCxn id="27" idx="0"/>
          </p:cNvCxnSpPr>
          <p:nvPr/>
        </p:nvCxnSpPr>
        <p:spPr>
          <a:xfrm>
            <a:off x="2944001" y="2194404"/>
            <a:ext cx="0" cy="536317"/>
          </a:xfrm>
          <a:prstGeom prst="straightConnector1">
            <a:avLst/>
          </a:prstGeom>
          <a:ln w="15875">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C7DEE07-3314-ECBF-8393-15811E1C904D}"/>
              </a:ext>
            </a:extLst>
          </p:cNvPr>
          <p:cNvSpPr txBox="1"/>
          <p:nvPr/>
        </p:nvSpPr>
        <p:spPr>
          <a:xfrm>
            <a:off x="2944001" y="2317360"/>
            <a:ext cx="1459245" cy="246221"/>
          </a:xfrm>
          <a:prstGeom prst="rect">
            <a:avLst/>
          </a:prstGeom>
          <a:noFill/>
        </p:spPr>
        <p:txBody>
          <a:bodyPr wrap="square" rtlCol="0">
            <a:spAutoFit/>
          </a:bodyPr>
          <a:lstStyle/>
          <a:p>
            <a:r>
              <a:rPr lang="en-US" sz="1000" dirty="0" err="1"/>
              <a:t>Nominatim</a:t>
            </a:r>
            <a:r>
              <a:rPr lang="en-US" sz="1000" dirty="0"/>
              <a:t> via </a:t>
            </a:r>
            <a:r>
              <a:rPr lang="en-US" sz="1000" dirty="0" err="1"/>
              <a:t>geopy</a:t>
            </a:r>
            <a:endParaRPr lang="en-US" sz="1000" dirty="0">
              <a:solidFill>
                <a:schemeClr val="tx1">
                  <a:lumMod val="85000"/>
                  <a:lumOff val="15000"/>
                </a:schemeClr>
              </a:solidFill>
            </a:endParaRPr>
          </a:p>
        </p:txBody>
      </p:sp>
      <p:sp>
        <p:nvSpPr>
          <p:cNvPr id="32" name="TextBox 31">
            <a:extLst>
              <a:ext uri="{FF2B5EF4-FFF2-40B4-BE49-F238E27FC236}">
                <a16:creationId xmlns:a16="http://schemas.microsoft.com/office/drawing/2014/main" id="{4713127A-850D-E203-11AC-CCE132D7CE6C}"/>
              </a:ext>
            </a:extLst>
          </p:cNvPr>
          <p:cNvSpPr txBox="1"/>
          <p:nvPr/>
        </p:nvSpPr>
        <p:spPr>
          <a:xfrm>
            <a:off x="1764323" y="4069791"/>
            <a:ext cx="2705269" cy="553998"/>
          </a:xfrm>
          <a:prstGeom prst="rect">
            <a:avLst/>
          </a:prstGeom>
          <a:noFill/>
        </p:spPr>
        <p:txBody>
          <a:bodyPr wrap="square" rtlCol="0">
            <a:spAutoFit/>
          </a:bodyPr>
          <a:lstStyle/>
          <a:p>
            <a:pPr marL="171450" lvl="0" indent="-171450">
              <a:buFont typeface="Arial" panose="020B0604020202020204" pitchFamily="34" charset="0"/>
              <a:buChar char="•"/>
            </a:pPr>
            <a:r>
              <a:rPr lang="en-US" sz="1000" dirty="0"/>
              <a:t>existing source coordinates are kept </a:t>
            </a:r>
          </a:p>
          <a:p>
            <a:pPr marL="171450" lvl="0" indent="-171450">
              <a:buFont typeface="Arial" panose="020B0604020202020204" pitchFamily="34" charset="0"/>
              <a:buChar char="•"/>
            </a:pPr>
            <a:r>
              <a:rPr lang="en-US" sz="1000" dirty="0"/>
              <a:t>missing coordinates are geocoded </a:t>
            </a:r>
          </a:p>
          <a:p>
            <a:pPr marL="171450" lvl="0" indent="-171450">
              <a:buFont typeface="Arial" panose="020B0604020202020204" pitchFamily="34" charset="0"/>
              <a:buChar char="•"/>
            </a:pPr>
            <a:r>
              <a:rPr lang="en-US" sz="1000" dirty="0"/>
              <a:t>failed geocoding requests are monitored</a:t>
            </a:r>
          </a:p>
        </p:txBody>
      </p:sp>
    </p:spTree>
    <p:extLst>
      <p:ext uri="{BB962C8B-B14F-4D97-AF65-F5344CB8AC3E}">
        <p14:creationId xmlns:p14="http://schemas.microsoft.com/office/powerpoint/2010/main" val="213630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5934A105-1565-8E9E-79D9-C08D8FB302C5}"/>
            </a:ext>
          </a:extLst>
        </p:cNvPr>
        <p:cNvGrpSpPr/>
        <p:nvPr/>
      </p:nvGrpSpPr>
      <p:grpSpPr>
        <a:xfrm>
          <a:off x="0" y="0"/>
          <a:ext cx="0" cy="0"/>
          <a:chOff x="0" y="0"/>
          <a:chExt cx="0" cy="0"/>
        </a:xfrm>
      </p:grpSpPr>
      <p:sp>
        <p:nvSpPr>
          <p:cNvPr id="770" name="Rectangle 769">
            <a:extLst>
              <a:ext uri="{FF2B5EF4-FFF2-40B4-BE49-F238E27FC236}">
                <a16:creationId xmlns:a16="http://schemas.microsoft.com/office/drawing/2014/main" id="{F3188604-7F83-AF2E-AFE4-C0D7A6FE202C}"/>
              </a:ext>
            </a:extLst>
          </p:cNvPr>
          <p:cNvSpPr/>
          <p:nvPr/>
        </p:nvSpPr>
        <p:spPr>
          <a:xfrm>
            <a:off x="580826" y="1210986"/>
            <a:ext cx="7817927" cy="3224902"/>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4" name="Rectangle: Rounded Corners 613">
            <a:extLst>
              <a:ext uri="{FF2B5EF4-FFF2-40B4-BE49-F238E27FC236}">
                <a16:creationId xmlns:a16="http://schemas.microsoft.com/office/drawing/2014/main" id="{A359472B-AA9D-49AF-F703-5E0F188125BA}"/>
              </a:ext>
            </a:extLst>
          </p:cNvPr>
          <p:cNvSpPr/>
          <p:nvPr/>
        </p:nvSpPr>
        <p:spPr>
          <a:xfrm>
            <a:off x="1291524" y="2705396"/>
            <a:ext cx="1898302" cy="1051589"/>
          </a:xfrm>
          <a:prstGeom prst="roundRect">
            <a:avLst>
              <a:gd name="adj" fmla="val 35334"/>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r>
              <a:rPr lang="en-US" sz="900" i="1" dirty="0" err="1">
                <a:solidFill>
                  <a:schemeClr val="tx1">
                    <a:lumMod val="85000"/>
                    <a:lumOff val="15000"/>
                  </a:schemeClr>
                </a:solidFill>
              </a:rPr>
              <a:t>first_publication_date</a:t>
            </a:r>
            <a:r>
              <a:rPr lang="en-US" sz="900" i="1" dirty="0">
                <a:solidFill>
                  <a:schemeClr val="tx1">
                    <a:lumMod val="85000"/>
                    <a:lumOff val="15000"/>
                  </a:schemeClr>
                </a:solidFill>
              </a:rPr>
              <a:t> </a:t>
            </a:r>
            <a:r>
              <a:rPr lang="en-US" sz="900" dirty="0">
                <a:solidFill>
                  <a:schemeClr val="tx1">
                    <a:lumMod val="85000"/>
                    <a:lumOff val="15000"/>
                  </a:schemeClr>
                </a:solidFill>
              </a:rPr>
              <a:t>← JSON</a:t>
            </a:r>
          </a:p>
          <a:p>
            <a:r>
              <a:rPr lang="en-US" sz="900" i="1" dirty="0" err="1">
                <a:solidFill>
                  <a:schemeClr val="tx1">
                    <a:lumMod val="85000"/>
                    <a:lumOff val="15000"/>
                  </a:schemeClr>
                </a:solidFill>
              </a:rPr>
              <a:t>modified_at</a:t>
            </a:r>
            <a:r>
              <a:rPr lang="en-US" sz="900" dirty="0">
                <a:solidFill>
                  <a:schemeClr val="tx1">
                    <a:lumMod val="85000"/>
                    <a:lumOff val="15000"/>
                  </a:schemeClr>
                </a:solidFill>
              </a:rPr>
              <a:t> ← JSON</a:t>
            </a:r>
          </a:p>
          <a:p>
            <a:r>
              <a:rPr lang="en-US" sz="900" i="1" dirty="0" err="1">
                <a:solidFill>
                  <a:schemeClr val="tx1">
                    <a:lumMod val="85000"/>
                    <a:lumOff val="15000"/>
                  </a:schemeClr>
                </a:solidFill>
              </a:rPr>
              <a:t>publication_date</a:t>
            </a:r>
            <a:r>
              <a:rPr lang="en-US" sz="900" i="1" dirty="0">
                <a:solidFill>
                  <a:schemeClr val="tx1">
                    <a:lumMod val="85000"/>
                    <a:lumOff val="15000"/>
                  </a:schemeClr>
                </a:solidFill>
              </a:rPr>
              <a:t> </a:t>
            </a:r>
            <a:r>
              <a:rPr lang="en-US" sz="900" dirty="0">
                <a:solidFill>
                  <a:schemeClr val="tx1">
                    <a:lumMod val="85000"/>
                    <a:lumOff val="15000"/>
                  </a:schemeClr>
                </a:solidFill>
              </a:rPr>
              <a:t>← JSON</a:t>
            </a:r>
          </a:p>
          <a:p>
            <a:endParaRPr lang="en-US" sz="900" i="1" dirty="0">
              <a:solidFill>
                <a:schemeClr val="tx1">
                  <a:lumMod val="85000"/>
                  <a:lumOff val="15000"/>
                </a:schemeClr>
              </a:solidFill>
            </a:endParaRPr>
          </a:p>
          <a:p>
            <a:r>
              <a:rPr lang="en-US" sz="900" i="1" dirty="0" err="1">
                <a:solidFill>
                  <a:schemeClr val="tx1">
                    <a:lumMod val="85000"/>
                    <a:lumOff val="15000"/>
                  </a:schemeClr>
                </a:solidFill>
              </a:rPr>
              <a:t>unchanged_republish_count</a:t>
            </a:r>
            <a:r>
              <a:rPr lang="en-US" sz="900" i="1" dirty="0">
                <a:solidFill>
                  <a:schemeClr val="tx1">
                    <a:lumMod val="85000"/>
                    <a:lumOff val="15000"/>
                  </a:schemeClr>
                </a:solidFill>
              </a:rPr>
              <a:t> </a:t>
            </a:r>
            <a:r>
              <a:rPr lang="en-US" sz="900" dirty="0">
                <a:solidFill>
                  <a:schemeClr val="tx1">
                    <a:lumMod val="85000"/>
                    <a:lumOff val="15000"/>
                  </a:schemeClr>
                </a:solidFill>
              </a:rPr>
              <a:t>← 0</a:t>
            </a:r>
          </a:p>
        </p:txBody>
      </p:sp>
      <p:sp>
        <p:nvSpPr>
          <p:cNvPr id="606" name="Diamond 605">
            <a:extLst>
              <a:ext uri="{FF2B5EF4-FFF2-40B4-BE49-F238E27FC236}">
                <a16:creationId xmlns:a16="http://schemas.microsoft.com/office/drawing/2014/main" id="{485896DF-E7D8-7E7F-C967-F92F681B27B9}"/>
              </a:ext>
            </a:extLst>
          </p:cNvPr>
          <p:cNvSpPr/>
          <p:nvPr/>
        </p:nvSpPr>
        <p:spPr>
          <a:xfrm>
            <a:off x="5793360" y="1390260"/>
            <a:ext cx="1622028" cy="983544"/>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 Has </a:t>
            </a:r>
            <a:r>
              <a:rPr lang="en-US" sz="1000" i="1" dirty="0">
                <a:solidFill>
                  <a:schemeClr val="tx1">
                    <a:lumMod val="85000"/>
                    <a:lumOff val="15000"/>
                  </a:schemeClr>
                </a:solidFill>
              </a:rPr>
              <a:t>publication_ date </a:t>
            </a:r>
            <a:r>
              <a:rPr lang="en-US" sz="1000" dirty="0">
                <a:solidFill>
                  <a:schemeClr val="tx1">
                    <a:lumMod val="85000"/>
                    <a:lumOff val="15000"/>
                  </a:schemeClr>
                </a:solidFill>
              </a:rPr>
              <a:t>changed?</a:t>
            </a:r>
          </a:p>
        </p:txBody>
      </p:sp>
      <p:sp>
        <p:nvSpPr>
          <p:cNvPr id="612" name="Diamond 611">
            <a:extLst>
              <a:ext uri="{FF2B5EF4-FFF2-40B4-BE49-F238E27FC236}">
                <a16:creationId xmlns:a16="http://schemas.microsoft.com/office/drawing/2014/main" id="{FBDF46A3-F257-9BD4-F988-ECBA28A4EA4A}"/>
              </a:ext>
            </a:extLst>
          </p:cNvPr>
          <p:cNvSpPr/>
          <p:nvPr/>
        </p:nvSpPr>
        <p:spPr>
          <a:xfrm>
            <a:off x="3608828" y="1390260"/>
            <a:ext cx="1622028" cy="983544"/>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 Has </a:t>
            </a:r>
            <a:r>
              <a:rPr lang="en-US" sz="1000" i="1" dirty="0" err="1">
                <a:solidFill>
                  <a:schemeClr val="tx1">
                    <a:lumMod val="85000"/>
                    <a:lumOff val="15000"/>
                  </a:schemeClr>
                </a:solidFill>
              </a:rPr>
              <a:t>modified_at</a:t>
            </a:r>
            <a:r>
              <a:rPr lang="en-US" sz="1000" dirty="0">
                <a:solidFill>
                  <a:schemeClr val="tx1">
                    <a:lumMod val="85000"/>
                    <a:lumOff val="15000"/>
                  </a:schemeClr>
                </a:solidFill>
              </a:rPr>
              <a:t> changed?</a:t>
            </a:r>
          </a:p>
        </p:txBody>
      </p:sp>
      <p:sp>
        <p:nvSpPr>
          <p:cNvPr id="616" name="Rectangle: Rounded Corners 615">
            <a:extLst>
              <a:ext uri="{FF2B5EF4-FFF2-40B4-BE49-F238E27FC236}">
                <a16:creationId xmlns:a16="http://schemas.microsoft.com/office/drawing/2014/main" id="{AB0F2FF9-9428-5761-E4BB-6AAB4C36EA8A}"/>
              </a:ext>
            </a:extLst>
          </p:cNvPr>
          <p:cNvSpPr/>
          <p:nvPr/>
        </p:nvSpPr>
        <p:spPr>
          <a:xfrm>
            <a:off x="3470691" y="2705397"/>
            <a:ext cx="1898302" cy="1051589"/>
          </a:xfrm>
          <a:prstGeom prst="roundRect">
            <a:avLst>
              <a:gd name="adj" fmla="val 35334"/>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sz="900" i="1" dirty="0">
              <a:solidFill>
                <a:schemeClr val="tx1">
                  <a:lumMod val="85000"/>
                  <a:lumOff val="15000"/>
                </a:schemeClr>
              </a:solidFill>
            </a:endParaRPr>
          </a:p>
          <a:p>
            <a:r>
              <a:rPr lang="en-US" sz="900" i="1" dirty="0" err="1">
                <a:solidFill>
                  <a:schemeClr val="tx1">
                    <a:lumMod val="85000"/>
                    <a:lumOff val="15000"/>
                  </a:schemeClr>
                </a:solidFill>
              </a:rPr>
              <a:t>modified_at</a:t>
            </a:r>
            <a:r>
              <a:rPr lang="en-US" sz="900" i="1" dirty="0">
                <a:solidFill>
                  <a:schemeClr val="tx1">
                    <a:lumMod val="85000"/>
                    <a:lumOff val="15000"/>
                  </a:schemeClr>
                </a:solidFill>
              </a:rPr>
              <a:t> </a:t>
            </a:r>
            <a:r>
              <a:rPr lang="en-US" sz="900" dirty="0">
                <a:solidFill>
                  <a:schemeClr val="tx1">
                    <a:lumMod val="85000"/>
                    <a:lumOff val="15000"/>
                  </a:schemeClr>
                </a:solidFill>
              </a:rPr>
              <a:t>← JSON</a:t>
            </a:r>
            <a:endParaRPr lang="en-US" sz="900" i="1" dirty="0">
              <a:solidFill>
                <a:schemeClr val="tx1">
                  <a:lumMod val="85000"/>
                  <a:lumOff val="15000"/>
                </a:schemeClr>
              </a:solidFill>
            </a:endParaRPr>
          </a:p>
          <a:p>
            <a:r>
              <a:rPr lang="en-US" sz="900" i="1" dirty="0" err="1">
                <a:solidFill>
                  <a:schemeClr val="tx1">
                    <a:lumMod val="85000"/>
                    <a:lumOff val="15000"/>
                  </a:schemeClr>
                </a:solidFill>
              </a:rPr>
              <a:t>publication_date</a:t>
            </a:r>
            <a:r>
              <a:rPr lang="en-US" sz="900" i="1" dirty="0">
                <a:solidFill>
                  <a:schemeClr val="tx1">
                    <a:lumMod val="85000"/>
                    <a:lumOff val="15000"/>
                  </a:schemeClr>
                </a:solidFill>
              </a:rPr>
              <a:t> </a:t>
            </a:r>
            <a:r>
              <a:rPr lang="en-US" sz="900" dirty="0">
                <a:solidFill>
                  <a:schemeClr val="tx1">
                    <a:lumMod val="85000"/>
                    <a:lumOff val="15000"/>
                  </a:schemeClr>
                </a:solidFill>
              </a:rPr>
              <a:t>← JSON</a:t>
            </a:r>
          </a:p>
          <a:p>
            <a:endParaRPr lang="en-US" sz="900" i="1" dirty="0">
              <a:solidFill>
                <a:schemeClr val="tx1">
                  <a:lumMod val="85000"/>
                  <a:lumOff val="15000"/>
                </a:schemeClr>
              </a:solidFill>
            </a:endParaRPr>
          </a:p>
          <a:p>
            <a:r>
              <a:rPr lang="en-US" sz="900" i="1" dirty="0" err="1">
                <a:solidFill>
                  <a:schemeClr val="tx1">
                    <a:lumMod val="85000"/>
                    <a:lumOff val="15000"/>
                  </a:schemeClr>
                </a:solidFill>
              </a:rPr>
              <a:t>unchanged_republish_count</a:t>
            </a:r>
            <a:r>
              <a:rPr lang="en-US" sz="900" i="1" dirty="0">
                <a:solidFill>
                  <a:schemeClr val="tx1">
                    <a:lumMod val="85000"/>
                    <a:lumOff val="15000"/>
                  </a:schemeClr>
                </a:solidFill>
              </a:rPr>
              <a:t> </a:t>
            </a:r>
            <a:r>
              <a:rPr lang="en-US" sz="900" dirty="0">
                <a:solidFill>
                  <a:schemeClr val="tx1">
                    <a:lumMod val="85000"/>
                    <a:lumOff val="15000"/>
                  </a:schemeClr>
                </a:solidFill>
              </a:rPr>
              <a:t>← 0</a:t>
            </a:r>
          </a:p>
        </p:txBody>
      </p:sp>
      <p:sp>
        <p:nvSpPr>
          <p:cNvPr id="671" name="Rectangle: Rounded Corners 670">
            <a:extLst>
              <a:ext uri="{FF2B5EF4-FFF2-40B4-BE49-F238E27FC236}">
                <a16:creationId xmlns:a16="http://schemas.microsoft.com/office/drawing/2014/main" id="{071FCF9E-3303-1387-5DD1-F0E80D53215C}"/>
              </a:ext>
            </a:extLst>
          </p:cNvPr>
          <p:cNvSpPr/>
          <p:nvPr/>
        </p:nvSpPr>
        <p:spPr>
          <a:xfrm>
            <a:off x="5655223" y="2705396"/>
            <a:ext cx="1898302" cy="1051589"/>
          </a:xfrm>
          <a:prstGeom prst="roundRect">
            <a:avLst>
              <a:gd name="adj" fmla="val 35334"/>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sz="900" i="1" dirty="0">
              <a:solidFill>
                <a:schemeClr val="tx1">
                  <a:lumMod val="85000"/>
                  <a:lumOff val="15000"/>
                </a:schemeClr>
              </a:solidFill>
            </a:endParaRPr>
          </a:p>
          <a:p>
            <a:endParaRPr lang="en-US" sz="900" i="1" dirty="0">
              <a:solidFill>
                <a:schemeClr val="tx1">
                  <a:lumMod val="85000"/>
                  <a:lumOff val="15000"/>
                </a:schemeClr>
              </a:solidFill>
            </a:endParaRPr>
          </a:p>
          <a:p>
            <a:r>
              <a:rPr lang="en-US" sz="900" i="1" dirty="0" err="1">
                <a:solidFill>
                  <a:schemeClr val="tx1">
                    <a:lumMod val="85000"/>
                    <a:lumOff val="15000"/>
                  </a:schemeClr>
                </a:solidFill>
              </a:rPr>
              <a:t>publication_date</a:t>
            </a:r>
            <a:r>
              <a:rPr lang="en-US" sz="900" i="1" dirty="0">
                <a:solidFill>
                  <a:schemeClr val="tx1">
                    <a:lumMod val="85000"/>
                    <a:lumOff val="15000"/>
                  </a:schemeClr>
                </a:solidFill>
              </a:rPr>
              <a:t> ← JSON</a:t>
            </a:r>
          </a:p>
          <a:p>
            <a:endParaRPr lang="en-US" sz="900" i="1" dirty="0">
              <a:solidFill>
                <a:schemeClr val="tx1">
                  <a:lumMod val="85000"/>
                  <a:lumOff val="15000"/>
                </a:schemeClr>
              </a:solidFill>
            </a:endParaRPr>
          </a:p>
          <a:p>
            <a:r>
              <a:rPr lang="en-US" sz="900" i="1" dirty="0" err="1">
                <a:solidFill>
                  <a:schemeClr val="tx1">
                    <a:lumMod val="85000"/>
                    <a:lumOff val="15000"/>
                  </a:schemeClr>
                </a:solidFill>
              </a:rPr>
              <a:t>unchanged_republish_count</a:t>
            </a:r>
            <a:r>
              <a:rPr lang="en-US" sz="900" i="1" dirty="0">
                <a:solidFill>
                  <a:schemeClr val="tx1">
                    <a:lumMod val="85000"/>
                    <a:lumOff val="15000"/>
                  </a:schemeClr>
                </a:solidFill>
              </a:rPr>
              <a:t>++</a:t>
            </a:r>
            <a:endParaRPr lang="en-US" sz="900" dirty="0">
              <a:solidFill>
                <a:schemeClr val="tx1">
                  <a:lumMod val="85000"/>
                  <a:lumOff val="15000"/>
                </a:schemeClr>
              </a:solidFill>
            </a:endParaRPr>
          </a:p>
        </p:txBody>
      </p:sp>
      <p:sp>
        <p:nvSpPr>
          <p:cNvPr id="686" name="Diamond 685">
            <a:extLst>
              <a:ext uri="{FF2B5EF4-FFF2-40B4-BE49-F238E27FC236}">
                <a16:creationId xmlns:a16="http://schemas.microsoft.com/office/drawing/2014/main" id="{13C611E5-5462-A97D-D3B5-FF2419235E6B}"/>
              </a:ext>
            </a:extLst>
          </p:cNvPr>
          <p:cNvSpPr/>
          <p:nvPr/>
        </p:nvSpPr>
        <p:spPr>
          <a:xfrm>
            <a:off x="1429661" y="1390260"/>
            <a:ext cx="1622028" cy="983544"/>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Already </a:t>
            </a:r>
            <a:r>
              <a:rPr lang="en-US" sz="1000" dirty="0" err="1">
                <a:solidFill>
                  <a:schemeClr val="tx1">
                    <a:lumMod val="85000"/>
                    <a:lumOff val="15000"/>
                  </a:schemeClr>
                </a:solidFill>
              </a:rPr>
              <a:t>i</a:t>
            </a:r>
            <a:r>
              <a:rPr lang="en-US" sz="1000" dirty="0">
                <a:solidFill>
                  <a:schemeClr val="tx1">
                    <a:lumMod val="85000"/>
                    <a:lumOff val="15000"/>
                  </a:schemeClr>
                </a:solidFill>
              </a:rPr>
              <a:t> database?</a:t>
            </a:r>
          </a:p>
        </p:txBody>
      </p:sp>
      <p:sp>
        <p:nvSpPr>
          <p:cNvPr id="684" name="Oval 683">
            <a:extLst>
              <a:ext uri="{FF2B5EF4-FFF2-40B4-BE49-F238E27FC236}">
                <a16:creationId xmlns:a16="http://schemas.microsoft.com/office/drawing/2014/main" id="{F57A6728-491F-D2E8-B867-69D3AEFBEAD2}"/>
              </a:ext>
            </a:extLst>
          </p:cNvPr>
          <p:cNvSpPr/>
          <p:nvPr/>
        </p:nvSpPr>
        <p:spPr>
          <a:xfrm>
            <a:off x="812479" y="1776457"/>
            <a:ext cx="211150" cy="211150"/>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3" name="Google Shape;633;p91">
            <a:extLst>
              <a:ext uri="{FF2B5EF4-FFF2-40B4-BE49-F238E27FC236}">
                <a16:creationId xmlns:a16="http://schemas.microsoft.com/office/drawing/2014/main" id="{A3304F64-3404-0A9D-002F-CCC069DA0697}"/>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Detecting Job Updates &amp; Republishing</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589C5C5E-FCD5-3523-1CE8-149488591D00}"/>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68986EA9-AE22-73FE-AF3D-0D16234CB36A}"/>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2" name="TextBox 1">
            <a:extLst>
              <a:ext uri="{FF2B5EF4-FFF2-40B4-BE49-F238E27FC236}">
                <a16:creationId xmlns:a16="http://schemas.microsoft.com/office/drawing/2014/main" id="{27A35B76-BFE6-5162-98B2-4E3E200FEFE4}"/>
              </a:ext>
            </a:extLst>
          </p:cNvPr>
          <p:cNvSpPr txBox="1"/>
          <p:nvPr/>
        </p:nvSpPr>
        <p:spPr>
          <a:xfrm>
            <a:off x="198000" y="707612"/>
            <a:ext cx="8044775" cy="307777"/>
          </a:xfrm>
          <a:prstGeom prst="rect">
            <a:avLst/>
          </a:prstGeom>
          <a:noFill/>
        </p:spPr>
        <p:txBody>
          <a:bodyPr wrap="square" rtlCol="0">
            <a:spAutoFit/>
          </a:bodyPr>
          <a:lstStyle/>
          <a:p>
            <a:r>
              <a:rPr lang="en-US" b="1" dirty="0"/>
              <a:t>Problem: </a:t>
            </a:r>
            <a:r>
              <a:rPr lang="en-US" dirty="0"/>
              <a:t>recent publication date ≠ necessarily a fresh advertisement.</a:t>
            </a:r>
          </a:p>
        </p:txBody>
      </p:sp>
      <p:sp>
        <p:nvSpPr>
          <p:cNvPr id="43" name="TextBox 42">
            <a:extLst>
              <a:ext uri="{FF2B5EF4-FFF2-40B4-BE49-F238E27FC236}">
                <a16:creationId xmlns:a16="http://schemas.microsoft.com/office/drawing/2014/main" id="{2C07FA96-9EA1-B03A-B8EA-3EA59A741B61}"/>
              </a:ext>
            </a:extLst>
          </p:cNvPr>
          <p:cNvSpPr txBox="1"/>
          <p:nvPr/>
        </p:nvSpPr>
        <p:spPr>
          <a:xfrm>
            <a:off x="5218600" y="1627527"/>
            <a:ext cx="418289" cy="246221"/>
          </a:xfrm>
          <a:prstGeom prst="rect">
            <a:avLst/>
          </a:prstGeom>
          <a:noFill/>
        </p:spPr>
        <p:txBody>
          <a:bodyPr wrap="square" rtlCol="0">
            <a:spAutoFit/>
          </a:bodyPr>
          <a:lstStyle/>
          <a:p>
            <a:r>
              <a:rPr lang="en-US" sz="1000" dirty="0"/>
              <a:t>no</a:t>
            </a:r>
          </a:p>
        </p:txBody>
      </p:sp>
      <p:sp>
        <p:nvSpPr>
          <p:cNvPr id="45" name="TextBox 44">
            <a:extLst>
              <a:ext uri="{FF2B5EF4-FFF2-40B4-BE49-F238E27FC236}">
                <a16:creationId xmlns:a16="http://schemas.microsoft.com/office/drawing/2014/main" id="{CF7B6FD4-B700-AAF8-7DFB-B08145EC6F33}"/>
              </a:ext>
            </a:extLst>
          </p:cNvPr>
          <p:cNvSpPr txBox="1"/>
          <p:nvPr/>
        </p:nvSpPr>
        <p:spPr>
          <a:xfrm>
            <a:off x="2237992" y="2367950"/>
            <a:ext cx="418289" cy="246221"/>
          </a:xfrm>
          <a:prstGeom prst="rect">
            <a:avLst/>
          </a:prstGeom>
          <a:noFill/>
        </p:spPr>
        <p:txBody>
          <a:bodyPr wrap="square" rtlCol="0">
            <a:spAutoFit/>
          </a:bodyPr>
          <a:lstStyle/>
          <a:p>
            <a:r>
              <a:rPr lang="en-US" sz="1000" dirty="0"/>
              <a:t>no</a:t>
            </a:r>
          </a:p>
        </p:txBody>
      </p:sp>
      <p:sp>
        <p:nvSpPr>
          <p:cNvPr id="610" name="Diamond 609">
            <a:extLst>
              <a:ext uri="{FF2B5EF4-FFF2-40B4-BE49-F238E27FC236}">
                <a16:creationId xmlns:a16="http://schemas.microsoft.com/office/drawing/2014/main" id="{70B4DA29-A513-81A7-9DBA-A28C213AD9F1}"/>
              </a:ext>
            </a:extLst>
          </p:cNvPr>
          <p:cNvSpPr/>
          <p:nvPr/>
        </p:nvSpPr>
        <p:spPr>
          <a:xfrm>
            <a:off x="1429661" y="1390260"/>
            <a:ext cx="1622028" cy="983544"/>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Already in database?</a:t>
            </a:r>
          </a:p>
        </p:txBody>
      </p:sp>
      <p:cxnSp>
        <p:nvCxnSpPr>
          <p:cNvPr id="618" name="Straight Arrow Connector 617">
            <a:extLst>
              <a:ext uri="{FF2B5EF4-FFF2-40B4-BE49-F238E27FC236}">
                <a16:creationId xmlns:a16="http://schemas.microsoft.com/office/drawing/2014/main" id="{2316646D-327D-6316-3F14-6D7784A6FC31}"/>
              </a:ext>
            </a:extLst>
          </p:cNvPr>
          <p:cNvCxnSpPr>
            <a:cxnSpLocks/>
            <a:stCxn id="610" idx="2"/>
            <a:endCxn id="614" idx="0"/>
          </p:cNvCxnSpPr>
          <p:nvPr/>
        </p:nvCxnSpPr>
        <p:spPr>
          <a:xfrm>
            <a:off x="2240675" y="2373804"/>
            <a:ext cx="0" cy="33159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7" name="TextBox 626">
            <a:extLst>
              <a:ext uri="{FF2B5EF4-FFF2-40B4-BE49-F238E27FC236}">
                <a16:creationId xmlns:a16="http://schemas.microsoft.com/office/drawing/2014/main" id="{6C2D0345-CB40-0E8E-46A0-51BA763268DE}"/>
              </a:ext>
            </a:extLst>
          </p:cNvPr>
          <p:cNvSpPr txBox="1"/>
          <p:nvPr/>
        </p:nvSpPr>
        <p:spPr>
          <a:xfrm>
            <a:off x="3034068" y="1615311"/>
            <a:ext cx="418289" cy="246221"/>
          </a:xfrm>
          <a:prstGeom prst="rect">
            <a:avLst/>
          </a:prstGeom>
          <a:noFill/>
        </p:spPr>
        <p:txBody>
          <a:bodyPr wrap="square" rtlCol="0">
            <a:spAutoFit/>
          </a:bodyPr>
          <a:lstStyle/>
          <a:p>
            <a:r>
              <a:rPr lang="en-US" sz="1000" dirty="0"/>
              <a:t>yes</a:t>
            </a:r>
          </a:p>
        </p:txBody>
      </p:sp>
      <p:cxnSp>
        <p:nvCxnSpPr>
          <p:cNvPr id="628" name="Straight Arrow Connector 627">
            <a:extLst>
              <a:ext uri="{FF2B5EF4-FFF2-40B4-BE49-F238E27FC236}">
                <a16:creationId xmlns:a16="http://schemas.microsoft.com/office/drawing/2014/main" id="{889D8635-6302-837F-0E2D-229DB13CD3FF}"/>
              </a:ext>
            </a:extLst>
          </p:cNvPr>
          <p:cNvCxnSpPr>
            <a:cxnSpLocks/>
            <a:stCxn id="612" idx="2"/>
            <a:endCxn id="616" idx="0"/>
          </p:cNvCxnSpPr>
          <p:nvPr/>
        </p:nvCxnSpPr>
        <p:spPr>
          <a:xfrm>
            <a:off x="4419842" y="2373804"/>
            <a:ext cx="0" cy="33159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1" name="TextBox 630">
            <a:extLst>
              <a:ext uri="{FF2B5EF4-FFF2-40B4-BE49-F238E27FC236}">
                <a16:creationId xmlns:a16="http://schemas.microsoft.com/office/drawing/2014/main" id="{064D94B8-7239-DCFD-8FEC-35CD6F0D07B9}"/>
              </a:ext>
            </a:extLst>
          </p:cNvPr>
          <p:cNvSpPr txBox="1"/>
          <p:nvPr/>
        </p:nvSpPr>
        <p:spPr>
          <a:xfrm>
            <a:off x="6599006" y="2367949"/>
            <a:ext cx="418289" cy="246221"/>
          </a:xfrm>
          <a:prstGeom prst="rect">
            <a:avLst/>
          </a:prstGeom>
          <a:noFill/>
        </p:spPr>
        <p:txBody>
          <a:bodyPr wrap="square" rtlCol="0">
            <a:spAutoFit/>
          </a:bodyPr>
          <a:lstStyle/>
          <a:p>
            <a:r>
              <a:rPr lang="en-US" sz="1000" dirty="0"/>
              <a:t>yes</a:t>
            </a:r>
          </a:p>
        </p:txBody>
      </p:sp>
      <p:cxnSp>
        <p:nvCxnSpPr>
          <p:cNvPr id="632" name="Straight Arrow Connector 631">
            <a:extLst>
              <a:ext uri="{FF2B5EF4-FFF2-40B4-BE49-F238E27FC236}">
                <a16:creationId xmlns:a16="http://schemas.microsoft.com/office/drawing/2014/main" id="{504E5490-2DFE-145D-3803-262EA3C0FC52}"/>
              </a:ext>
            </a:extLst>
          </p:cNvPr>
          <p:cNvCxnSpPr>
            <a:cxnSpLocks/>
            <a:stCxn id="606" idx="2"/>
            <a:endCxn id="671" idx="0"/>
          </p:cNvCxnSpPr>
          <p:nvPr/>
        </p:nvCxnSpPr>
        <p:spPr>
          <a:xfrm>
            <a:off x="6604374" y="2373804"/>
            <a:ext cx="0" cy="33159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4" name="Straight Arrow Connector 633">
            <a:extLst>
              <a:ext uri="{FF2B5EF4-FFF2-40B4-BE49-F238E27FC236}">
                <a16:creationId xmlns:a16="http://schemas.microsoft.com/office/drawing/2014/main" id="{CFEF0901-5039-5D60-44A3-04E3DC451649}"/>
              </a:ext>
            </a:extLst>
          </p:cNvPr>
          <p:cNvCxnSpPr>
            <a:cxnSpLocks/>
            <a:stCxn id="612" idx="3"/>
            <a:endCxn id="606" idx="1"/>
          </p:cNvCxnSpPr>
          <p:nvPr/>
        </p:nvCxnSpPr>
        <p:spPr>
          <a:xfrm>
            <a:off x="5230856" y="1882032"/>
            <a:ext cx="562504"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7" name="TextBox 636">
            <a:extLst>
              <a:ext uri="{FF2B5EF4-FFF2-40B4-BE49-F238E27FC236}">
                <a16:creationId xmlns:a16="http://schemas.microsoft.com/office/drawing/2014/main" id="{3844A637-66C6-8235-44E8-2F8346879F96}"/>
              </a:ext>
            </a:extLst>
          </p:cNvPr>
          <p:cNvSpPr txBox="1"/>
          <p:nvPr/>
        </p:nvSpPr>
        <p:spPr>
          <a:xfrm>
            <a:off x="7403132" y="1615310"/>
            <a:ext cx="418289" cy="246221"/>
          </a:xfrm>
          <a:prstGeom prst="rect">
            <a:avLst/>
          </a:prstGeom>
          <a:noFill/>
        </p:spPr>
        <p:txBody>
          <a:bodyPr wrap="square" rtlCol="0">
            <a:spAutoFit/>
          </a:bodyPr>
          <a:lstStyle/>
          <a:p>
            <a:r>
              <a:rPr lang="en-US" sz="1000" dirty="0"/>
              <a:t>no</a:t>
            </a:r>
          </a:p>
        </p:txBody>
      </p:sp>
      <p:cxnSp>
        <p:nvCxnSpPr>
          <p:cNvPr id="638" name="Straight Arrow Connector 637">
            <a:extLst>
              <a:ext uri="{FF2B5EF4-FFF2-40B4-BE49-F238E27FC236}">
                <a16:creationId xmlns:a16="http://schemas.microsoft.com/office/drawing/2014/main" id="{9243BF7D-2854-6532-9BF3-2D1543ACDE50}"/>
              </a:ext>
            </a:extLst>
          </p:cNvPr>
          <p:cNvCxnSpPr>
            <a:cxnSpLocks/>
            <a:stCxn id="606" idx="3"/>
            <a:endCxn id="649" idx="2"/>
          </p:cNvCxnSpPr>
          <p:nvPr/>
        </p:nvCxnSpPr>
        <p:spPr>
          <a:xfrm>
            <a:off x="7415388" y="1882032"/>
            <a:ext cx="402944" cy="68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52" name="Group 651">
            <a:extLst>
              <a:ext uri="{FF2B5EF4-FFF2-40B4-BE49-F238E27FC236}">
                <a16:creationId xmlns:a16="http://schemas.microsoft.com/office/drawing/2014/main" id="{2502F8BC-E511-5D33-3476-2E7B6D392D5E}"/>
              </a:ext>
            </a:extLst>
          </p:cNvPr>
          <p:cNvGrpSpPr/>
          <p:nvPr/>
        </p:nvGrpSpPr>
        <p:grpSpPr>
          <a:xfrm>
            <a:off x="7818332" y="1737035"/>
            <a:ext cx="291356" cy="291356"/>
            <a:chOff x="7069437" y="3218381"/>
            <a:chExt cx="367665" cy="367665"/>
          </a:xfrm>
        </p:grpSpPr>
        <p:sp>
          <p:nvSpPr>
            <p:cNvPr id="649" name="Oval 648">
              <a:extLst>
                <a:ext uri="{FF2B5EF4-FFF2-40B4-BE49-F238E27FC236}">
                  <a16:creationId xmlns:a16="http://schemas.microsoft.com/office/drawing/2014/main" id="{A4DBFF19-1601-5A82-EB92-507FBF47D1B8}"/>
                </a:ext>
              </a:extLst>
            </p:cNvPr>
            <p:cNvSpPr/>
            <p:nvPr/>
          </p:nvSpPr>
          <p:spPr>
            <a:xfrm>
              <a:off x="7069437" y="3218381"/>
              <a:ext cx="367665" cy="367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1" name="Oval 650">
              <a:extLst>
                <a:ext uri="{FF2B5EF4-FFF2-40B4-BE49-F238E27FC236}">
                  <a16:creationId xmlns:a16="http://schemas.microsoft.com/office/drawing/2014/main" id="{1A23583B-2609-61FC-D376-4A22D2451D54}"/>
                </a:ext>
              </a:extLst>
            </p:cNvPr>
            <p:cNvSpPr/>
            <p:nvPr/>
          </p:nvSpPr>
          <p:spPr>
            <a:xfrm>
              <a:off x="7130281" y="3279306"/>
              <a:ext cx="246221" cy="246221"/>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65" name="Straight Arrow Connector 664">
            <a:extLst>
              <a:ext uri="{FF2B5EF4-FFF2-40B4-BE49-F238E27FC236}">
                <a16:creationId xmlns:a16="http://schemas.microsoft.com/office/drawing/2014/main" id="{C7758D13-CAE0-0C06-C3BC-E2833B7FAE69}"/>
              </a:ext>
            </a:extLst>
          </p:cNvPr>
          <p:cNvCxnSpPr>
            <a:cxnSpLocks/>
            <a:stCxn id="610" idx="3"/>
            <a:endCxn id="612" idx="1"/>
          </p:cNvCxnSpPr>
          <p:nvPr/>
        </p:nvCxnSpPr>
        <p:spPr>
          <a:xfrm>
            <a:off x="3051689" y="1882032"/>
            <a:ext cx="55713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6" name="Straight Arrow Connector 675">
            <a:extLst>
              <a:ext uri="{FF2B5EF4-FFF2-40B4-BE49-F238E27FC236}">
                <a16:creationId xmlns:a16="http://schemas.microsoft.com/office/drawing/2014/main" id="{BC298AFC-15EC-03C8-E935-21EEFCF7DC35}"/>
              </a:ext>
            </a:extLst>
          </p:cNvPr>
          <p:cNvCxnSpPr>
            <a:cxnSpLocks/>
            <a:stCxn id="684" idx="6"/>
            <a:endCxn id="610" idx="1"/>
          </p:cNvCxnSpPr>
          <p:nvPr/>
        </p:nvCxnSpPr>
        <p:spPr>
          <a:xfrm>
            <a:off x="1023629" y="1882032"/>
            <a:ext cx="40603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0" name="Straight Arrow Connector 699">
            <a:extLst>
              <a:ext uri="{FF2B5EF4-FFF2-40B4-BE49-F238E27FC236}">
                <a16:creationId xmlns:a16="http://schemas.microsoft.com/office/drawing/2014/main" id="{E287E345-6D64-2A91-F060-E025896780F4}"/>
              </a:ext>
            </a:extLst>
          </p:cNvPr>
          <p:cNvCxnSpPr>
            <a:cxnSpLocks/>
            <a:stCxn id="616" idx="2"/>
            <a:endCxn id="760" idx="0"/>
          </p:cNvCxnSpPr>
          <p:nvPr/>
        </p:nvCxnSpPr>
        <p:spPr>
          <a:xfrm>
            <a:off x="4419842" y="3756986"/>
            <a:ext cx="0" cy="3514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50" name="TextBox 749">
            <a:extLst>
              <a:ext uri="{FF2B5EF4-FFF2-40B4-BE49-F238E27FC236}">
                <a16:creationId xmlns:a16="http://schemas.microsoft.com/office/drawing/2014/main" id="{411A48FA-2962-0E4B-E54A-CE05C6F35FE8}"/>
              </a:ext>
            </a:extLst>
          </p:cNvPr>
          <p:cNvSpPr txBox="1"/>
          <p:nvPr/>
        </p:nvSpPr>
        <p:spPr>
          <a:xfrm>
            <a:off x="4410007" y="2367950"/>
            <a:ext cx="418289" cy="246221"/>
          </a:xfrm>
          <a:prstGeom prst="rect">
            <a:avLst/>
          </a:prstGeom>
          <a:noFill/>
        </p:spPr>
        <p:txBody>
          <a:bodyPr wrap="square" rtlCol="0">
            <a:spAutoFit/>
          </a:bodyPr>
          <a:lstStyle/>
          <a:p>
            <a:r>
              <a:rPr lang="en-US" sz="1000" dirty="0"/>
              <a:t>yes</a:t>
            </a:r>
          </a:p>
        </p:txBody>
      </p:sp>
      <p:grpSp>
        <p:nvGrpSpPr>
          <p:cNvPr id="759" name="Group 758">
            <a:extLst>
              <a:ext uri="{FF2B5EF4-FFF2-40B4-BE49-F238E27FC236}">
                <a16:creationId xmlns:a16="http://schemas.microsoft.com/office/drawing/2014/main" id="{F43FAF5C-AE7F-A745-F034-45319E823858}"/>
              </a:ext>
            </a:extLst>
          </p:cNvPr>
          <p:cNvGrpSpPr/>
          <p:nvPr/>
        </p:nvGrpSpPr>
        <p:grpSpPr>
          <a:xfrm>
            <a:off x="4274164" y="4108426"/>
            <a:ext cx="291356" cy="291356"/>
            <a:chOff x="7069437" y="3218381"/>
            <a:chExt cx="367665" cy="367665"/>
          </a:xfrm>
        </p:grpSpPr>
        <p:sp>
          <p:nvSpPr>
            <p:cNvPr id="760" name="Oval 759">
              <a:extLst>
                <a:ext uri="{FF2B5EF4-FFF2-40B4-BE49-F238E27FC236}">
                  <a16:creationId xmlns:a16="http://schemas.microsoft.com/office/drawing/2014/main" id="{DFD4A558-73B8-2A36-C603-2B268ACBEAA1}"/>
                </a:ext>
              </a:extLst>
            </p:cNvPr>
            <p:cNvSpPr/>
            <p:nvPr/>
          </p:nvSpPr>
          <p:spPr>
            <a:xfrm>
              <a:off x="7069437" y="3218381"/>
              <a:ext cx="367665" cy="367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1" name="Oval 760">
              <a:extLst>
                <a:ext uri="{FF2B5EF4-FFF2-40B4-BE49-F238E27FC236}">
                  <a16:creationId xmlns:a16="http://schemas.microsoft.com/office/drawing/2014/main" id="{02C1688A-66D2-EB23-6C0E-AE33AA3DF422}"/>
                </a:ext>
              </a:extLst>
            </p:cNvPr>
            <p:cNvSpPr/>
            <p:nvPr/>
          </p:nvSpPr>
          <p:spPr>
            <a:xfrm>
              <a:off x="7130281" y="3279306"/>
              <a:ext cx="246221" cy="246221"/>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8" name="Rectangle 767">
            <a:extLst>
              <a:ext uri="{FF2B5EF4-FFF2-40B4-BE49-F238E27FC236}">
                <a16:creationId xmlns:a16="http://schemas.microsoft.com/office/drawing/2014/main" id="{1E299ED9-3CA3-05F1-F335-3EA4B8072844}"/>
              </a:ext>
            </a:extLst>
          </p:cNvPr>
          <p:cNvSpPr/>
          <p:nvPr/>
        </p:nvSpPr>
        <p:spPr>
          <a:xfrm>
            <a:off x="6047386" y="317937"/>
            <a:ext cx="1916624" cy="728274"/>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lumMod val="85000"/>
                    <a:lumOff val="15000"/>
                  </a:schemeClr>
                </a:solidFill>
              </a:rPr>
              <a:t>First published: 23 Feb 2026</a:t>
            </a:r>
          </a:p>
          <a:p>
            <a:r>
              <a:rPr lang="en-US" sz="1000" dirty="0">
                <a:solidFill>
                  <a:schemeClr val="tx1">
                    <a:lumMod val="85000"/>
                    <a:lumOff val="15000"/>
                  </a:schemeClr>
                </a:solidFill>
              </a:rPr>
              <a:t>Last updated: 01 Sep 2026</a:t>
            </a:r>
          </a:p>
          <a:p>
            <a:r>
              <a:rPr lang="en-US" sz="1000" dirty="0">
                <a:solidFill>
                  <a:schemeClr val="tx1">
                    <a:lumMod val="85000"/>
                    <a:lumOff val="15000"/>
                  </a:schemeClr>
                </a:solidFill>
              </a:rPr>
              <a:t>Republished without changes since update: 0</a:t>
            </a:r>
          </a:p>
        </p:txBody>
      </p:sp>
      <p:sp>
        <p:nvSpPr>
          <p:cNvPr id="771" name="TextBox 770">
            <a:extLst>
              <a:ext uri="{FF2B5EF4-FFF2-40B4-BE49-F238E27FC236}">
                <a16:creationId xmlns:a16="http://schemas.microsoft.com/office/drawing/2014/main" id="{575B4886-34B0-60DC-3F24-C4375E591EB0}"/>
              </a:ext>
            </a:extLst>
          </p:cNvPr>
          <p:cNvSpPr txBox="1"/>
          <p:nvPr/>
        </p:nvSpPr>
        <p:spPr>
          <a:xfrm rot="16200000">
            <a:off x="-472026" y="2312847"/>
            <a:ext cx="2351926" cy="246221"/>
          </a:xfrm>
          <a:prstGeom prst="rect">
            <a:avLst/>
          </a:prstGeom>
          <a:noFill/>
        </p:spPr>
        <p:txBody>
          <a:bodyPr wrap="none" rtlCol="0">
            <a:spAutoFit/>
          </a:bodyPr>
          <a:lstStyle/>
          <a:p>
            <a:r>
              <a:rPr lang="en-US" sz="1000" dirty="0"/>
              <a:t>Job returned by </a:t>
            </a:r>
            <a:r>
              <a:rPr lang="en-US" sz="1000" dirty="0" err="1"/>
              <a:t>Arbeitsagentur</a:t>
            </a:r>
            <a:r>
              <a:rPr lang="en-US" sz="1000" dirty="0"/>
              <a:t> search</a:t>
            </a:r>
          </a:p>
        </p:txBody>
      </p:sp>
      <p:cxnSp>
        <p:nvCxnSpPr>
          <p:cNvPr id="3" name="Connector: Elbow 2">
            <a:extLst>
              <a:ext uri="{FF2B5EF4-FFF2-40B4-BE49-F238E27FC236}">
                <a16:creationId xmlns:a16="http://schemas.microsoft.com/office/drawing/2014/main" id="{A21FF539-1F1E-5C9D-DDE9-6626EEA6AF3F}"/>
              </a:ext>
            </a:extLst>
          </p:cNvPr>
          <p:cNvCxnSpPr>
            <a:cxnSpLocks/>
            <a:stCxn id="671" idx="2"/>
            <a:endCxn id="760" idx="6"/>
          </p:cNvCxnSpPr>
          <p:nvPr/>
        </p:nvCxnSpPr>
        <p:spPr>
          <a:xfrm rot="5400000">
            <a:off x="5336388" y="2986117"/>
            <a:ext cx="497119" cy="2038854"/>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371FB3B1-3D1C-866C-112E-CCFB28573C7F}"/>
              </a:ext>
            </a:extLst>
          </p:cNvPr>
          <p:cNvCxnSpPr>
            <a:cxnSpLocks/>
            <a:stCxn id="614" idx="2"/>
            <a:endCxn id="760" idx="2"/>
          </p:cNvCxnSpPr>
          <p:nvPr/>
        </p:nvCxnSpPr>
        <p:spPr>
          <a:xfrm rot="16200000" flipH="1">
            <a:off x="3008860" y="2988799"/>
            <a:ext cx="497119" cy="2033489"/>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883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C7BF3A4B-4FD4-17A3-4F5D-5E54755B72B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DB733A3-783E-8201-7A10-8815327A7CFA}"/>
              </a:ext>
            </a:extLst>
          </p:cNvPr>
          <p:cNvSpPr/>
          <p:nvPr/>
        </p:nvSpPr>
        <p:spPr>
          <a:xfrm>
            <a:off x="753894" y="790160"/>
            <a:ext cx="7639701" cy="3886199"/>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19" name="Group 618">
            <a:extLst>
              <a:ext uri="{FF2B5EF4-FFF2-40B4-BE49-F238E27FC236}">
                <a16:creationId xmlns:a16="http://schemas.microsoft.com/office/drawing/2014/main" id="{2E2751E3-0F9C-6904-2F76-5DA751B6B8C2}"/>
              </a:ext>
            </a:extLst>
          </p:cNvPr>
          <p:cNvGrpSpPr/>
          <p:nvPr/>
        </p:nvGrpSpPr>
        <p:grpSpPr>
          <a:xfrm>
            <a:off x="7776275" y="1121613"/>
            <a:ext cx="560704" cy="501260"/>
            <a:chOff x="7034107" y="2235929"/>
            <a:chExt cx="720852" cy="644430"/>
          </a:xfrm>
        </p:grpSpPr>
        <p:pic>
          <p:nvPicPr>
            <p:cNvPr id="612" name="Picture 611">
              <a:extLst>
                <a:ext uri="{FF2B5EF4-FFF2-40B4-BE49-F238E27FC236}">
                  <a16:creationId xmlns:a16="http://schemas.microsoft.com/office/drawing/2014/main" id="{BAF2917A-F10A-6A49-DE54-59183DF297CA}"/>
                </a:ext>
              </a:extLst>
            </p:cNvPr>
            <p:cNvPicPr>
              <a:picLocks noChangeAspect="1"/>
            </p:cNvPicPr>
            <p:nvPr/>
          </p:nvPicPr>
          <p:blipFill>
            <a:blip r:embed="rId3"/>
            <a:stretch>
              <a:fillRect/>
            </a:stretch>
          </p:blipFill>
          <p:spPr>
            <a:xfrm>
              <a:off x="7034107" y="2235929"/>
              <a:ext cx="720852" cy="644430"/>
            </a:xfrm>
            <a:prstGeom prst="rect">
              <a:avLst/>
            </a:prstGeom>
          </p:spPr>
        </p:pic>
        <p:pic>
          <p:nvPicPr>
            <p:cNvPr id="616" name="Picture 615" descr="File:PostgreSQL logo.3colors.540x557.png">
              <a:extLst>
                <a:ext uri="{FF2B5EF4-FFF2-40B4-BE49-F238E27FC236}">
                  <a16:creationId xmlns:a16="http://schemas.microsoft.com/office/drawing/2014/main" id="{4E9E6C79-7CE0-9FBD-74F7-DAE5BDF87687}"/>
                </a:ext>
              </a:extLst>
            </p:cNvPr>
            <p:cNvPicPr>
              <a:picLocks noChangeAspect="1"/>
            </p:cNvPicPr>
            <p:nvPr/>
          </p:nvPicPr>
          <p:blipFill>
            <a:blip r:embed="rId4"/>
            <a:stretch>
              <a:fillRect/>
            </a:stretch>
          </p:blipFill>
          <p:spPr>
            <a:xfrm>
              <a:off x="7246004" y="2265292"/>
              <a:ext cx="274086" cy="193439"/>
            </a:xfrm>
            <a:prstGeom prst="rect">
              <a:avLst/>
            </a:prstGeom>
          </p:spPr>
        </p:pic>
      </p:grpSp>
      <p:sp>
        <p:nvSpPr>
          <p:cNvPr id="633" name="Google Shape;633;p91">
            <a:extLst>
              <a:ext uri="{FF2B5EF4-FFF2-40B4-BE49-F238E27FC236}">
                <a16:creationId xmlns:a16="http://schemas.microsoft.com/office/drawing/2014/main" id="{D9444DA0-BFF9-97F9-09FE-D2F5A270EE64}"/>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Full-Text Search with Elasticsearch</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AF974A1D-7C6D-BE98-B8E4-C10923CCBE5D}"/>
              </a:ext>
            </a:extLst>
          </p:cNvPr>
          <p:cNvPicPr preferRelativeResize="0">
            <a:picLocks noGrp="1" noRot="1" noMove="1" noResize="1" noEditPoints="1" noAdjustHandles="1" noChangeArrowheads="1" noChangeShapeType="1" noCrop="1"/>
          </p:cNvPicPr>
          <p:nvPr/>
        </p:nvPicPr>
        <p:blipFill>
          <a:blip r:embed="rId5">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1A533CFA-D806-6168-BDD7-872536BFE2D2}"/>
              </a:ext>
            </a:extLst>
          </p:cNvPr>
          <p:cNvPicPr preferRelativeResize="0">
            <a:picLocks noGrp="1" noRot="1" noMove="1" noResize="1" noEditPoints="1" noAdjustHandles="1" noChangeArrowheads="1" noChangeShapeType="1" noCrop="1"/>
          </p:cNvPicPr>
          <p:nvPr/>
        </p:nvPicPr>
        <p:blipFill rotWithShape="1">
          <a:blip r:embed="rId5">
            <a:alphaModFix/>
          </a:blip>
          <a:srcRect r="55255"/>
          <a:stretch/>
        </p:blipFill>
        <p:spPr>
          <a:xfrm rot="5400000">
            <a:off x="7892662" y="3745888"/>
            <a:ext cx="1916151" cy="2117225"/>
          </a:xfrm>
          <a:prstGeom prst="rect">
            <a:avLst/>
          </a:prstGeom>
          <a:noFill/>
          <a:ln>
            <a:noFill/>
          </a:ln>
        </p:spPr>
      </p:pic>
      <p:sp>
        <p:nvSpPr>
          <p:cNvPr id="27" name="TextBox 26">
            <a:extLst>
              <a:ext uri="{FF2B5EF4-FFF2-40B4-BE49-F238E27FC236}">
                <a16:creationId xmlns:a16="http://schemas.microsoft.com/office/drawing/2014/main" id="{D1955852-1131-622A-F8E1-872D71825852}"/>
              </a:ext>
            </a:extLst>
          </p:cNvPr>
          <p:cNvSpPr txBox="1"/>
          <p:nvPr/>
        </p:nvSpPr>
        <p:spPr>
          <a:xfrm rot="16200000">
            <a:off x="3938344" y="2324521"/>
            <a:ext cx="1172880" cy="246221"/>
          </a:xfrm>
          <a:prstGeom prst="rect">
            <a:avLst/>
          </a:prstGeom>
          <a:noFill/>
        </p:spPr>
        <p:txBody>
          <a:bodyPr wrap="square" rtlCol="0">
            <a:spAutoFit/>
          </a:bodyPr>
          <a:lstStyle/>
          <a:p>
            <a:pPr algn="ctr"/>
            <a:r>
              <a:rPr lang="en-US" sz="1000" dirty="0">
                <a:solidFill>
                  <a:schemeClr val="tx1">
                    <a:lumMod val="85000"/>
                    <a:lumOff val="15000"/>
                  </a:schemeClr>
                </a:solidFill>
              </a:rPr>
              <a:t>❺ ordered jobs</a:t>
            </a:r>
          </a:p>
        </p:txBody>
      </p:sp>
      <p:grpSp>
        <p:nvGrpSpPr>
          <p:cNvPr id="683" name="Group 682">
            <a:extLst>
              <a:ext uri="{FF2B5EF4-FFF2-40B4-BE49-F238E27FC236}">
                <a16:creationId xmlns:a16="http://schemas.microsoft.com/office/drawing/2014/main" id="{FFADE1A3-5550-F3A2-71F7-A241D138BFE3}"/>
              </a:ext>
            </a:extLst>
          </p:cNvPr>
          <p:cNvGrpSpPr/>
          <p:nvPr/>
        </p:nvGrpSpPr>
        <p:grpSpPr>
          <a:xfrm>
            <a:off x="4351246" y="3025073"/>
            <a:ext cx="620030" cy="643963"/>
            <a:chOff x="897968" y="2512603"/>
            <a:chExt cx="620030" cy="643963"/>
          </a:xfrm>
        </p:grpSpPr>
        <p:pic>
          <p:nvPicPr>
            <p:cNvPr id="13" name="Picture 12">
              <a:extLst>
                <a:ext uri="{FF2B5EF4-FFF2-40B4-BE49-F238E27FC236}">
                  <a16:creationId xmlns:a16="http://schemas.microsoft.com/office/drawing/2014/main" id="{E87DFF0A-A82F-05F6-4564-6202F801539D}"/>
                </a:ext>
              </a:extLst>
            </p:cNvPr>
            <p:cNvPicPr>
              <a:picLocks noChangeAspect="1"/>
            </p:cNvPicPr>
            <p:nvPr/>
          </p:nvPicPr>
          <p:blipFill>
            <a:blip r:embed="rId6"/>
            <a:stretch>
              <a:fillRect/>
            </a:stretch>
          </p:blipFill>
          <p:spPr>
            <a:xfrm>
              <a:off x="897968" y="2512603"/>
              <a:ext cx="620030" cy="492874"/>
            </a:xfrm>
            <a:prstGeom prst="rect">
              <a:avLst/>
            </a:prstGeom>
          </p:spPr>
        </p:pic>
        <p:pic>
          <p:nvPicPr>
            <p:cNvPr id="36" name="Picture 35">
              <a:extLst>
                <a:ext uri="{FF2B5EF4-FFF2-40B4-BE49-F238E27FC236}">
                  <a16:creationId xmlns:a16="http://schemas.microsoft.com/office/drawing/2014/main" id="{391E842F-C94C-00F2-0BF2-969E164D8C05}"/>
                </a:ext>
              </a:extLst>
            </p:cNvPr>
            <p:cNvPicPr>
              <a:picLocks noChangeAspect="1"/>
            </p:cNvPicPr>
            <p:nvPr/>
          </p:nvPicPr>
          <p:blipFill>
            <a:blip r:embed="rId7"/>
            <a:stretch>
              <a:fillRect/>
            </a:stretch>
          </p:blipFill>
          <p:spPr>
            <a:xfrm>
              <a:off x="897968" y="3042732"/>
              <a:ext cx="620030" cy="113834"/>
            </a:xfrm>
            <a:prstGeom prst="rect">
              <a:avLst/>
            </a:prstGeom>
          </p:spPr>
        </p:pic>
      </p:grpSp>
      <p:grpSp>
        <p:nvGrpSpPr>
          <p:cNvPr id="682" name="Group 681">
            <a:extLst>
              <a:ext uri="{FF2B5EF4-FFF2-40B4-BE49-F238E27FC236}">
                <a16:creationId xmlns:a16="http://schemas.microsoft.com/office/drawing/2014/main" id="{6081EEB7-F4FF-DADA-77D7-6F02DB88E5B8}"/>
              </a:ext>
            </a:extLst>
          </p:cNvPr>
          <p:cNvGrpSpPr/>
          <p:nvPr/>
        </p:nvGrpSpPr>
        <p:grpSpPr>
          <a:xfrm>
            <a:off x="5106664" y="1936024"/>
            <a:ext cx="698519" cy="652343"/>
            <a:chOff x="3149408" y="2499587"/>
            <a:chExt cx="698519" cy="652343"/>
          </a:xfrm>
        </p:grpSpPr>
        <p:pic>
          <p:nvPicPr>
            <p:cNvPr id="18" name="Picture 17">
              <a:extLst>
                <a:ext uri="{FF2B5EF4-FFF2-40B4-BE49-F238E27FC236}">
                  <a16:creationId xmlns:a16="http://schemas.microsoft.com/office/drawing/2014/main" id="{7DC698E7-027C-0AD2-4640-24A07C43F2F3}"/>
                </a:ext>
              </a:extLst>
            </p:cNvPr>
            <p:cNvPicPr>
              <a:picLocks noChangeAspect="1"/>
            </p:cNvPicPr>
            <p:nvPr/>
          </p:nvPicPr>
          <p:blipFill>
            <a:blip r:embed="rId8"/>
            <a:stretch>
              <a:fillRect/>
            </a:stretch>
          </p:blipFill>
          <p:spPr>
            <a:xfrm>
              <a:off x="3225706" y="3051190"/>
              <a:ext cx="545920" cy="100740"/>
            </a:xfrm>
            <a:prstGeom prst="rect">
              <a:avLst/>
            </a:prstGeom>
          </p:spPr>
        </p:pic>
        <p:pic>
          <p:nvPicPr>
            <p:cNvPr id="19" name="Picture 18">
              <a:extLst>
                <a:ext uri="{FF2B5EF4-FFF2-40B4-BE49-F238E27FC236}">
                  <a16:creationId xmlns:a16="http://schemas.microsoft.com/office/drawing/2014/main" id="{4F8C1B66-2EAB-9CF5-8E52-4E03EB6E2837}"/>
                </a:ext>
              </a:extLst>
            </p:cNvPr>
            <p:cNvPicPr>
              <a:picLocks noChangeAspect="1"/>
            </p:cNvPicPr>
            <p:nvPr/>
          </p:nvPicPr>
          <p:blipFill>
            <a:blip r:embed="rId9"/>
            <a:stretch>
              <a:fillRect/>
            </a:stretch>
          </p:blipFill>
          <p:spPr>
            <a:xfrm>
              <a:off x="3149408" y="2499587"/>
              <a:ext cx="698518" cy="515700"/>
            </a:xfrm>
            <a:prstGeom prst="rect">
              <a:avLst/>
            </a:prstGeom>
          </p:spPr>
        </p:pic>
        <p:sp>
          <p:nvSpPr>
            <p:cNvPr id="42" name="Rectangle 41">
              <a:extLst>
                <a:ext uri="{FF2B5EF4-FFF2-40B4-BE49-F238E27FC236}">
                  <a16:creationId xmlns:a16="http://schemas.microsoft.com/office/drawing/2014/main" id="{550B5E76-8327-F1DB-30A8-27BD8FFD7D2F}"/>
                </a:ext>
              </a:extLst>
            </p:cNvPr>
            <p:cNvSpPr/>
            <p:nvPr/>
          </p:nvSpPr>
          <p:spPr>
            <a:xfrm>
              <a:off x="3695700" y="2499587"/>
              <a:ext cx="128837" cy="13913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B057569E-CBB7-F8B2-A4FA-52E9F2849527}"/>
                </a:ext>
              </a:extLst>
            </p:cNvPr>
            <p:cNvSpPr/>
            <p:nvPr/>
          </p:nvSpPr>
          <p:spPr>
            <a:xfrm>
              <a:off x="3719089" y="2872063"/>
              <a:ext cx="128838" cy="13913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4" name="Connector: Elbow 43">
            <a:extLst>
              <a:ext uri="{FF2B5EF4-FFF2-40B4-BE49-F238E27FC236}">
                <a16:creationId xmlns:a16="http://schemas.microsoft.com/office/drawing/2014/main" id="{3590DD56-55A6-F50C-CA31-E06258DD0EA6}"/>
              </a:ext>
            </a:extLst>
          </p:cNvPr>
          <p:cNvCxnSpPr>
            <a:cxnSpLocks/>
            <a:stCxn id="612" idx="0"/>
            <a:endCxn id="19" idx="0"/>
          </p:cNvCxnSpPr>
          <p:nvPr/>
        </p:nvCxnSpPr>
        <p:spPr>
          <a:xfrm rot="16200000" flipH="1" flipV="1">
            <a:off x="6349069" y="228466"/>
            <a:ext cx="814411" cy="2600704"/>
          </a:xfrm>
          <a:prstGeom prst="bentConnector3">
            <a:avLst>
              <a:gd name="adj1" fmla="val -28069"/>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F5D8EA16-E996-D193-BA44-E42CC66E6CD0}"/>
              </a:ext>
            </a:extLst>
          </p:cNvPr>
          <p:cNvCxnSpPr>
            <a:cxnSpLocks/>
            <a:stCxn id="595" idx="2"/>
            <a:endCxn id="18" idx="2"/>
          </p:cNvCxnSpPr>
          <p:nvPr/>
        </p:nvCxnSpPr>
        <p:spPr>
          <a:xfrm rot="5400000" flipH="1">
            <a:off x="6395252" y="1649038"/>
            <a:ext cx="722046" cy="2600705"/>
          </a:xfrm>
          <a:prstGeom prst="bentConnector3">
            <a:avLst>
              <a:gd name="adj1" fmla="val -31660"/>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grpSp>
        <p:nvGrpSpPr>
          <p:cNvPr id="631" name="Group 630">
            <a:extLst>
              <a:ext uri="{FF2B5EF4-FFF2-40B4-BE49-F238E27FC236}">
                <a16:creationId xmlns:a16="http://schemas.microsoft.com/office/drawing/2014/main" id="{A267B7E0-DA89-6E8A-DD31-77C9D9E95EA6}"/>
              </a:ext>
            </a:extLst>
          </p:cNvPr>
          <p:cNvGrpSpPr/>
          <p:nvPr/>
        </p:nvGrpSpPr>
        <p:grpSpPr>
          <a:xfrm>
            <a:off x="7776275" y="2809153"/>
            <a:ext cx="560704" cy="501260"/>
            <a:chOff x="7180642" y="3871913"/>
            <a:chExt cx="720852" cy="644430"/>
          </a:xfrm>
        </p:grpSpPr>
        <p:pic>
          <p:nvPicPr>
            <p:cNvPr id="595" name="Picture 594">
              <a:extLst>
                <a:ext uri="{FF2B5EF4-FFF2-40B4-BE49-F238E27FC236}">
                  <a16:creationId xmlns:a16="http://schemas.microsoft.com/office/drawing/2014/main" id="{117ECACA-0E0F-F9CA-4765-C09B26BBAAF6}"/>
                </a:ext>
              </a:extLst>
            </p:cNvPr>
            <p:cNvPicPr>
              <a:picLocks noChangeAspect="1"/>
            </p:cNvPicPr>
            <p:nvPr/>
          </p:nvPicPr>
          <p:blipFill>
            <a:blip r:embed="rId3"/>
            <a:stretch>
              <a:fillRect/>
            </a:stretch>
          </p:blipFill>
          <p:spPr>
            <a:xfrm>
              <a:off x="7180642" y="3871913"/>
              <a:ext cx="720852" cy="644430"/>
            </a:xfrm>
            <a:prstGeom prst="rect">
              <a:avLst/>
            </a:prstGeom>
          </p:spPr>
        </p:pic>
        <p:pic>
          <p:nvPicPr>
            <p:cNvPr id="609" name="Picture 608">
              <a:extLst>
                <a:ext uri="{FF2B5EF4-FFF2-40B4-BE49-F238E27FC236}">
                  <a16:creationId xmlns:a16="http://schemas.microsoft.com/office/drawing/2014/main" id="{0EB714E7-1A0E-2DE5-5FC6-A793126B8DA8}"/>
                </a:ext>
              </a:extLst>
            </p:cNvPr>
            <p:cNvPicPr>
              <a:picLocks noChangeAspect="1"/>
            </p:cNvPicPr>
            <p:nvPr/>
          </p:nvPicPr>
          <p:blipFill>
            <a:blip r:embed="rId10"/>
            <a:stretch>
              <a:fillRect/>
            </a:stretch>
          </p:blipFill>
          <p:spPr>
            <a:xfrm>
              <a:off x="7398870" y="3901277"/>
              <a:ext cx="282715" cy="193438"/>
            </a:xfrm>
            <a:prstGeom prst="rect">
              <a:avLst/>
            </a:prstGeom>
          </p:spPr>
        </p:pic>
      </p:grpSp>
      <p:cxnSp>
        <p:nvCxnSpPr>
          <p:cNvPr id="637" name="Connector: Elbow 636">
            <a:extLst>
              <a:ext uri="{FF2B5EF4-FFF2-40B4-BE49-F238E27FC236}">
                <a16:creationId xmlns:a16="http://schemas.microsoft.com/office/drawing/2014/main" id="{31A9B4FA-6430-A227-EAFE-2618F571193C}"/>
              </a:ext>
            </a:extLst>
          </p:cNvPr>
          <p:cNvCxnSpPr>
            <a:cxnSpLocks/>
            <a:stCxn id="42" idx="3"/>
            <a:endCxn id="612" idx="2"/>
          </p:cNvCxnSpPr>
          <p:nvPr/>
        </p:nvCxnSpPr>
        <p:spPr>
          <a:xfrm flipV="1">
            <a:off x="5781793" y="1622873"/>
            <a:ext cx="2274834" cy="382717"/>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642" name="Connector: Elbow 641">
            <a:extLst>
              <a:ext uri="{FF2B5EF4-FFF2-40B4-BE49-F238E27FC236}">
                <a16:creationId xmlns:a16="http://schemas.microsoft.com/office/drawing/2014/main" id="{AA1D942E-E2BD-F272-2EB8-C24CA71AA8CD}"/>
              </a:ext>
            </a:extLst>
          </p:cNvPr>
          <p:cNvCxnSpPr>
            <a:cxnSpLocks/>
            <a:stCxn id="43" idx="3"/>
            <a:endCxn id="595" idx="0"/>
          </p:cNvCxnSpPr>
          <p:nvPr/>
        </p:nvCxnSpPr>
        <p:spPr>
          <a:xfrm>
            <a:off x="5805183" y="2378066"/>
            <a:ext cx="2251444" cy="431087"/>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647" name="TextBox 646">
            <a:extLst>
              <a:ext uri="{FF2B5EF4-FFF2-40B4-BE49-F238E27FC236}">
                <a16:creationId xmlns:a16="http://schemas.microsoft.com/office/drawing/2014/main" id="{CC71CCE5-5D41-20C4-2A52-6061BCBB0ED3}"/>
              </a:ext>
            </a:extLst>
          </p:cNvPr>
          <p:cNvSpPr txBox="1"/>
          <p:nvPr/>
        </p:nvSpPr>
        <p:spPr>
          <a:xfrm>
            <a:off x="5805182" y="2389141"/>
            <a:ext cx="2251445" cy="246221"/>
          </a:xfrm>
          <a:prstGeom prst="rect">
            <a:avLst/>
          </a:prstGeom>
          <a:noFill/>
        </p:spPr>
        <p:txBody>
          <a:bodyPr wrap="square" rtlCol="0">
            <a:spAutoFit/>
          </a:bodyPr>
          <a:lstStyle/>
          <a:p>
            <a:pPr algn="ctr"/>
            <a:r>
              <a:rPr lang="en-US" sz="1000" dirty="0">
                <a:solidFill>
                  <a:schemeClr val="tx1">
                    <a:lumMod val="85000"/>
                    <a:lumOff val="15000"/>
                  </a:schemeClr>
                </a:solidFill>
              </a:rPr>
              <a:t>❶ search with a keyword</a:t>
            </a:r>
          </a:p>
        </p:txBody>
      </p:sp>
      <p:sp>
        <p:nvSpPr>
          <p:cNvPr id="649" name="TextBox 648">
            <a:extLst>
              <a:ext uri="{FF2B5EF4-FFF2-40B4-BE49-F238E27FC236}">
                <a16:creationId xmlns:a16="http://schemas.microsoft.com/office/drawing/2014/main" id="{561ABE6D-1692-E1C6-F184-2AF1140497FB}"/>
              </a:ext>
            </a:extLst>
          </p:cNvPr>
          <p:cNvSpPr txBox="1"/>
          <p:nvPr/>
        </p:nvSpPr>
        <p:spPr>
          <a:xfrm>
            <a:off x="5455921" y="3303139"/>
            <a:ext cx="2600706" cy="246221"/>
          </a:xfrm>
          <a:prstGeom prst="rect">
            <a:avLst/>
          </a:prstGeom>
          <a:noFill/>
        </p:spPr>
        <p:txBody>
          <a:bodyPr wrap="square" rtlCol="0">
            <a:spAutoFit/>
          </a:bodyPr>
          <a:lstStyle/>
          <a:p>
            <a:pPr algn="ctr"/>
            <a:r>
              <a:rPr lang="en-US" sz="1000" dirty="0">
                <a:solidFill>
                  <a:schemeClr val="tx1">
                    <a:lumMod val="85000"/>
                    <a:lumOff val="15000"/>
                  </a:schemeClr>
                </a:solidFill>
              </a:rPr>
              <a:t>❷ ranked reference numbers</a:t>
            </a:r>
          </a:p>
        </p:txBody>
      </p:sp>
      <p:sp>
        <p:nvSpPr>
          <p:cNvPr id="651" name="TextBox 650">
            <a:extLst>
              <a:ext uri="{FF2B5EF4-FFF2-40B4-BE49-F238E27FC236}">
                <a16:creationId xmlns:a16="http://schemas.microsoft.com/office/drawing/2014/main" id="{32A388AB-CC74-534A-2995-8F32D2319E04}"/>
              </a:ext>
            </a:extLst>
          </p:cNvPr>
          <p:cNvSpPr txBox="1"/>
          <p:nvPr/>
        </p:nvSpPr>
        <p:spPr>
          <a:xfrm>
            <a:off x="5740763" y="1751521"/>
            <a:ext cx="2315863" cy="246221"/>
          </a:xfrm>
          <a:prstGeom prst="rect">
            <a:avLst/>
          </a:prstGeom>
          <a:noFill/>
        </p:spPr>
        <p:txBody>
          <a:bodyPr wrap="square" rtlCol="0">
            <a:spAutoFit/>
          </a:bodyPr>
          <a:lstStyle/>
          <a:p>
            <a:pPr algn="ctr"/>
            <a:r>
              <a:rPr lang="en-US" sz="1000" dirty="0">
                <a:solidFill>
                  <a:schemeClr val="tx1">
                    <a:lumMod val="85000"/>
                    <a:lumOff val="15000"/>
                  </a:schemeClr>
                </a:solidFill>
              </a:rPr>
              <a:t>❸ fetch jobs by reference number</a:t>
            </a:r>
          </a:p>
        </p:txBody>
      </p:sp>
      <p:sp>
        <p:nvSpPr>
          <p:cNvPr id="653" name="TextBox 652">
            <a:extLst>
              <a:ext uri="{FF2B5EF4-FFF2-40B4-BE49-F238E27FC236}">
                <a16:creationId xmlns:a16="http://schemas.microsoft.com/office/drawing/2014/main" id="{05208CCA-66C4-602C-0CF4-88E5D82DED32}"/>
              </a:ext>
            </a:extLst>
          </p:cNvPr>
          <p:cNvSpPr txBox="1"/>
          <p:nvPr/>
        </p:nvSpPr>
        <p:spPr>
          <a:xfrm>
            <a:off x="5455921" y="902434"/>
            <a:ext cx="2600705" cy="246221"/>
          </a:xfrm>
          <a:prstGeom prst="rect">
            <a:avLst/>
          </a:prstGeom>
          <a:noFill/>
        </p:spPr>
        <p:txBody>
          <a:bodyPr wrap="square" rtlCol="0">
            <a:spAutoFit/>
          </a:bodyPr>
          <a:lstStyle/>
          <a:p>
            <a:pPr algn="ctr"/>
            <a:r>
              <a:rPr lang="en-US" sz="1000" dirty="0">
                <a:solidFill>
                  <a:schemeClr val="tx1">
                    <a:lumMod val="85000"/>
                    <a:lumOff val="15000"/>
                  </a:schemeClr>
                </a:solidFill>
              </a:rPr>
              <a:t>❹ job records</a:t>
            </a:r>
          </a:p>
        </p:txBody>
      </p:sp>
      <p:sp>
        <p:nvSpPr>
          <p:cNvPr id="659" name="Rectangle 658">
            <a:extLst>
              <a:ext uri="{FF2B5EF4-FFF2-40B4-BE49-F238E27FC236}">
                <a16:creationId xmlns:a16="http://schemas.microsoft.com/office/drawing/2014/main" id="{BC9C1D7B-62FD-0EBA-83D3-2D8F6F584FF2}"/>
              </a:ext>
            </a:extLst>
          </p:cNvPr>
          <p:cNvSpPr/>
          <p:nvPr/>
        </p:nvSpPr>
        <p:spPr>
          <a:xfrm>
            <a:off x="6116854" y="3598735"/>
            <a:ext cx="1278838" cy="982783"/>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1">
                    <a:lumMod val="85000"/>
                    <a:lumOff val="15000"/>
                  </a:schemeClr>
                </a:solidFill>
              </a:rPr>
              <a:t>Search relevance:</a:t>
            </a:r>
          </a:p>
          <a:p>
            <a:r>
              <a:rPr lang="en-US" sz="1000" dirty="0">
                <a:solidFill>
                  <a:schemeClr val="tx1">
                    <a:lumMod val="85000"/>
                    <a:lumOff val="15000"/>
                  </a:schemeClr>
                </a:solidFill>
              </a:rPr>
              <a:t>Title ×4</a:t>
            </a:r>
            <a:br>
              <a:rPr lang="en-US" sz="1000" dirty="0">
                <a:solidFill>
                  <a:schemeClr val="tx1">
                    <a:lumMod val="85000"/>
                    <a:lumOff val="15000"/>
                  </a:schemeClr>
                </a:solidFill>
              </a:rPr>
            </a:br>
            <a:r>
              <a:rPr lang="en-US" sz="1000" dirty="0">
                <a:solidFill>
                  <a:schemeClr val="tx1">
                    <a:lumMod val="85000"/>
                    <a:lumOff val="15000"/>
                  </a:schemeClr>
                </a:solidFill>
              </a:rPr>
              <a:t>Occupation ×3</a:t>
            </a:r>
            <a:br>
              <a:rPr lang="en-US" sz="1000" dirty="0">
                <a:solidFill>
                  <a:schemeClr val="tx1">
                    <a:lumMod val="85000"/>
                    <a:lumOff val="15000"/>
                  </a:schemeClr>
                </a:solidFill>
              </a:rPr>
            </a:br>
            <a:r>
              <a:rPr lang="en-US" sz="1000" dirty="0">
                <a:solidFill>
                  <a:schemeClr val="tx1">
                    <a:lumMod val="85000"/>
                    <a:lumOff val="15000"/>
                  </a:schemeClr>
                </a:solidFill>
              </a:rPr>
              <a:t>Company ×2</a:t>
            </a:r>
            <a:br>
              <a:rPr lang="en-US" sz="1000" dirty="0">
                <a:solidFill>
                  <a:schemeClr val="tx1">
                    <a:lumMod val="85000"/>
                    <a:lumOff val="15000"/>
                  </a:schemeClr>
                </a:solidFill>
              </a:rPr>
            </a:br>
            <a:r>
              <a:rPr lang="en-US" sz="1000" dirty="0">
                <a:solidFill>
                  <a:schemeClr val="tx1">
                    <a:lumMod val="85000"/>
                    <a:lumOff val="15000"/>
                  </a:schemeClr>
                </a:solidFill>
              </a:rPr>
              <a:t>Category ×2</a:t>
            </a:r>
            <a:br>
              <a:rPr lang="en-US" sz="1000" dirty="0">
                <a:solidFill>
                  <a:schemeClr val="tx1">
                    <a:lumMod val="85000"/>
                    <a:lumOff val="15000"/>
                  </a:schemeClr>
                </a:solidFill>
              </a:rPr>
            </a:br>
            <a:r>
              <a:rPr lang="en-US" sz="1000" dirty="0">
                <a:solidFill>
                  <a:schemeClr val="tx1">
                    <a:lumMod val="85000"/>
                    <a:lumOff val="15000"/>
                  </a:schemeClr>
                </a:solidFill>
              </a:rPr>
              <a:t>Description ×1</a:t>
            </a:r>
          </a:p>
        </p:txBody>
      </p:sp>
      <p:sp>
        <p:nvSpPr>
          <p:cNvPr id="724" name="TextBox 723">
            <a:extLst>
              <a:ext uri="{FF2B5EF4-FFF2-40B4-BE49-F238E27FC236}">
                <a16:creationId xmlns:a16="http://schemas.microsoft.com/office/drawing/2014/main" id="{E30231C9-5DEE-0150-5636-ECE41C1571F7}"/>
              </a:ext>
            </a:extLst>
          </p:cNvPr>
          <p:cNvSpPr txBox="1"/>
          <p:nvPr/>
        </p:nvSpPr>
        <p:spPr>
          <a:xfrm>
            <a:off x="1471890" y="1650317"/>
            <a:ext cx="418289" cy="246221"/>
          </a:xfrm>
          <a:prstGeom prst="rect">
            <a:avLst/>
          </a:prstGeom>
          <a:noFill/>
        </p:spPr>
        <p:txBody>
          <a:bodyPr wrap="square" rtlCol="0">
            <a:spAutoFit/>
          </a:bodyPr>
          <a:lstStyle/>
          <a:p>
            <a:r>
              <a:rPr lang="en-US" sz="1000" dirty="0"/>
              <a:t>no</a:t>
            </a:r>
          </a:p>
        </p:txBody>
      </p:sp>
      <p:sp>
        <p:nvSpPr>
          <p:cNvPr id="725" name="Diamond 724">
            <a:extLst>
              <a:ext uri="{FF2B5EF4-FFF2-40B4-BE49-F238E27FC236}">
                <a16:creationId xmlns:a16="http://schemas.microsoft.com/office/drawing/2014/main" id="{B3A5A0BC-7DE4-F064-1A9E-090F4F5BABF0}"/>
              </a:ext>
            </a:extLst>
          </p:cNvPr>
          <p:cNvSpPr/>
          <p:nvPr/>
        </p:nvSpPr>
        <p:spPr>
          <a:xfrm>
            <a:off x="1775628" y="1381956"/>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Keyword provided?</a:t>
            </a:r>
          </a:p>
        </p:txBody>
      </p:sp>
      <p:sp>
        <p:nvSpPr>
          <p:cNvPr id="726" name="TextBox 725">
            <a:extLst>
              <a:ext uri="{FF2B5EF4-FFF2-40B4-BE49-F238E27FC236}">
                <a16:creationId xmlns:a16="http://schemas.microsoft.com/office/drawing/2014/main" id="{D27BA92E-8FCE-482C-A3B4-B4905ED5032F}"/>
              </a:ext>
            </a:extLst>
          </p:cNvPr>
          <p:cNvSpPr txBox="1"/>
          <p:nvPr/>
        </p:nvSpPr>
        <p:spPr>
          <a:xfrm>
            <a:off x="2885905" y="1650939"/>
            <a:ext cx="418289" cy="246221"/>
          </a:xfrm>
          <a:prstGeom prst="rect">
            <a:avLst/>
          </a:prstGeom>
          <a:noFill/>
        </p:spPr>
        <p:txBody>
          <a:bodyPr wrap="square" rtlCol="0">
            <a:spAutoFit/>
          </a:bodyPr>
          <a:lstStyle/>
          <a:p>
            <a:r>
              <a:rPr lang="en-US" sz="1000" dirty="0"/>
              <a:t>yes</a:t>
            </a:r>
          </a:p>
        </p:txBody>
      </p:sp>
      <p:grpSp>
        <p:nvGrpSpPr>
          <p:cNvPr id="727" name="Group 726">
            <a:extLst>
              <a:ext uri="{FF2B5EF4-FFF2-40B4-BE49-F238E27FC236}">
                <a16:creationId xmlns:a16="http://schemas.microsoft.com/office/drawing/2014/main" id="{DBCDB624-8F1A-2E4E-05DF-1A81980CFE97}"/>
              </a:ext>
            </a:extLst>
          </p:cNvPr>
          <p:cNvGrpSpPr/>
          <p:nvPr/>
        </p:nvGrpSpPr>
        <p:grpSpPr>
          <a:xfrm>
            <a:off x="828780" y="2574034"/>
            <a:ext cx="1443854" cy="838350"/>
            <a:chOff x="5661388" y="2978068"/>
            <a:chExt cx="1443854" cy="838350"/>
          </a:xfrm>
        </p:grpSpPr>
        <p:sp>
          <p:nvSpPr>
            <p:cNvPr id="728" name="Rectangle: Rounded Corners 727">
              <a:extLst>
                <a:ext uri="{FF2B5EF4-FFF2-40B4-BE49-F238E27FC236}">
                  <a16:creationId xmlns:a16="http://schemas.microsoft.com/office/drawing/2014/main" id="{FE16D183-21A0-DA9E-2EEB-7E98FD6F0825}"/>
                </a:ext>
              </a:extLst>
            </p:cNvPr>
            <p:cNvSpPr/>
            <p:nvPr/>
          </p:nvSpPr>
          <p:spPr>
            <a:xfrm>
              <a:off x="5661388" y="2978068"/>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structured filters. Order by publication date, newest first.</a:t>
              </a:r>
            </a:p>
          </p:txBody>
        </p:sp>
        <p:pic>
          <p:nvPicPr>
            <p:cNvPr id="729" name="Picture 728" descr="File:PostgreSQL logo.3colors.540x557.png">
              <a:extLst>
                <a:ext uri="{FF2B5EF4-FFF2-40B4-BE49-F238E27FC236}">
                  <a16:creationId xmlns:a16="http://schemas.microsoft.com/office/drawing/2014/main" id="{E22F6A8B-D417-F57D-DB72-B130057B8677}"/>
                </a:ext>
              </a:extLst>
            </p:cNvPr>
            <p:cNvPicPr>
              <a:picLocks noChangeAspect="1"/>
            </p:cNvPicPr>
            <p:nvPr/>
          </p:nvPicPr>
          <p:blipFill>
            <a:blip r:embed="rId4"/>
            <a:stretch>
              <a:fillRect/>
            </a:stretch>
          </p:blipFill>
          <p:spPr>
            <a:xfrm>
              <a:off x="5755192" y="3044384"/>
              <a:ext cx="181196" cy="186901"/>
            </a:xfrm>
            <a:prstGeom prst="rect">
              <a:avLst/>
            </a:prstGeom>
          </p:spPr>
        </p:pic>
      </p:grpSp>
      <p:cxnSp>
        <p:nvCxnSpPr>
          <p:cNvPr id="730" name="Connector: Elbow 729">
            <a:extLst>
              <a:ext uri="{FF2B5EF4-FFF2-40B4-BE49-F238E27FC236}">
                <a16:creationId xmlns:a16="http://schemas.microsoft.com/office/drawing/2014/main" id="{DCAA579F-7B0A-13F2-0018-8281E09919DD}"/>
              </a:ext>
            </a:extLst>
          </p:cNvPr>
          <p:cNvCxnSpPr>
            <a:cxnSpLocks/>
            <a:stCxn id="725" idx="1"/>
            <a:endCxn id="728" idx="0"/>
          </p:cNvCxnSpPr>
          <p:nvPr/>
        </p:nvCxnSpPr>
        <p:spPr>
          <a:xfrm rot="10800000" flipV="1">
            <a:off x="1550708" y="1904210"/>
            <a:ext cx="224921" cy="669823"/>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1" name="Connector: Elbow 730">
            <a:extLst>
              <a:ext uri="{FF2B5EF4-FFF2-40B4-BE49-F238E27FC236}">
                <a16:creationId xmlns:a16="http://schemas.microsoft.com/office/drawing/2014/main" id="{1876835A-A93B-2E64-D7DB-61D807172805}"/>
              </a:ext>
            </a:extLst>
          </p:cNvPr>
          <p:cNvCxnSpPr>
            <a:cxnSpLocks/>
            <a:stCxn id="725" idx="3"/>
            <a:endCxn id="733" idx="0"/>
          </p:cNvCxnSpPr>
          <p:nvPr/>
        </p:nvCxnSpPr>
        <p:spPr>
          <a:xfrm>
            <a:off x="2904906" y="1904211"/>
            <a:ext cx="258786" cy="667539"/>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32" name="Group 731">
            <a:extLst>
              <a:ext uri="{FF2B5EF4-FFF2-40B4-BE49-F238E27FC236}">
                <a16:creationId xmlns:a16="http://schemas.microsoft.com/office/drawing/2014/main" id="{ED6EC862-5E29-09F1-BD19-07385893C25E}"/>
              </a:ext>
            </a:extLst>
          </p:cNvPr>
          <p:cNvGrpSpPr/>
          <p:nvPr/>
        </p:nvGrpSpPr>
        <p:grpSpPr>
          <a:xfrm>
            <a:off x="2441765" y="2571750"/>
            <a:ext cx="1443854" cy="838352"/>
            <a:chOff x="7371477" y="2971818"/>
            <a:chExt cx="1443854" cy="838352"/>
          </a:xfrm>
        </p:grpSpPr>
        <p:sp>
          <p:nvSpPr>
            <p:cNvPr id="733" name="Rectangle: Rounded Corners 732">
              <a:extLst>
                <a:ext uri="{FF2B5EF4-FFF2-40B4-BE49-F238E27FC236}">
                  <a16:creationId xmlns:a16="http://schemas.microsoft.com/office/drawing/2014/main" id="{F647C8D1-D4A4-9227-CB74-00F21A33EFC7}"/>
                </a:ext>
              </a:extLst>
            </p:cNvPr>
            <p:cNvSpPr/>
            <p:nvPr/>
          </p:nvSpPr>
          <p:spPr>
            <a:xfrm>
              <a:off x="7371477" y="2971818"/>
              <a:ext cx="144385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full-text search + structured filters.</a:t>
              </a:r>
            </a:p>
            <a:p>
              <a:r>
                <a:rPr lang="en-US" sz="1000" dirty="0">
                  <a:solidFill>
                    <a:schemeClr val="tx1">
                      <a:lumMod val="85000"/>
                      <a:lumOff val="15000"/>
                    </a:schemeClr>
                  </a:solidFill>
                </a:rPr>
                <a:t>Rank by relevance.</a:t>
              </a:r>
            </a:p>
          </p:txBody>
        </p:sp>
        <p:pic>
          <p:nvPicPr>
            <p:cNvPr id="734" name="Picture 733">
              <a:extLst>
                <a:ext uri="{FF2B5EF4-FFF2-40B4-BE49-F238E27FC236}">
                  <a16:creationId xmlns:a16="http://schemas.microsoft.com/office/drawing/2014/main" id="{70BF3CFB-0853-5F34-9BAF-7BEA1CE9A465}"/>
                </a:ext>
              </a:extLst>
            </p:cNvPr>
            <p:cNvPicPr>
              <a:picLocks noChangeAspect="1"/>
            </p:cNvPicPr>
            <p:nvPr/>
          </p:nvPicPr>
          <p:blipFill>
            <a:blip r:embed="rId10"/>
            <a:stretch>
              <a:fillRect/>
            </a:stretch>
          </p:blipFill>
          <p:spPr>
            <a:xfrm>
              <a:off x="7467898" y="3037630"/>
              <a:ext cx="189689" cy="189689"/>
            </a:xfrm>
            <a:prstGeom prst="rect">
              <a:avLst/>
            </a:prstGeom>
          </p:spPr>
        </p:pic>
      </p:grpSp>
      <p:cxnSp>
        <p:nvCxnSpPr>
          <p:cNvPr id="736" name="Straight Arrow Connector 735">
            <a:extLst>
              <a:ext uri="{FF2B5EF4-FFF2-40B4-BE49-F238E27FC236}">
                <a16:creationId xmlns:a16="http://schemas.microsoft.com/office/drawing/2014/main" id="{47998689-CC99-028C-26A4-CCFE61FB34F5}"/>
              </a:ext>
            </a:extLst>
          </p:cNvPr>
          <p:cNvCxnSpPr>
            <a:cxnSpLocks/>
            <a:stCxn id="9" idx="4"/>
            <a:endCxn id="725" idx="0"/>
          </p:cNvCxnSpPr>
          <p:nvPr/>
        </p:nvCxnSpPr>
        <p:spPr>
          <a:xfrm flipH="1">
            <a:off x="2340267" y="1152073"/>
            <a:ext cx="3515" cy="22988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7" name="TextBox 736">
            <a:extLst>
              <a:ext uri="{FF2B5EF4-FFF2-40B4-BE49-F238E27FC236}">
                <a16:creationId xmlns:a16="http://schemas.microsoft.com/office/drawing/2014/main" id="{A636A6E1-A76A-7EB0-6C0F-3240D0452105}"/>
              </a:ext>
            </a:extLst>
          </p:cNvPr>
          <p:cNvSpPr txBox="1"/>
          <p:nvPr/>
        </p:nvSpPr>
        <p:spPr>
          <a:xfrm>
            <a:off x="2466815" y="909529"/>
            <a:ext cx="1127232" cy="246221"/>
          </a:xfrm>
          <a:prstGeom prst="rect">
            <a:avLst/>
          </a:prstGeom>
          <a:noFill/>
        </p:spPr>
        <p:txBody>
          <a:bodyPr wrap="none" rtlCol="0">
            <a:spAutoFit/>
          </a:bodyPr>
          <a:lstStyle/>
          <a:p>
            <a:r>
              <a:rPr lang="en-US" sz="1000" dirty="0"/>
              <a:t>Search triggered</a:t>
            </a:r>
          </a:p>
        </p:txBody>
      </p:sp>
      <p:cxnSp>
        <p:nvCxnSpPr>
          <p:cNvPr id="738" name="Connector: Elbow 737">
            <a:extLst>
              <a:ext uri="{FF2B5EF4-FFF2-40B4-BE49-F238E27FC236}">
                <a16:creationId xmlns:a16="http://schemas.microsoft.com/office/drawing/2014/main" id="{1AD88943-EFFC-97FC-66A9-1BCABD41CBD7}"/>
              </a:ext>
            </a:extLst>
          </p:cNvPr>
          <p:cNvCxnSpPr>
            <a:cxnSpLocks/>
            <a:stCxn id="19" idx="1"/>
            <a:endCxn id="13" idx="0"/>
          </p:cNvCxnSpPr>
          <p:nvPr/>
        </p:nvCxnSpPr>
        <p:spPr>
          <a:xfrm rot="10800000" flipV="1">
            <a:off x="4661262" y="2193873"/>
            <a:ext cx="445403" cy="831199"/>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744" name="Straight Arrow Connector 743">
            <a:extLst>
              <a:ext uri="{FF2B5EF4-FFF2-40B4-BE49-F238E27FC236}">
                <a16:creationId xmlns:a16="http://schemas.microsoft.com/office/drawing/2014/main" id="{D4E922EC-3467-9297-C6E5-8A99F758B705}"/>
              </a:ext>
            </a:extLst>
          </p:cNvPr>
          <p:cNvCxnSpPr>
            <a:cxnSpLocks/>
            <a:stCxn id="733" idx="2"/>
            <a:endCxn id="749" idx="0"/>
          </p:cNvCxnSpPr>
          <p:nvPr/>
        </p:nvCxnSpPr>
        <p:spPr>
          <a:xfrm>
            <a:off x="3163692" y="3410102"/>
            <a:ext cx="0" cy="29010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48" name="Group 747">
            <a:extLst>
              <a:ext uri="{FF2B5EF4-FFF2-40B4-BE49-F238E27FC236}">
                <a16:creationId xmlns:a16="http://schemas.microsoft.com/office/drawing/2014/main" id="{01B619E9-29AC-CA33-92AA-E38B26F58CED}"/>
              </a:ext>
            </a:extLst>
          </p:cNvPr>
          <p:cNvGrpSpPr/>
          <p:nvPr/>
        </p:nvGrpSpPr>
        <p:grpSpPr>
          <a:xfrm>
            <a:off x="2441765" y="3700205"/>
            <a:ext cx="1443854" cy="838350"/>
            <a:chOff x="5661388" y="2978068"/>
            <a:chExt cx="1443854" cy="838350"/>
          </a:xfrm>
        </p:grpSpPr>
        <p:sp>
          <p:nvSpPr>
            <p:cNvPr id="749" name="Rectangle: Rounded Corners 748">
              <a:extLst>
                <a:ext uri="{FF2B5EF4-FFF2-40B4-BE49-F238E27FC236}">
                  <a16:creationId xmlns:a16="http://schemas.microsoft.com/office/drawing/2014/main" id="{A252A059-F40A-10CA-34F7-450689BB4327}"/>
                </a:ext>
              </a:extLst>
            </p:cNvPr>
            <p:cNvSpPr/>
            <p:nvPr/>
          </p:nvSpPr>
          <p:spPr>
            <a:xfrm>
              <a:off x="5661388" y="2978068"/>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Retrieve job records in ranked order.</a:t>
              </a:r>
            </a:p>
          </p:txBody>
        </p:sp>
        <p:pic>
          <p:nvPicPr>
            <p:cNvPr id="750" name="Picture 749" descr="File:PostgreSQL logo.3colors.540x557.png">
              <a:extLst>
                <a:ext uri="{FF2B5EF4-FFF2-40B4-BE49-F238E27FC236}">
                  <a16:creationId xmlns:a16="http://schemas.microsoft.com/office/drawing/2014/main" id="{4CDF3100-64C8-A095-832F-108DED7919A0}"/>
                </a:ext>
              </a:extLst>
            </p:cNvPr>
            <p:cNvPicPr>
              <a:picLocks noChangeAspect="1"/>
            </p:cNvPicPr>
            <p:nvPr/>
          </p:nvPicPr>
          <p:blipFill>
            <a:blip r:embed="rId4"/>
            <a:stretch>
              <a:fillRect/>
            </a:stretch>
          </p:blipFill>
          <p:spPr>
            <a:xfrm>
              <a:off x="5755193" y="3044385"/>
              <a:ext cx="174948" cy="180456"/>
            </a:xfrm>
            <a:prstGeom prst="rect">
              <a:avLst/>
            </a:prstGeom>
          </p:spPr>
        </p:pic>
      </p:grpSp>
      <p:sp>
        <p:nvSpPr>
          <p:cNvPr id="753" name="Rectangle 752">
            <a:extLst>
              <a:ext uri="{FF2B5EF4-FFF2-40B4-BE49-F238E27FC236}">
                <a16:creationId xmlns:a16="http://schemas.microsoft.com/office/drawing/2014/main" id="{C50FC7E7-084E-4C8C-DCB6-AD45A27AB67E}"/>
              </a:ext>
            </a:extLst>
          </p:cNvPr>
          <p:cNvSpPr/>
          <p:nvPr/>
        </p:nvSpPr>
        <p:spPr>
          <a:xfrm>
            <a:off x="6141516" y="2661219"/>
            <a:ext cx="1514356" cy="295869"/>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lumMod val="85000"/>
                    <a:lumOff val="15000"/>
                  </a:schemeClr>
                </a:solidFill>
              </a:rPr>
              <a:t>"Python Kubernetes"</a:t>
            </a:r>
          </a:p>
        </p:txBody>
      </p:sp>
      <p:cxnSp>
        <p:nvCxnSpPr>
          <p:cNvPr id="5" name="Straight Connector 4">
            <a:extLst>
              <a:ext uri="{FF2B5EF4-FFF2-40B4-BE49-F238E27FC236}">
                <a16:creationId xmlns:a16="http://schemas.microsoft.com/office/drawing/2014/main" id="{91E8367D-6963-E6FE-B833-E173A45593F3}"/>
              </a:ext>
            </a:extLst>
          </p:cNvPr>
          <p:cNvCxnSpPr>
            <a:cxnSpLocks/>
          </p:cNvCxnSpPr>
          <p:nvPr/>
        </p:nvCxnSpPr>
        <p:spPr>
          <a:xfrm>
            <a:off x="4142898" y="790160"/>
            <a:ext cx="0" cy="388619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3F299F7-A4CB-B46F-4F96-481661DAA388}"/>
              </a:ext>
            </a:extLst>
          </p:cNvPr>
          <p:cNvSpPr/>
          <p:nvPr/>
        </p:nvSpPr>
        <p:spPr>
          <a:xfrm>
            <a:off x="2238207" y="940923"/>
            <a:ext cx="211150" cy="211150"/>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6430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C3F06FF1-9335-468A-8DC9-1BB93412AC60}"/>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DCA2773C-7D4B-D084-3045-7AB34BC7C5F1}"/>
              </a:ext>
            </a:extLst>
          </p:cNvPr>
          <p:cNvSpPr/>
          <p:nvPr/>
        </p:nvSpPr>
        <p:spPr>
          <a:xfrm>
            <a:off x="1100138" y="633413"/>
            <a:ext cx="7305674" cy="4146236"/>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4" name="TextBox 623">
            <a:extLst>
              <a:ext uri="{FF2B5EF4-FFF2-40B4-BE49-F238E27FC236}">
                <a16:creationId xmlns:a16="http://schemas.microsoft.com/office/drawing/2014/main" id="{68B56A9A-9D78-9898-6DC1-F2F1390C3A52}"/>
              </a:ext>
            </a:extLst>
          </p:cNvPr>
          <p:cNvSpPr txBox="1"/>
          <p:nvPr/>
        </p:nvSpPr>
        <p:spPr>
          <a:xfrm>
            <a:off x="4326689" y="836255"/>
            <a:ext cx="1488925" cy="276999"/>
          </a:xfrm>
          <a:prstGeom prst="rect">
            <a:avLst/>
          </a:prstGeom>
          <a:noFill/>
        </p:spPr>
        <p:txBody>
          <a:bodyPr wrap="square" rtlCol="0">
            <a:spAutoFit/>
          </a:bodyPr>
          <a:lstStyle/>
          <a:p>
            <a:pPr algn="ctr"/>
            <a:r>
              <a:rPr lang="en-US" sz="1200" dirty="0">
                <a:solidFill>
                  <a:schemeClr val="tx1">
                    <a:lumMod val="75000"/>
                    <a:lumOff val="25000"/>
                  </a:schemeClr>
                </a:solidFill>
              </a:rPr>
              <a:t>read</a:t>
            </a:r>
          </a:p>
        </p:txBody>
      </p:sp>
      <p:cxnSp>
        <p:nvCxnSpPr>
          <p:cNvPr id="583" name="Connector: Elbow 582">
            <a:extLst>
              <a:ext uri="{FF2B5EF4-FFF2-40B4-BE49-F238E27FC236}">
                <a16:creationId xmlns:a16="http://schemas.microsoft.com/office/drawing/2014/main" id="{AA65BEAE-F6D5-3100-D350-CD15E2BCCD5F}"/>
              </a:ext>
            </a:extLst>
          </p:cNvPr>
          <p:cNvCxnSpPr>
            <a:cxnSpLocks/>
            <a:stCxn id="14" idx="3"/>
            <a:endCxn id="601" idx="2"/>
          </p:cNvCxnSpPr>
          <p:nvPr/>
        </p:nvCxnSpPr>
        <p:spPr>
          <a:xfrm flipV="1">
            <a:off x="4973053" y="1538616"/>
            <a:ext cx="1857458" cy="1175224"/>
          </a:xfrm>
          <a:prstGeom prst="bentConnector2">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33" name="Google Shape;633;p91">
            <a:extLst>
              <a:ext uri="{FF2B5EF4-FFF2-40B4-BE49-F238E27FC236}">
                <a16:creationId xmlns:a16="http://schemas.microsoft.com/office/drawing/2014/main" id="{1FF0F72C-42EA-89B7-6496-D13A3CF51C76}"/>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Docker Deployment</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74C666D9-CE60-B65C-0A76-4855F59F3AE3}"/>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B68D65FD-5CC9-5972-29F5-93C8AE5B5CAC}"/>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pic>
        <p:nvPicPr>
          <p:cNvPr id="44" name="Picture 43">
            <a:extLst>
              <a:ext uri="{FF2B5EF4-FFF2-40B4-BE49-F238E27FC236}">
                <a16:creationId xmlns:a16="http://schemas.microsoft.com/office/drawing/2014/main" id="{DB8E40B2-7EB3-9C26-FD10-E109D6FA6A89}"/>
              </a:ext>
            </a:extLst>
          </p:cNvPr>
          <p:cNvPicPr>
            <a:picLocks noChangeAspect="1"/>
          </p:cNvPicPr>
          <p:nvPr/>
        </p:nvPicPr>
        <p:blipFill>
          <a:blip r:embed="rId4"/>
          <a:stretch>
            <a:fillRect/>
          </a:stretch>
        </p:blipFill>
        <p:spPr>
          <a:xfrm>
            <a:off x="6660901" y="944423"/>
            <a:ext cx="345703" cy="309055"/>
          </a:xfrm>
          <a:prstGeom prst="rect">
            <a:avLst/>
          </a:prstGeom>
        </p:spPr>
      </p:pic>
      <p:pic>
        <p:nvPicPr>
          <p:cNvPr id="661" name="Picture 660">
            <a:extLst>
              <a:ext uri="{FF2B5EF4-FFF2-40B4-BE49-F238E27FC236}">
                <a16:creationId xmlns:a16="http://schemas.microsoft.com/office/drawing/2014/main" id="{FC8DB018-09C3-8239-F2EC-5B6D13452EAF}"/>
              </a:ext>
            </a:extLst>
          </p:cNvPr>
          <p:cNvPicPr>
            <a:picLocks noChangeAspect="1"/>
          </p:cNvPicPr>
          <p:nvPr/>
        </p:nvPicPr>
        <p:blipFill>
          <a:blip r:embed="rId5"/>
          <a:stretch>
            <a:fillRect/>
          </a:stretch>
        </p:blipFill>
        <p:spPr>
          <a:xfrm>
            <a:off x="1592600" y="944424"/>
            <a:ext cx="399024" cy="317193"/>
          </a:xfrm>
          <a:prstGeom prst="rect">
            <a:avLst/>
          </a:prstGeom>
        </p:spPr>
      </p:pic>
      <p:cxnSp>
        <p:nvCxnSpPr>
          <p:cNvPr id="666" name="Connector: Elbow 665">
            <a:extLst>
              <a:ext uri="{FF2B5EF4-FFF2-40B4-BE49-F238E27FC236}">
                <a16:creationId xmlns:a16="http://schemas.microsoft.com/office/drawing/2014/main" id="{A1A69FD4-93A3-D7D5-B457-DAE78C272D39}"/>
              </a:ext>
            </a:extLst>
          </p:cNvPr>
          <p:cNvCxnSpPr>
            <a:cxnSpLocks/>
            <a:stCxn id="28" idx="0"/>
            <a:endCxn id="57" idx="2"/>
          </p:cNvCxnSpPr>
          <p:nvPr/>
        </p:nvCxnSpPr>
        <p:spPr>
          <a:xfrm rot="16200000" flipV="1">
            <a:off x="1982661" y="1316067"/>
            <a:ext cx="1112627" cy="1551419"/>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70" name="TextBox 669">
            <a:extLst>
              <a:ext uri="{FF2B5EF4-FFF2-40B4-BE49-F238E27FC236}">
                <a16:creationId xmlns:a16="http://schemas.microsoft.com/office/drawing/2014/main" id="{750FBAB4-F377-148C-C8ED-F4EFC72429E5}"/>
              </a:ext>
            </a:extLst>
          </p:cNvPr>
          <p:cNvSpPr txBox="1"/>
          <p:nvPr/>
        </p:nvSpPr>
        <p:spPr>
          <a:xfrm>
            <a:off x="2969502" y="2644086"/>
            <a:ext cx="2003550" cy="307777"/>
          </a:xfrm>
          <a:prstGeom prst="rect">
            <a:avLst/>
          </a:prstGeom>
          <a:solidFill>
            <a:schemeClr val="tx1">
              <a:lumMod val="95000"/>
              <a:lumOff val="5000"/>
            </a:schemeClr>
          </a:solidFill>
        </p:spPr>
        <p:txBody>
          <a:bodyPr wrap="square" rtlCol="0">
            <a:spAutoFit/>
          </a:bodyPr>
          <a:lstStyle/>
          <a:p>
            <a:pPr algn="ctr"/>
            <a:r>
              <a:rPr lang="en-US" dirty="0">
                <a:solidFill>
                  <a:schemeClr val="bg1">
                    <a:lumMod val="85000"/>
                  </a:schemeClr>
                </a:solidFill>
              </a:rPr>
              <a:t>~# docker compose up</a:t>
            </a:r>
          </a:p>
        </p:txBody>
      </p:sp>
      <p:pic>
        <p:nvPicPr>
          <p:cNvPr id="713" name="Picture 712">
            <a:extLst>
              <a:ext uri="{FF2B5EF4-FFF2-40B4-BE49-F238E27FC236}">
                <a16:creationId xmlns:a16="http://schemas.microsoft.com/office/drawing/2014/main" id="{E2C8CE04-7F46-7854-8DD2-9E2F4FDE6ABC}"/>
              </a:ext>
            </a:extLst>
          </p:cNvPr>
          <p:cNvPicPr>
            <a:picLocks noChangeAspect="1"/>
          </p:cNvPicPr>
          <p:nvPr/>
        </p:nvPicPr>
        <p:blipFill>
          <a:blip r:embed="rId6"/>
          <a:stretch>
            <a:fillRect/>
          </a:stretch>
        </p:blipFill>
        <p:spPr>
          <a:xfrm>
            <a:off x="3700433" y="784324"/>
            <a:ext cx="575868" cy="106267"/>
          </a:xfrm>
          <a:prstGeom prst="rect">
            <a:avLst/>
          </a:prstGeom>
        </p:spPr>
      </p:pic>
      <p:cxnSp>
        <p:nvCxnSpPr>
          <p:cNvPr id="762" name="Straight Arrow Connector 761">
            <a:extLst>
              <a:ext uri="{FF2B5EF4-FFF2-40B4-BE49-F238E27FC236}">
                <a16:creationId xmlns:a16="http://schemas.microsoft.com/office/drawing/2014/main" id="{4EBDB629-1BDF-4AC1-A071-93B3FBAA22FA}"/>
              </a:ext>
            </a:extLst>
          </p:cNvPr>
          <p:cNvCxnSpPr>
            <a:cxnSpLocks/>
            <a:stCxn id="715" idx="3"/>
            <a:endCxn id="44" idx="1"/>
          </p:cNvCxnSpPr>
          <p:nvPr/>
        </p:nvCxnSpPr>
        <p:spPr>
          <a:xfrm flipV="1">
            <a:off x="4191024" y="1098951"/>
            <a:ext cx="2469877" cy="4743"/>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52" name="TextBox 51">
            <a:extLst>
              <a:ext uri="{FF2B5EF4-FFF2-40B4-BE49-F238E27FC236}">
                <a16:creationId xmlns:a16="http://schemas.microsoft.com/office/drawing/2014/main" id="{C4B3D84A-4293-8209-129A-80B3E91C77E5}"/>
              </a:ext>
            </a:extLst>
          </p:cNvPr>
          <p:cNvSpPr txBox="1"/>
          <p:nvPr/>
        </p:nvSpPr>
        <p:spPr>
          <a:xfrm>
            <a:off x="3325773" y="1253546"/>
            <a:ext cx="1296542" cy="276999"/>
          </a:xfrm>
          <a:prstGeom prst="rect">
            <a:avLst/>
          </a:prstGeom>
          <a:noFill/>
        </p:spPr>
        <p:txBody>
          <a:bodyPr wrap="square" rtlCol="0">
            <a:spAutoFit/>
          </a:bodyPr>
          <a:lstStyle/>
          <a:p>
            <a:pPr algn="ctr"/>
            <a:r>
              <a:rPr lang="en-US" sz="1200" b="1" dirty="0">
                <a:solidFill>
                  <a:schemeClr val="tx1">
                    <a:lumMod val="85000"/>
                    <a:lumOff val="15000"/>
                  </a:schemeClr>
                </a:solidFill>
              </a:rPr>
              <a:t>backend</a:t>
            </a:r>
            <a:r>
              <a:rPr lang="en-US" sz="1200" dirty="0"/>
              <a:t> </a:t>
            </a:r>
            <a:r>
              <a:rPr lang="en-US" sz="1200" dirty="0">
                <a:solidFill>
                  <a:srgbClr val="0000EE"/>
                </a:solidFill>
              </a:rPr>
              <a:t>:8000</a:t>
            </a:r>
          </a:p>
        </p:txBody>
      </p:sp>
      <p:sp>
        <p:nvSpPr>
          <p:cNvPr id="57" name="TextBox 56">
            <a:extLst>
              <a:ext uri="{FF2B5EF4-FFF2-40B4-BE49-F238E27FC236}">
                <a16:creationId xmlns:a16="http://schemas.microsoft.com/office/drawing/2014/main" id="{BAAFAC4C-49B1-A0AE-E643-7EF3AEA327D1}"/>
              </a:ext>
            </a:extLst>
          </p:cNvPr>
          <p:cNvSpPr txBox="1"/>
          <p:nvPr/>
        </p:nvSpPr>
        <p:spPr>
          <a:xfrm>
            <a:off x="1139471" y="1258464"/>
            <a:ext cx="1247586" cy="276999"/>
          </a:xfrm>
          <a:prstGeom prst="rect">
            <a:avLst/>
          </a:prstGeom>
          <a:noFill/>
        </p:spPr>
        <p:txBody>
          <a:bodyPr wrap="square" rtlCol="0">
            <a:spAutoFit/>
          </a:bodyPr>
          <a:lstStyle/>
          <a:p>
            <a:pPr algn="ctr"/>
            <a:r>
              <a:rPr lang="en-US" sz="1200" b="1" dirty="0">
                <a:solidFill>
                  <a:schemeClr val="tx1">
                    <a:lumMod val="85000"/>
                    <a:lumOff val="15000"/>
                  </a:schemeClr>
                </a:solidFill>
              </a:rPr>
              <a:t>frontend </a:t>
            </a:r>
            <a:r>
              <a:rPr lang="en-US" sz="1200" dirty="0">
                <a:solidFill>
                  <a:srgbClr val="0000EE"/>
                </a:solidFill>
              </a:rPr>
              <a:t>:8050</a:t>
            </a:r>
          </a:p>
        </p:txBody>
      </p:sp>
      <p:pic>
        <p:nvPicPr>
          <p:cNvPr id="5" name="Picture 4" descr="File:PostgreSQL logo.3colors.540x557.png">
            <a:extLst>
              <a:ext uri="{FF2B5EF4-FFF2-40B4-BE49-F238E27FC236}">
                <a16:creationId xmlns:a16="http://schemas.microsoft.com/office/drawing/2014/main" id="{9B9F599F-C7DC-99EF-7460-99502CCFE75C}"/>
              </a:ext>
            </a:extLst>
          </p:cNvPr>
          <p:cNvPicPr>
            <a:picLocks noChangeAspect="1"/>
          </p:cNvPicPr>
          <p:nvPr/>
        </p:nvPicPr>
        <p:blipFill>
          <a:blip r:embed="rId7"/>
          <a:stretch>
            <a:fillRect/>
          </a:stretch>
        </p:blipFill>
        <p:spPr>
          <a:xfrm>
            <a:off x="6726071" y="723300"/>
            <a:ext cx="197063" cy="203267"/>
          </a:xfrm>
          <a:prstGeom prst="rect">
            <a:avLst/>
          </a:prstGeom>
        </p:spPr>
      </p:pic>
      <p:pic>
        <p:nvPicPr>
          <p:cNvPr id="3" name="Picture 2">
            <a:extLst>
              <a:ext uri="{FF2B5EF4-FFF2-40B4-BE49-F238E27FC236}">
                <a16:creationId xmlns:a16="http://schemas.microsoft.com/office/drawing/2014/main" id="{5FEA6A4D-8BC0-0F25-F3AB-145D9EE091EF}"/>
              </a:ext>
            </a:extLst>
          </p:cNvPr>
          <p:cNvPicPr>
            <a:picLocks noChangeAspect="1"/>
          </p:cNvPicPr>
          <p:nvPr/>
        </p:nvPicPr>
        <p:blipFill>
          <a:blip r:embed="rId8"/>
          <a:stretch>
            <a:fillRect/>
          </a:stretch>
        </p:blipFill>
        <p:spPr>
          <a:xfrm>
            <a:off x="5014611" y="3724793"/>
            <a:ext cx="762608" cy="295892"/>
          </a:xfrm>
          <a:prstGeom prst="rect">
            <a:avLst/>
          </a:prstGeom>
        </p:spPr>
      </p:pic>
      <p:cxnSp>
        <p:nvCxnSpPr>
          <p:cNvPr id="31" name="Straight Arrow Connector 30">
            <a:extLst>
              <a:ext uri="{FF2B5EF4-FFF2-40B4-BE49-F238E27FC236}">
                <a16:creationId xmlns:a16="http://schemas.microsoft.com/office/drawing/2014/main" id="{65A434ED-2CB1-45C4-D6B1-109A31533D38}"/>
              </a:ext>
            </a:extLst>
          </p:cNvPr>
          <p:cNvCxnSpPr>
            <a:cxnSpLocks/>
            <a:stCxn id="670" idx="0"/>
            <a:endCxn id="52" idx="2"/>
          </p:cNvCxnSpPr>
          <p:nvPr/>
        </p:nvCxnSpPr>
        <p:spPr>
          <a:xfrm flipV="1">
            <a:off x="3971277" y="1530545"/>
            <a:ext cx="2767" cy="1113541"/>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pic>
        <p:nvPicPr>
          <p:cNvPr id="715" name="Picture 714">
            <a:extLst>
              <a:ext uri="{FF2B5EF4-FFF2-40B4-BE49-F238E27FC236}">
                <a16:creationId xmlns:a16="http://schemas.microsoft.com/office/drawing/2014/main" id="{4FBDB149-06FD-1AD3-88B9-D3C5FE3E2C8F}"/>
              </a:ext>
            </a:extLst>
          </p:cNvPr>
          <p:cNvPicPr>
            <a:picLocks noChangeAspect="1"/>
          </p:cNvPicPr>
          <p:nvPr/>
        </p:nvPicPr>
        <p:blipFill>
          <a:blip r:embed="rId9"/>
          <a:stretch>
            <a:fillRect/>
          </a:stretch>
        </p:blipFill>
        <p:spPr>
          <a:xfrm>
            <a:off x="3761387" y="945097"/>
            <a:ext cx="429637" cy="317193"/>
          </a:xfrm>
          <a:prstGeom prst="rect">
            <a:avLst/>
          </a:prstGeom>
        </p:spPr>
      </p:pic>
      <p:sp>
        <p:nvSpPr>
          <p:cNvPr id="4" name="TextBox 3">
            <a:extLst>
              <a:ext uri="{FF2B5EF4-FFF2-40B4-BE49-F238E27FC236}">
                <a16:creationId xmlns:a16="http://schemas.microsoft.com/office/drawing/2014/main" id="{476B9BFE-EEDA-540F-C48E-13A34C225DF0}"/>
              </a:ext>
            </a:extLst>
          </p:cNvPr>
          <p:cNvSpPr txBox="1"/>
          <p:nvPr/>
        </p:nvSpPr>
        <p:spPr>
          <a:xfrm>
            <a:off x="2149833" y="826026"/>
            <a:ext cx="1480379" cy="276999"/>
          </a:xfrm>
          <a:prstGeom prst="rect">
            <a:avLst/>
          </a:prstGeom>
          <a:noFill/>
        </p:spPr>
        <p:txBody>
          <a:bodyPr wrap="square" rtlCol="0">
            <a:spAutoFit/>
          </a:bodyPr>
          <a:lstStyle/>
          <a:p>
            <a:pPr algn="ctr"/>
            <a:r>
              <a:rPr lang="en-US" sz="1200" dirty="0">
                <a:solidFill>
                  <a:schemeClr val="tx1">
                    <a:lumMod val="75000"/>
                    <a:lumOff val="25000"/>
                  </a:schemeClr>
                </a:solidFill>
              </a:rPr>
              <a:t>HTTP</a:t>
            </a:r>
          </a:p>
        </p:txBody>
      </p:sp>
      <p:cxnSp>
        <p:nvCxnSpPr>
          <p:cNvPr id="719" name="Straight Arrow Connector 718">
            <a:extLst>
              <a:ext uri="{FF2B5EF4-FFF2-40B4-BE49-F238E27FC236}">
                <a16:creationId xmlns:a16="http://schemas.microsoft.com/office/drawing/2014/main" id="{7C3EA80D-BAFC-45EB-DD68-0ABB35C1B486}"/>
              </a:ext>
            </a:extLst>
          </p:cNvPr>
          <p:cNvCxnSpPr>
            <a:cxnSpLocks/>
            <a:stCxn id="661" idx="3"/>
            <a:endCxn id="715" idx="1"/>
          </p:cNvCxnSpPr>
          <p:nvPr/>
        </p:nvCxnSpPr>
        <p:spPr>
          <a:xfrm>
            <a:off x="1991624" y="1103021"/>
            <a:ext cx="1769763" cy="673"/>
          </a:xfrm>
          <a:prstGeom prst="straightConnector1">
            <a:avLst/>
          </a:prstGeom>
          <a:ln w="19050">
            <a:prstDash val="dash"/>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586" name="Connector: Elbow 585">
            <a:extLst>
              <a:ext uri="{FF2B5EF4-FFF2-40B4-BE49-F238E27FC236}">
                <a16:creationId xmlns:a16="http://schemas.microsoft.com/office/drawing/2014/main" id="{730A9459-DAFD-501C-F58C-EAD654379CB2}"/>
              </a:ext>
            </a:extLst>
          </p:cNvPr>
          <p:cNvCxnSpPr>
            <a:cxnSpLocks/>
            <a:stCxn id="692" idx="3"/>
            <a:endCxn id="597" idx="2"/>
          </p:cNvCxnSpPr>
          <p:nvPr/>
        </p:nvCxnSpPr>
        <p:spPr>
          <a:xfrm flipV="1">
            <a:off x="4319971" y="4036724"/>
            <a:ext cx="3267070" cy="371733"/>
          </a:xfrm>
          <a:prstGeom prst="bentConnector2">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grpSp>
        <p:nvGrpSpPr>
          <p:cNvPr id="596" name="Group 595">
            <a:extLst>
              <a:ext uri="{FF2B5EF4-FFF2-40B4-BE49-F238E27FC236}">
                <a16:creationId xmlns:a16="http://schemas.microsoft.com/office/drawing/2014/main" id="{2122F97A-8B5A-8DC9-8B4C-1E3081961900}"/>
              </a:ext>
            </a:extLst>
          </p:cNvPr>
          <p:cNvGrpSpPr/>
          <p:nvPr/>
        </p:nvGrpSpPr>
        <p:grpSpPr>
          <a:xfrm>
            <a:off x="7210017" y="3712518"/>
            <a:ext cx="754048" cy="324206"/>
            <a:chOff x="4084589" y="2171346"/>
            <a:chExt cx="974820" cy="423153"/>
          </a:xfrm>
          <a:solidFill>
            <a:schemeClr val="bg2">
              <a:lumMod val="50000"/>
              <a:lumOff val="50000"/>
            </a:schemeClr>
          </a:solidFill>
        </p:grpSpPr>
        <p:sp>
          <p:nvSpPr>
            <p:cNvPr id="597" name="Rectangle 596">
              <a:extLst>
                <a:ext uri="{FF2B5EF4-FFF2-40B4-BE49-F238E27FC236}">
                  <a16:creationId xmlns:a16="http://schemas.microsoft.com/office/drawing/2014/main" id="{711D9070-8061-D319-A358-3D6BB64589C1}"/>
                </a:ext>
              </a:extLst>
            </p:cNvPr>
            <p:cNvSpPr/>
            <p:nvPr/>
          </p:nvSpPr>
          <p:spPr>
            <a:xfrm>
              <a:off x="4084589" y="2171346"/>
              <a:ext cx="974820"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ETL</a:t>
              </a:r>
            </a:p>
          </p:txBody>
        </p:sp>
        <p:pic>
          <p:nvPicPr>
            <p:cNvPr id="598" name="Picture 597" descr="Python (programming language) - Wikipedia">
              <a:extLst>
                <a:ext uri="{FF2B5EF4-FFF2-40B4-BE49-F238E27FC236}">
                  <a16:creationId xmlns:a16="http://schemas.microsoft.com/office/drawing/2014/main" id="{0F7A1F3D-40C7-68CE-145F-FB49238E2DE6}"/>
                </a:ext>
              </a:extLst>
            </p:cNvPr>
            <p:cNvPicPr>
              <a:picLocks noChangeAspect="1"/>
            </p:cNvPicPr>
            <p:nvPr/>
          </p:nvPicPr>
          <p:blipFill>
            <a:blip r:embed="rId10"/>
            <a:stretch>
              <a:fillRect/>
            </a:stretch>
          </p:blipFill>
          <p:spPr>
            <a:xfrm>
              <a:off x="4171699" y="2204198"/>
              <a:ext cx="357449" cy="357449"/>
            </a:xfrm>
            <a:prstGeom prst="rect">
              <a:avLst/>
            </a:prstGeom>
            <a:grpFill/>
            <a:ln>
              <a:noFill/>
            </a:ln>
          </p:spPr>
        </p:pic>
      </p:grpSp>
      <p:sp>
        <p:nvSpPr>
          <p:cNvPr id="601" name="TextBox 600">
            <a:extLst>
              <a:ext uri="{FF2B5EF4-FFF2-40B4-BE49-F238E27FC236}">
                <a16:creationId xmlns:a16="http://schemas.microsoft.com/office/drawing/2014/main" id="{4ADA5567-79B8-5396-CF47-ABE36BAED440}"/>
              </a:ext>
            </a:extLst>
          </p:cNvPr>
          <p:cNvSpPr txBox="1"/>
          <p:nvPr/>
        </p:nvSpPr>
        <p:spPr>
          <a:xfrm>
            <a:off x="6171289" y="1261617"/>
            <a:ext cx="1318444" cy="276999"/>
          </a:xfrm>
          <a:prstGeom prst="rect">
            <a:avLst/>
          </a:prstGeom>
          <a:noFill/>
        </p:spPr>
        <p:txBody>
          <a:bodyPr wrap="square" rtlCol="0">
            <a:spAutoFit/>
          </a:bodyPr>
          <a:lstStyle/>
          <a:p>
            <a:pPr algn="ctr"/>
            <a:r>
              <a:rPr lang="en-US" sz="1200" b="1" dirty="0" err="1">
                <a:solidFill>
                  <a:schemeClr val="tx1">
                    <a:lumMod val="85000"/>
                    <a:lumOff val="15000"/>
                  </a:schemeClr>
                </a:solidFill>
              </a:rPr>
              <a:t>postgres</a:t>
            </a:r>
            <a:r>
              <a:rPr lang="en-US" sz="1200" dirty="0"/>
              <a:t> </a:t>
            </a:r>
            <a:r>
              <a:rPr lang="en-US" sz="1200" dirty="0">
                <a:solidFill>
                  <a:srgbClr val="0000EE"/>
                </a:solidFill>
              </a:rPr>
              <a:t>:5432</a:t>
            </a:r>
          </a:p>
        </p:txBody>
      </p:sp>
      <p:sp>
        <p:nvSpPr>
          <p:cNvPr id="603" name="TextBox 602">
            <a:extLst>
              <a:ext uri="{FF2B5EF4-FFF2-40B4-BE49-F238E27FC236}">
                <a16:creationId xmlns:a16="http://schemas.microsoft.com/office/drawing/2014/main" id="{A2C88963-4E5C-BFB4-7FAF-925A3E6AF2B0}"/>
              </a:ext>
            </a:extLst>
          </p:cNvPr>
          <p:cNvSpPr txBox="1"/>
          <p:nvPr/>
        </p:nvSpPr>
        <p:spPr>
          <a:xfrm>
            <a:off x="4437250" y="3418897"/>
            <a:ext cx="1781602" cy="276999"/>
          </a:xfrm>
          <a:prstGeom prst="rect">
            <a:avLst/>
          </a:prstGeom>
          <a:noFill/>
        </p:spPr>
        <p:txBody>
          <a:bodyPr wrap="square" rtlCol="0">
            <a:spAutoFit/>
          </a:bodyPr>
          <a:lstStyle/>
          <a:p>
            <a:pPr algn="ctr"/>
            <a:r>
              <a:rPr lang="en-US" sz="1200" b="1" dirty="0">
                <a:solidFill>
                  <a:srgbClr val="262626"/>
                </a:solidFill>
              </a:rPr>
              <a:t>airflow</a:t>
            </a:r>
            <a:r>
              <a:rPr lang="en-US" sz="1200" dirty="0"/>
              <a:t> </a:t>
            </a:r>
            <a:r>
              <a:rPr lang="en-US" sz="1200" dirty="0">
                <a:solidFill>
                  <a:srgbClr val="0000EE"/>
                </a:solidFill>
              </a:rPr>
              <a:t>:8080</a:t>
            </a:r>
          </a:p>
        </p:txBody>
      </p:sp>
      <p:cxnSp>
        <p:nvCxnSpPr>
          <p:cNvPr id="608" name="Connector: Elbow 607">
            <a:extLst>
              <a:ext uri="{FF2B5EF4-FFF2-40B4-BE49-F238E27FC236}">
                <a16:creationId xmlns:a16="http://schemas.microsoft.com/office/drawing/2014/main" id="{8565C8D3-9B03-3EBE-49CA-10FE31FDE57D}"/>
              </a:ext>
            </a:extLst>
          </p:cNvPr>
          <p:cNvCxnSpPr>
            <a:cxnSpLocks/>
            <a:stCxn id="597" idx="0"/>
            <a:endCxn id="44" idx="3"/>
          </p:cNvCxnSpPr>
          <p:nvPr/>
        </p:nvCxnSpPr>
        <p:spPr>
          <a:xfrm rot="16200000" flipV="1">
            <a:off x="5990040" y="2115516"/>
            <a:ext cx="2613567" cy="580437"/>
          </a:xfrm>
          <a:prstGeom prst="bentConnector2">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626" name="TextBox 625">
            <a:extLst>
              <a:ext uri="{FF2B5EF4-FFF2-40B4-BE49-F238E27FC236}">
                <a16:creationId xmlns:a16="http://schemas.microsoft.com/office/drawing/2014/main" id="{17B69DE1-33EF-5E03-8326-C0CB0D86E2FD}"/>
              </a:ext>
            </a:extLst>
          </p:cNvPr>
          <p:cNvSpPr txBox="1"/>
          <p:nvPr/>
        </p:nvSpPr>
        <p:spPr>
          <a:xfrm>
            <a:off x="6005200" y="3871932"/>
            <a:ext cx="1234612" cy="276999"/>
          </a:xfrm>
          <a:prstGeom prst="rect">
            <a:avLst/>
          </a:prstGeom>
          <a:noFill/>
        </p:spPr>
        <p:txBody>
          <a:bodyPr wrap="square" rtlCol="0">
            <a:spAutoFit/>
          </a:bodyPr>
          <a:lstStyle/>
          <a:p>
            <a:pPr algn="ctr"/>
            <a:r>
              <a:rPr lang="en-US" sz="1200" dirty="0">
                <a:solidFill>
                  <a:schemeClr val="tx1">
                    <a:lumMod val="75000"/>
                    <a:lumOff val="25000"/>
                  </a:schemeClr>
                </a:solidFill>
              </a:rPr>
              <a:t>trigger</a:t>
            </a:r>
          </a:p>
        </p:txBody>
      </p:sp>
      <p:sp>
        <p:nvSpPr>
          <p:cNvPr id="628" name="TextBox 627">
            <a:extLst>
              <a:ext uri="{FF2B5EF4-FFF2-40B4-BE49-F238E27FC236}">
                <a16:creationId xmlns:a16="http://schemas.microsoft.com/office/drawing/2014/main" id="{D70AD31E-19CE-30A0-0DBD-362F54CBC38D}"/>
              </a:ext>
            </a:extLst>
          </p:cNvPr>
          <p:cNvSpPr txBox="1"/>
          <p:nvPr/>
        </p:nvSpPr>
        <p:spPr>
          <a:xfrm rot="5400000">
            <a:off x="6784085" y="2432295"/>
            <a:ext cx="1911408" cy="276999"/>
          </a:xfrm>
          <a:prstGeom prst="rect">
            <a:avLst/>
          </a:prstGeom>
          <a:noFill/>
        </p:spPr>
        <p:txBody>
          <a:bodyPr wrap="square" rtlCol="0">
            <a:spAutoFit/>
          </a:bodyPr>
          <a:lstStyle/>
          <a:p>
            <a:pPr algn="ctr"/>
            <a:r>
              <a:rPr lang="en-US" sz="1200" dirty="0">
                <a:solidFill>
                  <a:schemeClr val="tx1">
                    <a:lumMod val="75000"/>
                    <a:lumOff val="25000"/>
                  </a:schemeClr>
                </a:solidFill>
              </a:rPr>
              <a:t>update</a:t>
            </a:r>
          </a:p>
        </p:txBody>
      </p:sp>
      <p:pic>
        <p:nvPicPr>
          <p:cNvPr id="7" name="Picture 6" descr="Docker Icon in SVG, PNG formats">
            <a:extLst>
              <a:ext uri="{FF2B5EF4-FFF2-40B4-BE49-F238E27FC236}">
                <a16:creationId xmlns:a16="http://schemas.microsoft.com/office/drawing/2014/main" id="{E9A1FD7E-3B9E-D2B9-543C-FE37C712E0A2}"/>
              </a:ext>
            </a:extLst>
          </p:cNvPr>
          <p:cNvPicPr>
            <a:picLocks noChangeAspect="1"/>
          </p:cNvPicPr>
          <p:nvPr/>
        </p:nvPicPr>
        <p:blipFill>
          <a:blip r:embed="rId11"/>
          <a:stretch>
            <a:fillRect/>
          </a:stretch>
        </p:blipFill>
        <p:spPr>
          <a:xfrm>
            <a:off x="4012321" y="2300465"/>
            <a:ext cx="247147" cy="247147"/>
          </a:xfrm>
          <a:prstGeom prst="rect">
            <a:avLst/>
          </a:prstGeom>
        </p:spPr>
      </p:pic>
      <p:sp>
        <p:nvSpPr>
          <p:cNvPr id="39" name="TextBox 38">
            <a:extLst>
              <a:ext uri="{FF2B5EF4-FFF2-40B4-BE49-F238E27FC236}">
                <a16:creationId xmlns:a16="http://schemas.microsoft.com/office/drawing/2014/main" id="{70D2196D-59E9-177A-CEE7-8001F3B670FB}"/>
              </a:ext>
            </a:extLst>
          </p:cNvPr>
          <p:cNvSpPr txBox="1"/>
          <p:nvPr/>
        </p:nvSpPr>
        <p:spPr>
          <a:xfrm>
            <a:off x="3518405" y="3955861"/>
            <a:ext cx="1274544" cy="276999"/>
          </a:xfrm>
          <a:prstGeom prst="rect">
            <a:avLst/>
          </a:prstGeom>
          <a:noFill/>
        </p:spPr>
        <p:txBody>
          <a:bodyPr wrap="square" rtlCol="0">
            <a:spAutoFit/>
          </a:bodyPr>
          <a:lstStyle/>
          <a:p>
            <a:pPr algn="ctr"/>
            <a:r>
              <a:rPr lang="en-US" sz="1200" b="1" dirty="0">
                <a:solidFill>
                  <a:schemeClr val="tx1">
                    <a:lumMod val="85000"/>
                    <a:lumOff val="15000"/>
                  </a:schemeClr>
                </a:solidFill>
              </a:rPr>
              <a:t>data-update</a:t>
            </a:r>
          </a:p>
        </p:txBody>
      </p:sp>
      <p:cxnSp>
        <p:nvCxnSpPr>
          <p:cNvPr id="41" name="Straight Arrow Connector 40">
            <a:extLst>
              <a:ext uri="{FF2B5EF4-FFF2-40B4-BE49-F238E27FC236}">
                <a16:creationId xmlns:a16="http://schemas.microsoft.com/office/drawing/2014/main" id="{AD35E20B-C39B-0882-F9B6-EB9C6AAA42A6}"/>
              </a:ext>
            </a:extLst>
          </p:cNvPr>
          <p:cNvCxnSpPr>
            <a:cxnSpLocks/>
            <a:stCxn id="3" idx="3"/>
            <a:endCxn id="597" idx="1"/>
          </p:cNvCxnSpPr>
          <p:nvPr/>
        </p:nvCxnSpPr>
        <p:spPr>
          <a:xfrm>
            <a:off x="5777219" y="3872739"/>
            <a:ext cx="1432798" cy="1882"/>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cxnSp>
        <p:nvCxnSpPr>
          <p:cNvPr id="47" name="Straight Arrow Connector 46">
            <a:extLst>
              <a:ext uri="{FF2B5EF4-FFF2-40B4-BE49-F238E27FC236}">
                <a16:creationId xmlns:a16="http://schemas.microsoft.com/office/drawing/2014/main" id="{3859F5EC-BB3D-BA80-2986-E120FD7F83B3}"/>
              </a:ext>
            </a:extLst>
          </p:cNvPr>
          <p:cNvCxnSpPr>
            <a:cxnSpLocks/>
            <a:endCxn id="39" idx="0"/>
          </p:cNvCxnSpPr>
          <p:nvPr/>
        </p:nvCxnSpPr>
        <p:spPr>
          <a:xfrm>
            <a:off x="4155677" y="2949118"/>
            <a:ext cx="0" cy="1006743"/>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pic>
        <p:nvPicPr>
          <p:cNvPr id="622" name="Picture 621" descr="Docker Icon in SVG, PNG formats">
            <a:extLst>
              <a:ext uri="{FF2B5EF4-FFF2-40B4-BE49-F238E27FC236}">
                <a16:creationId xmlns:a16="http://schemas.microsoft.com/office/drawing/2014/main" id="{443B7520-6A7C-4CAD-810B-36648AB2DE94}"/>
              </a:ext>
            </a:extLst>
          </p:cNvPr>
          <p:cNvPicPr>
            <a:picLocks noChangeAspect="1"/>
          </p:cNvPicPr>
          <p:nvPr/>
        </p:nvPicPr>
        <p:blipFill>
          <a:blip r:embed="rId11"/>
          <a:stretch>
            <a:fillRect/>
          </a:stretch>
        </p:blipFill>
        <p:spPr>
          <a:xfrm>
            <a:off x="3335190" y="2233599"/>
            <a:ext cx="247147" cy="247147"/>
          </a:xfrm>
          <a:prstGeom prst="rect">
            <a:avLst/>
          </a:prstGeom>
        </p:spPr>
      </p:pic>
      <p:pic>
        <p:nvPicPr>
          <p:cNvPr id="625" name="Picture 624" descr="Docker Icon in SVG, PNG formats">
            <a:extLst>
              <a:ext uri="{FF2B5EF4-FFF2-40B4-BE49-F238E27FC236}">
                <a16:creationId xmlns:a16="http://schemas.microsoft.com/office/drawing/2014/main" id="{CC681AFC-5BDB-74C4-A89B-6BA6DF2B2236}"/>
              </a:ext>
            </a:extLst>
          </p:cNvPr>
          <p:cNvPicPr>
            <a:picLocks noChangeAspect="1"/>
          </p:cNvPicPr>
          <p:nvPr/>
        </p:nvPicPr>
        <p:blipFill>
          <a:blip r:embed="rId11"/>
          <a:stretch>
            <a:fillRect/>
          </a:stretch>
        </p:blipFill>
        <p:spPr>
          <a:xfrm>
            <a:off x="5395915" y="2459384"/>
            <a:ext cx="247147" cy="247147"/>
          </a:xfrm>
          <a:prstGeom prst="rect">
            <a:avLst/>
          </a:prstGeom>
        </p:spPr>
      </p:pic>
      <p:pic>
        <p:nvPicPr>
          <p:cNvPr id="629" name="Picture 628" descr="Docker Icon in SVG, PNG formats">
            <a:extLst>
              <a:ext uri="{FF2B5EF4-FFF2-40B4-BE49-F238E27FC236}">
                <a16:creationId xmlns:a16="http://schemas.microsoft.com/office/drawing/2014/main" id="{D61E0EED-CADB-5201-BC04-88668B515DAE}"/>
              </a:ext>
            </a:extLst>
          </p:cNvPr>
          <p:cNvPicPr>
            <a:picLocks noChangeAspect="1"/>
          </p:cNvPicPr>
          <p:nvPr/>
        </p:nvPicPr>
        <p:blipFill>
          <a:blip r:embed="rId11"/>
          <a:stretch>
            <a:fillRect/>
          </a:stretch>
        </p:blipFill>
        <p:spPr>
          <a:xfrm>
            <a:off x="5026977" y="2888064"/>
            <a:ext cx="247147" cy="247147"/>
          </a:xfrm>
          <a:prstGeom prst="rect">
            <a:avLst/>
          </a:prstGeom>
        </p:spPr>
      </p:pic>
      <p:pic>
        <p:nvPicPr>
          <p:cNvPr id="631" name="Picture 630" descr="Docker Icon in SVG, PNG formats">
            <a:extLst>
              <a:ext uri="{FF2B5EF4-FFF2-40B4-BE49-F238E27FC236}">
                <a16:creationId xmlns:a16="http://schemas.microsoft.com/office/drawing/2014/main" id="{5208CC7B-BFBB-DEE3-0D47-2FDC595CDAA8}"/>
              </a:ext>
            </a:extLst>
          </p:cNvPr>
          <p:cNvPicPr>
            <a:picLocks noChangeAspect="1"/>
          </p:cNvPicPr>
          <p:nvPr/>
        </p:nvPicPr>
        <p:blipFill>
          <a:blip r:embed="rId11"/>
          <a:stretch>
            <a:fillRect/>
          </a:stretch>
        </p:blipFill>
        <p:spPr>
          <a:xfrm>
            <a:off x="4262985" y="3014583"/>
            <a:ext cx="247147" cy="247147"/>
          </a:xfrm>
          <a:prstGeom prst="rect">
            <a:avLst/>
          </a:prstGeom>
        </p:spPr>
      </p:pic>
      <p:sp>
        <p:nvSpPr>
          <p:cNvPr id="677" name="TextBox 676">
            <a:extLst>
              <a:ext uri="{FF2B5EF4-FFF2-40B4-BE49-F238E27FC236}">
                <a16:creationId xmlns:a16="http://schemas.microsoft.com/office/drawing/2014/main" id="{28CD5A56-BB03-18DC-CA9A-716BB92B2385}"/>
              </a:ext>
            </a:extLst>
          </p:cNvPr>
          <p:cNvSpPr txBox="1"/>
          <p:nvPr/>
        </p:nvSpPr>
        <p:spPr>
          <a:xfrm>
            <a:off x="4510132" y="4400539"/>
            <a:ext cx="3057788" cy="276999"/>
          </a:xfrm>
          <a:prstGeom prst="rect">
            <a:avLst/>
          </a:prstGeom>
          <a:noFill/>
        </p:spPr>
        <p:txBody>
          <a:bodyPr wrap="square" rtlCol="0">
            <a:spAutoFit/>
          </a:bodyPr>
          <a:lstStyle/>
          <a:p>
            <a:pPr algn="ctr"/>
            <a:r>
              <a:rPr lang="en-US" sz="1200" dirty="0">
                <a:solidFill>
                  <a:schemeClr val="tx1">
                    <a:lumMod val="75000"/>
                    <a:lumOff val="25000"/>
                  </a:schemeClr>
                </a:solidFill>
              </a:rPr>
              <a:t>trigger</a:t>
            </a:r>
          </a:p>
        </p:txBody>
      </p:sp>
      <p:pic>
        <p:nvPicPr>
          <p:cNvPr id="687" name="Picture 686">
            <a:extLst>
              <a:ext uri="{FF2B5EF4-FFF2-40B4-BE49-F238E27FC236}">
                <a16:creationId xmlns:a16="http://schemas.microsoft.com/office/drawing/2014/main" id="{F8946F9C-4916-91EC-4E38-C78628144100}"/>
              </a:ext>
            </a:extLst>
          </p:cNvPr>
          <p:cNvPicPr>
            <a:picLocks noChangeAspect="1"/>
          </p:cNvPicPr>
          <p:nvPr/>
        </p:nvPicPr>
        <p:blipFill>
          <a:blip r:embed="rId12"/>
          <a:stretch>
            <a:fillRect/>
          </a:stretch>
        </p:blipFill>
        <p:spPr>
          <a:xfrm>
            <a:off x="5568727" y="4423452"/>
            <a:ext cx="244715" cy="244715"/>
          </a:xfrm>
          <a:prstGeom prst="rect">
            <a:avLst/>
          </a:prstGeom>
        </p:spPr>
      </p:pic>
      <p:grpSp>
        <p:nvGrpSpPr>
          <p:cNvPr id="604" name="Group 603">
            <a:extLst>
              <a:ext uri="{FF2B5EF4-FFF2-40B4-BE49-F238E27FC236}">
                <a16:creationId xmlns:a16="http://schemas.microsoft.com/office/drawing/2014/main" id="{539D3B95-37BB-4AEA-083F-44488733A3D3}"/>
              </a:ext>
            </a:extLst>
          </p:cNvPr>
          <p:cNvGrpSpPr/>
          <p:nvPr/>
        </p:nvGrpSpPr>
        <p:grpSpPr>
          <a:xfrm>
            <a:off x="5990033" y="3892135"/>
            <a:ext cx="429030" cy="266298"/>
            <a:chOff x="5836602" y="3526478"/>
            <a:chExt cx="429030" cy="266298"/>
          </a:xfrm>
        </p:grpSpPr>
        <p:pic>
          <p:nvPicPr>
            <p:cNvPr id="685" name="Picture 684">
              <a:extLst>
                <a:ext uri="{FF2B5EF4-FFF2-40B4-BE49-F238E27FC236}">
                  <a16:creationId xmlns:a16="http://schemas.microsoft.com/office/drawing/2014/main" id="{7AE2D7F6-CD5B-6DBA-EAA7-92EBD7C2BB4A}"/>
                </a:ext>
              </a:extLst>
            </p:cNvPr>
            <p:cNvPicPr>
              <a:picLocks noChangeAspect="1"/>
            </p:cNvPicPr>
            <p:nvPr/>
          </p:nvPicPr>
          <p:blipFill>
            <a:blip r:embed="rId13"/>
            <a:stretch>
              <a:fillRect/>
            </a:stretch>
          </p:blipFill>
          <p:spPr>
            <a:xfrm>
              <a:off x="5909286" y="3526478"/>
              <a:ext cx="266298" cy="266298"/>
            </a:xfrm>
            <a:prstGeom prst="rect">
              <a:avLst/>
            </a:prstGeom>
          </p:spPr>
        </p:pic>
        <p:sp>
          <p:nvSpPr>
            <p:cNvPr id="646" name="TextBox 645">
              <a:extLst>
                <a:ext uri="{FF2B5EF4-FFF2-40B4-BE49-F238E27FC236}">
                  <a16:creationId xmlns:a16="http://schemas.microsoft.com/office/drawing/2014/main" id="{0CD0BFA2-3EA8-521D-CE70-5A08FE56D997}"/>
                </a:ext>
              </a:extLst>
            </p:cNvPr>
            <p:cNvSpPr txBox="1"/>
            <p:nvPr/>
          </p:nvSpPr>
          <p:spPr>
            <a:xfrm>
              <a:off x="5836602" y="3570582"/>
              <a:ext cx="429030" cy="184666"/>
            </a:xfrm>
            <a:prstGeom prst="rect">
              <a:avLst/>
            </a:prstGeom>
            <a:noFill/>
          </p:spPr>
          <p:txBody>
            <a:bodyPr wrap="square" rtlCol="0">
              <a:spAutoFit/>
            </a:bodyPr>
            <a:lstStyle/>
            <a:p>
              <a:pPr algn="ctr"/>
              <a:r>
                <a:rPr lang="en-US" sz="600" b="1" dirty="0">
                  <a:solidFill>
                    <a:schemeClr val="tx1">
                      <a:lumMod val="75000"/>
                      <a:lumOff val="25000"/>
                    </a:schemeClr>
                  </a:solidFill>
                </a:rPr>
                <a:t>24</a:t>
              </a:r>
              <a:r>
                <a:rPr lang="en-US" sz="300" b="1" dirty="0">
                  <a:solidFill>
                    <a:schemeClr val="tx1">
                      <a:lumMod val="75000"/>
                      <a:lumOff val="25000"/>
                    </a:schemeClr>
                  </a:solidFill>
                </a:rPr>
                <a:t> </a:t>
              </a:r>
              <a:r>
                <a:rPr lang="en-US" sz="600" b="1" dirty="0">
                  <a:solidFill>
                    <a:schemeClr val="tx1">
                      <a:lumMod val="75000"/>
                      <a:lumOff val="25000"/>
                    </a:schemeClr>
                  </a:solidFill>
                </a:rPr>
                <a:t>h</a:t>
              </a:r>
            </a:p>
          </p:txBody>
        </p:sp>
      </p:grpSp>
      <p:pic>
        <p:nvPicPr>
          <p:cNvPr id="692" name="Picture 691" descr="Python (programming language) - Wikipedia">
            <a:extLst>
              <a:ext uri="{FF2B5EF4-FFF2-40B4-BE49-F238E27FC236}">
                <a16:creationId xmlns:a16="http://schemas.microsoft.com/office/drawing/2014/main" id="{48C2BA47-F3B8-8AC0-9B2A-C67BCD391E0B}"/>
              </a:ext>
            </a:extLst>
          </p:cNvPr>
          <p:cNvPicPr>
            <a:picLocks noChangeAspect="1"/>
          </p:cNvPicPr>
          <p:nvPr/>
        </p:nvPicPr>
        <p:blipFill>
          <a:blip r:embed="rId10"/>
          <a:stretch>
            <a:fillRect/>
          </a:stretch>
        </p:blipFill>
        <p:spPr>
          <a:xfrm>
            <a:off x="3991383" y="4244163"/>
            <a:ext cx="328588" cy="328588"/>
          </a:xfrm>
          <a:prstGeom prst="rect">
            <a:avLst/>
          </a:prstGeom>
          <a:noFill/>
          <a:ln>
            <a:noFill/>
          </a:ln>
        </p:spPr>
      </p:pic>
      <p:pic>
        <p:nvPicPr>
          <p:cNvPr id="695" name="Picture 694">
            <a:extLst>
              <a:ext uri="{FF2B5EF4-FFF2-40B4-BE49-F238E27FC236}">
                <a16:creationId xmlns:a16="http://schemas.microsoft.com/office/drawing/2014/main" id="{4BF7BEB4-4C12-8368-7A73-6A478C80352C}"/>
              </a:ext>
            </a:extLst>
          </p:cNvPr>
          <p:cNvPicPr>
            <a:picLocks noChangeAspect="1"/>
          </p:cNvPicPr>
          <p:nvPr/>
        </p:nvPicPr>
        <p:blipFill>
          <a:blip r:embed="rId14"/>
          <a:stretch>
            <a:fillRect/>
          </a:stretch>
        </p:blipFill>
        <p:spPr>
          <a:xfrm rot="7200000">
            <a:off x="7625786" y="2029437"/>
            <a:ext cx="217941" cy="217941"/>
          </a:xfrm>
          <a:prstGeom prst="rect">
            <a:avLst/>
          </a:prstGeom>
        </p:spPr>
      </p:pic>
      <p:pic>
        <p:nvPicPr>
          <p:cNvPr id="6" name="Picture 5">
            <a:extLst>
              <a:ext uri="{FF2B5EF4-FFF2-40B4-BE49-F238E27FC236}">
                <a16:creationId xmlns:a16="http://schemas.microsoft.com/office/drawing/2014/main" id="{3EAD310C-A59A-B0BC-FDB7-DC88DBD26789}"/>
              </a:ext>
            </a:extLst>
          </p:cNvPr>
          <p:cNvPicPr>
            <a:picLocks noChangeAspect="1"/>
          </p:cNvPicPr>
          <p:nvPr/>
        </p:nvPicPr>
        <p:blipFill>
          <a:blip r:embed="rId15"/>
          <a:stretch>
            <a:fillRect/>
          </a:stretch>
        </p:blipFill>
        <p:spPr>
          <a:xfrm>
            <a:off x="1366806" y="745130"/>
            <a:ext cx="857296" cy="157394"/>
          </a:xfrm>
          <a:prstGeom prst="rect">
            <a:avLst/>
          </a:prstGeom>
        </p:spPr>
      </p:pic>
      <p:pic>
        <p:nvPicPr>
          <p:cNvPr id="9" name="Picture 8">
            <a:extLst>
              <a:ext uri="{FF2B5EF4-FFF2-40B4-BE49-F238E27FC236}">
                <a16:creationId xmlns:a16="http://schemas.microsoft.com/office/drawing/2014/main" id="{9D1E4613-0194-BF9B-9CD5-F7AB8C1D8CA7}"/>
              </a:ext>
            </a:extLst>
          </p:cNvPr>
          <p:cNvPicPr>
            <a:picLocks noChangeAspect="1"/>
          </p:cNvPicPr>
          <p:nvPr/>
        </p:nvPicPr>
        <p:blipFill>
          <a:blip r:embed="rId16"/>
          <a:stretch>
            <a:fillRect/>
          </a:stretch>
        </p:blipFill>
        <p:spPr>
          <a:xfrm>
            <a:off x="1677704" y="4306474"/>
            <a:ext cx="333670" cy="361693"/>
          </a:xfrm>
          <a:prstGeom prst="rect">
            <a:avLst/>
          </a:prstGeom>
        </p:spPr>
      </p:pic>
      <p:pic>
        <p:nvPicPr>
          <p:cNvPr id="11" name="Picture 10">
            <a:extLst>
              <a:ext uri="{FF2B5EF4-FFF2-40B4-BE49-F238E27FC236}">
                <a16:creationId xmlns:a16="http://schemas.microsoft.com/office/drawing/2014/main" id="{008ED6C7-33AE-2038-7516-1C1732411EAC}"/>
              </a:ext>
            </a:extLst>
          </p:cNvPr>
          <p:cNvPicPr>
            <a:picLocks noChangeAspect="1"/>
          </p:cNvPicPr>
          <p:nvPr/>
        </p:nvPicPr>
        <p:blipFill>
          <a:blip r:embed="rId17"/>
          <a:stretch>
            <a:fillRect/>
          </a:stretch>
        </p:blipFill>
        <p:spPr>
          <a:xfrm>
            <a:off x="1682344" y="3424828"/>
            <a:ext cx="329030" cy="329030"/>
          </a:xfrm>
          <a:prstGeom prst="rect">
            <a:avLst/>
          </a:prstGeom>
        </p:spPr>
      </p:pic>
      <p:cxnSp>
        <p:nvCxnSpPr>
          <p:cNvPr id="12" name="Connector: Elbow 11">
            <a:extLst>
              <a:ext uri="{FF2B5EF4-FFF2-40B4-BE49-F238E27FC236}">
                <a16:creationId xmlns:a16="http://schemas.microsoft.com/office/drawing/2014/main" id="{0C8D7D11-EF5E-9203-1E5A-6C4D3A324783}"/>
              </a:ext>
            </a:extLst>
          </p:cNvPr>
          <p:cNvCxnSpPr>
            <a:cxnSpLocks/>
            <a:stCxn id="670" idx="1"/>
            <a:endCxn id="18" idx="0"/>
          </p:cNvCxnSpPr>
          <p:nvPr/>
        </p:nvCxnSpPr>
        <p:spPr>
          <a:xfrm rot="10800000" flipV="1">
            <a:off x="1846860" y="2797974"/>
            <a:ext cx="1122643" cy="303603"/>
          </a:xfrm>
          <a:prstGeom prst="bentConnector2">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13" name="Picture 12" descr="Docker Icon in SVG, PNG formats">
            <a:extLst>
              <a:ext uri="{FF2B5EF4-FFF2-40B4-BE49-F238E27FC236}">
                <a16:creationId xmlns:a16="http://schemas.microsoft.com/office/drawing/2014/main" id="{7ECDF6FC-36EC-479C-0764-7022FBDE3642}"/>
              </a:ext>
            </a:extLst>
          </p:cNvPr>
          <p:cNvPicPr>
            <a:picLocks noChangeAspect="1"/>
          </p:cNvPicPr>
          <p:nvPr/>
        </p:nvPicPr>
        <p:blipFill>
          <a:blip r:embed="rId11"/>
          <a:stretch>
            <a:fillRect/>
          </a:stretch>
        </p:blipFill>
        <p:spPr>
          <a:xfrm>
            <a:off x="2626154" y="2801978"/>
            <a:ext cx="247147" cy="247147"/>
          </a:xfrm>
          <a:prstGeom prst="rect">
            <a:avLst/>
          </a:prstGeom>
        </p:spPr>
      </p:pic>
      <p:sp>
        <p:nvSpPr>
          <p:cNvPr id="18" name="TextBox 17">
            <a:extLst>
              <a:ext uri="{FF2B5EF4-FFF2-40B4-BE49-F238E27FC236}">
                <a16:creationId xmlns:a16="http://schemas.microsoft.com/office/drawing/2014/main" id="{1DD84F0F-C428-658E-C774-54C817E1F72C}"/>
              </a:ext>
            </a:extLst>
          </p:cNvPr>
          <p:cNvSpPr txBox="1"/>
          <p:nvPr/>
        </p:nvSpPr>
        <p:spPr>
          <a:xfrm>
            <a:off x="1046793" y="3101578"/>
            <a:ext cx="1600132" cy="276999"/>
          </a:xfrm>
          <a:prstGeom prst="rect">
            <a:avLst/>
          </a:prstGeom>
          <a:noFill/>
        </p:spPr>
        <p:txBody>
          <a:bodyPr wrap="square" rtlCol="0">
            <a:spAutoFit/>
          </a:bodyPr>
          <a:lstStyle/>
          <a:p>
            <a:pPr algn="ctr"/>
            <a:r>
              <a:rPr lang="en-US" sz="1200" b="1" dirty="0" err="1">
                <a:solidFill>
                  <a:srgbClr val="262626"/>
                </a:solidFill>
              </a:rPr>
              <a:t>prometheus</a:t>
            </a:r>
            <a:r>
              <a:rPr lang="en-US" sz="1200" dirty="0"/>
              <a:t> </a:t>
            </a:r>
            <a:r>
              <a:rPr lang="en-US" sz="1200" dirty="0">
                <a:solidFill>
                  <a:srgbClr val="0000EE"/>
                </a:solidFill>
              </a:rPr>
              <a:t>:9090</a:t>
            </a:r>
          </a:p>
        </p:txBody>
      </p:sp>
      <p:cxnSp>
        <p:nvCxnSpPr>
          <p:cNvPr id="19" name="Connector: Elbow 18">
            <a:extLst>
              <a:ext uri="{FF2B5EF4-FFF2-40B4-BE49-F238E27FC236}">
                <a16:creationId xmlns:a16="http://schemas.microsoft.com/office/drawing/2014/main" id="{C6E04F3B-47CD-FBCC-DBAF-3B5BEA8132E8}"/>
              </a:ext>
            </a:extLst>
          </p:cNvPr>
          <p:cNvCxnSpPr>
            <a:cxnSpLocks/>
            <a:stCxn id="28" idx="2"/>
            <a:endCxn id="23" idx="3"/>
          </p:cNvCxnSpPr>
          <p:nvPr/>
        </p:nvCxnSpPr>
        <p:spPr>
          <a:xfrm rot="5400000">
            <a:off x="2286871" y="3127721"/>
            <a:ext cx="1199666" cy="855958"/>
          </a:xfrm>
          <a:prstGeom prst="bentConnector2">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23" name="TextBox 22">
            <a:extLst>
              <a:ext uri="{FF2B5EF4-FFF2-40B4-BE49-F238E27FC236}">
                <a16:creationId xmlns:a16="http://schemas.microsoft.com/office/drawing/2014/main" id="{9F0DE422-0703-0F6C-B669-ED4A241CBA43}"/>
              </a:ext>
            </a:extLst>
          </p:cNvPr>
          <p:cNvSpPr txBox="1"/>
          <p:nvPr/>
        </p:nvSpPr>
        <p:spPr>
          <a:xfrm>
            <a:off x="1229827" y="4017033"/>
            <a:ext cx="1228898" cy="276999"/>
          </a:xfrm>
          <a:prstGeom prst="rect">
            <a:avLst/>
          </a:prstGeom>
          <a:noFill/>
        </p:spPr>
        <p:txBody>
          <a:bodyPr wrap="square" rtlCol="0">
            <a:spAutoFit/>
          </a:bodyPr>
          <a:lstStyle/>
          <a:p>
            <a:pPr algn="ctr"/>
            <a:r>
              <a:rPr lang="en-US" sz="1200" b="1" dirty="0" err="1">
                <a:solidFill>
                  <a:srgbClr val="262626"/>
                </a:solidFill>
              </a:rPr>
              <a:t>grafana</a:t>
            </a:r>
            <a:r>
              <a:rPr lang="en-US" sz="1200" dirty="0"/>
              <a:t> </a:t>
            </a:r>
            <a:r>
              <a:rPr lang="en-US" sz="1200" dirty="0">
                <a:solidFill>
                  <a:srgbClr val="0000EE"/>
                </a:solidFill>
              </a:rPr>
              <a:t>:3000</a:t>
            </a:r>
          </a:p>
        </p:txBody>
      </p:sp>
      <p:sp>
        <p:nvSpPr>
          <p:cNvPr id="28" name="Rectangle 27">
            <a:extLst>
              <a:ext uri="{FF2B5EF4-FFF2-40B4-BE49-F238E27FC236}">
                <a16:creationId xmlns:a16="http://schemas.microsoft.com/office/drawing/2014/main" id="{8A471F6A-DE7D-08BE-6682-F73B1056A1A4}"/>
              </a:ext>
            </a:extLst>
          </p:cNvPr>
          <p:cNvSpPr/>
          <p:nvPr/>
        </p:nvSpPr>
        <p:spPr>
          <a:xfrm>
            <a:off x="3176287" y="2648090"/>
            <a:ext cx="276792" cy="307777"/>
          </a:xfrm>
          <a:prstGeom prst="rect">
            <a:avLst/>
          </a:prstGeom>
          <a:solidFill>
            <a:schemeClr val="l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C92E324-5587-80C9-1884-0DCC975A402F}"/>
              </a:ext>
            </a:extLst>
          </p:cNvPr>
          <p:cNvSpPr/>
          <p:nvPr/>
        </p:nvSpPr>
        <p:spPr>
          <a:xfrm>
            <a:off x="4495007" y="2641341"/>
            <a:ext cx="276793" cy="307777"/>
          </a:xfrm>
          <a:prstGeom prst="rect">
            <a:avLst/>
          </a:prstGeom>
          <a:solidFill>
            <a:schemeClr val="l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Connector: Elbow 41">
            <a:extLst>
              <a:ext uri="{FF2B5EF4-FFF2-40B4-BE49-F238E27FC236}">
                <a16:creationId xmlns:a16="http://schemas.microsoft.com/office/drawing/2014/main" id="{978DAC96-214C-F897-6C4F-9F37D8D0273D}"/>
              </a:ext>
            </a:extLst>
          </p:cNvPr>
          <p:cNvCxnSpPr>
            <a:cxnSpLocks/>
            <a:stCxn id="16" idx="3"/>
            <a:endCxn id="603" idx="0"/>
          </p:cNvCxnSpPr>
          <p:nvPr/>
        </p:nvCxnSpPr>
        <p:spPr>
          <a:xfrm>
            <a:off x="4973054" y="2875226"/>
            <a:ext cx="354997" cy="543671"/>
          </a:xfrm>
          <a:prstGeom prst="bentConnector2">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580" name="Straight Arrow Connector 579">
            <a:extLst>
              <a:ext uri="{FF2B5EF4-FFF2-40B4-BE49-F238E27FC236}">
                <a16:creationId xmlns:a16="http://schemas.microsoft.com/office/drawing/2014/main" id="{99F27F60-AE5B-18CA-FBB0-E37DC96B7C62}"/>
              </a:ext>
            </a:extLst>
          </p:cNvPr>
          <p:cNvCxnSpPr>
            <a:cxnSpLocks/>
            <a:stCxn id="23" idx="0"/>
            <a:endCxn id="11" idx="2"/>
          </p:cNvCxnSpPr>
          <p:nvPr/>
        </p:nvCxnSpPr>
        <p:spPr>
          <a:xfrm flipV="1">
            <a:off x="1844276" y="3753858"/>
            <a:ext cx="2583" cy="263175"/>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pic>
        <p:nvPicPr>
          <p:cNvPr id="588" name="Picture 587" descr="Docker Icon in SVG, PNG formats">
            <a:extLst>
              <a:ext uri="{FF2B5EF4-FFF2-40B4-BE49-F238E27FC236}">
                <a16:creationId xmlns:a16="http://schemas.microsoft.com/office/drawing/2014/main" id="{574B036B-8E45-18A9-867C-8B6F4241BDC8}"/>
              </a:ext>
            </a:extLst>
          </p:cNvPr>
          <p:cNvPicPr>
            <a:picLocks noChangeAspect="1"/>
          </p:cNvPicPr>
          <p:nvPr/>
        </p:nvPicPr>
        <p:blipFill>
          <a:blip r:embed="rId11"/>
          <a:stretch>
            <a:fillRect/>
          </a:stretch>
        </p:blipFill>
        <p:spPr>
          <a:xfrm>
            <a:off x="3052713" y="3097308"/>
            <a:ext cx="247147" cy="247147"/>
          </a:xfrm>
          <a:prstGeom prst="rect">
            <a:avLst/>
          </a:prstGeom>
        </p:spPr>
      </p:pic>
      <p:sp>
        <p:nvSpPr>
          <p:cNvPr id="591" name="TextBox 590">
            <a:extLst>
              <a:ext uri="{FF2B5EF4-FFF2-40B4-BE49-F238E27FC236}">
                <a16:creationId xmlns:a16="http://schemas.microsoft.com/office/drawing/2014/main" id="{0D2D2634-6F11-2706-F34A-8290E6A1834B}"/>
              </a:ext>
            </a:extLst>
          </p:cNvPr>
          <p:cNvSpPr txBox="1"/>
          <p:nvPr/>
        </p:nvSpPr>
        <p:spPr>
          <a:xfrm>
            <a:off x="1302113" y="3731425"/>
            <a:ext cx="1488925" cy="276999"/>
          </a:xfrm>
          <a:prstGeom prst="rect">
            <a:avLst/>
          </a:prstGeom>
          <a:noFill/>
        </p:spPr>
        <p:txBody>
          <a:bodyPr wrap="square" rtlCol="0">
            <a:spAutoFit/>
          </a:bodyPr>
          <a:lstStyle/>
          <a:p>
            <a:pPr algn="ctr"/>
            <a:r>
              <a:rPr lang="en-US" sz="1200" dirty="0">
                <a:solidFill>
                  <a:schemeClr val="tx1">
                    <a:lumMod val="75000"/>
                    <a:lumOff val="25000"/>
                  </a:schemeClr>
                </a:solidFill>
              </a:rPr>
              <a:t>use</a:t>
            </a:r>
          </a:p>
        </p:txBody>
      </p:sp>
      <p:pic>
        <p:nvPicPr>
          <p:cNvPr id="8" name="Picture 7">
            <a:extLst>
              <a:ext uri="{FF2B5EF4-FFF2-40B4-BE49-F238E27FC236}">
                <a16:creationId xmlns:a16="http://schemas.microsoft.com/office/drawing/2014/main" id="{F5F2B738-2CE3-E13E-34F1-23CDE1424A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037683" y="3732389"/>
            <a:ext cx="274988" cy="274988"/>
          </a:xfrm>
          <a:prstGeom prst="rect">
            <a:avLst/>
          </a:prstGeom>
          <a:noFill/>
          <a:ln>
            <a:noFill/>
          </a:ln>
        </p:spPr>
      </p:pic>
      <p:pic>
        <p:nvPicPr>
          <p:cNvPr id="10" name="Picture 9">
            <a:extLst>
              <a:ext uri="{FF2B5EF4-FFF2-40B4-BE49-F238E27FC236}">
                <a16:creationId xmlns:a16="http://schemas.microsoft.com/office/drawing/2014/main" id="{315FDA2A-38E6-790A-16F8-8ADFA35B631C}"/>
              </a:ext>
            </a:extLst>
          </p:cNvPr>
          <p:cNvPicPr>
            <a:picLocks noChangeAspect="1"/>
          </p:cNvPicPr>
          <p:nvPr/>
        </p:nvPicPr>
        <p:blipFill>
          <a:blip r:embed="rId19"/>
          <a:stretch>
            <a:fillRect/>
          </a:stretch>
        </p:blipFill>
        <p:spPr>
          <a:xfrm>
            <a:off x="5250359" y="1378990"/>
            <a:ext cx="205822" cy="205822"/>
          </a:xfrm>
          <a:prstGeom prst="rect">
            <a:avLst/>
          </a:prstGeom>
        </p:spPr>
      </p:pic>
      <p:sp>
        <p:nvSpPr>
          <p:cNvPr id="14" name="Rectangle 13">
            <a:extLst>
              <a:ext uri="{FF2B5EF4-FFF2-40B4-BE49-F238E27FC236}">
                <a16:creationId xmlns:a16="http://schemas.microsoft.com/office/drawing/2014/main" id="{EC9BC564-2EAE-04D3-791A-0508D40CEC20}"/>
              </a:ext>
            </a:extLst>
          </p:cNvPr>
          <p:cNvSpPr/>
          <p:nvPr/>
        </p:nvSpPr>
        <p:spPr>
          <a:xfrm>
            <a:off x="4500828" y="2641341"/>
            <a:ext cx="472225" cy="144997"/>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43C439-615B-6934-474E-09C570C7D391}"/>
              </a:ext>
            </a:extLst>
          </p:cNvPr>
          <p:cNvSpPr/>
          <p:nvPr/>
        </p:nvSpPr>
        <p:spPr>
          <a:xfrm>
            <a:off x="4495008" y="2801333"/>
            <a:ext cx="478046" cy="147785"/>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F7A3F31A-1512-400D-B86C-E47916CAE5B4}"/>
              </a:ext>
            </a:extLst>
          </p:cNvPr>
          <p:cNvPicPr>
            <a:picLocks noChangeAspect="1"/>
          </p:cNvPicPr>
          <p:nvPr/>
        </p:nvPicPr>
        <p:blipFill>
          <a:blip r:embed="rId4"/>
          <a:stretch>
            <a:fillRect/>
          </a:stretch>
        </p:blipFill>
        <p:spPr>
          <a:xfrm>
            <a:off x="5178020" y="1600201"/>
            <a:ext cx="345703" cy="309055"/>
          </a:xfrm>
          <a:prstGeom prst="rect">
            <a:avLst/>
          </a:prstGeom>
        </p:spPr>
      </p:pic>
      <p:sp>
        <p:nvSpPr>
          <p:cNvPr id="45" name="TextBox 44">
            <a:extLst>
              <a:ext uri="{FF2B5EF4-FFF2-40B4-BE49-F238E27FC236}">
                <a16:creationId xmlns:a16="http://schemas.microsoft.com/office/drawing/2014/main" id="{182AC757-98D0-1B32-C6CC-742068547CDA}"/>
              </a:ext>
            </a:extLst>
          </p:cNvPr>
          <p:cNvSpPr txBox="1"/>
          <p:nvPr/>
        </p:nvSpPr>
        <p:spPr>
          <a:xfrm>
            <a:off x="4500828" y="1867192"/>
            <a:ext cx="1716428" cy="276999"/>
          </a:xfrm>
          <a:prstGeom prst="rect">
            <a:avLst/>
          </a:prstGeom>
          <a:noFill/>
        </p:spPr>
        <p:txBody>
          <a:bodyPr wrap="square" rtlCol="0">
            <a:spAutoFit/>
          </a:bodyPr>
          <a:lstStyle/>
          <a:p>
            <a:pPr algn="ctr"/>
            <a:r>
              <a:rPr lang="en-US" sz="1200" b="1" dirty="0" err="1">
                <a:solidFill>
                  <a:schemeClr val="tx1">
                    <a:lumMod val="85000"/>
                    <a:lumOff val="15000"/>
                  </a:schemeClr>
                </a:solidFill>
              </a:rPr>
              <a:t>elasticsearch</a:t>
            </a:r>
            <a:r>
              <a:rPr lang="en-US" sz="1200" dirty="0"/>
              <a:t> </a:t>
            </a:r>
            <a:r>
              <a:rPr lang="en-US" sz="1200" dirty="0">
                <a:solidFill>
                  <a:srgbClr val="0000EE"/>
                </a:solidFill>
              </a:rPr>
              <a:t>:9200</a:t>
            </a:r>
          </a:p>
        </p:txBody>
      </p:sp>
      <p:cxnSp>
        <p:nvCxnSpPr>
          <p:cNvPr id="58" name="Connector: Elbow 57">
            <a:extLst>
              <a:ext uri="{FF2B5EF4-FFF2-40B4-BE49-F238E27FC236}">
                <a16:creationId xmlns:a16="http://schemas.microsoft.com/office/drawing/2014/main" id="{D83B086B-D46F-B105-4D32-D185B789DBF2}"/>
              </a:ext>
            </a:extLst>
          </p:cNvPr>
          <p:cNvCxnSpPr>
            <a:cxnSpLocks/>
            <a:stCxn id="14" idx="0"/>
            <a:endCxn id="45" idx="2"/>
          </p:cNvCxnSpPr>
          <p:nvPr/>
        </p:nvCxnSpPr>
        <p:spPr>
          <a:xfrm rot="5400000" flipH="1" flipV="1">
            <a:off x="4799416" y="2081716"/>
            <a:ext cx="497150" cy="622101"/>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63" name="Picture 62" descr="Docker Icon in SVG, PNG formats">
            <a:extLst>
              <a:ext uri="{FF2B5EF4-FFF2-40B4-BE49-F238E27FC236}">
                <a16:creationId xmlns:a16="http://schemas.microsoft.com/office/drawing/2014/main" id="{B868BBE7-E83D-C8D7-D6F6-9109A97734A0}"/>
              </a:ext>
            </a:extLst>
          </p:cNvPr>
          <p:cNvPicPr>
            <a:picLocks noChangeAspect="1"/>
          </p:cNvPicPr>
          <p:nvPr/>
        </p:nvPicPr>
        <p:blipFill>
          <a:blip r:embed="rId11"/>
          <a:stretch>
            <a:fillRect/>
          </a:stretch>
        </p:blipFill>
        <p:spPr>
          <a:xfrm>
            <a:off x="4452920" y="2355665"/>
            <a:ext cx="247147" cy="247147"/>
          </a:xfrm>
          <a:prstGeom prst="rect">
            <a:avLst/>
          </a:prstGeom>
        </p:spPr>
      </p:pic>
      <p:cxnSp>
        <p:nvCxnSpPr>
          <p:cNvPr id="576" name="Connector: Elbow 575">
            <a:extLst>
              <a:ext uri="{FF2B5EF4-FFF2-40B4-BE49-F238E27FC236}">
                <a16:creationId xmlns:a16="http://schemas.microsoft.com/office/drawing/2014/main" id="{1F7B340B-9CBE-5F90-754F-3B926E26B842}"/>
              </a:ext>
            </a:extLst>
          </p:cNvPr>
          <p:cNvCxnSpPr>
            <a:cxnSpLocks/>
            <a:stCxn id="715" idx="3"/>
            <a:endCxn id="10" idx="0"/>
          </p:cNvCxnSpPr>
          <p:nvPr/>
        </p:nvCxnSpPr>
        <p:spPr>
          <a:xfrm>
            <a:off x="4191024" y="1103694"/>
            <a:ext cx="1162246" cy="275296"/>
          </a:xfrm>
          <a:prstGeom prst="bentConnector2">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301025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25D6388D-7F14-3E67-49C1-31C320D975E9}"/>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C6143E3F-51A4-E2D2-5E42-6AEBBFC62ABF}"/>
              </a:ext>
            </a:extLst>
          </p:cNvPr>
          <p:cNvSpPr/>
          <p:nvPr/>
        </p:nvSpPr>
        <p:spPr>
          <a:xfrm>
            <a:off x="920224" y="817648"/>
            <a:ext cx="6852397" cy="3760177"/>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3" name="Google Shape;633;p91">
            <a:extLst>
              <a:ext uri="{FF2B5EF4-FFF2-40B4-BE49-F238E27FC236}">
                <a16:creationId xmlns:a16="http://schemas.microsoft.com/office/drawing/2014/main" id="{DF0AAE9E-1295-E879-B412-9C84573A24B0}"/>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Monitoring &amp; Alerting</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6F2F4812-FA30-A89E-C6DC-56E69DDCC0EC}"/>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78182C36-2717-2611-DBA5-962E12F4D655}"/>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52" name="TextBox 51">
            <a:extLst>
              <a:ext uri="{FF2B5EF4-FFF2-40B4-BE49-F238E27FC236}">
                <a16:creationId xmlns:a16="http://schemas.microsoft.com/office/drawing/2014/main" id="{5A0673A0-350B-40B5-00AF-9C15BB8093DC}"/>
              </a:ext>
            </a:extLst>
          </p:cNvPr>
          <p:cNvSpPr txBox="1"/>
          <p:nvPr/>
        </p:nvSpPr>
        <p:spPr>
          <a:xfrm>
            <a:off x="3638564" y="1351401"/>
            <a:ext cx="1657526" cy="307777"/>
          </a:xfrm>
          <a:prstGeom prst="rect">
            <a:avLst/>
          </a:prstGeom>
          <a:noFill/>
        </p:spPr>
        <p:txBody>
          <a:bodyPr wrap="square" rtlCol="0">
            <a:spAutoFit/>
          </a:bodyPr>
          <a:lstStyle/>
          <a:p>
            <a:pPr algn="ctr"/>
            <a:r>
              <a:rPr lang="en-US" b="1" dirty="0">
                <a:solidFill>
                  <a:schemeClr val="tx1">
                    <a:lumMod val="85000"/>
                    <a:lumOff val="15000"/>
                  </a:schemeClr>
                </a:solidFill>
              </a:rPr>
              <a:t>backend</a:t>
            </a:r>
            <a:r>
              <a:rPr lang="en-US" dirty="0"/>
              <a:t> </a:t>
            </a:r>
            <a:r>
              <a:rPr lang="en-US" dirty="0">
                <a:solidFill>
                  <a:srgbClr val="0000EE"/>
                </a:solidFill>
              </a:rPr>
              <a:t>:8000</a:t>
            </a:r>
          </a:p>
        </p:txBody>
      </p:sp>
      <p:cxnSp>
        <p:nvCxnSpPr>
          <p:cNvPr id="31" name="Straight Arrow Connector 30">
            <a:extLst>
              <a:ext uri="{FF2B5EF4-FFF2-40B4-BE49-F238E27FC236}">
                <a16:creationId xmlns:a16="http://schemas.microsoft.com/office/drawing/2014/main" id="{3F0F6E1F-1C79-C899-3E44-16B8A4F4905B}"/>
              </a:ext>
            </a:extLst>
          </p:cNvPr>
          <p:cNvCxnSpPr>
            <a:cxnSpLocks/>
            <a:stCxn id="581" idx="1"/>
            <a:endCxn id="14" idx="3"/>
          </p:cNvCxnSpPr>
          <p:nvPr/>
        </p:nvCxnSpPr>
        <p:spPr>
          <a:xfrm flipH="1">
            <a:off x="5408472" y="4071926"/>
            <a:ext cx="1127944" cy="1"/>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cxnSp>
        <p:nvCxnSpPr>
          <p:cNvPr id="47" name="Straight Arrow Connector 46">
            <a:extLst>
              <a:ext uri="{FF2B5EF4-FFF2-40B4-BE49-F238E27FC236}">
                <a16:creationId xmlns:a16="http://schemas.microsoft.com/office/drawing/2014/main" id="{0D39A2A2-8CE7-3C28-1E73-CBE2C0968EA2}"/>
              </a:ext>
            </a:extLst>
          </p:cNvPr>
          <p:cNvCxnSpPr>
            <a:cxnSpLocks/>
            <a:stCxn id="23" idx="3"/>
            <a:endCxn id="18" idx="1"/>
          </p:cNvCxnSpPr>
          <p:nvPr/>
        </p:nvCxnSpPr>
        <p:spPr>
          <a:xfrm>
            <a:off x="2224112" y="2616221"/>
            <a:ext cx="1388901" cy="1385"/>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pic>
        <p:nvPicPr>
          <p:cNvPr id="9" name="Picture 8">
            <a:extLst>
              <a:ext uri="{FF2B5EF4-FFF2-40B4-BE49-F238E27FC236}">
                <a16:creationId xmlns:a16="http://schemas.microsoft.com/office/drawing/2014/main" id="{AFE0CC99-FBB4-00E3-CB59-2C5B36CFACF8}"/>
              </a:ext>
            </a:extLst>
          </p:cNvPr>
          <p:cNvPicPr>
            <a:picLocks noChangeAspect="1"/>
          </p:cNvPicPr>
          <p:nvPr/>
        </p:nvPicPr>
        <p:blipFill>
          <a:blip r:embed="rId4"/>
          <a:stretch>
            <a:fillRect/>
          </a:stretch>
        </p:blipFill>
        <p:spPr>
          <a:xfrm>
            <a:off x="1371379" y="2751773"/>
            <a:ext cx="333670" cy="361693"/>
          </a:xfrm>
          <a:prstGeom prst="rect">
            <a:avLst/>
          </a:prstGeom>
        </p:spPr>
      </p:pic>
      <p:pic>
        <p:nvPicPr>
          <p:cNvPr id="11" name="Picture 10">
            <a:extLst>
              <a:ext uri="{FF2B5EF4-FFF2-40B4-BE49-F238E27FC236}">
                <a16:creationId xmlns:a16="http://schemas.microsoft.com/office/drawing/2014/main" id="{058D8B95-8869-5497-249B-D24279E7D182}"/>
              </a:ext>
            </a:extLst>
          </p:cNvPr>
          <p:cNvPicPr>
            <a:picLocks noChangeAspect="1"/>
          </p:cNvPicPr>
          <p:nvPr/>
        </p:nvPicPr>
        <p:blipFill>
          <a:blip r:embed="rId5"/>
          <a:stretch>
            <a:fillRect/>
          </a:stretch>
        </p:blipFill>
        <p:spPr>
          <a:xfrm>
            <a:off x="4309530" y="2786967"/>
            <a:ext cx="329030" cy="329030"/>
          </a:xfrm>
          <a:prstGeom prst="rect">
            <a:avLst/>
          </a:prstGeom>
        </p:spPr>
      </p:pic>
      <p:sp>
        <p:nvSpPr>
          <p:cNvPr id="18" name="TextBox 17">
            <a:extLst>
              <a:ext uri="{FF2B5EF4-FFF2-40B4-BE49-F238E27FC236}">
                <a16:creationId xmlns:a16="http://schemas.microsoft.com/office/drawing/2014/main" id="{3450A45C-3208-78B9-967B-BCC33938943D}"/>
              </a:ext>
            </a:extLst>
          </p:cNvPr>
          <p:cNvSpPr txBox="1"/>
          <p:nvPr/>
        </p:nvSpPr>
        <p:spPr>
          <a:xfrm>
            <a:off x="3613013" y="2463717"/>
            <a:ext cx="1722064" cy="307777"/>
          </a:xfrm>
          <a:prstGeom prst="rect">
            <a:avLst/>
          </a:prstGeom>
          <a:noFill/>
        </p:spPr>
        <p:txBody>
          <a:bodyPr wrap="square" rtlCol="0">
            <a:spAutoFit/>
          </a:bodyPr>
          <a:lstStyle/>
          <a:p>
            <a:pPr algn="ctr"/>
            <a:r>
              <a:rPr lang="en-US" b="1" dirty="0" err="1">
                <a:solidFill>
                  <a:srgbClr val="262626"/>
                </a:solidFill>
              </a:rPr>
              <a:t>prometheus</a:t>
            </a:r>
            <a:r>
              <a:rPr lang="en-US" dirty="0"/>
              <a:t> </a:t>
            </a:r>
            <a:r>
              <a:rPr lang="en-US" dirty="0">
                <a:solidFill>
                  <a:srgbClr val="0000EE"/>
                </a:solidFill>
              </a:rPr>
              <a:t>:9090</a:t>
            </a:r>
          </a:p>
        </p:txBody>
      </p:sp>
      <p:sp>
        <p:nvSpPr>
          <p:cNvPr id="23" name="TextBox 22">
            <a:extLst>
              <a:ext uri="{FF2B5EF4-FFF2-40B4-BE49-F238E27FC236}">
                <a16:creationId xmlns:a16="http://schemas.microsoft.com/office/drawing/2014/main" id="{E342E218-7ABB-C458-7336-60CA5068A45B}"/>
              </a:ext>
            </a:extLst>
          </p:cNvPr>
          <p:cNvSpPr txBox="1"/>
          <p:nvPr/>
        </p:nvSpPr>
        <p:spPr>
          <a:xfrm>
            <a:off x="851790" y="2462332"/>
            <a:ext cx="1372322" cy="307777"/>
          </a:xfrm>
          <a:prstGeom prst="rect">
            <a:avLst/>
          </a:prstGeom>
          <a:noFill/>
        </p:spPr>
        <p:txBody>
          <a:bodyPr wrap="square" rtlCol="0">
            <a:spAutoFit/>
          </a:bodyPr>
          <a:lstStyle/>
          <a:p>
            <a:pPr algn="ctr"/>
            <a:r>
              <a:rPr lang="en-US" b="1" dirty="0" err="1">
                <a:solidFill>
                  <a:srgbClr val="262626"/>
                </a:solidFill>
              </a:rPr>
              <a:t>grafana</a:t>
            </a:r>
            <a:r>
              <a:rPr lang="en-US" dirty="0"/>
              <a:t> </a:t>
            </a:r>
            <a:r>
              <a:rPr lang="en-US" dirty="0">
                <a:solidFill>
                  <a:srgbClr val="0000EE"/>
                </a:solidFill>
              </a:rPr>
              <a:t>:3000</a:t>
            </a:r>
          </a:p>
        </p:txBody>
      </p:sp>
      <p:cxnSp>
        <p:nvCxnSpPr>
          <p:cNvPr id="580" name="Straight Arrow Connector 579">
            <a:extLst>
              <a:ext uri="{FF2B5EF4-FFF2-40B4-BE49-F238E27FC236}">
                <a16:creationId xmlns:a16="http://schemas.microsoft.com/office/drawing/2014/main" id="{E1905950-D315-140C-131A-88DEF5687B08}"/>
              </a:ext>
            </a:extLst>
          </p:cNvPr>
          <p:cNvCxnSpPr>
            <a:cxnSpLocks/>
            <a:stCxn id="18" idx="0"/>
            <a:endCxn id="52" idx="2"/>
          </p:cNvCxnSpPr>
          <p:nvPr/>
        </p:nvCxnSpPr>
        <p:spPr>
          <a:xfrm flipH="1" flipV="1">
            <a:off x="4467327" y="1659178"/>
            <a:ext cx="6718" cy="804539"/>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591" name="TextBox 590">
            <a:extLst>
              <a:ext uri="{FF2B5EF4-FFF2-40B4-BE49-F238E27FC236}">
                <a16:creationId xmlns:a16="http://schemas.microsoft.com/office/drawing/2014/main" id="{81B57F9E-5249-3F65-F037-5C82320F6BBE}"/>
              </a:ext>
            </a:extLst>
          </p:cNvPr>
          <p:cNvSpPr txBox="1"/>
          <p:nvPr/>
        </p:nvSpPr>
        <p:spPr>
          <a:xfrm>
            <a:off x="4440999" y="1904480"/>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scrape</a:t>
            </a:r>
          </a:p>
        </p:txBody>
      </p:sp>
      <p:pic>
        <p:nvPicPr>
          <p:cNvPr id="8" name="Picture 7">
            <a:extLst>
              <a:ext uri="{FF2B5EF4-FFF2-40B4-BE49-F238E27FC236}">
                <a16:creationId xmlns:a16="http://schemas.microsoft.com/office/drawing/2014/main" id="{2F03BB34-0766-BB5A-C46A-D800D40BE56B}"/>
              </a:ext>
            </a:extLst>
          </p:cNvPr>
          <p:cNvPicPr>
            <a:picLocks noChangeAspect="1"/>
          </p:cNvPicPr>
          <p:nvPr/>
        </p:nvPicPr>
        <p:blipFill>
          <a:blip r:embed="rId5"/>
          <a:stretch>
            <a:fillRect/>
          </a:stretch>
        </p:blipFill>
        <p:spPr>
          <a:xfrm>
            <a:off x="4362087" y="4311189"/>
            <a:ext cx="210480" cy="210480"/>
          </a:xfrm>
          <a:prstGeom prst="rect">
            <a:avLst/>
          </a:prstGeom>
        </p:spPr>
      </p:pic>
      <p:sp>
        <p:nvSpPr>
          <p:cNvPr id="14" name="TextBox 13">
            <a:extLst>
              <a:ext uri="{FF2B5EF4-FFF2-40B4-BE49-F238E27FC236}">
                <a16:creationId xmlns:a16="http://schemas.microsoft.com/office/drawing/2014/main" id="{750749A3-6888-0CB6-1756-AE886F5D2494}"/>
              </a:ext>
            </a:extLst>
          </p:cNvPr>
          <p:cNvSpPr txBox="1"/>
          <p:nvPr/>
        </p:nvSpPr>
        <p:spPr>
          <a:xfrm>
            <a:off x="3539618" y="3918038"/>
            <a:ext cx="1868854" cy="307777"/>
          </a:xfrm>
          <a:prstGeom prst="rect">
            <a:avLst/>
          </a:prstGeom>
          <a:noFill/>
        </p:spPr>
        <p:txBody>
          <a:bodyPr wrap="square" rtlCol="0">
            <a:spAutoFit/>
          </a:bodyPr>
          <a:lstStyle/>
          <a:p>
            <a:pPr algn="ctr"/>
            <a:r>
              <a:rPr lang="en-US" b="1" dirty="0" err="1">
                <a:solidFill>
                  <a:srgbClr val="262626"/>
                </a:solidFill>
              </a:rPr>
              <a:t>pushgateway</a:t>
            </a:r>
            <a:r>
              <a:rPr lang="en-US" b="1" dirty="0">
                <a:solidFill>
                  <a:srgbClr val="262626"/>
                </a:solidFill>
              </a:rPr>
              <a:t> </a:t>
            </a:r>
            <a:r>
              <a:rPr lang="en-US" dirty="0">
                <a:solidFill>
                  <a:srgbClr val="0000EE"/>
                </a:solidFill>
              </a:rPr>
              <a:t>:9091</a:t>
            </a:r>
          </a:p>
        </p:txBody>
      </p:sp>
      <p:pic>
        <p:nvPicPr>
          <p:cNvPr id="16" name="Picture 15">
            <a:extLst>
              <a:ext uri="{FF2B5EF4-FFF2-40B4-BE49-F238E27FC236}">
                <a16:creationId xmlns:a16="http://schemas.microsoft.com/office/drawing/2014/main" id="{ADA50C08-7B82-E70F-85BB-882789E21DAF}"/>
              </a:ext>
            </a:extLst>
          </p:cNvPr>
          <p:cNvPicPr>
            <a:picLocks noChangeAspect="1"/>
          </p:cNvPicPr>
          <p:nvPr/>
        </p:nvPicPr>
        <p:blipFill>
          <a:blip r:embed="rId5"/>
          <a:stretch>
            <a:fillRect/>
          </a:stretch>
        </p:blipFill>
        <p:spPr>
          <a:xfrm>
            <a:off x="6809093" y="2845750"/>
            <a:ext cx="208694" cy="208694"/>
          </a:xfrm>
          <a:prstGeom prst="rect">
            <a:avLst/>
          </a:prstGeom>
        </p:spPr>
      </p:pic>
      <p:sp>
        <p:nvSpPr>
          <p:cNvPr id="20" name="TextBox 19">
            <a:extLst>
              <a:ext uri="{FF2B5EF4-FFF2-40B4-BE49-F238E27FC236}">
                <a16:creationId xmlns:a16="http://schemas.microsoft.com/office/drawing/2014/main" id="{4449022C-0587-DE76-015E-ABE806BAB5CE}"/>
              </a:ext>
            </a:extLst>
          </p:cNvPr>
          <p:cNvSpPr txBox="1"/>
          <p:nvPr/>
        </p:nvSpPr>
        <p:spPr>
          <a:xfrm>
            <a:off x="5987323" y="2462332"/>
            <a:ext cx="1853732" cy="307777"/>
          </a:xfrm>
          <a:prstGeom prst="rect">
            <a:avLst/>
          </a:prstGeom>
          <a:noFill/>
        </p:spPr>
        <p:txBody>
          <a:bodyPr wrap="square" rtlCol="0">
            <a:spAutoFit/>
          </a:bodyPr>
          <a:lstStyle/>
          <a:p>
            <a:pPr algn="ctr"/>
            <a:r>
              <a:rPr lang="en-US" b="1" dirty="0" err="1">
                <a:solidFill>
                  <a:srgbClr val="262626"/>
                </a:solidFill>
              </a:rPr>
              <a:t>alertmanager</a:t>
            </a:r>
            <a:r>
              <a:rPr lang="en-US" b="1" dirty="0">
                <a:solidFill>
                  <a:srgbClr val="262626"/>
                </a:solidFill>
              </a:rPr>
              <a:t> </a:t>
            </a:r>
            <a:r>
              <a:rPr lang="en-US" dirty="0">
                <a:solidFill>
                  <a:srgbClr val="0000EE"/>
                </a:solidFill>
              </a:rPr>
              <a:t>:9093</a:t>
            </a:r>
          </a:p>
        </p:txBody>
      </p:sp>
      <p:pic>
        <p:nvPicPr>
          <p:cNvPr id="22" name="Picture 21">
            <a:extLst>
              <a:ext uri="{FF2B5EF4-FFF2-40B4-BE49-F238E27FC236}">
                <a16:creationId xmlns:a16="http://schemas.microsoft.com/office/drawing/2014/main" id="{16AE44C0-DC0E-4CE8-43F0-D877C05D84AB}"/>
              </a:ext>
            </a:extLst>
          </p:cNvPr>
          <p:cNvPicPr>
            <a:picLocks noChangeAspect="1"/>
          </p:cNvPicPr>
          <p:nvPr/>
        </p:nvPicPr>
        <p:blipFill>
          <a:blip r:embed="rId6"/>
          <a:stretch>
            <a:fillRect/>
          </a:stretch>
        </p:blipFill>
        <p:spPr>
          <a:xfrm>
            <a:off x="4198260" y="874272"/>
            <a:ext cx="538134" cy="99304"/>
          </a:xfrm>
          <a:prstGeom prst="rect">
            <a:avLst/>
          </a:prstGeom>
        </p:spPr>
      </p:pic>
      <p:pic>
        <p:nvPicPr>
          <p:cNvPr id="27" name="Picture 26">
            <a:extLst>
              <a:ext uri="{FF2B5EF4-FFF2-40B4-BE49-F238E27FC236}">
                <a16:creationId xmlns:a16="http://schemas.microsoft.com/office/drawing/2014/main" id="{4F143B77-256C-687D-43EE-E04999FECC6B}"/>
              </a:ext>
            </a:extLst>
          </p:cNvPr>
          <p:cNvPicPr>
            <a:picLocks noChangeAspect="1"/>
          </p:cNvPicPr>
          <p:nvPr/>
        </p:nvPicPr>
        <p:blipFill>
          <a:blip r:embed="rId7"/>
          <a:stretch>
            <a:fillRect/>
          </a:stretch>
        </p:blipFill>
        <p:spPr>
          <a:xfrm>
            <a:off x="4239766" y="1034586"/>
            <a:ext cx="455123" cy="336009"/>
          </a:xfrm>
          <a:prstGeom prst="rect">
            <a:avLst/>
          </a:prstGeom>
        </p:spPr>
      </p:pic>
      <p:cxnSp>
        <p:nvCxnSpPr>
          <p:cNvPr id="37" name="Straight Arrow Connector 36">
            <a:extLst>
              <a:ext uri="{FF2B5EF4-FFF2-40B4-BE49-F238E27FC236}">
                <a16:creationId xmlns:a16="http://schemas.microsoft.com/office/drawing/2014/main" id="{D434235F-2EB5-8C95-CEB3-595C00763BA6}"/>
              </a:ext>
            </a:extLst>
          </p:cNvPr>
          <p:cNvCxnSpPr>
            <a:cxnSpLocks/>
            <a:endCxn id="14" idx="0"/>
          </p:cNvCxnSpPr>
          <p:nvPr/>
        </p:nvCxnSpPr>
        <p:spPr>
          <a:xfrm>
            <a:off x="4474045" y="3192894"/>
            <a:ext cx="0" cy="725144"/>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38" name="TextBox 37">
            <a:extLst>
              <a:ext uri="{FF2B5EF4-FFF2-40B4-BE49-F238E27FC236}">
                <a16:creationId xmlns:a16="http://schemas.microsoft.com/office/drawing/2014/main" id="{5D520FAE-5827-8165-9CB3-D90AFA1CB165}"/>
              </a:ext>
            </a:extLst>
          </p:cNvPr>
          <p:cNvSpPr txBox="1"/>
          <p:nvPr/>
        </p:nvSpPr>
        <p:spPr>
          <a:xfrm>
            <a:off x="4440999" y="3427633"/>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scrape</a:t>
            </a:r>
          </a:p>
        </p:txBody>
      </p:sp>
      <p:sp>
        <p:nvSpPr>
          <p:cNvPr id="54" name="TextBox 53">
            <a:extLst>
              <a:ext uri="{FF2B5EF4-FFF2-40B4-BE49-F238E27FC236}">
                <a16:creationId xmlns:a16="http://schemas.microsoft.com/office/drawing/2014/main" id="{582F2ECC-9AE3-BAE2-99AB-EE673C1C414B}"/>
              </a:ext>
            </a:extLst>
          </p:cNvPr>
          <p:cNvSpPr txBox="1"/>
          <p:nvPr/>
        </p:nvSpPr>
        <p:spPr>
          <a:xfrm>
            <a:off x="5576952" y="3794927"/>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push</a:t>
            </a:r>
          </a:p>
        </p:txBody>
      </p:sp>
      <p:cxnSp>
        <p:nvCxnSpPr>
          <p:cNvPr id="55" name="Straight Arrow Connector 54">
            <a:extLst>
              <a:ext uri="{FF2B5EF4-FFF2-40B4-BE49-F238E27FC236}">
                <a16:creationId xmlns:a16="http://schemas.microsoft.com/office/drawing/2014/main" id="{99DA73CB-5265-1EB0-7EC7-7BED2A269803}"/>
              </a:ext>
            </a:extLst>
          </p:cNvPr>
          <p:cNvCxnSpPr>
            <a:cxnSpLocks/>
            <a:stCxn id="18" idx="3"/>
            <a:endCxn id="20" idx="1"/>
          </p:cNvCxnSpPr>
          <p:nvPr/>
        </p:nvCxnSpPr>
        <p:spPr>
          <a:xfrm flipV="1">
            <a:off x="5335077" y="2616221"/>
            <a:ext cx="652246" cy="1385"/>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sp>
        <p:nvSpPr>
          <p:cNvPr id="60" name="TextBox 59">
            <a:extLst>
              <a:ext uri="{FF2B5EF4-FFF2-40B4-BE49-F238E27FC236}">
                <a16:creationId xmlns:a16="http://schemas.microsoft.com/office/drawing/2014/main" id="{F2324F5F-0858-12F5-BBCB-12B6DE9B48BF}"/>
              </a:ext>
            </a:extLst>
          </p:cNvPr>
          <p:cNvSpPr txBox="1"/>
          <p:nvPr/>
        </p:nvSpPr>
        <p:spPr>
          <a:xfrm>
            <a:off x="5232405" y="2332415"/>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alerts</a:t>
            </a:r>
          </a:p>
        </p:txBody>
      </p:sp>
      <p:grpSp>
        <p:nvGrpSpPr>
          <p:cNvPr id="579" name="Group 578">
            <a:extLst>
              <a:ext uri="{FF2B5EF4-FFF2-40B4-BE49-F238E27FC236}">
                <a16:creationId xmlns:a16="http://schemas.microsoft.com/office/drawing/2014/main" id="{CB043595-B58D-58AA-BB7C-E696BEFEDDFA}"/>
              </a:ext>
            </a:extLst>
          </p:cNvPr>
          <p:cNvGrpSpPr/>
          <p:nvPr/>
        </p:nvGrpSpPr>
        <p:grpSpPr>
          <a:xfrm>
            <a:off x="6536416" y="3909823"/>
            <a:ext cx="754048" cy="324206"/>
            <a:chOff x="4084589" y="2171346"/>
            <a:chExt cx="974820" cy="423153"/>
          </a:xfrm>
          <a:solidFill>
            <a:schemeClr val="bg2">
              <a:lumMod val="50000"/>
              <a:lumOff val="50000"/>
            </a:schemeClr>
          </a:solidFill>
        </p:grpSpPr>
        <p:sp>
          <p:nvSpPr>
            <p:cNvPr id="581" name="Rectangle 580">
              <a:extLst>
                <a:ext uri="{FF2B5EF4-FFF2-40B4-BE49-F238E27FC236}">
                  <a16:creationId xmlns:a16="http://schemas.microsoft.com/office/drawing/2014/main" id="{E39F9BE9-E058-03D7-69CD-5E75550AE287}"/>
                </a:ext>
              </a:extLst>
            </p:cNvPr>
            <p:cNvSpPr/>
            <p:nvPr/>
          </p:nvSpPr>
          <p:spPr>
            <a:xfrm>
              <a:off x="4084589" y="2171346"/>
              <a:ext cx="974820"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ETL</a:t>
              </a:r>
            </a:p>
          </p:txBody>
        </p:sp>
        <p:pic>
          <p:nvPicPr>
            <p:cNvPr id="582" name="Picture 581" descr="Python (programming language) - Wikipedia">
              <a:extLst>
                <a:ext uri="{FF2B5EF4-FFF2-40B4-BE49-F238E27FC236}">
                  <a16:creationId xmlns:a16="http://schemas.microsoft.com/office/drawing/2014/main" id="{7C1135C2-5EA6-75C2-72CA-51F7F8FE732B}"/>
                </a:ext>
              </a:extLst>
            </p:cNvPr>
            <p:cNvPicPr>
              <a:picLocks noChangeAspect="1"/>
            </p:cNvPicPr>
            <p:nvPr/>
          </p:nvPicPr>
          <p:blipFill>
            <a:blip r:embed="rId8"/>
            <a:stretch>
              <a:fillRect/>
            </a:stretch>
          </p:blipFill>
          <p:spPr>
            <a:xfrm>
              <a:off x="4171699" y="2204198"/>
              <a:ext cx="357449" cy="357449"/>
            </a:xfrm>
            <a:prstGeom prst="rect">
              <a:avLst/>
            </a:prstGeom>
            <a:grpFill/>
            <a:ln>
              <a:noFill/>
            </a:ln>
          </p:spPr>
        </p:pic>
      </p:grpSp>
      <p:sp>
        <p:nvSpPr>
          <p:cNvPr id="592" name="TextBox 591">
            <a:extLst>
              <a:ext uri="{FF2B5EF4-FFF2-40B4-BE49-F238E27FC236}">
                <a16:creationId xmlns:a16="http://schemas.microsoft.com/office/drawing/2014/main" id="{6F1FF3A5-25ED-0909-E98D-0D2F2BEB54A9}"/>
              </a:ext>
            </a:extLst>
          </p:cNvPr>
          <p:cNvSpPr txBox="1"/>
          <p:nvPr/>
        </p:nvSpPr>
        <p:spPr>
          <a:xfrm>
            <a:off x="2523071" y="2341186"/>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query</a:t>
            </a:r>
          </a:p>
        </p:txBody>
      </p:sp>
      <p:pic>
        <p:nvPicPr>
          <p:cNvPr id="594" name="Picture 593">
            <a:extLst>
              <a:ext uri="{FF2B5EF4-FFF2-40B4-BE49-F238E27FC236}">
                <a16:creationId xmlns:a16="http://schemas.microsoft.com/office/drawing/2014/main" id="{5CC4CAC5-50AD-9D10-1DB2-F9B7919C1642}"/>
              </a:ext>
            </a:extLst>
          </p:cNvPr>
          <p:cNvPicPr>
            <a:picLocks noChangeAspect="1"/>
          </p:cNvPicPr>
          <p:nvPr/>
        </p:nvPicPr>
        <p:blipFill>
          <a:blip r:embed="rId9">
            <a:alphaModFix amt="50000"/>
          </a:blip>
          <a:stretch>
            <a:fillRect/>
          </a:stretch>
        </p:blipFill>
        <p:spPr>
          <a:xfrm>
            <a:off x="6551484" y="1640945"/>
            <a:ext cx="697149" cy="178372"/>
          </a:xfrm>
          <a:prstGeom prst="rect">
            <a:avLst/>
          </a:prstGeom>
        </p:spPr>
      </p:pic>
      <p:cxnSp>
        <p:nvCxnSpPr>
          <p:cNvPr id="595" name="Straight Arrow Connector 594">
            <a:extLst>
              <a:ext uri="{FF2B5EF4-FFF2-40B4-BE49-F238E27FC236}">
                <a16:creationId xmlns:a16="http://schemas.microsoft.com/office/drawing/2014/main" id="{A24BFB29-B4BB-15A7-F1B9-783BDAFF5EB3}"/>
              </a:ext>
            </a:extLst>
          </p:cNvPr>
          <p:cNvCxnSpPr>
            <a:cxnSpLocks/>
            <a:stCxn id="20" idx="0"/>
          </p:cNvCxnSpPr>
          <p:nvPr/>
        </p:nvCxnSpPr>
        <p:spPr>
          <a:xfrm flipV="1">
            <a:off x="6914189" y="1908884"/>
            <a:ext cx="0" cy="553448"/>
          </a:xfrm>
          <a:prstGeom prst="straightConnector1">
            <a:avLst/>
          </a:prstGeom>
          <a:ln w="19050">
            <a:solidFill>
              <a:schemeClr val="accent5">
                <a:shade val="95000"/>
                <a:satMod val="105000"/>
                <a:alpha val="50000"/>
              </a:schemeClr>
            </a:solidFill>
            <a:prstDash val="solid"/>
            <a:tailEnd type="triangle"/>
          </a:ln>
        </p:spPr>
        <p:style>
          <a:lnRef idx="1">
            <a:schemeClr val="accent5"/>
          </a:lnRef>
          <a:fillRef idx="0">
            <a:schemeClr val="accent5"/>
          </a:fillRef>
          <a:effectRef idx="0">
            <a:schemeClr val="accent5"/>
          </a:effectRef>
          <a:fontRef idx="minor">
            <a:schemeClr val="tx1"/>
          </a:fontRef>
        </p:style>
      </p:cxnSp>
      <p:sp>
        <p:nvSpPr>
          <p:cNvPr id="599" name="TextBox 598">
            <a:extLst>
              <a:ext uri="{FF2B5EF4-FFF2-40B4-BE49-F238E27FC236}">
                <a16:creationId xmlns:a16="http://schemas.microsoft.com/office/drawing/2014/main" id="{550295F5-9D8E-FE76-C1EE-4A15C55C2955}"/>
              </a:ext>
            </a:extLst>
          </p:cNvPr>
          <p:cNvSpPr txBox="1"/>
          <p:nvPr/>
        </p:nvSpPr>
        <p:spPr>
          <a:xfrm>
            <a:off x="6767842" y="2055416"/>
            <a:ext cx="790983" cy="276999"/>
          </a:xfrm>
          <a:prstGeom prst="rect">
            <a:avLst/>
          </a:prstGeom>
          <a:noFill/>
        </p:spPr>
        <p:txBody>
          <a:bodyPr wrap="square" rtlCol="0">
            <a:spAutoFit/>
          </a:bodyPr>
          <a:lstStyle/>
          <a:p>
            <a:pPr algn="ctr"/>
            <a:r>
              <a:rPr lang="en-US" sz="1200" dirty="0">
                <a:solidFill>
                  <a:schemeClr val="tx1">
                    <a:lumMod val="75000"/>
                    <a:lumOff val="25000"/>
                    <a:alpha val="50000"/>
                  </a:schemeClr>
                </a:solidFill>
              </a:rPr>
              <a:t>notify</a:t>
            </a:r>
          </a:p>
        </p:txBody>
      </p:sp>
      <p:grpSp>
        <p:nvGrpSpPr>
          <p:cNvPr id="637" name="Group 636">
            <a:extLst>
              <a:ext uri="{FF2B5EF4-FFF2-40B4-BE49-F238E27FC236}">
                <a16:creationId xmlns:a16="http://schemas.microsoft.com/office/drawing/2014/main" id="{A8AB6CFD-0D7B-C20F-648C-0FC26FA29E7E}"/>
              </a:ext>
            </a:extLst>
          </p:cNvPr>
          <p:cNvGrpSpPr/>
          <p:nvPr/>
        </p:nvGrpSpPr>
        <p:grpSpPr>
          <a:xfrm>
            <a:off x="4038297" y="1923151"/>
            <a:ext cx="429030" cy="266298"/>
            <a:chOff x="5836602" y="3526478"/>
            <a:chExt cx="429030" cy="266298"/>
          </a:xfrm>
        </p:grpSpPr>
        <p:pic>
          <p:nvPicPr>
            <p:cNvPr id="638" name="Picture 637">
              <a:extLst>
                <a:ext uri="{FF2B5EF4-FFF2-40B4-BE49-F238E27FC236}">
                  <a16:creationId xmlns:a16="http://schemas.microsoft.com/office/drawing/2014/main" id="{C4AFF481-565D-FA7B-463F-0A1E4E82D0BA}"/>
                </a:ext>
              </a:extLst>
            </p:cNvPr>
            <p:cNvPicPr>
              <a:picLocks noChangeAspect="1"/>
            </p:cNvPicPr>
            <p:nvPr/>
          </p:nvPicPr>
          <p:blipFill>
            <a:blip r:embed="rId10"/>
            <a:stretch>
              <a:fillRect/>
            </a:stretch>
          </p:blipFill>
          <p:spPr>
            <a:xfrm>
              <a:off x="5909286" y="3526478"/>
              <a:ext cx="266298" cy="266298"/>
            </a:xfrm>
            <a:prstGeom prst="rect">
              <a:avLst/>
            </a:prstGeom>
          </p:spPr>
        </p:pic>
        <p:sp>
          <p:nvSpPr>
            <p:cNvPr id="639" name="TextBox 638">
              <a:extLst>
                <a:ext uri="{FF2B5EF4-FFF2-40B4-BE49-F238E27FC236}">
                  <a16:creationId xmlns:a16="http://schemas.microsoft.com/office/drawing/2014/main" id="{786F5BB7-182B-3545-18C2-4224F3718DC5}"/>
                </a:ext>
              </a:extLst>
            </p:cNvPr>
            <p:cNvSpPr txBox="1"/>
            <p:nvPr/>
          </p:nvSpPr>
          <p:spPr>
            <a:xfrm>
              <a:off x="5836602" y="3570582"/>
              <a:ext cx="429030" cy="184666"/>
            </a:xfrm>
            <a:prstGeom prst="rect">
              <a:avLst/>
            </a:prstGeom>
            <a:noFill/>
          </p:spPr>
          <p:txBody>
            <a:bodyPr wrap="square" rtlCol="0">
              <a:spAutoFit/>
            </a:bodyPr>
            <a:lstStyle/>
            <a:p>
              <a:pPr algn="ctr"/>
              <a:r>
                <a:rPr lang="en-US" sz="600" b="1" dirty="0">
                  <a:solidFill>
                    <a:schemeClr val="tx1">
                      <a:lumMod val="75000"/>
                      <a:lumOff val="25000"/>
                    </a:schemeClr>
                  </a:solidFill>
                </a:rPr>
                <a:t>15 s</a:t>
              </a:r>
            </a:p>
          </p:txBody>
        </p:sp>
      </p:grpSp>
      <p:grpSp>
        <p:nvGrpSpPr>
          <p:cNvPr id="642" name="Group 641">
            <a:extLst>
              <a:ext uri="{FF2B5EF4-FFF2-40B4-BE49-F238E27FC236}">
                <a16:creationId xmlns:a16="http://schemas.microsoft.com/office/drawing/2014/main" id="{1BEE0611-A2BE-4650-73D3-1BC25D19880C}"/>
              </a:ext>
            </a:extLst>
          </p:cNvPr>
          <p:cNvGrpSpPr/>
          <p:nvPr/>
        </p:nvGrpSpPr>
        <p:grpSpPr>
          <a:xfrm>
            <a:off x="4024304" y="3444342"/>
            <a:ext cx="429030" cy="266298"/>
            <a:chOff x="5836602" y="3526478"/>
            <a:chExt cx="429030" cy="266298"/>
          </a:xfrm>
        </p:grpSpPr>
        <p:pic>
          <p:nvPicPr>
            <p:cNvPr id="643" name="Picture 642">
              <a:extLst>
                <a:ext uri="{FF2B5EF4-FFF2-40B4-BE49-F238E27FC236}">
                  <a16:creationId xmlns:a16="http://schemas.microsoft.com/office/drawing/2014/main" id="{8EF3ED6F-C831-AE11-4788-DE3CD631028F}"/>
                </a:ext>
              </a:extLst>
            </p:cNvPr>
            <p:cNvPicPr>
              <a:picLocks noChangeAspect="1"/>
            </p:cNvPicPr>
            <p:nvPr/>
          </p:nvPicPr>
          <p:blipFill>
            <a:blip r:embed="rId10"/>
            <a:stretch>
              <a:fillRect/>
            </a:stretch>
          </p:blipFill>
          <p:spPr>
            <a:xfrm>
              <a:off x="5909286" y="3526478"/>
              <a:ext cx="266298" cy="266298"/>
            </a:xfrm>
            <a:prstGeom prst="rect">
              <a:avLst/>
            </a:prstGeom>
          </p:spPr>
        </p:pic>
        <p:sp>
          <p:nvSpPr>
            <p:cNvPr id="644" name="TextBox 643">
              <a:extLst>
                <a:ext uri="{FF2B5EF4-FFF2-40B4-BE49-F238E27FC236}">
                  <a16:creationId xmlns:a16="http://schemas.microsoft.com/office/drawing/2014/main" id="{4F7C82B6-5884-95DE-B7FA-E5594D81B03B}"/>
                </a:ext>
              </a:extLst>
            </p:cNvPr>
            <p:cNvSpPr txBox="1"/>
            <p:nvPr/>
          </p:nvSpPr>
          <p:spPr>
            <a:xfrm>
              <a:off x="5836602" y="3570582"/>
              <a:ext cx="429030" cy="184666"/>
            </a:xfrm>
            <a:prstGeom prst="rect">
              <a:avLst/>
            </a:prstGeom>
            <a:noFill/>
          </p:spPr>
          <p:txBody>
            <a:bodyPr wrap="square" rtlCol="0">
              <a:spAutoFit/>
            </a:bodyPr>
            <a:lstStyle/>
            <a:p>
              <a:pPr algn="ctr"/>
              <a:r>
                <a:rPr lang="en-US" sz="600" b="1" dirty="0">
                  <a:solidFill>
                    <a:schemeClr val="tx1">
                      <a:lumMod val="75000"/>
                      <a:lumOff val="25000"/>
                    </a:schemeClr>
                  </a:solidFill>
                </a:rPr>
                <a:t>15 s</a:t>
              </a:r>
            </a:p>
          </p:txBody>
        </p:sp>
      </p:grpSp>
      <p:grpSp>
        <p:nvGrpSpPr>
          <p:cNvPr id="645" name="Group 644">
            <a:extLst>
              <a:ext uri="{FF2B5EF4-FFF2-40B4-BE49-F238E27FC236}">
                <a16:creationId xmlns:a16="http://schemas.microsoft.com/office/drawing/2014/main" id="{28CB518E-F23A-59F9-1BD8-B06BF2C2A87F}"/>
              </a:ext>
            </a:extLst>
          </p:cNvPr>
          <p:cNvGrpSpPr/>
          <p:nvPr/>
        </p:nvGrpSpPr>
        <p:grpSpPr>
          <a:xfrm>
            <a:off x="5447402" y="2666321"/>
            <a:ext cx="429030" cy="266298"/>
            <a:chOff x="5837250" y="3526478"/>
            <a:chExt cx="429030" cy="266298"/>
          </a:xfrm>
        </p:grpSpPr>
        <p:pic>
          <p:nvPicPr>
            <p:cNvPr id="647" name="Picture 646">
              <a:extLst>
                <a:ext uri="{FF2B5EF4-FFF2-40B4-BE49-F238E27FC236}">
                  <a16:creationId xmlns:a16="http://schemas.microsoft.com/office/drawing/2014/main" id="{6B2342F8-E6CA-01AA-38AA-CB8D13D9BC20}"/>
                </a:ext>
              </a:extLst>
            </p:cNvPr>
            <p:cNvPicPr>
              <a:picLocks noChangeAspect="1"/>
            </p:cNvPicPr>
            <p:nvPr/>
          </p:nvPicPr>
          <p:blipFill>
            <a:blip r:embed="rId10"/>
            <a:stretch>
              <a:fillRect/>
            </a:stretch>
          </p:blipFill>
          <p:spPr>
            <a:xfrm>
              <a:off x="5909286" y="3526478"/>
              <a:ext cx="266298" cy="266298"/>
            </a:xfrm>
            <a:prstGeom prst="rect">
              <a:avLst/>
            </a:prstGeom>
          </p:spPr>
        </p:pic>
        <p:sp>
          <p:nvSpPr>
            <p:cNvPr id="648" name="TextBox 647">
              <a:extLst>
                <a:ext uri="{FF2B5EF4-FFF2-40B4-BE49-F238E27FC236}">
                  <a16:creationId xmlns:a16="http://schemas.microsoft.com/office/drawing/2014/main" id="{C89E22B0-E42B-59EF-1913-BEEA2F47EECB}"/>
                </a:ext>
              </a:extLst>
            </p:cNvPr>
            <p:cNvSpPr txBox="1"/>
            <p:nvPr/>
          </p:nvSpPr>
          <p:spPr>
            <a:xfrm>
              <a:off x="5837250" y="3539585"/>
              <a:ext cx="429030" cy="246221"/>
            </a:xfrm>
            <a:prstGeom prst="rect">
              <a:avLst/>
            </a:prstGeom>
            <a:noFill/>
          </p:spPr>
          <p:txBody>
            <a:bodyPr wrap="square" rtlCol="0">
              <a:spAutoFit/>
            </a:bodyPr>
            <a:lstStyle/>
            <a:p>
              <a:pPr algn="ctr"/>
              <a:r>
                <a:rPr lang="en-US" sz="500" b="1" dirty="0">
                  <a:solidFill>
                    <a:schemeClr val="tx1">
                      <a:lumMod val="75000"/>
                      <a:lumOff val="25000"/>
                    </a:schemeClr>
                  </a:solidFill>
                </a:rPr>
                <a:t>ETL</a:t>
              </a:r>
              <a:br>
                <a:rPr lang="en-US" sz="500" b="1" dirty="0">
                  <a:solidFill>
                    <a:schemeClr val="tx1">
                      <a:lumMod val="75000"/>
                      <a:lumOff val="25000"/>
                    </a:schemeClr>
                  </a:solidFill>
                </a:rPr>
              </a:br>
              <a:r>
                <a:rPr lang="en-US" sz="500" b="1" dirty="0">
                  <a:solidFill>
                    <a:schemeClr val="tx1">
                      <a:lumMod val="75000"/>
                      <a:lumOff val="25000"/>
                    </a:schemeClr>
                  </a:solidFill>
                </a:rPr>
                <a:t>&gt;26 h</a:t>
              </a:r>
            </a:p>
          </p:txBody>
        </p:sp>
      </p:grpSp>
      <p:sp>
        <p:nvSpPr>
          <p:cNvPr id="649" name="Rectangle 648">
            <a:extLst>
              <a:ext uri="{FF2B5EF4-FFF2-40B4-BE49-F238E27FC236}">
                <a16:creationId xmlns:a16="http://schemas.microsoft.com/office/drawing/2014/main" id="{1332BD09-E8E1-3666-B811-349B98DA9565}"/>
              </a:ext>
            </a:extLst>
          </p:cNvPr>
          <p:cNvSpPr/>
          <p:nvPr/>
        </p:nvSpPr>
        <p:spPr>
          <a:xfrm>
            <a:off x="2348086" y="2923061"/>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Time Since Last Successful ETL</a:t>
            </a:r>
          </a:p>
        </p:txBody>
      </p:sp>
      <p:sp>
        <p:nvSpPr>
          <p:cNvPr id="651" name="Rectangle 650">
            <a:extLst>
              <a:ext uri="{FF2B5EF4-FFF2-40B4-BE49-F238E27FC236}">
                <a16:creationId xmlns:a16="http://schemas.microsoft.com/office/drawing/2014/main" id="{8CAA198F-3520-49A7-5C28-3B3FC81744D2}"/>
              </a:ext>
            </a:extLst>
          </p:cNvPr>
          <p:cNvSpPr/>
          <p:nvPr/>
        </p:nvSpPr>
        <p:spPr>
          <a:xfrm>
            <a:off x="2348086" y="3394532"/>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Last ETL Duration</a:t>
            </a:r>
          </a:p>
        </p:txBody>
      </p:sp>
      <p:sp>
        <p:nvSpPr>
          <p:cNvPr id="653" name="Rectangle 652">
            <a:extLst>
              <a:ext uri="{FF2B5EF4-FFF2-40B4-BE49-F238E27FC236}">
                <a16:creationId xmlns:a16="http://schemas.microsoft.com/office/drawing/2014/main" id="{32F40984-0A08-B9E5-13BE-3CD960D26F0A}"/>
              </a:ext>
            </a:extLst>
          </p:cNvPr>
          <p:cNvSpPr/>
          <p:nvPr/>
        </p:nvSpPr>
        <p:spPr>
          <a:xfrm>
            <a:off x="2348086" y="3869309"/>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Geocoding Failures</a:t>
            </a:r>
          </a:p>
        </p:txBody>
      </p:sp>
      <p:sp>
        <p:nvSpPr>
          <p:cNvPr id="655" name="Rectangle 654">
            <a:extLst>
              <a:ext uri="{FF2B5EF4-FFF2-40B4-BE49-F238E27FC236}">
                <a16:creationId xmlns:a16="http://schemas.microsoft.com/office/drawing/2014/main" id="{21D270ED-EDB8-55E8-EA44-A22CBDFCD29B}"/>
              </a:ext>
            </a:extLst>
          </p:cNvPr>
          <p:cNvSpPr/>
          <p:nvPr/>
        </p:nvSpPr>
        <p:spPr>
          <a:xfrm>
            <a:off x="2397466" y="840657"/>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Job Search Requests</a:t>
            </a:r>
          </a:p>
        </p:txBody>
      </p:sp>
      <p:sp>
        <p:nvSpPr>
          <p:cNvPr id="657" name="Rectangle 656">
            <a:extLst>
              <a:ext uri="{FF2B5EF4-FFF2-40B4-BE49-F238E27FC236}">
                <a16:creationId xmlns:a16="http://schemas.microsoft.com/office/drawing/2014/main" id="{D7F02F9D-54BE-C679-CAC0-B6FABCF94A80}"/>
              </a:ext>
            </a:extLst>
          </p:cNvPr>
          <p:cNvSpPr/>
          <p:nvPr/>
        </p:nvSpPr>
        <p:spPr>
          <a:xfrm>
            <a:off x="2397466" y="1315434"/>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Job Search Duration (p95)</a:t>
            </a:r>
          </a:p>
        </p:txBody>
      </p:sp>
      <p:sp>
        <p:nvSpPr>
          <p:cNvPr id="659" name="Rectangle 658">
            <a:extLst>
              <a:ext uri="{FF2B5EF4-FFF2-40B4-BE49-F238E27FC236}">
                <a16:creationId xmlns:a16="http://schemas.microsoft.com/office/drawing/2014/main" id="{1C02109E-EDF0-BC2C-9FF4-90052E0D4356}"/>
              </a:ext>
            </a:extLst>
          </p:cNvPr>
          <p:cNvSpPr/>
          <p:nvPr/>
        </p:nvSpPr>
        <p:spPr>
          <a:xfrm>
            <a:off x="2397466" y="1790211"/>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Active Database Connections</a:t>
            </a:r>
          </a:p>
        </p:txBody>
      </p:sp>
    </p:spTree>
    <p:extLst>
      <p:ext uri="{BB962C8B-B14F-4D97-AF65-F5344CB8AC3E}">
        <p14:creationId xmlns:p14="http://schemas.microsoft.com/office/powerpoint/2010/main" val="6576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481022DB-5551-B743-1147-B8B7982DAE04}"/>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99F6F1C5-4FCA-226F-B7D5-DE7394DD994E}"/>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Continuous Integration with GitHub Actions</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1EED32FD-EBBC-715E-5801-7AE9E2CA02C3}"/>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1C175177-E5F8-8040-8FEA-BD04CA40EE4F}"/>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2" name="TextBox 1">
            <a:extLst>
              <a:ext uri="{FF2B5EF4-FFF2-40B4-BE49-F238E27FC236}">
                <a16:creationId xmlns:a16="http://schemas.microsoft.com/office/drawing/2014/main" id="{AC68D044-7BCA-2620-6CB7-E9CE4CD03D37}"/>
              </a:ext>
            </a:extLst>
          </p:cNvPr>
          <p:cNvSpPr txBox="1"/>
          <p:nvPr/>
        </p:nvSpPr>
        <p:spPr>
          <a:xfrm>
            <a:off x="1671288" y="2366403"/>
            <a:ext cx="418289" cy="246221"/>
          </a:xfrm>
          <a:prstGeom prst="rect">
            <a:avLst/>
          </a:prstGeom>
          <a:noFill/>
        </p:spPr>
        <p:txBody>
          <a:bodyPr wrap="square" rtlCol="0">
            <a:spAutoFit/>
          </a:bodyPr>
          <a:lstStyle/>
          <a:p>
            <a:r>
              <a:rPr lang="en-US" sz="1000" dirty="0"/>
              <a:t>no</a:t>
            </a:r>
          </a:p>
        </p:txBody>
      </p:sp>
      <p:sp>
        <p:nvSpPr>
          <p:cNvPr id="5" name="Diamond 4">
            <a:extLst>
              <a:ext uri="{FF2B5EF4-FFF2-40B4-BE49-F238E27FC236}">
                <a16:creationId xmlns:a16="http://schemas.microsoft.com/office/drawing/2014/main" id="{F5CCFBEF-FB87-3D5D-53BD-C15A74B0E2A1}"/>
              </a:ext>
            </a:extLst>
          </p:cNvPr>
          <p:cNvSpPr/>
          <p:nvPr/>
        </p:nvSpPr>
        <p:spPr>
          <a:xfrm>
            <a:off x="1106649" y="1214697"/>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Push event?</a:t>
            </a:r>
          </a:p>
        </p:txBody>
      </p:sp>
      <p:sp>
        <p:nvSpPr>
          <p:cNvPr id="6" name="TextBox 5">
            <a:extLst>
              <a:ext uri="{FF2B5EF4-FFF2-40B4-BE49-F238E27FC236}">
                <a16:creationId xmlns:a16="http://schemas.microsoft.com/office/drawing/2014/main" id="{43C696E6-FB30-02B4-653B-70DE5F4B05FD}"/>
              </a:ext>
            </a:extLst>
          </p:cNvPr>
          <p:cNvSpPr txBox="1"/>
          <p:nvPr/>
        </p:nvSpPr>
        <p:spPr>
          <a:xfrm>
            <a:off x="1671288" y="962834"/>
            <a:ext cx="418289" cy="246221"/>
          </a:xfrm>
          <a:prstGeom prst="rect">
            <a:avLst/>
          </a:prstGeom>
          <a:noFill/>
        </p:spPr>
        <p:txBody>
          <a:bodyPr wrap="square" rtlCol="0">
            <a:spAutoFit/>
          </a:bodyPr>
          <a:lstStyle/>
          <a:p>
            <a:r>
              <a:rPr lang="en-US" sz="1000" dirty="0"/>
              <a:t>yes</a:t>
            </a:r>
          </a:p>
        </p:txBody>
      </p:sp>
      <p:cxnSp>
        <p:nvCxnSpPr>
          <p:cNvPr id="10" name="Connector: Elbow 9">
            <a:extLst>
              <a:ext uri="{FF2B5EF4-FFF2-40B4-BE49-F238E27FC236}">
                <a16:creationId xmlns:a16="http://schemas.microsoft.com/office/drawing/2014/main" id="{108DBB25-0D5F-69D0-3BE7-E8E531EED91C}"/>
              </a:ext>
            </a:extLst>
          </p:cNvPr>
          <p:cNvCxnSpPr>
            <a:cxnSpLocks/>
            <a:stCxn id="5" idx="0"/>
            <a:endCxn id="13" idx="0"/>
          </p:cNvCxnSpPr>
          <p:nvPr/>
        </p:nvCxnSpPr>
        <p:spPr>
          <a:xfrm rot="16200000" flipH="1">
            <a:off x="2602814" y="283170"/>
            <a:ext cx="105161" cy="1968214"/>
          </a:xfrm>
          <a:prstGeom prst="bentConnector3">
            <a:avLst>
              <a:gd name="adj1" fmla="val -21738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36D478F9-F166-49F8-5F10-44FE33E4B2FA}"/>
              </a:ext>
            </a:extLst>
          </p:cNvPr>
          <p:cNvCxnSpPr>
            <a:cxnSpLocks/>
            <a:stCxn id="26" idx="3"/>
            <a:endCxn id="13" idx="1"/>
          </p:cNvCxnSpPr>
          <p:nvPr/>
        </p:nvCxnSpPr>
        <p:spPr>
          <a:xfrm flipV="1">
            <a:off x="2235927" y="1739034"/>
            <a:ext cx="616863" cy="1598379"/>
          </a:xfrm>
          <a:prstGeom prst="bentConnector3">
            <a:avLst>
              <a:gd name="adj1" fmla="val 50000"/>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5C21F40-9276-2978-B905-9C7299C11BB1}"/>
              </a:ext>
            </a:extLst>
          </p:cNvPr>
          <p:cNvCxnSpPr>
            <a:cxnSpLocks/>
            <a:stCxn id="21" idx="6"/>
            <a:endCxn id="5" idx="1"/>
          </p:cNvCxnSpPr>
          <p:nvPr/>
        </p:nvCxnSpPr>
        <p:spPr>
          <a:xfrm>
            <a:off x="821012" y="1736952"/>
            <a:ext cx="285637"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1442CA3-3992-7868-A5D7-0B0523723778}"/>
              </a:ext>
            </a:extLst>
          </p:cNvPr>
          <p:cNvSpPr txBox="1"/>
          <p:nvPr/>
        </p:nvSpPr>
        <p:spPr>
          <a:xfrm rot="16200000">
            <a:off x="-32425" y="2428104"/>
            <a:ext cx="1460656" cy="246221"/>
          </a:xfrm>
          <a:prstGeom prst="rect">
            <a:avLst/>
          </a:prstGeom>
          <a:noFill/>
        </p:spPr>
        <p:txBody>
          <a:bodyPr wrap="none" rtlCol="0">
            <a:spAutoFit/>
          </a:bodyPr>
          <a:lstStyle/>
          <a:p>
            <a:r>
              <a:rPr lang="en-US" sz="1000" dirty="0"/>
              <a:t>GitHub event occurred</a:t>
            </a:r>
          </a:p>
        </p:txBody>
      </p:sp>
      <p:sp>
        <p:nvSpPr>
          <p:cNvPr id="21" name="Oval 20">
            <a:extLst>
              <a:ext uri="{FF2B5EF4-FFF2-40B4-BE49-F238E27FC236}">
                <a16:creationId xmlns:a16="http://schemas.microsoft.com/office/drawing/2014/main" id="{5A6F1E7E-FEC3-7C1D-9142-737848DCD692}"/>
              </a:ext>
            </a:extLst>
          </p:cNvPr>
          <p:cNvSpPr/>
          <p:nvPr/>
        </p:nvSpPr>
        <p:spPr>
          <a:xfrm>
            <a:off x="609862" y="1631377"/>
            <a:ext cx="211150" cy="211150"/>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Diamond 25">
            <a:extLst>
              <a:ext uri="{FF2B5EF4-FFF2-40B4-BE49-F238E27FC236}">
                <a16:creationId xmlns:a16="http://schemas.microsoft.com/office/drawing/2014/main" id="{267BAC69-8630-922A-B4D1-6C56EB598D34}"/>
              </a:ext>
            </a:extLst>
          </p:cNvPr>
          <p:cNvSpPr/>
          <p:nvPr/>
        </p:nvSpPr>
        <p:spPr>
          <a:xfrm>
            <a:off x="1106649" y="2815158"/>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PR targeting</a:t>
            </a:r>
          </a:p>
          <a:p>
            <a:pPr algn="ctr"/>
            <a:r>
              <a:rPr lang="en-US" sz="1000" i="1" dirty="0">
                <a:solidFill>
                  <a:schemeClr val="tx1">
                    <a:lumMod val="85000"/>
                    <a:lumOff val="15000"/>
                  </a:schemeClr>
                </a:solidFill>
              </a:rPr>
              <a:t>main</a:t>
            </a:r>
            <a:r>
              <a:rPr lang="en-US" sz="1000" dirty="0">
                <a:solidFill>
                  <a:schemeClr val="tx1">
                    <a:lumMod val="85000"/>
                    <a:lumOff val="15000"/>
                  </a:schemeClr>
                </a:solidFill>
              </a:rPr>
              <a:t> or </a:t>
            </a:r>
            <a:r>
              <a:rPr lang="en-US" sz="1000" i="1" dirty="0">
                <a:solidFill>
                  <a:schemeClr val="tx1">
                    <a:lumMod val="85000"/>
                    <a:lumOff val="15000"/>
                  </a:schemeClr>
                </a:solidFill>
              </a:rPr>
              <a:t>master</a:t>
            </a:r>
            <a:r>
              <a:rPr lang="en-US" sz="1000" dirty="0">
                <a:solidFill>
                  <a:schemeClr val="tx1">
                    <a:lumMod val="85000"/>
                    <a:lumOff val="15000"/>
                  </a:schemeClr>
                </a:solidFill>
              </a:rPr>
              <a:t>?</a:t>
            </a:r>
          </a:p>
        </p:txBody>
      </p:sp>
      <p:sp>
        <p:nvSpPr>
          <p:cNvPr id="30" name="Rectangle: Rounded Corners 29">
            <a:extLst>
              <a:ext uri="{FF2B5EF4-FFF2-40B4-BE49-F238E27FC236}">
                <a16:creationId xmlns:a16="http://schemas.microsoft.com/office/drawing/2014/main" id="{275BF14B-8BD1-3C66-CBF6-A208C017AFC9}"/>
              </a:ext>
            </a:extLst>
          </p:cNvPr>
          <p:cNvSpPr/>
          <p:nvPr/>
        </p:nvSpPr>
        <p:spPr>
          <a:xfrm>
            <a:off x="4763375" y="131985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Set up Python 3.12</a:t>
            </a:r>
          </a:p>
          <a:p>
            <a:pPr algn="ctr"/>
            <a:r>
              <a:rPr lang="en-US" sz="1000" i="1" dirty="0">
                <a:solidFill>
                  <a:schemeClr val="tx1">
                    <a:lumMod val="50000"/>
                    <a:lumOff val="50000"/>
                  </a:schemeClr>
                </a:solidFill>
              </a:rPr>
              <a:t>actions/setup-python@v5</a:t>
            </a:r>
          </a:p>
        </p:txBody>
      </p:sp>
      <p:pic>
        <p:nvPicPr>
          <p:cNvPr id="41" name="Picture 40">
            <a:extLst>
              <a:ext uri="{FF2B5EF4-FFF2-40B4-BE49-F238E27FC236}">
                <a16:creationId xmlns:a16="http://schemas.microsoft.com/office/drawing/2014/main" id="{30899798-4412-74B0-D669-05E4382BB1B9}"/>
              </a:ext>
            </a:extLst>
          </p:cNvPr>
          <p:cNvPicPr>
            <a:picLocks noChangeAspect="1"/>
          </p:cNvPicPr>
          <p:nvPr/>
        </p:nvPicPr>
        <p:blipFill>
          <a:blip r:embed="rId4"/>
          <a:srcRect/>
          <a:stretch/>
        </p:blipFill>
        <p:spPr>
          <a:xfrm>
            <a:off x="4853127" y="1384826"/>
            <a:ext cx="174948" cy="176673"/>
          </a:xfrm>
          <a:prstGeom prst="rect">
            <a:avLst/>
          </a:prstGeom>
        </p:spPr>
      </p:pic>
      <p:sp>
        <p:nvSpPr>
          <p:cNvPr id="33" name="Rectangle: Rounded Corners 32">
            <a:extLst>
              <a:ext uri="{FF2B5EF4-FFF2-40B4-BE49-F238E27FC236}">
                <a16:creationId xmlns:a16="http://schemas.microsoft.com/office/drawing/2014/main" id="{43542257-E2EB-AE5C-0EAC-3F3DEC22FF5F}"/>
              </a:ext>
            </a:extLst>
          </p:cNvPr>
          <p:cNvSpPr/>
          <p:nvPr/>
        </p:nvSpPr>
        <p:spPr>
          <a:xfrm>
            <a:off x="6673960" y="131985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Install Python dependencies</a:t>
            </a:r>
            <a:endParaRPr lang="en-US" sz="1000" i="1" dirty="0">
              <a:solidFill>
                <a:schemeClr val="tx1">
                  <a:lumMod val="50000"/>
                  <a:lumOff val="50000"/>
                </a:schemeClr>
              </a:solidFill>
            </a:endParaRPr>
          </a:p>
        </p:txBody>
      </p:sp>
      <p:pic>
        <p:nvPicPr>
          <p:cNvPr id="43" name="Picture 42">
            <a:extLst>
              <a:ext uri="{FF2B5EF4-FFF2-40B4-BE49-F238E27FC236}">
                <a16:creationId xmlns:a16="http://schemas.microsoft.com/office/drawing/2014/main" id="{9BEA496E-DFCF-FC71-B1F2-8E76D7E8CB63}"/>
              </a:ext>
            </a:extLst>
          </p:cNvPr>
          <p:cNvPicPr>
            <a:picLocks noChangeAspect="1"/>
          </p:cNvPicPr>
          <p:nvPr/>
        </p:nvPicPr>
        <p:blipFill>
          <a:blip r:embed="rId4"/>
          <a:srcRect/>
          <a:stretch/>
        </p:blipFill>
        <p:spPr>
          <a:xfrm>
            <a:off x="6765407" y="1384826"/>
            <a:ext cx="174948" cy="176673"/>
          </a:xfrm>
          <a:prstGeom prst="rect">
            <a:avLst/>
          </a:prstGeom>
        </p:spPr>
      </p:pic>
      <p:sp>
        <p:nvSpPr>
          <p:cNvPr id="35" name="Rectangle: Rounded Corners 34">
            <a:extLst>
              <a:ext uri="{FF2B5EF4-FFF2-40B4-BE49-F238E27FC236}">
                <a16:creationId xmlns:a16="http://schemas.microsoft.com/office/drawing/2014/main" id="{C494D4D7-30C3-34EF-4DA7-FA1BA45A1015}"/>
              </a:ext>
            </a:extLst>
          </p:cNvPr>
          <p:cNvSpPr/>
          <p:nvPr/>
        </p:nvSpPr>
        <p:spPr>
          <a:xfrm>
            <a:off x="6675659" y="2928221"/>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Check code formatting</a:t>
            </a:r>
          </a:p>
          <a:p>
            <a:pPr algn="ctr"/>
            <a:r>
              <a:rPr lang="en-US" sz="1000" dirty="0">
                <a:solidFill>
                  <a:schemeClr val="tx1">
                    <a:lumMod val="85000"/>
                    <a:lumOff val="15000"/>
                  </a:schemeClr>
                </a:solidFill>
              </a:rPr>
              <a:t>with Black</a:t>
            </a:r>
            <a:endParaRPr lang="en-US" sz="1000" i="1" dirty="0">
              <a:solidFill>
                <a:schemeClr val="tx1">
                  <a:lumMod val="50000"/>
                  <a:lumOff val="50000"/>
                </a:schemeClr>
              </a:solidFill>
            </a:endParaRPr>
          </a:p>
        </p:txBody>
      </p:sp>
      <p:pic>
        <p:nvPicPr>
          <p:cNvPr id="45" name="Picture 44">
            <a:extLst>
              <a:ext uri="{FF2B5EF4-FFF2-40B4-BE49-F238E27FC236}">
                <a16:creationId xmlns:a16="http://schemas.microsoft.com/office/drawing/2014/main" id="{AE76B202-193A-1054-D060-301E72ABB37B}"/>
              </a:ext>
            </a:extLst>
          </p:cNvPr>
          <p:cNvPicPr>
            <a:picLocks noChangeAspect="1"/>
          </p:cNvPicPr>
          <p:nvPr/>
        </p:nvPicPr>
        <p:blipFill>
          <a:blip r:embed="rId4"/>
          <a:srcRect/>
          <a:stretch/>
        </p:blipFill>
        <p:spPr>
          <a:xfrm>
            <a:off x="6774722" y="2991023"/>
            <a:ext cx="174948" cy="176673"/>
          </a:xfrm>
          <a:prstGeom prst="rect">
            <a:avLst/>
          </a:prstGeom>
        </p:spPr>
      </p:pic>
      <p:sp>
        <p:nvSpPr>
          <p:cNvPr id="37" name="Rectangle: Rounded Corners 36">
            <a:extLst>
              <a:ext uri="{FF2B5EF4-FFF2-40B4-BE49-F238E27FC236}">
                <a16:creationId xmlns:a16="http://schemas.microsoft.com/office/drawing/2014/main" id="{92F6267E-DADA-9189-E027-B7F517C59585}"/>
              </a:ext>
            </a:extLst>
          </p:cNvPr>
          <p:cNvSpPr/>
          <p:nvPr/>
        </p:nvSpPr>
        <p:spPr>
          <a:xfrm>
            <a:off x="4763375" y="2925389"/>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Run tests with </a:t>
            </a:r>
            <a:r>
              <a:rPr lang="en-US" sz="1000" dirty="0" err="1">
                <a:solidFill>
                  <a:schemeClr val="tx1">
                    <a:lumMod val="85000"/>
                    <a:lumOff val="15000"/>
                  </a:schemeClr>
                </a:solidFill>
              </a:rPr>
              <a:t>pytest</a:t>
            </a:r>
            <a:endParaRPr lang="en-US" sz="1000" i="1" dirty="0">
              <a:solidFill>
                <a:schemeClr val="tx1">
                  <a:lumMod val="50000"/>
                  <a:lumOff val="50000"/>
                </a:schemeClr>
              </a:solidFill>
            </a:endParaRPr>
          </a:p>
        </p:txBody>
      </p:sp>
      <p:pic>
        <p:nvPicPr>
          <p:cNvPr id="47" name="Picture 46">
            <a:extLst>
              <a:ext uri="{FF2B5EF4-FFF2-40B4-BE49-F238E27FC236}">
                <a16:creationId xmlns:a16="http://schemas.microsoft.com/office/drawing/2014/main" id="{8EF1EEE1-F8D8-0D3C-6C36-41CE2161EFB9}"/>
              </a:ext>
            </a:extLst>
          </p:cNvPr>
          <p:cNvPicPr>
            <a:picLocks noChangeAspect="1"/>
          </p:cNvPicPr>
          <p:nvPr/>
        </p:nvPicPr>
        <p:blipFill>
          <a:blip r:embed="rId4"/>
          <a:srcRect/>
          <a:stretch/>
        </p:blipFill>
        <p:spPr>
          <a:xfrm>
            <a:off x="4853127" y="2982113"/>
            <a:ext cx="174948" cy="176673"/>
          </a:xfrm>
          <a:prstGeom prst="rect">
            <a:avLst/>
          </a:prstGeom>
        </p:spPr>
      </p:pic>
      <p:sp>
        <p:nvSpPr>
          <p:cNvPr id="13" name="Rectangle: Rounded Corners 12">
            <a:extLst>
              <a:ext uri="{FF2B5EF4-FFF2-40B4-BE49-F238E27FC236}">
                <a16:creationId xmlns:a16="http://schemas.microsoft.com/office/drawing/2014/main" id="{F0F5DB92-CBA9-3ECE-F455-8C2041CDC3C6}"/>
              </a:ext>
            </a:extLst>
          </p:cNvPr>
          <p:cNvSpPr/>
          <p:nvPr/>
        </p:nvSpPr>
        <p:spPr>
          <a:xfrm>
            <a:off x="2852790" y="131985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Check out repository</a:t>
            </a:r>
          </a:p>
          <a:p>
            <a:pPr algn="ctr"/>
            <a:r>
              <a:rPr lang="en-US" sz="1000" i="1" dirty="0">
                <a:solidFill>
                  <a:schemeClr val="tx1">
                    <a:lumMod val="50000"/>
                    <a:lumOff val="50000"/>
                  </a:schemeClr>
                </a:solidFill>
              </a:rPr>
              <a:t>actions/checkout@v4</a:t>
            </a:r>
          </a:p>
        </p:txBody>
      </p:sp>
      <p:pic>
        <p:nvPicPr>
          <p:cNvPr id="49" name="Picture 48">
            <a:extLst>
              <a:ext uri="{FF2B5EF4-FFF2-40B4-BE49-F238E27FC236}">
                <a16:creationId xmlns:a16="http://schemas.microsoft.com/office/drawing/2014/main" id="{40E338FC-CC71-3B25-012B-AD5BA156FE8C}"/>
              </a:ext>
            </a:extLst>
          </p:cNvPr>
          <p:cNvPicPr>
            <a:picLocks noChangeAspect="1"/>
          </p:cNvPicPr>
          <p:nvPr/>
        </p:nvPicPr>
        <p:blipFill>
          <a:blip r:embed="rId5"/>
          <a:srcRect/>
          <a:stretch/>
        </p:blipFill>
        <p:spPr>
          <a:xfrm>
            <a:off x="2940320" y="1390122"/>
            <a:ext cx="174948" cy="171377"/>
          </a:xfrm>
          <a:prstGeom prst="rect">
            <a:avLst/>
          </a:prstGeom>
        </p:spPr>
      </p:pic>
      <p:sp>
        <p:nvSpPr>
          <p:cNvPr id="39" name="Rectangle: Rounded Corners 38">
            <a:extLst>
              <a:ext uri="{FF2B5EF4-FFF2-40B4-BE49-F238E27FC236}">
                <a16:creationId xmlns:a16="http://schemas.microsoft.com/office/drawing/2014/main" id="{507F7427-6CC2-CFB3-5EED-A59943EFD09A}"/>
              </a:ext>
            </a:extLst>
          </p:cNvPr>
          <p:cNvSpPr/>
          <p:nvPr/>
        </p:nvSpPr>
        <p:spPr>
          <a:xfrm>
            <a:off x="2852790" y="2925389"/>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Build Docker image</a:t>
            </a:r>
            <a:endParaRPr lang="en-US" sz="1000" i="1" dirty="0">
              <a:solidFill>
                <a:schemeClr val="tx1">
                  <a:lumMod val="50000"/>
                  <a:lumOff val="50000"/>
                </a:schemeClr>
              </a:solidFill>
            </a:endParaRPr>
          </a:p>
        </p:txBody>
      </p:sp>
      <p:pic>
        <p:nvPicPr>
          <p:cNvPr id="51" name="Picture 50">
            <a:extLst>
              <a:ext uri="{FF2B5EF4-FFF2-40B4-BE49-F238E27FC236}">
                <a16:creationId xmlns:a16="http://schemas.microsoft.com/office/drawing/2014/main" id="{4EBC6562-74C1-5E54-29B7-26469E9BC3B0}"/>
              </a:ext>
            </a:extLst>
          </p:cNvPr>
          <p:cNvPicPr>
            <a:picLocks noChangeAspect="1"/>
          </p:cNvPicPr>
          <p:nvPr/>
        </p:nvPicPr>
        <p:blipFill>
          <a:blip r:embed="rId6"/>
          <a:srcRect/>
          <a:stretch/>
        </p:blipFill>
        <p:spPr>
          <a:xfrm>
            <a:off x="2940320" y="2982113"/>
            <a:ext cx="174948" cy="174948"/>
          </a:xfrm>
          <a:prstGeom prst="rect">
            <a:avLst/>
          </a:prstGeom>
        </p:spPr>
      </p:pic>
      <p:cxnSp>
        <p:nvCxnSpPr>
          <p:cNvPr id="52" name="Straight Arrow Connector 51">
            <a:extLst>
              <a:ext uri="{FF2B5EF4-FFF2-40B4-BE49-F238E27FC236}">
                <a16:creationId xmlns:a16="http://schemas.microsoft.com/office/drawing/2014/main" id="{C46DB732-DB22-C54F-DC51-B82CC8E84832}"/>
              </a:ext>
            </a:extLst>
          </p:cNvPr>
          <p:cNvCxnSpPr>
            <a:cxnSpLocks/>
            <a:stCxn id="5" idx="2"/>
            <a:endCxn id="26" idx="0"/>
          </p:cNvCxnSpPr>
          <p:nvPr/>
        </p:nvCxnSpPr>
        <p:spPr>
          <a:xfrm>
            <a:off x="1671288" y="2259207"/>
            <a:ext cx="0" cy="55595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95" name="Group 594">
            <a:extLst>
              <a:ext uri="{FF2B5EF4-FFF2-40B4-BE49-F238E27FC236}">
                <a16:creationId xmlns:a16="http://schemas.microsoft.com/office/drawing/2014/main" id="{AB665E3B-18FF-AD49-6679-E8091B18D8FB}"/>
              </a:ext>
            </a:extLst>
          </p:cNvPr>
          <p:cNvGrpSpPr/>
          <p:nvPr/>
        </p:nvGrpSpPr>
        <p:grpSpPr>
          <a:xfrm>
            <a:off x="1527239" y="4176828"/>
            <a:ext cx="291356" cy="291356"/>
            <a:chOff x="7069437" y="3218381"/>
            <a:chExt cx="367665" cy="367665"/>
          </a:xfrm>
        </p:grpSpPr>
        <p:sp>
          <p:nvSpPr>
            <p:cNvPr id="596" name="Oval 595">
              <a:extLst>
                <a:ext uri="{FF2B5EF4-FFF2-40B4-BE49-F238E27FC236}">
                  <a16:creationId xmlns:a16="http://schemas.microsoft.com/office/drawing/2014/main" id="{8C7A613A-0B9F-E6E8-00E2-DA4CF5E7BD9A}"/>
                </a:ext>
              </a:extLst>
            </p:cNvPr>
            <p:cNvSpPr/>
            <p:nvPr/>
          </p:nvSpPr>
          <p:spPr>
            <a:xfrm>
              <a:off x="7069437" y="3218381"/>
              <a:ext cx="367665" cy="367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7" name="Oval 596">
              <a:extLst>
                <a:ext uri="{FF2B5EF4-FFF2-40B4-BE49-F238E27FC236}">
                  <a16:creationId xmlns:a16="http://schemas.microsoft.com/office/drawing/2014/main" id="{83D7EFCA-5831-4B2C-6CA3-7F52A3B939D5}"/>
                </a:ext>
              </a:extLst>
            </p:cNvPr>
            <p:cNvSpPr/>
            <p:nvPr/>
          </p:nvSpPr>
          <p:spPr>
            <a:xfrm>
              <a:off x="7130281" y="3279306"/>
              <a:ext cx="246221" cy="246221"/>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598" name="Straight Arrow Connector 597">
            <a:extLst>
              <a:ext uri="{FF2B5EF4-FFF2-40B4-BE49-F238E27FC236}">
                <a16:creationId xmlns:a16="http://schemas.microsoft.com/office/drawing/2014/main" id="{44F356C8-5E38-7FD5-6F09-81C95C03E4BD}"/>
              </a:ext>
            </a:extLst>
          </p:cNvPr>
          <p:cNvCxnSpPr>
            <a:cxnSpLocks/>
            <a:stCxn id="26" idx="2"/>
            <a:endCxn id="596" idx="0"/>
          </p:cNvCxnSpPr>
          <p:nvPr/>
        </p:nvCxnSpPr>
        <p:spPr>
          <a:xfrm>
            <a:off x="1671288" y="3859668"/>
            <a:ext cx="1629" cy="31716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2" name="Straight Arrow Connector 601">
            <a:extLst>
              <a:ext uri="{FF2B5EF4-FFF2-40B4-BE49-F238E27FC236}">
                <a16:creationId xmlns:a16="http://schemas.microsoft.com/office/drawing/2014/main" id="{3BE76B6E-4D75-3EC9-24F4-BFEA25FC001B}"/>
              </a:ext>
            </a:extLst>
          </p:cNvPr>
          <p:cNvCxnSpPr>
            <a:cxnSpLocks/>
            <a:stCxn id="13" idx="3"/>
            <a:endCxn id="30" idx="1"/>
          </p:cNvCxnSpPr>
          <p:nvPr/>
        </p:nvCxnSpPr>
        <p:spPr>
          <a:xfrm>
            <a:off x="4426214" y="1739034"/>
            <a:ext cx="337161"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5" name="Straight Arrow Connector 604">
            <a:extLst>
              <a:ext uri="{FF2B5EF4-FFF2-40B4-BE49-F238E27FC236}">
                <a16:creationId xmlns:a16="http://schemas.microsoft.com/office/drawing/2014/main" id="{3444F69B-89EE-F078-992C-5748F2137173}"/>
              </a:ext>
            </a:extLst>
          </p:cNvPr>
          <p:cNvCxnSpPr>
            <a:cxnSpLocks/>
            <a:stCxn id="30" idx="3"/>
            <a:endCxn id="33" idx="1"/>
          </p:cNvCxnSpPr>
          <p:nvPr/>
        </p:nvCxnSpPr>
        <p:spPr>
          <a:xfrm>
            <a:off x="6336799" y="1739034"/>
            <a:ext cx="337161"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8" name="Straight Arrow Connector 607">
            <a:extLst>
              <a:ext uri="{FF2B5EF4-FFF2-40B4-BE49-F238E27FC236}">
                <a16:creationId xmlns:a16="http://schemas.microsoft.com/office/drawing/2014/main" id="{5C58C3CC-5E7F-315D-2C9D-012F9EF4346C}"/>
              </a:ext>
            </a:extLst>
          </p:cNvPr>
          <p:cNvCxnSpPr>
            <a:cxnSpLocks/>
            <a:stCxn id="35" idx="1"/>
            <a:endCxn id="37" idx="3"/>
          </p:cNvCxnSpPr>
          <p:nvPr/>
        </p:nvCxnSpPr>
        <p:spPr>
          <a:xfrm flipH="1" flipV="1">
            <a:off x="6336799" y="3344565"/>
            <a:ext cx="338860" cy="283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1" name="Straight Arrow Connector 610">
            <a:extLst>
              <a:ext uri="{FF2B5EF4-FFF2-40B4-BE49-F238E27FC236}">
                <a16:creationId xmlns:a16="http://schemas.microsoft.com/office/drawing/2014/main" id="{5DAA1182-CD9F-F661-5FC9-C30E03AE5471}"/>
              </a:ext>
            </a:extLst>
          </p:cNvPr>
          <p:cNvCxnSpPr>
            <a:cxnSpLocks/>
            <a:stCxn id="37" idx="1"/>
            <a:endCxn id="39" idx="3"/>
          </p:cNvCxnSpPr>
          <p:nvPr/>
        </p:nvCxnSpPr>
        <p:spPr>
          <a:xfrm flipH="1">
            <a:off x="4426214" y="3344565"/>
            <a:ext cx="337161"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4" name="Straight Arrow Connector 613">
            <a:extLst>
              <a:ext uri="{FF2B5EF4-FFF2-40B4-BE49-F238E27FC236}">
                <a16:creationId xmlns:a16="http://schemas.microsoft.com/office/drawing/2014/main" id="{32C4A26E-8875-EBEE-737C-B0419CC82464}"/>
              </a:ext>
            </a:extLst>
          </p:cNvPr>
          <p:cNvCxnSpPr>
            <a:cxnSpLocks/>
            <a:stCxn id="33" idx="2"/>
            <a:endCxn id="35" idx="0"/>
          </p:cNvCxnSpPr>
          <p:nvPr/>
        </p:nvCxnSpPr>
        <p:spPr>
          <a:xfrm>
            <a:off x="7460672" y="2158210"/>
            <a:ext cx="1699" cy="770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9" name="TextBox 638">
            <a:extLst>
              <a:ext uri="{FF2B5EF4-FFF2-40B4-BE49-F238E27FC236}">
                <a16:creationId xmlns:a16="http://schemas.microsoft.com/office/drawing/2014/main" id="{A5BDE464-33F9-059D-28E5-062FC439AAFC}"/>
              </a:ext>
            </a:extLst>
          </p:cNvPr>
          <p:cNvSpPr txBox="1"/>
          <p:nvPr/>
        </p:nvSpPr>
        <p:spPr>
          <a:xfrm>
            <a:off x="2503588" y="2416490"/>
            <a:ext cx="418289" cy="246221"/>
          </a:xfrm>
          <a:prstGeom prst="rect">
            <a:avLst/>
          </a:prstGeom>
          <a:noFill/>
        </p:spPr>
        <p:txBody>
          <a:bodyPr wrap="square" rtlCol="0">
            <a:spAutoFit/>
          </a:bodyPr>
          <a:lstStyle/>
          <a:p>
            <a:r>
              <a:rPr lang="en-US" sz="1000" dirty="0"/>
              <a:t>yes</a:t>
            </a:r>
          </a:p>
        </p:txBody>
      </p:sp>
      <p:sp>
        <p:nvSpPr>
          <p:cNvPr id="643" name="TextBox 642">
            <a:extLst>
              <a:ext uri="{FF2B5EF4-FFF2-40B4-BE49-F238E27FC236}">
                <a16:creationId xmlns:a16="http://schemas.microsoft.com/office/drawing/2014/main" id="{A649F39E-DF3F-D031-90E1-AFF223C3E2DE}"/>
              </a:ext>
            </a:extLst>
          </p:cNvPr>
          <p:cNvSpPr txBox="1"/>
          <p:nvPr/>
        </p:nvSpPr>
        <p:spPr>
          <a:xfrm>
            <a:off x="1666797" y="3864965"/>
            <a:ext cx="418289" cy="246221"/>
          </a:xfrm>
          <a:prstGeom prst="rect">
            <a:avLst/>
          </a:prstGeom>
          <a:noFill/>
        </p:spPr>
        <p:txBody>
          <a:bodyPr wrap="square" rtlCol="0">
            <a:spAutoFit/>
          </a:bodyPr>
          <a:lstStyle/>
          <a:p>
            <a:r>
              <a:rPr lang="en-US" sz="1000" dirty="0"/>
              <a:t>no</a:t>
            </a:r>
          </a:p>
        </p:txBody>
      </p:sp>
      <p:grpSp>
        <p:nvGrpSpPr>
          <p:cNvPr id="644" name="Group 643">
            <a:extLst>
              <a:ext uri="{FF2B5EF4-FFF2-40B4-BE49-F238E27FC236}">
                <a16:creationId xmlns:a16="http://schemas.microsoft.com/office/drawing/2014/main" id="{51B3612F-7075-EA25-95EF-8EC1D284C400}"/>
              </a:ext>
            </a:extLst>
          </p:cNvPr>
          <p:cNvGrpSpPr/>
          <p:nvPr/>
        </p:nvGrpSpPr>
        <p:grpSpPr>
          <a:xfrm>
            <a:off x="3493824" y="4176828"/>
            <a:ext cx="291356" cy="291356"/>
            <a:chOff x="7069437" y="3218381"/>
            <a:chExt cx="367665" cy="367665"/>
          </a:xfrm>
        </p:grpSpPr>
        <p:sp>
          <p:nvSpPr>
            <p:cNvPr id="645" name="Oval 644">
              <a:extLst>
                <a:ext uri="{FF2B5EF4-FFF2-40B4-BE49-F238E27FC236}">
                  <a16:creationId xmlns:a16="http://schemas.microsoft.com/office/drawing/2014/main" id="{00C0CCC7-65D7-EDDE-6190-F0DAD8A28ADB}"/>
                </a:ext>
              </a:extLst>
            </p:cNvPr>
            <p:cNvSpPr/>
            <p:nvPr/>
          </p:nvSpPr>
          <p:spPr>
            <a:xfrm>
              <a:off x="7069437" y="3218381"/>
              <a:ext cx="367665" cy="367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6" name="Oval 645">
              <a:extLst>
                <a:ext uri="{FF2B5EF4-FFF2-40B4-BE49-F238E27FC236}">
                  <a16:creationId xmlns:a16="http://schemas.microsoft.com/office/drawing/2014/main" id="{0BAEA12F-32CC-166B-BF3D-31A962D89BCE}"/>
                </a:ext>
              </a:extLst>
            </p:cNvPr>
            <p:cNvSpPr/>
            <p:nvPr/>
          </p:nvSpPr>
          <p:spPr>
            <a:xfrm>
              <a:off x="7130281" y="3279306"/>
              <a:ext cx="246221" cy="246221"/>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47" name="Straight Arrow Connector 646">
            <a:extLst>
              <a:ext uri="{FF2B5EF4-FFF2-40B4-BE49-F238E27FC236}">
                <a16:creationId xmlns:a16="http://schemas.microsoft.com/office/drawing/2014/main" id="{2EAFDB82-C5BB-9209-B57F-ACB53A8B5902}"/>
              </a:ext>
            </a:extLst>
          </p:cNvPr>
          <p:cNvCxnSpPr>
            <a:cxnSpLocks/>
            <a:stCxn id="39" idx="2"/>
            <a:endCxn id="645" idx="0"/>
          </p:cNvCxnSpPr>
          <p:nvPr/>
        </p:nvCxnSpPr>
        <p:spPr>
          <a:xfrm>
            <a:off x="3639502" y="3763741"/>
            <a:ext cx="0" cy="41308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53" name="TextBox 652">
            <a:extLst>
              <a:ext uri="{FF2B5EF4-FFF2-40B4-BE49-F238E27FC236}">
                <a16:creationId xmlns:a16="http://schemas.microsoft.com/office/drawing/2014/main" id="{F4B761E4-ABC9-4D63-C51A-68F7BF585B1E}"/>
              </a:ext>
            </a:extLst>
          </p:cNvPr>
          <p:cNvSpPr txBox="1"/>
          <p:nvPr/>
        </p:nvSpPr>
        <p:spPr>
          <a:xfrm>
            <a:off x="4426215" y="1461732"/>
            <a:ext cx="324999" cy="307777"/>
          </a:xfrm>
          <a:prstGeom prst="rect">
            <a:avLst/>
          </a:prstGeom>
          <a:noFill/>
        </p:spPr>
        <p:txBody>
          <a:bodyPr wrap="square" rtlCol="0">
            <a:spAutoFit/>
          </a:bodyPr>
          <a:lstStyle/>
          <a:p>
            <a:r>
              <a:rPr lang="en-US" dirty="0">
                <a:solidFill>
                  <a:srgbClr val="00B050"/>
                </a:solidFill>
              </a:rPr>
              <a:t>✔</a:t>
            </a:r>
          </a:p>
        </p:txBody>
      </p:sp>
      <p:sp>
        <p:nvSpPr>
          <p:cNvPr id="655" name="TextBox 654">
            <a:extLst>
              <a:ext uri="{FF2B5EF4-FFF2-40B4-BE49-F238E27FC236}">
                <a16:creationId xmlns:a16="http://schemas.microsoft.com/office/drawing/2014/main" id="{247E97F8-5EC3-E930-BC33-9DC689B3413F}"/>
              </a:ext>
            </a:extLst>
          </p:cNvPr>
          <p:cNvSpPr txBox="1"/>
          <p:nvPr/>
        </p:nvSpPr>
        <p:spPr>
          <a:xfrm>
            <a:off x="6348960" y="1461731"/>
            <a:ext cx="325000" cy="307777"/>
          </a:xfrm>
          <a:prstGeom prst="rect">
            <a:avLst/>
          </a:prstGeom>
          <a:noFill/>
        </p:spPr>
        <p:txBody>
          <a:bodyPr wrap="square" rtlCol="0">
            <a:spAutoFit/>
          </a:bodyPr>
          <a:lstStyle/>
          <a:p>
            <a:r>
              <a:rPr lang="en-US" dirty="0">
                <a:solidFill>
                  <a:srgbClr val="00B050"/>
                </a:solidFill>
              </a:rPr>
              <a:t>✔</a:t>
            </a:r>
          </a:p>
        </p:txBody>
      </p:sp>
      <p:sp>
        <p:nvSpPr>
          <p:cNvPr id="657" name="TextBox 656">
            <a:extLst>
              <a:ext uri="{FF2B5EF4-FFF2-40B4-BE49-F238E27FC236}">
                <a16:creationId xmlns:a16="http://schemas.microsoft.com/office/drawing/2014/main" id="{735854B6-028F-2586-415F-C7C8AD1639D1}"/>
              </a:ext>
            </a:extLst>
          </p:cNvPr>
          <p:cNvSpPr txBox="1"/>
          <p:nvPr/>
        </p:nvSpPr>
        <p:spPr>
          <a:xfrm>
            <a:off x="4423992" y="3075089"/>
            <a:ext cx="337162" cy="307777"/>
          </a:xfrm>
          <a:prstGeom prst="rect">
            <a:avLst/>
          </a:prstGeom>
          <a:noFill/>
        </p:spPr>
        <p:txBody>
          <a:bodyPr wrap="square" rtlCol="0">
            <a:spAutoFit/>
          </a:bodyPr>
          <a:lstStyle/>
          <a:p>
            <a:r>
              <a:rPr lang="en-US" dirty="0">
                <a:solidFill>
                  <a:srgbClr val="00B050"/>
                </a:solidFill>
              </a:rPr>
              <a:t>✔</a:t>
            </a:r>
          </a:p>
        </p:txBody>
      </p:sp>
      <p:sp>
        <p:nvSpPr>
          <p:cNvPr id="659" name="TextBox 658">
            <a:extLst>
              <a:ext uri="{FF2B5EF4-FFF2-40B4-BE49-F238E27FC236}">
                <a16:creationId xmlns:a16="http://schemas.microsoft.com/office/drawing/2014/main" id="{C4CF6664-5523-A8BB-8526-05F6A9D701C5}"/>
              </a:ext>
            </a:extLst>
          </p:cNvPr>
          <p:cNvSpPr txBox="1"/>
          <p:nvPr/>
        </p:nvSpPr>
        <p:spPr>
          <a:xfrm>
            <a:off x="6336799" y="3067437"/>
            <a:ext cx="337161" cy="307777"/>
          </a:xfrm>
          <a:prstGeom prst="rect">
            <a:avLst/>
          </a:prstGeom>
          <a:noFill/>
        </p:spPr>
        <p:txBody>
          <a:bodyPr wrap="square" rtlCol="0">
            <a:spAutoFit/>
          </a:bodyPr>
          <a:lstStyle/>
          <a:p>
            <a:r>
              <a:rPr lang="en-US" dirty="0">
                <a:solidFill>
                  <a:srgbClr val="00B050"/>
                </a:solidFill>
              </a:rPr>
              <a:t>✔</a:t>
            </a:r>
          </a:p>
        </p:txBody>
      </p:sp>
      <p:sp>
        <p:nvSpPr>
          <p:cNvPr id="661" name="TextBox 660">
            <a:extLst>
              <a:ext uri="{FF2B5EF4-FFF2-40B4-BE49-F238E27FC236}">
                <a16:creationId xmlns:a16="http://schemas.microsoft.com/office/drawing/2014/main" id="{0B69F080-C92D-D1A2-5B91-360935CE9CDF}"/>
              </a:ext>
            </a:extLst>
          </p:cNvPr>
          <p:cNvSpPr txBox="1"/>
          <p:nvPr/>
        </p:nvSpPr>
        <p:spPr>
          <a:xfrm>
            <a:off x="7409220" y="2386960"/>
            <a:ext cx="382905" cy="307777"/>
          </a:xfrm>
          <a:prstGeom prst="rect">
            <a:avLst/>
          </a:prstGeom>
          <a:noFill/>
        </p:spPr>
        <p:txBody>
          <a:bodyPr wrap="square" rtlCol="0">
            <a:spAutoFit/>
          </a:bodyPr>
          <a:lstStyle/>
          <a:p>
            <a:r>
              <a:rPr lang="en-US" dirty="0">
                <a:solidFill>
                  <a:srgbClr val="00B050"/>
                </a:solidFill>
              </a:rPr>
              <a:t>✔</a:t>
            </a:r>
          </a:p>
        </p:txBody>
      </p:sp>
    </p:spTree>
    <p:extLst>
      <p:ext uri="{BB962C8B-B14F-4D97-AF65-F5344CB8AC3E}">
        <p14:creationId xmlns:p14="http://schemas.microsoft.com/office/powerpoint/2010/main" val="4022776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A93A10D2-FAC5-DF4E-8D9C-7B472073D278}"/>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7FC755FC-1937-6E2A-56A7-00F3BC9329ED}"/>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What Can We Learn from the Data?</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2093CA9A-BEA2-1A79-5625-9D695F96F4C0}"/>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8AB133C4-AE2D-0579-3926-FF00622A2455}"/>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3" name="TextBox 2">
            <a:extLst>
              <a:ext uri="{FF2B5EF4-FFF2-40B4-BE49-F238E27FC236}">
                <a16:creationId xmlns:a16="http://schemas.microsoft.com/office/drawing/2014/main" id="{F573590B-DF72-EAC5-6996-56451AB9951F}"/>
              </a:ext>
            </a:extLst>
          </p:cNvPr>
          <p:cNvSpPr txBox="1"/>
          <p:nvPr/>
        </p:nvSpPr>
        <p:spPr>
          <a:xfrm>
            <a:off x="2211136" y="1033503"/>
            <a:ext cx="4721727" cy="2031325"/>
          </a:xfrm>
          <a:prstGeom prst="rect">
            <a:avLst/>
          </a:prstGeom>
          <a:noFill/>
        </p:spPr>
        <p:txBody>
          <a:bodyPr wrap="square" rtlCol="0">
            <a:spAutoFit/>
          </a:bodyPr>
          <a:lstStyle/>
          <a:p>
            <a:pPr marL="285750" lvl="0" indent="-285750">
              <a:buFont typeface="Arial" panose="020B0604020202020204" pitchFamily="34" charset="0"/>
              <a:buChar char="•"/>
            </a:pPr>
            <a:r>
              <a:rPr lang="en-US" b="1" dirty="0"/>
              <a:t>Which companies are recruiting most?</a:t>
            </a:r>
          </a:p>
          <a:p>
            <a:pPr lvl="0"/>
            <a:r>
              <a:rPr lang="en-US" dirty="0"/>
              <a:t> </a:t>
            </a:r>
          </a:p>
          <a:p>
            <a:pPr marL="285750" lvl="0" indent="-285750">
              <a:buFont typeface="Arial" panose="020B0604020202020204" pitchFamily="34" charset="0"/>
              <a:buChar char="•"/>
            </a:pPr>
            <a:r>
              <a:rPr lang="en-US" b="1" dirty="0"/>
              <a:t>Where are jobs concentrated?</a:t>
            </a:r>
          </a:p>
          <a:p>
            <a:pPr lvl="0"/>
            <a:endParaRPr lang="en-US" dirty="0"/>
          </a:p>
          <a:p>
            <a:pPr marL="285750" lvl="0" indent="-285750">
              <a:buFont typeface="Arial" panose="020B0604020202020204" pitchFamily="34" charset="0"/>
              <a:buChar char="•"/>
            </a:pPr>
            <a:r>
              <a:rPr lang="en-US" b="1" dirty="0"/>
              <a:t>How common is home office?</a:t>
            </a:r>
          </a:p>
          <a:p>
            <a:pPr lvl="0"/>
            <a:endParaRPr lang="en-US" dirty="0"/>
          </a:p>
          <a:p>
            <a:pPr marL="285750" lvl="0" indent="-285750">
              <a:buFont typeface="Arial" panose="020B0604020202020204" pitchFamily="34" charset="0"/>
              <a:buChar char="•"/>
            </a:pPr>
            <a:r>
              <a:rPr lang="en-US" b="1" dirty="0"/>
              <a:t>Which job categories dominate?</a:t>
            </a:r>
          </a:p>
          <a:p>
            <a:pPr lvl="0"/>
            <a:endParaRPr lang="en-US" dirty="0"/>
          </a:p>
          <a:p>
            <a:pPr marL="285750" lvl="0" indent="-285750">
              <a:buFont typeface="Arial" panose="020B0604020202020204" pitchFamily="34" charset="0"/>
              <a:buChar char="•"/>
            </a:pPr>
            <a:r>
              <a:rPr lang="en-US" b="1" dirty="0"/>
              <a:t>How does publication activity change over time?</a:t>
            </a:r>
            <a:endParaRPr lang="en-US" dirty="0"/>
          </a:p>
        </p:txBody>
      </p:sp>
      <p:sp>
        <p:nvSpPr>
          <p:cNvPr id="4" name="TextBox 3">
            <a:extLst>
              <a:ext uri="{FF2B5EF4-FFF2-40B4-BE49-F238E27FC236}">
                <a16:creationId xmlns:a16="http://schemas.microsoft.com/office/drawing/2014/main" id="{950F1F99-2370-5507-F9BE-A1641B95FF86}"/>
              </a:ext>
            </a:extLst>
          </p:cNvPr>
          <p:cNvSpPr txBox="1"/>
          <p:nvPr/>
        </p:nvSpPr>
        <p:spPr>
          <a:xfrm>
            <a:off x="1144337" y="3662947"/>
            <a:ext cx="6855326" cy="307777"/>
          </a:xfrm>
          <a:prstGeom prst="rect">
            <a:avLst/>
          </a:prstGeom>
          <a:noFill/>
        </p:spPr>
        <p:txBody>
          <a:bodyPr wrap="square" rtlCol="0">
            <a:spAutoFit/>
          </a:bodyPr>
          <a:lstStyle/>
          <a:p>
            <a:r>
              <a:rPr lang="en-US" i="1" dirty="0"/>
              <a:t>Results describe the collected sample, not the complete German </a:t>
            </a:r>
            <a:r>
              <a:rPr lang="en-US" i="1" dirty="0" err="1"/>
              <a:t>labour</a:t>
            </a:r>
            <a:r>
              <a:rPr lang="en-US" i="1" dirty="0"/>
              <a:t> market.</a:t>
            </a:r>
          </a:p>
        </p:txBody>
      </p:sp>
    </p:spTree>
    <p:extLst>
      <p:ext uri="{BB962C8B-B14F-4D97-AF65-F5344CB8AC3E}">
        <p14:creationId xmlns:p14="http://schemas.microsoft.com/office/powerpoint/2010/main" val="1769879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98386343-0DE9-111B-DFC1-410BD6ADE182}"/>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7C1EE998-61FE-B24F-B9CD-28C6666AC87E}"/>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Limitations &amp; Improvements</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FC55D9A6-B629-76BB-9517-C0F42D6F1543}"/>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579BE5E8-3A2C-331C-6D2F-8D9BFAE65D93}"/>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graphicFrame>
        <p:nvGraphicFramePr>
          <p:cNvPr id="10" name="Table 9">
            <a:extLst>
              <a:ext uri="{FF2B5EF4-FFF2-40B4-BE49-F238E27FC236}">
                <a16:creationId xmlns:a16="http://schemas.microsoft.com/office/drawing/2014/main" id="{2BF88187-6681-DFA7-2E03-A8782DD0A1A9}"/>
              </a:ext>
            </a:extLst>
          </p:cNvPr>
          <p:cNvGraphicFramePr>
            <a:graphicFrameLocks noGrp="1"/>
          </p:cNvGraphicFramePr>
          <p:nvPr>
            <p:extLst>
              <p:ext uri="{D42A27DB-BD31-4B8C-83A1-F6EECF244321}">
                <p14:modId xmlns:p14="http://schemas.microsoft.com/office/powerpoint/2010/main" val="3938460899"/>
              </p:ext>
            </p:extLst>
          </p:nvPr>
        </p:nvGraphicFramePr>
        <p:xfrm>
          <a:off x="611541" y="921150"/>
          <a:ext cx="7920917" cy="3301199"/>
        </p:xfrm>
        <a:graphic>
          <a:graphicData uri="http://schemas.openxmlformats.org/drawingml/2006/table">
            <a:tbl>
              <a:tblPr firstRow="1" bandRow="1">
                <a:tableStyleId>{5C22544A-7EE6-4342-B048-85BDC9FD1C3A}</a:tableStyleId>
              </a:tblPr>
              <a:tblGrid>
                <a:gridCol w="4247201">
                  <a:extLst>
                    <a:ext uri="{9D8B030D-6E8A-4147-A177-3AD203B41FA5}">
                      <a16:colId xmlns:a16="http://schemas.microsoft.com/office/drawing/2014/main" val="18623551"/>
                    </a:ext>
                  </a:extLst>
                </a:gridCol>
                <a:gridCol w="3673716">
                  <a:extLst>
                    <a:ext uri="{9D8B030D-6E8A-4147-A177-3AD203B41FA5}">
                      <a16:colId xmlns:a16="http://schemas.microsoft.com/office/drawing/2014/main" val="326753393"/>
                    </a:ext>
                  </a:extLst>
                </a:gridCol>
              </a:tblGrid>
              <a:tr h="472925">
                <a:tc>
                  <a:txBody>
                    <a:bodyPr/>
                    <a:lstStyle/>
                    <a:p>
                      <a:r>
                        <a:rPr lang="en-US" b="1" dirty="0">
                          <a:solidFill>
                            <a:schemeClr val="tx1">
                              <a:lumMod val="95000"/>
                              <a:lumOff val="5000"/>
                            </a:schemeClr>
                          </a:solidFill>
                        </a:rPr>
                        <a:t>Limitations</a:t>
                      </a:r>
                      <a:endParaRPr lang="en-US" dirty="0">
                        <a:solidFill>
                          <a:schemeClr val="tx1">
                            <a:lumMod val="95000"/>
                            <a:lumOff val="5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solidFill>
                            <a:schemeClr val="tx1">
                              <a:lumMod val="95000"/>
                              <a:lumOff val="5000"/>
                            </a:schemeClr>
                          </a:solidFill>
                        </a:rPr>
                        <a:t>Improvements</a:t>
                      </a:r>
                    </a:p>
                  </a:txBody>
                  <a:tcPr/>
                </a:tc>
                <a:extLst>
                  <a:ext uri="{0D108BD9-81ED-4DB2-BD59-A6C34878D82A}">
                    <a16:rowId xmlns:a16="http://schemas.microsoft.com/office/drawing/2014/main" val="3225832151"/>
                  </a:ext>
                </a:extLst>
              </a:tr>
              <a:tr h="63371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Limited market coverage</a:t>
                      </a:r>
                      <a:br>
                        <a:rPr lang="en-US" dirty="0"/>
                      </a:br>
                      <a:r>
                        <a:rPr lang="en-US" dirty="0"/>
                        <a:t>one source + selected search keywords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Add more job-data sources </a:t>
                      </a:r>
                    </a:p>
                    <a:p>
                      <a:endParaRPr lang="en-US" dirty="0"/>
                    </a:p>
                  </a:txBody>
                  <a:tcPr/>
                </a:tc>
                <a:extLst>
                  <a:ext uri="{0D108BD9-81ED-4DB2-BD59-A6C34878D82A}">
                    <a16:rowId xmlns:a16="http://schemas.microsoft.com/office/drawing/2014/main" val="2827301534"/>
                  </a:ext>
                </a:extLst>
              </a:tr>
              <a:tr h="7258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Short observation period</a:t>
                      </a:r>
                      <a:br>
                        <a:rPr lang="en-US" dirty="0"/>
                      </a:br>
                      <a:r>
                        <a:rPr lang="en-US" dirty="0"/>
                        <a:t>freshness/history becomes more valuable over time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Run continuously for longer-term analysis </a:t>
                      </a:r>
                    </a:p>
                    <a:p>
                      <a:endParaRPr lang="en-US" b="0" dirty="0"/>
                    </a:p>
                  </a:txBody>
                  <a:tcPr/>
                </a:tc>
                <a:extLst>
                  <a:ext uri="{0D108BD9-81ED-4DB2-BD59-A6C34878D82A}">
                    <a16:rowId xmlns:a16="http://schemas.microsoft.com/office/drawing/2014/main" val="2826665318"/>
                  </a:ext>
                </a:extLst>
              </a:tr>
              <a:tr h="7258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Rule-based classification</a:t>
                      </a:r>
                      <a:br>
                        <a:rPr lang="en-US" dirty="0"/>
                      </a:br>
                      <a:r>
                        <a:rPr lang="en-US" dirty="0"/>
                        <a:t>transparent, but limited semantic understanding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Improve classification with semantic / ML methods </a:t>
                      </a:r>
                    </a:p>
                    <a:p>
                      <a:endParaRPr lang="en-US" b="0" dirty="0"/>
                    </a:p>
                  </a:txBody>
                  <a:tcPr/>
                </a:tc>
                <a:extLst>
                  <a:ext uri="{0D108BD9-81ED-4DB2-BD59-A6C34878D82A}">
                    <a16:rowId xmlns:a16="http://schemas.microsoft.com/office/drawing/2014/main" val="3002744917"/>
                  </a:ext>
                </a:extLst>
              </a:tr>
              <a:tr h="7258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Local demonstration deployment</a:t>
                      </a:r>
                      <a:br>
                        <a:rPr lang="en-US" dirty="0"/>
                      </a:br>
                      <a:r>
                        <a:rPr lang="en-US" dirty="0"/>
                        <a:t>simplified security and no horizontal scaling</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Expand testing, security, and production deployment</a:t>
                      </a:r>
                    </a:p>
                    <a:p>
                      <a:endParaRPr lang="en-US" b="0" dirty="0"/>
                    </a:p>
                  </a:txBody>
                  <a:tcPr/>
                </a:tc>
                <a:extLst>
                  <a:ext uri="{0D108BD9-81ED-4DB2-BD59-A6C34878D82A}">
                    <a16:rowId xmlns:a16="http://schemas.microsoft.com/office/drawing/2014/main" val="84378642"/>
                  </a:ext>
                </a:extLst>
              </a:tr>
            </a:tbl>
          </a:graphicData>
        </a:graphic>
      </p:graphicFrame>
    </p:spTree>
    <p:extLst>
      <p:ext uri="{BB962C8B-B14F-4D97-AF65-F5344CB8AC3E}">
        <p14:creationId xmlns:p14="http://schemas.microsoft.com/office/powerpoint/2010/main" val="3708909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9FA05459-0F1A-A82B-C0F8-9B37C834C222}"/>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844DB651-2CB8-750C-B4AA-C704C262FDDC}"/>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Conclusion / Demo</a:t>
            </a:r>
            <a:endParaRPr lang="en-US" sz="1500" dirty="0">
              <a:solidFill>
                <a:schemeClr val="dk2"/>
              </a:solidFill>
            </a:endParaRPr>
          </a:p>
        </p:txBody>
      </p:sp>
      <p:pic>
        <p:nvPicPr>
          <p:cNvPr id="640" name="Google Shape;640;p91" title="Fichier 20.png">
            <a:extLst>
              <a:ext uri="{FF2B5EF4-FFF2-40B4-BE49-F238E27FC236}">
                <a16:creationId xmlns:a16="http://schemas.microsoft.com/office/drawing/2014/main" id="{57DE8AEB-3003-3C23-2B0C-838967B052B6}"/>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C0AA07C5-4B8A-C864-7C1B-7D39D92C2C43}"/>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4" name="TextBox 3">
            <a:extLst>
              <a:ext uri="{FF2B5EF4-FFF2-40B4-BE49-F238E27FC236}">
                <a16:creationId xmlns:a16="http://schemas.microsoft.com/office/drawing/2014/main" id="{8AEFA910-FC27-51E7-2D39-11C19EDD38D1}"/>
              </a:ext>
            </a:extLst>
          </p:cNvPr>
          <p:cNvSpPr txBox="1"/>
          <p:nvPr/>
        </p:nvSpPr>
        <p:spPr>
          <a:xfrm>
            <a:off x="1193962" y="823832"/>
            <a:ext cx="6756076" cy="1815882"/>
          </a:xfrm>
          <a:prstGeom prst="rect">
            <a:avLst/>
          </a:prstGeom>
          <a:noFill/>
        </p:spPr>
        <p:txBody>
          <a:bodyPr wrap="square" rtlCol="0">
            <a:spAutoFit/>
          </a:bodyPr>
          <a:lstStyle/>
          <a:p>
            <a:pPr marL="285750" indent="-285750">
              <a:buFont typeface="Arial" panose="020B0604020202020204" pitchFamily="34" charset="0"/>
              <a:buChar char="•"/>
            </a:pPr>
            <a:r>
              <a:rPr lang="en-US" b="1" dirty="0"/>
              <a:t>End-to-end data platform</a:t>
            </a:r>
            <a:br>
              <a:rPr lang="en-US" b="1" dirty="0"/>
            </a:br>
            <a:r>
              <a:rPr lang="en-US" dirty="0" err="1"/>
              <a:t>Arbeitsagentur</a:t>
            </a:r>
            <a:r>
              <a:rPr lang="en-US" dirty="0"/>
              <a:t> API → ETL → PostgreSQL / Elasticsearch → </a:t>
            </a:r>
            <a:r>
              <a:rPr lang="en-US" dirty="0" err="1"/>
              <a:t>FastAPI</a:t>
            </a:r>
            <a:r>
              <a:rPr lang="en-US" dirty="0"/>
              <a:t> → Dash</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Automated &amp; reproducible</a:t>
            </a:r>
            <a:br>
              <a:rPr lang="en-US" b="1" dirty="0"/>
            </a:br>
            <a:r>
              <a:rPr lang="en-US" dirty="0"/>
              <a:t>Airflow + Docker Compose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Observable</a:t>
            </a:r>
            <a:br>
              <a:rPr lang="en-US" b="1" dirty="0"/>
            </a:br>
            <a:r>
              <a:rPr lang="en-US" dirty="0"/>
              <a:t>Prometheus + Grafana + Alerting</a:t>
            </a:r>
          </a:p>
        </p:txBody>
      </p:sp>
      <p:sp>
        <p:nvSpPr>
          <p:cNvPr id="5" name="TextBox 4">
            <a:extLst>
              <a:ext uri="{FF2B5EF4-FFF2-40B4-BE49-F238E27FC236}">
                <a16:creationId xmlns:a16="http://schemas.microsoft.com/office/drawing/2014/main" id="{295FB400-1358-ACD8-2C7A-4928B7188AA9}"/>
              </a:ext>
            </a:extLst>
          </p:cNvPr>
          <p:cNvSpPr txBox="1"/>
          <p:nvPr/>
        </p:nvSpPr>
        <p:spPr>
          <a:xfrm>
            <a:off x="1193962" y="2925617"/>
            <a:ext cx="6756076" cy="1169551"/>
          </a:xfrm>
          <a:prstGeom prst="rect">
            <a:avLst/>
          </a:prstGeom>
          <a:noFill/>
        </p:spPr>
        <p:txBody>
          <a:bodyPr wrap="square" rtlCol="0">
            <a:spAutoFit/>
          </a:bodyPr>
          <a:lstStyle/>
          <a:p>
            <a:r>
              <a:rPr lang="en-US" dirty="0"/>
              <a:t>The project turns continuously changing job advertisements into</a:t>
            </a:r>
          </a:p>
          <a:p>
            <a:pPr marL="285750" indent="-285750">
              <a:buFont typeface="Arial" panose="020B0604020202020204" pitchFamily="34" charset="0"/>
              <a:buChar char="•"/>
            </a:pPr>
            <a:r>
              <a:rPr lang="en-US" dirty="0"/>
              <a:t>structured,</a:t>
            </a:r>
          </a:p>
          <a:p>
            <a:pPr marL="285750" indent="-285750">
              <a:buFont typeface="Arial" panose="020B0604020202020204" pitchFamily="34" charset="0"/>
              <a:buChar char="•"/>
            </a:pPr>
            <a:r>
              <a:rPr lang="en-US" dirty="0"/>
              <a:t>searchable,</a:t>
            </a:r>
          </a:p>
          <a:p>
            <a:pPr marL="285750" indent="-285750">
              <a:buFont typeface="Arial" panose="020B0604020202020204" pitchFamily="34" charset="0"/>
              <a:buChar char="•"/>
            </a:pPr>
            <a:r>
              <a:rPr lang="en-US" dirty="0"/>
              <a:t>and </a:t>
            </a:r>
            <a:r>
              <a:rPr lang="en-US" dirty="0" err="1"/>
              <a:t>analysable</a:t>
            </a:r>
            <a:endParaRPr lang="en-US" dirty="0"/>
          </a:p>
          <a:p>
            <a:r>
              <a:rPr lang="en-US" dirty="0"/>
              <a:t>data.</a:t>
            </a:r>
          </a:p>
        </p:txBody>
      </p:sp>
    </p:spTree>
    <p:extLst>
      <p:ext uri="{BB962C8B-B14F-4D97-AF65-F5344CB8AC3E}">
        <p14:creationId xmlns:p14="http://schemas.microsoft.com/office/powerpoint/2010/main" val="308330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E7E1"/>
        </a:solidFill>
        <a:effectLst/>
      </p:bgPr>
    </p:bg>
    <p:spTree>
      <p:nvGrpSpPr>
        <p:cNvPr id="1" name="Shape 792"/>
        <p:cNvGrpSpPr/>
        <p:nvPr/>
      </p:nvGrpSpPr>
      <p:grpSpPr>
        <a:xfrm>
          <a:off x="0" y="0"/>
          <a:ext cx="0" cy="0"/>
          <a:chOff x="0" y="0"/>
          <a:chExt cx="0" cy="0"/>
        </a:xfrm>
      </p:grpSpPr>
      <p:pic>
        <p:nvPicPr>
          <p:cNvPr id="793" name="Google Shape;793;p107"/>
          <p:cNvPicPr preferRelativeResize="0"/>
          <p:nvPr/>
        </p:nvPicPr>
        <p:blipFill rotWithShape="1">
          <a:blip r:embed="rId3">
            <a:alphaModFix/>
          </a:blip>
          <a:srcRect t="209" b="209"/>
          <a:stretch/>
        </p:blipFill>
        <p:spPr>
          <a:xfrm>
            <a:off x="198000" y="4747499"/>
            <a:ext cx="547501" cy="172176"/>
          </a:xfrm>
          <a:prstGeom prst="rect">
            <a:avLst/>
          </a:prstGeom>
          <a:noFill/>
          <a:ln>
            <a:noFill/>
          </a:ln>
        </p:spPr>
      </p:pic>
      <p:pic>
        <p:nvPicPr>
          <p:cNvPr id="794" name="Google Shape;794;p107" title="Datascientest-25-2000-90.jpg"/>
          <p:cNvPicPr preferRelativeResize="0"/>
          <p:nvPr/>
        </p:nvPicPr>
        <p:blipFill rotWithShape="1">
          <a:blip r:embed="rId4">
            <a:alphaModFix/>
          </a:blip>
          <a:srcRect l="45806" t="33593" r="9932" b="291"/>
          <a:stretch/>
        </p:blipFill>
        <p:spPr>
          <a:xfrm>
            <a:off x="5416500" y="208500"/>
            <a:ext cx="3425100" cy="4726500"/>
          </a:xfrm>
          <a:prstGeom prst="roundRect">
            <a:avLst>
              <a:gd name="adj" fmla="val 6927"/>
            </a:avLst>
          </a:prstGeom>
          <a:noFill/>
          <a:ln>
            <a:noFill/>
          </a:ln>
        </p:spPr>
      </p:pic>
      <p:pic>
        <p:nvPicPr>
          <p:cNvPr id="795" name="Google Shape;795;p107"/>
          <p:cNvPicPr preferRelativeResize="0"/>
          <p:nvPr/>
        </p:nvPicPr>
        <p:blipFill rotWithShape="1">
          <a:blip r:embed="rId5">
            <a:alphaModFix/>
          </a:blip>
          <a:srcRect t="18838" r="42337"/>
          <a:stretch/>
        </p:blipFill>
        <p:spPr>
          <a:xfrm rot="5400000" flipH="1">
            <a:off x="5031851" y="670425"/>
            <a:ext cx="4943124" cy="3425224"/>
          </a:xfrm>
          <a:prstGeom prst="rect">
            <a:avLst/>
          </a:prstGeom>
          <a:noFill/>
          <a:ln>
            <a:noFill/>
          </a:ln>
        </p:spPr>
      </p:pic>
      <p:pic>
        <p:nvPicPr>
          <p:cNvPr id="796" name="Google Shape;796;p107" title="undraw_faq_h01d.gif"/>
          <p:cNvPicPr preferRelativeResize="0"/>
          <p:nvPr/>
        </p:nvPicPr>
        <p:blipFill>
          <a:blip r:embed="rId6">
            <a:alphaModFix/>
          </a:blip>
          <a:stretch>
            <a:fillRect/>
          </a:stretch>
        </p:blipFill>
        <p:spPr>
          <a:xfrm>
            <a:off x="1662379" y="1423463"/>
            <a:ext cx="2082850" cy="1338125"/>
          </a:xfrm>
          <a:prstGeom prst="rect">
            <a:avLst/>
          </a:prstGeom>
          <a:noFill/>
          <a:ln>
            <a:noFill/>
          </a:ln>
        </p:spPr>
      </p:pic>
      <p:sp>
        <p:nvSpPr>
          <p:cNvPr id="797" name="Google Shape;797;p107"/>
          <p:cNvSpPr/>
          <p:nvPr/>
        </p:nvSpPr>
        <p:spPr>
          <a:xfrm>
            <a:off x="1643004" y="2784088"/>
            <a:ext cx="2121600" cy="346800"/>
          </a:xfrm>
          <a:prstGeom prst="roundRect">
            <a:avLst>
              <a:gd name="adj" fmla="val 5390"/>
            </a:avLst>
          </a:prstGeom>
          <a:solidFill>
            <a:srgbClr val="1A1A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1800" b="1">
                <a:solidFill>
                  <a:srgbClr val="F5FAFF"/>
                </a:solidFill>
                <a:latin typeface="Inter"/>
                <a:ea typeface="Inter"/>
                <a:cs typeface="Inter"/>
                <a:sym typeface="Inter"/>
              </a:rPr>
              <a:t>QUESTIONS</a:t>
            </a:r>
            <a:endParaRPr sz="1800" b="1">
              <a:solidFill>
                <a:srgbClr val="F5FA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LIORA">
  <a:themeElements>
    <a:clrScheme name="Simple Light">
      <a:dk1>
        <a:srgbClr val="000000"/>
      </a:dk1>
      <a:lt1>
        <a:srgbClr val="FFFFFF"/>
      </a:lt1>
      <a:dk2>
        <a:srgbClr val="1A1A33"/>
      </a:dk2>
      <a:lt2>
        <a:srgbClr val="FF6745"/>
      </a:lt2>
      <a:accent1>
        <a:srgbClr val="E8E7E1"/>
      </a:accent1>
      <a:accent2>
        <a:srgbClr val="DDFF45"/>
      </a:accent2>
      <a:accent3>
        <a:srgbClr val="00E5EE"/>
      </a:accent3>
      <a:accent4>
        <a:srgbClr val="C445FF"/>
      </a:accent4>
      <a:accent5>
        <a:srgbClr val="7657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2846</Words>
  <Application>Microsoft Office PowerPoint</Application>
  <PresentationFormat>On-screen Show (16:9)</PresentationFormat>
  <Paragraphs>357</Paragraphs>
  <Slides>16</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Aptos</vt:lpstr>
      <vt:lpstr>Arial</vt:lpstr>
      <vt:lpstr>Consolas</vt:lpstr>
      <vt:lpstr>Courier New</vt:lpstr>
      <vt:lpstr>Inter</vt:lpstr>
      <vt:lpstr>Inter Medium</vt:lpstr>
      <vt:lpstr>Inter SemiBold</vt:lpstr>
      <vt:lpstr>Rubik</vt:lpstr>
      <vt:lpstr>Urbanist Black</vt:lpstr>
      <vt:lpstr>Work Sans</vt:lpstr>
      <vt:lpstr>Work Sans Light</vt:lpstr>
      <vt:lpstr>Work Sans Medium</vt:lpstr>
      <vt:lpstr>LIORA</vt:lpstr>
      <vt:lpstr>DATA ENGINEER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Sergey Krutikov</cp:lastModifiedBy>
  <cp:revision>313</cp:revision>
  <dcterms:modified xsi:type="dcterms:W3CDTF">2026-09-15T13:03:38Z</dcterms:modified>
</cp:coreProperties>
</file>