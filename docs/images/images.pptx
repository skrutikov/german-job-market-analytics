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62615E"/>
    <a:srgbClr val="E3E2DC"/>
    <a:srgbClr val="5D5C59"/>
    <a:srgbClr val="3F3F7B"/>
    <a:srgbClr val="7151FD"/>
    <a:srgbClr val="FAFAFA"/>
    <a:srgbClr val="7657FF"/>
    <a:srgbClr val="7C7CBC"/>
    <a:srgbClr val="7473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70A4D-8954-4340-A43C-3DAC1103EFF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26397-50A0-449F-8F24-EB3156736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26397-50A0-449F-8F24-EB31567363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85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B6C2-E1B3-B9F5-3FA8-AAF16C1E3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BCD44-EE5A-9341-F4BC-7CBDDD4F5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00CD4-4741-9E17-C651-7C8B0A5D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1EBD-EC17-5388-0DFB-4A24877B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1A2F4-7732-3D0A-D4D0-92F3402A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8B4D-41A5-208B-87EC-FF4461AB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563F5-98E2-E8C8-866C-2241B096B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83973-131D-E9CC-B762-75F34A72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4C40B-E734-A427-CBF1-5FE48A88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20750-DD48-8DB2-1EC6-629147E4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3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DA61-4B51-04C9-4284-3432EB51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DE987-A46B-A4D6-5401-D9B06D063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A74CF-32BF-304D-DC6C-B65C83E7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1277F-9AFE-4D98-D573-AB08F2A8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58A24-D65A-FA54-B31B-138615AD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31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22C3-EE3F-636D-D377-9A0873FB6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625FD-9503-53E6-ABFE-74EF8591D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096E2-9EB0-A693-2D59-99918B33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F4B8C-147D-B748-39A5-1DBF1000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46561-69BB-D6F6-81A7-6A3A2D57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12555-0DDA-3D9A-76DE-33D8E8D3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0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E809-C253-B872-B531-BB6E8CEE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F196B-629D-39F1-F340-E418F5FA5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FE04F-B577-899C-ED38-45A363973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A1620-253C-B72C-BA10-06C4ED1A3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62F155-5A84-9C79-E174-58AE3A0FD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617DB-E628-3D7B-7D63-5AD27CC50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B9920-DEE7-C531-6017-8E32A5B5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6EE77-1EAD-31B8-85D2-6896FF4B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5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AD87-62F0-207F-2994-33F61B8A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904E6-C7C8-8A09-E3C9-3A20D74F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BEF4C-F120-8B4E-9D19-00F9FE59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090A9-B8DB-C27C-DBCE-275453C9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41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0A5A88-6338-F43B-1FDB-8BFF79D1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4D4C5-6383-1699-E8D4-846E9943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366BA-334D-D14F-97D0-A12E614C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8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A7C5-172F-F26C-4445-F375AC25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4418E-CE8B-67D8-9205-7203E16BB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B3CF9-46CF-266A-705F-7A5AE9321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B787B-742A-79C3-014E-25F0BEB0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2BC50-2E64-3769-A96A-BB06AF9A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2A8EA-E79B-E423-2079-8E8BD61C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7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4D2C-8F4C-6443-E75E-1739605B6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828C5-0FB8-9047-4C1B-79356D69B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2D139-DB3D-512A-8442-9F862520A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B6E4F-58A3-9978-3036-48D4821F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FCEC5-D340-5A8B-C194-EEB45A32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63C7F-B667-381E-CF21-EAA106BB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6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98DA-AF5E-1E79-BF84-9C833A530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B0BF5-2CF8-EABF-F121-0F477F1A2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0680A-893B-F069-8215-E0212098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3A711-F8FE-B1BD-B3FB-27062A0A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22AA1-26FC-B597-AB1A-6F9E4D63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13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1C7C7-E527-6320-C432-B5B7A13D9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E11FE-63B0-D6B5-ABD1-47BD55FBB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B3CD5-F87A-0507-0BDB-D9C799D1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479C-6472-1525-CC75-52B2F1B4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CEFB1-D370-39C4-3739-D6969668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28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1E68E-7F1A-F3AF-E601-9CE8360A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95835-0023-2F2F-7E21-3EE6F1053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7168-6C18-04DD-DD49-69CF87631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833B9-F4D3-4A17-8E3B-56B2380D5BA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AAC6-8FA9-A9FD-F89D-397C2DB64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9A6C2-4E39-F724-F907-C49280DC4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A4639-718F-43A1-B78C-C13887721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1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C84C-4461-64F0-6ADD-F6A3DDB63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319">
            <a:extLst>
              <a:ext uri="{FF2B5EF4-FFF2-40B4-BE49-F238E27FC236}">
                <a16:creationId xmlns:a16="http://schemas.microsoft.com/office/drawing/2014/main" id="{8B4B49B4-B8A2-6BDC-07EA-DBE54A3437DE}"/>
              </a:ext>
            </a:extLst>
          </p:cNvPr>
          <p:cNvSpPr/>
          <p:nvPr/>
        </p:nvSpPr>
        <p:spPr>
          <a:xfrm>
            <a:off x="257175" y="428625"/>
            <a:ext cx="11577274" cy="5408059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2A6F0B-9476-8B5B-1D71-2807FED88455}"/>
              </a:ext>
            </a:extLst>
          </p:cNvPr>
          <p:cNvSpPr txBox="1"/>
          <p:nvPr/>
        </p:nvSpPr>
        <p:spPr>
          <a:xfrm>
            <a:off x="6096000" y="1120745"/>
            <a:ext cx="10490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read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1C317FD-6046-7F5C-DE14-5496D331FA32}"/>
              </a:ext>
            </a:extLst>
          </p:cNvPr>
          <p:cNvSpPr txBox="1"/>
          <p:nvPr/>
        </p:nvSpPr>
        <p:spPr>
          <a:xfrm>
            <a:off x="3506917" y="1121795"/>
            <a:ext cx="1053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use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421C157-7A3A-7899-7387-F357C53D4405}"/>
              </a:ext>
            </a:extLst>
          </p:cNvPr>
          <p:cNvSpPr txBox="1"/>
          <p:nvPr/>
        </p:nvSpPr>
        <p:spPr>
          <a:xfrm>
            <a:off x="9967920" y="4670818"/>
            <a:ext cx="912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trigger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958DA37-E6EA-DCD6-2E80-386B1A714DC1}"/>
              </a:ext>
            </a:extLst>
          </p:cNvPr>
          <p:cNvSpPr txBox="1"/>
          <p:nvPr/>
        </p:nvSpPr>
        <p:spPr>
          <a:xfrm>
            <a:off x="11183117" y="3060240"/>
            <a:ext cx="552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sync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16AC481-25FC-02FF-B861-CCCEF73EF29E}"/>
              </a:ext>
            </a:extLst>
          </p:cNvPr>
          <p:cNvSpPr txBox="1"/>
          <p:nvPr/>
        </p:nvSpPr>
        <p:spPr>
          <a:xfrm>
            <a:off x="7891978" y="2770207"/>
            <a:ext cx="259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update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035893-961B-CDE2-CA75-3E2B74F89AF2}"/>
              </a:ext>
            </a:extLst>
          </p:cNvPr>
          <p:cNvGrpSpPr/>
          <p:nvPr/>
        </p:nvGrpSpPr>
        <p:grpSpPr>
          <a:xfrm>
            <a:off x="1961942" y="4591523"/>
            <a:ext cx="1540032" cy="812753"/>
            <a:chOff x="8407385" y="400203"/>
            <a:chExt cx="1540032" cy="812753"/>
          </a:xfrm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2AF9029-A7C0-B808-163C-6B85DFE1904E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FF52CB-E871-580D-D28D-0F6333804043}"/>
                </a:ext>
              </a:extLst>
            </p:cNvPr>
            <p:cNvSpPr/>
            <p:nvPr/>
          </p:nvSpPr>
          <p:spPr>
            <a:xfrm>
              <a:off x="8407385" y="452438"/>
              <a:ext cx="1493853" cy="76051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2A2E3D7-1C0A-2327-18D9-4542AB7982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971572" y="821220"/>
              <a:ext cx="316409" cy="32903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94DC1C-8A11-A51F-0386-D13803C18A2C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400" b="1" kern="0" dirty="0" err="1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grafana</a:t>
              </a:r>
              <a:r>
                <a:rPr lang="en-US" sz="14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 </a:t>
              </a:r>
              <a:r>
                <a:rPr lang="en-US" sz="12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:3000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BB3EE1-5109-9A00-9822-A2CF67817506}"/>
              </a:ext>
            </a:extLst>
          </p:cNvPr>
          <p:cNvGrpSpPr/>
          <p:nvPr/>
        </p:nvGrpSpPr>
        <p:grpSpPr>
          <a:xfrm>
            <a:off x="9735114" y="4591523"/>
            <a:ext cx="1545353" cy="812753"/>
            <a:chOff x="8164220" y="400203"/>
            <a:chExt cx="1545353" cy="812753"/>
          </a:xfrm>
        </p:grpSpPr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089C1F21-875E-1AF2-CA44-E427A6199774}"/>
                </a:ext>
              </a:extLst>
            </p:cNvPr>
            <p:cNvSpPr/>
            <p:nvPr/>
          </p:nvSpPr>
          <p:spPr>
            <a:xfrm>
              <a:off x="8173741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BF1AC40-8BCC-91C5-8916-81C5BB18D441}"/>
                </a:ext>
              </a:extLst>
            </p:cNvPr>
            <p:cNvSpPr/>
            <p:nvPr/>
          </p:nvSpPr>
          <p:spPr>
            <a:xfrm>
              <a:off x="8164220" y="440247"/>
              <a:ext cx="1493852" cy="76051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BD652CC-F0C5-4AA7-C4E5-0BDFC0665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97297" y="852125"/>
              <a:ext cx="688720" cy="26722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967DAA-17B3-5FC9-E7BC-402291FBCDC1}"/>
                </a:ext>
              </a:extLst>
            </p:cNvPr>
            <p:cNvSpPr txBox="1"/>
            <p:nvPr/>
          </p:nvSpPr>
          <p:spPr>
            <a:xfrm>
              <a:off x="8169542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2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airflow </a:t>
              </a:r>
              <a:r>
                <a:rPr lang="en-US" sz="12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:8080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858AD7-C8D6-9421-48B3-3188322FE729}"/>
              </a:ext>
            </a:extLst>
          </p:cNvPr>
          <p:cNvGrpSpPr/>
          <p:nvPr/>
        </p:nvGrpSpPr>
        <p:grpSpPr>
          <a:xfrm>
            <a:off x="1963007" y="965616"/>
            <a:ext cx="1540032" cy="812753"/>
            <a:chOff x="8407385" y="400203"/>
            <a:chExt cx="1540032" cy="812753"/>
          </a:xfrm>
        </p:grpSpPr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67DC65D8-DBE0-A450-7FD0-B48BE89D0BFF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3B8B01C-7719-EE6F-52CD-AC30AFD4E31B}"/>
                </a:ext>
              </a:extLst>
            </p:cNvPr>
            <p:cNvSpPr/>
            <p:nvPr/>
          </p:nvSpPr>
          <p:spPr>
            <a:xfrm>
              <a:off x="8407385" y="453419"/>
              <a:ext cx="1493853" cy="759537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4DADA2C-B7EA-66FB-FBE9-B940ED8AC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08353" y="890008"/>
              <a:ext cx="1042846" cy="191454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F60FC70-F3EC-F0FB-0A40-625F87D8E3A7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2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frontend </a:t>
              </a:r>
              <a:r>
                <a:rPr lang="en-US" sz="12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:8050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6E547D-6802-091A-3C28-DF1D43075E63}"/>
              </a:ext>
            </a:extLst>
          </p:cNvPr>
          <p:cNvGrpSpPr/>
          <p:nvPr/>
        </p:nvGrpSpPr>
        <p:grpSpPr>
          <a:xfrm>
            <a:off x="4555968" y="965742"/>
            <a:ext cx="1540032" cy="812753"/>
            <a:chOff x="8407385" y="400203"/>
            <a:chExt cx="1540032" cy="812753"/>
          </a:xfrm>
        </p:grpSpPr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35A58F04-475F-FE4E-2473-C548983EE572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9D75835-26AA-CAF1-906B-C51D0777A5FD}"/>
                </a:ext>
              </a:extLst>
            </p:cNvPr>
            <p:cNvSpPr/>
            <p:nvPr/>
          </p:nvSpPr>
          <p:spPr>
            <a:xfrm>
              <a:off x="8407385" y="453294"/>
              <a:ext cx="1493853" cy="75782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AE65009-CC8F-2900-54A6-8A19E4822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671909" y="901244"/>
              <a:ext cx="915734" cy="16898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9649B45-80EF-A62F-808A-AEA49A3827DC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2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backend </a:t>
              </a:r>
              <a:r>
                <a:rPr lang="en-US" sz="12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:8000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CC24926-9E49-E558-3CDD-26A1068B20E2}"/>
              </a:ext>
            </a:extLst>
          </p:cNvPr>
          <p:cNvGrpSpPr/>
          <p:nvPr/>
        </p:nvGrpSpPr>
        <p:grpSpPr>
          <a:xfrm>
            <a:off x="7145052" y="965616"/>
            <a:ext cx="1540032" cy="812753"/>
            <a:chOff x="8407385" y="400203"/>
            <a:chExt cx="1540032" cy="812753"/>
          </a:xfrm>
        </p:grpSpPr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19E077C2-8519-5EBC-AC1A-B8CB4085FD10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4837C17-39FD-FF8F-8F8E-BAC1CE68F847}"/>
                </a:ext>
              </a:extLst>
            </p:cNvPr>
            <p:cNvSpPr/>
            <p:nvPr/>
          </p:nvSpPr>
          <p:spPr>
            <a:xfrm>
              <a:off x="8407385" y="455903"/>
              <a:ext cx="1493853" cy="75705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E523823-D584-DC63-DB66-325E92258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70081" y="821220"/>
              <a:ext cx="319390" cy="32903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A2FA620-581F-26A1-C030-2E9262722951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200" b="1" kern="0" dirty="0" err="1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postgres</a:t>
              </a:r>
              <a:r>
                <a:rPr lang="en-US" sz="12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 </a:t>
              </a:r>
              <a:r>
                <a:rPr lang="en-US" sz="12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:5432</a:t>
              </a:r>
            </a:p>
          </p:txBody>
        </p:sp>
      </p:grp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BCFC6AD-2E08-9BA4-CBFA-1284D8D52DA8}"/>
              </a:ext>
            </a:extLst>
          </p:cNvPr>
          <p:cNvCxnSpPr>
            <a:cxnSpLocks/>
            <a:stCxn id="46" idx="3"/>
            <a:endCxn id="51" idx="1"/>
          </p:cNvCxnSpPr>
          <p:nvPr/>
        </p:nvCxnSpPr>
        <p:spPr>
          <a:xfrm flipV="1">
            <a:off x="3456860" y="1397745"/>
            <a:ext cx="1099108" cy="856"/>
          </a:xfrm>
          <a:prstGeom prst="straightConnector1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headEnd type="none"/>
            <a:tailEnd type="triangle"/>
          </a:ln>
          <a:effectLst/>
        </p:spPr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1529CB4-3E67-EFC0-53A4-113BEB4A307C}"/>
              </a:ext>
            </a:extLst>
          </p:cNvPr>
          <p:cNvCxnSpPr>
            <a:cxnSpLocks/>
            <a:stCxn id="51" idx="3"/>
            <a:endCxn id="56" idx="1"/>
          </p:cNvCxnSpPr>
          <p:nvPr/>
        </p:nvCxnSpPr>
        <p:spPr>
          <a:xfrm>
            <a:off x="6049821" y="1397745"/>
            <a:ext cx="1095231" cy="2098"/>
          </a:xfrm>
          <a:prstGeom prst="straightConnector1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533A4A2-7169-E160-ACEA-71FFBD680341}"/>
              </a:ext>
            </a:extLst>
          </p:cNvPr>
          <p:cNvGrpSpPr/>
          <p:nvPr/>
        </p:nvGrpSpPr>
        <p:grpSpPr>
          <a:xfrm>
            <a:off x="9738336" y="965616"/>
            <a:ext cx="1540032" cy="812753"/>
            <a:chOff x="8407385" y="400203"/>
            <a:chExt cx="1540032" cy="812753"/>
          </a:xfrm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ECF0BFBA-777E-AC5F-3EA0-3BF3ED0C955C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7FF18F-13D2-AD3D-E25C-4D06B2837943}"/>
                </a:ext>
              </a:extLst>
            </p:cNvPr>
            <p:cNvSpPr/>
            <p:nvPr/>
          </p:nvSpPr>
          <p:spPr>
            <a:xfrm>
              <a:off x="8407385" y="455903"/>
              <a:ext cx="1493853" cy="75705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BCA646-4C4F-D6FC-8977-7FE1F5A59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70081" y="826040"/>
              <a:ext cx="319390" cy="31939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200198-CE94-1C51-A055-A905EA0BF08A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 fontScale="92500"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200" b="1" kern="0" dirty="0" err="1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elasticsearch</a:t>
              </a:r>
              <a:r>
                <a:rPr lang="en-US" sz="12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 </a:t>
              </a:r>
              <a:r>
                <a:rPr lang="en-US" sz="12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:9200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B916D8-1B37-A777-05C6-FA63AE99A4FC}"/>
              </a:ext>
            </a:extLst>
          </p:cNvPr>
          <p:cNvGrpSpPr/>
          <p:nvPr/>
        </p:nvGrpSpPr>
        <p:grpSpPr>
          <a:xfrm>
            <a:off x="7149253" y="4591523"/>
            <a:ext cx="1540031" cy="812753"/>
            <a:chOff x="8407386" y="400203"/>
            <a:chExt cx="1540031" cy="812753"/>
          </a:xfrm>
        </p:grpSpPr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68252CBE-1D4E-2D8E-D841-1725FDB59D13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19955E4-3E65-9F6B-D21B-B398E86DFCE0}"/>
                </a:ext>
              </a:extLst>
            </p:cNvPr>
            <p:cNvSpPr/>
            <p:nvPr/>
          </p:nvSpPr>
          <p:spPr>
            <a:xfrm>
              <a:off x="8525533" y="452438"/>
              <a:ext cx="1370381" cy="76051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7" name="Picture 13">
              <a:extLst>
                <a:ext uri="{FF2B5EF4-FFF2-40B4-BE49-F238E27FC236}">
                  <a16:creationId xmlns:a16="http://schemas.microsoft.com/office/drawing/2014/main" id="{55543E63-A3D2-EE61-D34F-E0D8F57373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007292" y="864316"/>
              <a:ext cx="244968" cy="24283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6B95DA4-2D17-F79D-6FED-335E664F98F1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 fontScale="77500" lnSpcReduction="20000"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400" b="1" kern="0" dirty="0" err="1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pushgateway</a:t>
              </a:r>
              <a:r>
                <a:rPr lang="en-US" sz="14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 </a:t>
              </a:r>
              <a:r>
                <a:rPr lang="en-US" sz="14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:9091</a:t>
              </a:r>
            </a:p>
          </p:txBody>
        </p:sp>
      </p:grp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FFC9CAE8-9A9B-49E7-5544-7A580CA6EBEA}"/>
              </a:ext>
            </a:extLst>
          </p:cNvPr>
          <p:cNvCxnSpPr>
            <a:cxnSpLocks/>
            <a:stCxn id="26" idx="3"/>
            <a:endCxn id="4" idx="3"/>
          </p:cNvCxnSpPr>
          <p:nvPr/>
        </p:nvCxnSpPr>
        <p:spPr>
          <a:xfrm flipV="1">
            <a:off x="11228966" y="1399843"/>
            <a:ext cx="3223" cy="3611983"/>
          </a:xfrm>
          <a:prstGeom prst="bentConnector3">
            <a:avLst>
              <a:gd name="adj1" fmla="val 16058734"/>
            </a:avLst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2832812-CFED-F8D6-FD6B-3117B3085D43}"/>
              </a:ext>
            </a:extLst>
          </p:cNvPr>
          <p:cNvCxnSpPr>
            <a:cxnSpLocks/>
            <a:stCxn id="26" idx="0"/>
            <a:endCxn id="56" idx="2"/>
          </p:cNvCxnSpPr>
          <p:nvPr/>
        </p:nvCxnSpPr>
        <p:spPr>
          <a:xfrm rot="16200000" flipV="1">
            <a:off x="7760411" y="1909937"/>
            <a:ext cx="2853198" cy="2590061"/>
          </a:xfrm>
          <a:prstGeom prst="bentConnector3">
            <a:avLst>
              <a:gd name="adj1" fmla="val 65356"/>
            </a:avLst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56CC18F-A473-A7A1-7575-CA7C4EF45DFA}"/>
              </a:ext>
            </a:extLst>
          </p:cNvPr>
          <p:cNvGrpSpPr/>
          <p:nvPr/>
        </p:nvGrpSpPr>
        <p:grpSpPr>
          <a:xfrm>
            <a:off x="1965108" y="2770791"/>
            <a:ext cx="1540031" cy="812753"/>
            <a:chOff x="8407386" y="400203"/>
            <a:chExt cx="1540031" cy="812753"/>
          </a:xfrm>
        </p:grpSpPr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653BFF56-6A1F-AE55-DE48-1A9EE90EE89D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gradFill flip="none" rotWithShape="1">
              <a:gsLst>
                <a:gs pos="0">
                  <a:schemeClr val="accent2">
                    <a:lumMod val="60000"/>
                    <a:lumOff val="40000"/>
                  </a:schemeClr>
                </a:gs>
                <a:gs pos="50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CD24F80-E73A-EF54-A4C0-4C089829CF6C}"/>
                </a:ext>
              </a:extLst>
            </p:cNvPr>
            <p:cNvSpPr/>
            <p:nvPr/>
          </p:nvSpPr>
          <p:spPr>
            <a:xfrm>
              <a:off x="8411584" y="452438"/>
              <a:ext cx="1489654" cy="76051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2" name="Picture 19">
              <a:extLst>
                <a:ext uri="{FF2B5EF4-FFF2-40B4-BE49-F238E27FC236}">
                  <a16:creationId xmlns:a16="http://schemas.microsoft.com/office/drawing/2014/main" id="{57EF8FA6-91E9-018A-D794-0B81A0E0E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836956" y="924122"/>
              <a:ext cx="585642" cy="123226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1AA36D1-8B10-A2E2-C303-74460AA46266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4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nginx </a:t>
              </a:r>
              <a:r>
                <a:rPr lang="en-US" sz="12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:80</a:t>
              </a:r>
            </a:p>
          </p:txBody>
        </p:sp>
      </p:grp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F498270D-F1FD-5775-3296-3D51DE992B28}"/>
              </a:ext>
            </a:extLst>
          </p:cNvPr>
          <p:cNvCxnSpPr>
            <a:cxnSpLocks/>
            <a:stCxn id="51" idx="0"/>
            <a:endCxn id="4" idx="0"/>
          </p:cNvCxnSpPr>
          <p:nvPr/>
        </p:nvCxnSpPr>
        <p:spPr>
          <a:xfrm rot="16200000" flipH="1">
            <a:off x="7892837" y="-1571110"/>
            <a:ext cx="2483" cy="5182368"/>
          </a:xfrm>
          <a:prstGeom prst="bentConnector3">
            <a:avLst>
              <a:gd name="adj1" fmla="val -20970681"/>
            </a:avLst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38DE259-4175-D7ED-9AA0-582849E06B92}"/>
              </a:ext>
            </a:extLst>
          </p:cNvPr>
          <p:cNvSpPr txBox="1"/>
          <p:nvPr/>
        </p:nvSpPr>
        <p:spPr>
          <a:xfrm>
            <a:off x="5299672" y="508040"/>
            <a:ext cx="5182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use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E66AC433-9E7D-E601-94CF-5EB80BF17D7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37536" y="5492342"/>
            <a:ext cx="545832" cy="211696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9A424ECB-0F44-BAAC-7CE2-2DC98DC6FC69}"/>
              </a:ext>
            </a:extLst>
          </p:cNvPr>
          <p:cNvSpPr txBox="1"/>
          <p:nvPr/>
        </p:nvSpPr>
        <p:spPr>
          <a:xfrm>
            <a:off x="5278359" y="2141482"/>
            <a:ext cx="1093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scrape ↻15s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C399CA1E-095C-63EE-13DD-CB7C27F5AB35}"/>
              </a:ext>
            </a:extLst>
          </p:cNvPr>
          <p:cNvCxnSpPr>
            <a:cxnSpLocks/>
            <a:stCxn id="26" idx="1"/>
            <a:endCxn id="36" idx="3"/>
          </p:cNvCxnSpPr>
          <p:nvPr/>
        </p:nvCxnSpPr>
        <p:spPr>
          <a:xfrm flipH="1">
            <a:off x="8637781" y="5011826"/>
            <a:ext cx="1097333" cy="12191"/>
          </a:xfrm>
          <a:prstGeom prst="straightConnector1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3A77861-5A32-5085-0FAD-1A5E60A359DA}"/>
              </a:ext>
            </a:extLst>
          </p:cNvPr>
          <p:cNvSpPr txBox="1"/>
          <p:nvPr/>
        </p:nvSpPr>
        <p:spPr>
          <a:xfrm>
            <a:off x="8633583" y="4721407"/>
            <a:ext cx="1114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push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E81A2B9-D4C5-CCB9-2C46-DE2C663D8311}"/>
              </a:ext>
            </a:extLst>
          </p:cNvPr>
          <p:cNvSpPr txBox="1"/>
          <p:nvPr/>
        </p:nvSpPr>
        <p:spPr>
          <a:xfrm>
            <a:off x="5310827" y="3944349"/>
            <a:ext cx="1442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[ETL overdue 2h?]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0FD4E27-71C0-F149-AAD9-76C6A8675DB9}"/>
              </a:ext>
            </a:extLst>
          </p:cNvPr>
          <p:cNvSpPr txBox="1"/>
          <p:nvPr/>
        </p:nvSpPr>
        <p:spPr>
          <a:xfrm>
            <a:off x="3782399" y="3947855"/>
            <a:ext cx="446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use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816E88F-4A3D-497A-681C-882B78AF9E04}"/>
              </a:ext>
            </a:extLst>
          </p:cNvPr>
          <p:cNvGrpSpPr/>
          <p:nvPr/>
        </p:nvGrpSpPr>
        <p:grpSpPr>
          <a:xfrm>
            <a:off x="4555968" y="2776292"/>
            <a:ext cx="1540032" cy="812753"/>
            <a:chOff x="8407385" y="400203"/>
            <a:chExt cx="1540032" cy="812753"/>
          </a:xfrm>
        </p:grpSpPr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1272AB7C-2509-D993-2F28-836AB1040501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A863457-541E-E638-980C-2146750EA0D0}"/>
                </a:ext>
              </a:extLst>
            </p:cNvPr>
            <p:cNvSpPr/>
            <p:nvPr/>
          </p:nvSpPr>
          <p:spPr>
            <a:xfrm>
              <a:off x="8407385" y="452438"/>
              <a:ext cx="1488530" cy="76051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8" name="Picture 13">
              <a:extLst>
                <a:ext uri="{FF2B5EF4-FFF2-40B4-BE49-F238E27FC236}">
                  <a16:creationId xmlns:a16="http://schemas.microsoft.com/office/drawing/2014/main" id="{139FBE00-4759-E66D-92ED-2C5642EC2D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8965261" y="822651"/>
              <a:ext cx="329030" cy="326168"/>
            </a:xfrm>
            <a:prstGeom prst="rect">
              <a:avLst/>
            </a:prstGeom>
          </p:spPr>
        </p:pic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92C5A67-7FB2-2259-4528-3463D421FD12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 fontScale="85000" lnSpcReduction="10000"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400" b="1" kern="0" dirty="0" err="1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prometheus</a:t>
              </a:r>
              <a:r>
                <a:rPr lang="en-US" sz="14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 </a:t>
              </a:r>
              <a:r>
                <a:rPr lang="en-US" sz="14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:9090</a:t>
              </a: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C4FA7BF-577C-D320-B0E4-3970917FF96D}"/>
              </a:ext>
            </a:extLst>
          </p:cNvPr>
          <p:cNvGrpSpPr/>
          <p:nvPr/>
        </p:nvGrpSpPr>
        <p:grpSpPr>
          <a:xfrm>
            <a:off x="4562008" y="4591523"/>
            <a:ext cx="1540032" cy="812753"/>
            <a:chOff x="8407385" y="400203"/>
            <a:chExt cx="1540032" cy="812753"/>
          </a:xfrm>
        </p:grpSpPr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15A6C5BD-C1CA-ED36-0F74-F12050E47423}"/>
                </a:ext>
              </a:extLst>
            </p:cNvPr>
            <p:cNvSpPr/>
            <p:nvPr/>
          </p:nvSpPr>
          <p:spPr>
            <a:xfrm>
              <a:off x="8411585" y="400203"/>
              <a:ext cx="1535832" cy="812753"/>
            </a:xfrm>
            <a:prstGeom prst="cube">
              <a:avLst>
                <a:gd name="adj" fmla="val 12822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CCFABDF-E93B-11D4-1609-09D3AD880CAC}"/>
                </a:ext>
              </a:extLst>
            </p:cNvPr>
            <p:cNvSpPr/>
            <p:nvPr/>
          </p:nvSpPr>
          <p:spPr>
            <a:xfrm>
              <a:off x="8407385" y="452438"/>
              <a:ext cx="1497639" cy="760518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3" name="Picture 13">
              <a:extLst>
                <a:ext uri="{FF2B5EF4-FFF2-40B4-BE49-F238E27FC236}">
                  <a16:creationId xmlns:a16="http://schemas.microsoft.com/office/drawing/2014/main" id="{32EBDC68-FCC7-E976-0E30-AB5754F6CF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004443" y="861492"/>
              <a:ext cx="250666" cy="248486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F128DE4-6288-6B52-D115-DF490AE72285}"/>
                </a:ext>
              </a:extLst>
            </p:cNvPr>
            <p:cNvSpPr txBox="1"/>
            <p:nvPr/>
          </p:nvSpPr>
          <p:spPr>
            <a:xfrm>
              <a:off x="8407386" y="528313"/>
              <a:ext cx="1444780" cy="283768"/>
            </a:xfrm>
            <a:prstGeom prst="rect">
              <a:avLst/>
            </a:prstGeom>
            <a:noFill/>
          </p:spPr>
          <p:txBody>
            <a:bodyPr wrap="square" lIns="36576" tIns="0" rIns="36576" bIns="0" rtlCol="0" anchor="ctr" anchorCtr="0">
              <a:normAutofit fontScale="77500" lnSpcReduction="20000"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400" b="1" kern="0" dirty="0" err="1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alertmanager</a:t>
              </a:r>
              <a:r>
                <a:rPr lang="en-US" sz="1400" b="1" kern="0" dirty="0">
                  <a:solidFill>
                    <a:srgbClr val="262626"/>
                  </a:solidFill>
                  <a:latin typeface="Arial"/>
                  <a:cs typeface="Arial"/>
                  <a:sym typeface="Arial"/>
                </a:rPr>
                <a:t> </a:t>
              </a:r>
              <a:r>
                <a:rPr lang="en-US" sz="1400" kern="0" dirty="0">
                  <a:solidFill>
                    <a:srgbClr val="0000EE"/>
                  </a:solidFill>
                  <a:latin typeface="Arial"/>
                  <a:cs typeface="Arial"/>
                  <a:sym typeface="Arial"/>
                </a:rPr>
                <a:t>:9093</a:t>
              </a:r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DD666CB8-F603-D5D9-BA5C-54A7937E779E}"/>
              </a:ext>
            </a:extLst>
          </p:cNvPr>
          <p:cNvSpPr txBox="1"/>
          <p:nvPr/>
        </p:nvSpPr>
        <p:spPr>
          <a:xfrm>
            <a:off x="4770684" y="3946856"/>
            <a:ext cx="536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alert</a:t>
            </a:r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FEC1D3D4-B256-1747-97A5-63D7C4DA4048}"/>
              </a:ext>
            </a:extLst>
          </p:cNvPr>
          <p:cNvCxnSpPr>
            <a:cxnSpLocks/>
            <a:stCxn id="157" idx="2"/>
            <a:endCxn id="162" idx="0"/>
          </p:cNvCxnSpPr>
          <p:nvPr/>
        </p:nvCxnSpPr>
        <p:spPr>
          <a:xfrm>
            <a:off x="5300233" y="3589045"/>
            <a:ext cx="10595" cy="1054713"/>
          </a:xfrm>
          <a:prstGeom prst="straightConnector1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03A6130-DEB3-58C1-464B-DFC84FE8A737}"/>
              </a:ext>
            </a:extLst>
          </p:cNvPr>
          <p:cNvCxnSpPr>
            <a:cxnSpLocks/>
            <a:stCxn id="157" idx="0"/>
            <a:endCxn id="51" idx="2"/>
          </p:cNvCxnSpPr>
          <p:nvPr/>
        </p:nvCxnSpPr>
        <p:spPr>
          <a:xfrm flipV="1">
            <a:off x="5300233" y="1776656"/>
            <a:ext cx="2662" cy="1051871"/>
          </a:xfrm>
          <a:prstGeom prst="straightConnector1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B073BE23-8169-8FA6-D366-A569EAF53A1D}"/>
              </a:ext>
            </a:extLst>
          </p:cNvPr>
          <p:cNvCxnSpPr>
            <a:cxnSpLocks/>
            <a:stCxn id="157" idx="3"/>
            <a:endCxn id="35" idx="0"/>
          </p:cNvCxnSpPr>
          <p:nvPr/>
        </p:nvCxnSpPr>
        <p:spPr>
          <a:xfrm>
            <a:off x="6044498" y="3208786"/>
            <a:ext cx="1928976" cy="1382737"/>
          </a:xfrm>
          <a:prstGeom prst="bentConnector2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8181B16B-898D-BCDE-7C99-A66AC92B5C21}"/>
              </a:ext>
            </a:extLst>
          </p:cNvPr>
          <p:cNvSpPr txBox="1"/>
          <p:nvPr/>
        </p:nvSpPr>
        <p:spPr>
          <a:xfrm>
            <a:off x="6042812" y="2942061"/>
            <a:ext cx="1928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scrape ↻15s</a:t>
            </a:r>
          </a:p>
        </p:txBody>
      </p: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7F65D504-4BF7-B65A-6060-200C21C5A6A1}"/>
              </a:ext>
            </a:extLst>
          </p:cNvPr>
          <p:cNvCxnSpPr>
            <a:cxnSpLocks/>
            <a:stCxn id="19" idx="3"/>
            <a:endCxn id="157" idx="1"/>
          </p:cNvCxnSpPr>
          <p:nvPr/>
        </p:nvCxnSpPr>
        <p:spPr>
          <a:xfrm flipV="1">
            <a:off x="3455795" y="3208786"/>
            <a:ext cx="1100173" cy="1815231"/>
          </a:xfrm>
          <a:prstGeom prst="bentConnector3">
            <a:avLst>
              <a:gd name="adj1" fmla="val 67316"/>
            </a:avLst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dash"/>
            <a:tailEnd type="triangle"/>
          </a:ln>
          <a:effectLst/>
        </p:spPr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13AB99E-BBD2-14AE-50BA-65C128CC0C25}"/>
              </a:ext>
            </a:extLst>
          </p:cNvPr>
          <p:cNvCxnSpPr>
            <a:cxnSpLocks/>
            <a:stCxn id="186" idx="3"/>
            <a:endCxn id="81" idx="1"/>
          </p:cNvCxnSpPr>
          <p:nvPr/>
        </p:nvCxnSpPr>
        <p:spPr>
          <a:xfrm>
            <a:off x="1064665" y="3198739"/>
            <a:ext cx="904641" cy="4546"/>
          </a:xfrm>
          <a:prstGeom prst="straightConnector1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586054E-7909-3280-C5DE-6ACB4B824384}"/>
              </a:ext>
            </a:extLst>
          </p:cNvPr>
          <p:cNvGrpSpPr/>
          <p:nvPr/>
        </p:nvGrpSpPr>
        <p:grpSpPr>
          <a:xfrm>
            <a:off x="327041" y="2845183"/>
            <a:ext cx="972360" cy="966907"/>
            <a:chOff x="705743" y="2845183"/>
            <a:chExt cx="972360" cy="966907"/>
          </a:xfrm>
        </p:grpSpPr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51A5A4AB-0912-517A-9BDB-72800E15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253" y="2845183"/>
              <a:ext cx="707114" cy="707112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A2B1BA59-1923-0695-67D3-B8A107267277}"/>
                </a:ext>
              </a:extLst>
            </p:cNvPr>
            <p:cNvSpPr txBox="1"/>
            <p:nvPr/>
          </p:nvSpPr>
          <p:spPr>
            <a:xfrm>
              <a:off x="705743" y="3535091"/>
              <a:ext cx="9723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200" b="1" kern="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cs typeface="Arial"/>
                  <a:sym typeface="Arial"/>
                </a:rPr>
                <a:t>Browser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1439CE3-849D-5041-07FE-46663E95F442}"/>
              </a:ext>
            </a:extLst>
          </p:cNvPr>
          <p:cNvCxnSpPr>
            <a:cxnSpLocks/>
            <a:stCxn id="81" idx="0"/>
            <a:endCxn id="46" idx="2"/>
          </p:cNvCxnSpPr>
          <p:nvPr/>
        </p:nvCxnSpPr>
        <p:spPr>
          <a:xfrm flipH="1" flipV="1">
            <a:off x="2709934" y="1778369"/>
            <a:ext cx="4199" cy="1044657"/>
          </a:xfrm>
          <a:prstGeom prst="straightConnector1">
            <a:avLst/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solid"/>
            <a:headEnd type="none"/>
            <a:tailEnd type="triangle"/>
          </a:ln>
          <a:effectLst/>
        </p:spPr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29E60253-01D9-7B55-77FA-4AC544A6C43E}"/>
              </a:ext>
            </a:extLst>
          </p:cNvPr>
          <p:cNvCxnSpPr>
            <a:cxnSpLocks/>
            <a:stCxn id="81" idx="3"/>
            <a:endCxn id="215" idx="1"/>
          </p:cNvCxnSpPr>
          <p:nvPr/>
        </p:nvCxnSpPr>
        <p:spPr>
          <a:xfrm flipV="1">
            <a:off x="3458960" y="1666075"/>
            <a:ext cx="1107248" cy="1537210"/>
          </a:xfrm>
          <a:prstGeom prst="bentConnector3">
            <a:avLst>
              <a:gd name="adj1" fmla="val 26487"/>
            </a:avLst>
          </a:prstGeom>
          <a:noFill/>
          <a:ln w="19050" cap="flat" cmpd="sng" algn="ctr">
            <a:solidFill>
              <a:srgbClr val="7657FF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FD46F48-31C4-9C5B-2686-64B9D3134FEE}"/>
              </a:ext>
            </a:extLst>
          </p:cNvPr>
          <p:cNvSpPr/>
          <p:nvPr/>
        </p:nvSpPr>
        <p:spPr>
          <a:xfrm>
            <a:off x="4566208" y="1551148"/>
            <a:ext cx="364335" cy="22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03E134D-B5BE-51C4-98BC-B47D2C9AE369}"/>
              </a:ext>
            </a:extLst>
          </p:cNvPr>
          <p:cNvSpPr txBox="1"/>
          <p:nvPr/>
        </p:nvSpPr>
        <p:spPr>
          <a:xfrm>
            <a:off x="1607662" y="2143859"/>
            <a:ext cx="1117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proxy UI 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FD5A75A-22EF-D5A9-9622-8AE617946089}"/>
              </a:ext>
            </a:extLst>
          </p:cNvPr>
          <p:cNvSpPr txBox="1"/>
          <p:nvPr/>
        </p:nvSpPr>
        <p:spPr>
          <a:xfrm>
            <a:off x="3758543" y="2133181"/>
            <a:ext cx="117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proxy API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3659540-2D16-61A2-6084-5F5D8D1E4697}"/>
              </a:ext>
            </a:extLst>
          </p:cNvPr>
          <p:cNvSpPr txBox="1"/>
          <p:nvPr/>
        </p:nvSpPr>
        <p:spPr>
          <a:xfrm>
            <a:off x="1057301" y="2899588"/>
            <a:ext cx="904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2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cs typeface="Arial"/>
                <a:sym typeface="Arial"/>
              </a:rPr>
              <a:t>request</a:t>
            </a:r>
          </a:p>
        </p:txBody>
      </p:sp>
    </p:spTree>
    <p:extLst>
      <p:ext uri="{BB962C8B-B14F-4D97-AF65-F5344CB8AC3E}">
        <p14:creationId xmlns:p14="http://schemas.microsoft.com/office/powerpoint/2010/main" val="243066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ACE8A4-BBF3-5819-3B90-79469E119A55}"/>
              </a:ext>
            </a:extLst>
          </p:cNvPr>
          <p:cNvSpPr/>
          <p:nvPr/>
        </p:nvSpPr>
        <p:spPr>
          <a:xfrm>
            <a:off x="2590729" y="1012817"/>
            <a:ext cx="7555738" cy="39963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16B160-515A-7699-02BC-AC2DAE254B73}"/>
              </a:ext>
            </a:extLst>
          </p:cNvPr>
          <p:cNvGrpSpPr/>
          <p:nvPr/>
        </p:nvGrpSpPr>
        <p:grpSpPr>
          <a:xfrm>
            <a:off x="5323659" y="2196807"/>
            <a:ext cx="858424" cy="423153"/>
            <a:chOff x="4142788" y="2171346"/>
            <a:chExt cx="858424" cy="423153"/>
          </a:xfrm>
          <a:solidFill>
            <a:schemeClr val="bg2">
              <a:lumMod val="50000"/>
              <a:lumOff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331063-95EF-100F-5FD6-FCE02951F4D0}"/>
                </a:ext>
              </a:extLst>
            </p:cNvPr>
            <p:cNvSpPr/>
            <p:nvPr/>
          </p:nvSpPr>
          <p:spPr>
            <a:xfrm>
              <a:off x="4142788" y="2171346"/>
              <a:ext cx="858424" cy="423153"/>
            </a:xfrm>
            <a:prstGeom prst="rect">
              <a:avLst/>
            </a:prstGeom>
            <a:solidFill>
              <a:srgbClr val="7070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 dirty="0"/>
                <a:t>ETL</a:t>
              </a:r>
            </a:p>
          </p:txBody>
        </p:sp>
        <p:pic>
          <p:nvPicPr>
            <p:cNvPr id="7" name="Picture 6" descr="Python (programming language) - Wikipedia">
              <a:extLst>
                <a:ext uri="{FF2B5EF4-FFF2-40B4-BE49-F238E27FC236}">
                  <a16:creationId xmlns:a16="http://schemas.microsoft.com/office/drawing/2014/main" id="{21D6C1E7-DFB7-B29D-37FC-099B73B61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7121" y="2231011"/>
              <a:ext cx="299163" cy="299163"/>
            </a:xfrm>
            <a:prstGeom prst="rect">
              <a:avLst/>
            </a:prstGeom>
            <a:solidFill>
              <a:srgbClr val="7070B6"/>
            </a:solidFill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94D60F-BE38-32A7-1998-6E34C0B33AAF}"/>
              </a:ext>
            </a:extLst>
          </p:cNvPr>
          <p:cNvGrpSpPr/>
          <p:nvPr/>
        </p:nvGrpSpPr>
        <p:grpSpPr>
          <a:xfrm>
            <a:off x="4815404" y="1204764"/>
            <a:ext cx="1874928" cy="423153"/>
            <a:chOff x="952134" y="2258330"/>
            <a:chExt cx="1874928" cy="423153"/>
          </a:xfrm>
          <a:solidFill>
            <a:schemeClr val="bg2">
              <a:lumMod val="50000"/>
              <a:lumOff val="50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038E0A-9761-ED76-C06E-4B422060569D}"/>
                </a:ext>
              </a:extLst>
            </p:cNvPr>
            <p:cNvSpPr/>
            <p:nvPr/>
          </p:nvSpPr>
          <p:spPr>
            <a:xfrm>
              <a:off x="952134" y="2258330"/>
              <a:ext cx="1874928" cy="423153"/>
            </a:xfrm>
            <a:prstGeom prst="rect">
              <a:avLst/>
            </a:prstGeom>
            <a:solidFill>
              <a:srgbClr val="7070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 dirty="0" err="1"/>
                <a:t>Arbeitsagentur</a:t>
              </a:r>
              <a:r>
                <a:rPr lang="en-US" sz="1200" dirty="0"/>
                <a:t> API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8683658-7B7D-E2FA-2884-2BB1D4D01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978" y="2316101"/>
              <a:ext cx="326543" cy="326543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DAD735C-B0DA-29ED-E0A2-BB3349113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774" y="2197998"/>
            <a:ext cx="473331" cy="4231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75FE95-BAF0-A9D6-6B45-66C96C193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551" y="2196807"/>
            <a:ext cx="393496" cy="452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FE3175-F463-94CE-CA1E-BE0D05AEF8A7}"/>
              </a:ext>
            </a:extLst>
          </p:cNvPr>
          <p:cNvSpPr txBox="1"/>
          <p:nvPr/>
        </p:nvSpPr>
        <p:spPr>
          <a:xfrm>
            <a:off x="5736693" y="1705046"/>
            <a:ext cx="1580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 data (JSON)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B4A7ED-8757-C2A4-E831-6D9E0C039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856" y="3887170"/>
            <a:ext cx="641289" cy="50977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EC3883-02A3-A22D-CE99-062FB4D55EB5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5752868" y="1627917"/>
            <a:ext cx="3" cy="5688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EDD32C-F3A1-0FB3-B4B7-01C165EF3DDF}"/>
              </a:ext>
            </a:extLst>
          </p:cNvPr>
          <p:cNvSpPr txBox="1"/>
          <p:nvPr/>
        </p:nvSpPr>
        <p:spPr>
          <a:xfrm>
            <a:off x="3458054" y="2172064"/>
            <a:ext cx="1856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raw + processed JSON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0A672-B642-B7CA-083E-98DA4DF35F31}"/>
              </a:ext>
            </a:extLst>
          </p:cNvPr>
          <p:cNvSpPr txBox="1"/>
          <p:nvPr/>
        </p:nvSpPr>
        <p:spPr>
          <a:xfrm>
            <a:off x="8497701" y="1967165"/>
            <a:ext cx="1113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 data</a:t>
            </a:r>
          </a:p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(for indexing)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9B5DA7-5330-DC05-99E2-8150A407628C}"/>
              </a:ext>
            </a:extLst>
          </p:cNvPr>
          <p:cNvSpPr txBox="1"/>
          <p:nvPr/>
        </p:nvSpPr>
        <p:spPr>
          <a:xfrm>
            <a:off x="2640986" y="2632402"/>
            <a:ext cx="1077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C7CBC"/>
                </a:solidFill>
              </a:rPr>
              <a:t>Data Archive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2B91AC8-CA4A-20D8-319B-3642FB4E5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943" y="4428664"/>
            <a:ext cx="701850" cy="1295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600F97-C680-EE6A-8328-9080B37209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304" y="3870895"/>
            <a:ext cx="690489" cy="5097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09E823-DAC1-25D9-9701-1547FE823F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334" y="4441219"/>
            <a:ext cx="268468" cy="2994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5F587E-CCF4-97FB-4626-306AF515BF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375" y="3571824"/>
            <a:ext cx="300157" cy="3077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8B4C6C-86BC-D327-DECE-8D49ACD1AB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5544" y="4026627"/>
            <a:ext cx="305821" cy="26341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F5A159-D617-5D8C-DE14-44697516D80F}"/>
              </a:ext>
            </a:extLst>
          </p:cNvPr>
          <p:cNvCxnSpPr>
            <a:cxnSpLocks/>
            <a:stCxn id="14" idx="1"/>
            <a:endCxn id="22" idx="3"/>
          </p:cNvCxnSpPr>
          <p:nvPr/>
        </p:nvCxnSpPr>
        <p:spPr>
          <a:xfrm flipH="1" flipV="1">
            <a:off x="4108532" y="3725713"/>
            <a:ext cx="571324" cy="416345"/>
          </a:xfrm>
          <a:prstGeom prst="straightConnector1">
            <a:avLst/>
          </a:prstGeom>
          <a:ln>
            <a:solidFill>
              <a:srgbClr val="B7B7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5ACF84-C8A3-DB34-2B72-B93C43E44086}"/>
              </a:ext>
            </a:extLst>
          </p:cNvPr>
          <p:cNvCxnSpPr>
            <a:cxnSpLocks/>
            <a:stCxn id="14" idx="1"/>
            <a:endCxn id="23" idx="3"/>
          </p:cNvCxnSpPr>
          <p:nvPr/>
        </p:nvCxnSpPr>
        <p:spPr>
          <a:xfrm flipH="1">
            <a:off x="4111365" y="4142058"/>
            <a:ext cx="568491" cy="16275"/>
          </a:xfrm>
          <a:prstGeom prst="straightConnector1">
            <a:avLst/>
          </a:prstGeom>
          <a:ln>
            <a:solidFill>
              <a:srgbClr val="B7B7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6207DB-00B8-9C9D-DF40-29759B9C4302}"/>
              </a:ext>
            </a:extLst>
          </p:cNvPr>
          <p:cNvCxnSpPr>
            <a:cxnSpLocks/>
            <a:stCxn id="14" idx="1"/>
            <a:endCxn id="21" idx="3"/>
          </p:cNvCxnSpPr>
          <p:nvPr/>
        </p:nvCxnSpPr>
        <p:spPr>
          <a:xfrm flipH="1">
            <a:off x="4078802" y="4142058"/>
            <a:ext cx="601054" cy="448895"/>
          </a:xfrm>
          <a:prstGeom prst="straightConnector1">
            <a:avLst/>
          </a:prstGeom>
          <a:ln>
            <a:solidFill>
              <a:srgbClr val="B7B7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832F66-49DC-7F49-3E6A-A11429B256B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6182083" y="2408384"/>
            <a:ext cx="1850691" cy="11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F76474-E982-8C5B-CF0E-C869ABEC2AD9}"/>
              </a:ext>
            </a:extLst>
          </p:cNvPr>
          <p:cNvSpPr txBox="1"/>
          <p:nvPr/>
        </p:nvSpPr>
        <p:spPr>
          <a:xfrm>
            <a:off x="5397915" y="3682037"/>
            <a:ext cx="1267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(ordered) jobs</a:t>
            </a:r>
          </a:p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statistics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5A65197-3EB0-1DCA-E3DB-A748483012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65073" y="3859538"/>
            <a:ext cx="437687" cy="597589"/>
          </a:xfrm>
          <a:prstGeom prst="rect">
            <a:avLst/>
          </a:prstGeom>
        </p:spPr>
      </p:pic>
      <p:sp>
        <p:nvSpPr>
          <p:cNvPr id="30" name="Left Brace 29">
            <a:extLst>
              <a:ext uri="{FF2B5EF4-FFF2-40B4-BE49-F238E27FC236}">
                <a16:creationId xmlns:a16="http://schemas.microsoft.com/office/drawing/2014/main" id="{49A5D369-124C-9B4A-338B-6BBAC7E06EC0}"/>
              </a:ext>
            </a:extLst>
          </p:cNvPr>
          <p:cNvSpPr/>
          <p:nvPr/>
        </p:nvSpPr>
        <p:spPr>
          <a:xfrm>
            <a:off x="3402760" y="3566930"/>
            <a:ext cx="307907" cy="1173757"/>
          </a:xfrm>
          <a:prstGeom prst="leftBrace">
            <a:avLst>
              <a:gd name="adj1" fmla="val 33555"/>
              <a:gd name="adj2" fmla="val 50000"/>
            </a:avLst>
          </a:prstGeom>
          <a:ln>
            <a:solidFill>
              <a:srgbClr val="B7B7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D12CF8-38A1-6621-C62E-13FA80FBAF4B}"/>
              </a:ext>
            </a:extLst>
          </p:cNvPr>
          <p:cNvCxnSpPr>
            <a:cxnSpLocks/>
            <a:stCxn id="6" idx="1"/>
            <a:endCxn id="12" idx="3"/>
          </p:cNvCxnSpPr>
          <p:nvPr/>
        </p:nvCxnSpPr>
        <p:spPr>
          <a:xfrm flipH="1">
            <a:off x="3394047" y="2408384"/>
            <a:ext cx="1929612" cy="147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8ACD1B-6DAE-CC26-66C3-25FA2D23FBA3}"/>
              </a:ext>
            </a:extLst>
          </p:cNvPr>
          <p:cNvGrpSpPr/>
          <p:nvPr/>
        </p:nvGrpSpPr>
        <p:grpSpPr>
          <a:xfrm>
            <a:off x="2640985" y="1068172"/>
            <a:ext cx="5119895" cy="1883507"/>
            <a:chOff x="756202" y="620303"/>
            <a:chExt cx="5119895" cy="188350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F8BE9C2-2498-E050-3254-2D1417F7248C}"/>
                </a:ext>
              </a:extLst>
            </p:cNvPr>
            <p:cNvSpPr/>
            <p:nvPr/>
          </p:nvSpPr>
          <p:spPr>
            <a:xfrm>
              <a:off x="756204" y="620303"/>
              <a:ext cx="5119893" cy="1883507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E0E6794-C931-527F-2553-738A27D6DCA5}"/>
                </a:ext>
              </a:extLst>
            </p:cNvPr>
            <p:cNvSpPr txBox="1"/>
            <p:nvPr/>
          </p:nvSpPr>
          <p:spPr>
            <a:xfrm>
              <a:off x="756202" y="620303"/>
              <a:ext cx="1164556" cy="369332"/>
            </a:xfrm>
            <a:prstGeom prst="rect">
              <a:avLst/>
            </a:prstGeom>
            <a:solidFill>
              <a:srgbClr val="3F3F7B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Ingestion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CE94973-E73A-383B-76DA-574000F5A1B7}"/>
              </a:ext>
            </a:extLst>
          </p:cNvPr>
          <p:cNvGrpSpPr/>
          <p:nvPr/>
        </p:nvGrpSpPr>
        <p:grpSpPr>
          <a:xfrm>
            <a:off x="2640986" y="3188851"/>
            <a:ext cx="5119894" cy="1782826"/>
            <a:chOff x="756203" y="2740982"/>
            <a:chExt cx="5119894" cy="178282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D7BBEE-1634-9014-050F-BA9B9D1A721E}"/>
                </a:ext>
              </a:extLst>
            </p:cNvPr>
            <p:cNvSpPr/>
            <p:nvPr/>
          </p:nvSpPr>
          <p:spPr>
            <a:xfrm>
              <a:off x="756203" y="2740982"/>
              <a:ext cx="5119894" cy="1782826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817A735-3F40-26E3-3E2E-E9DE04FF08D6}"/>
                </a:ext>
              </a:extLst>
            </p:cNvPr>
            <p:cNvSpPr txBox="1"/>
            <p:nvPr/>
          </p:nvSpPr>
          <p:spPr>
            <a:xfrm>
              <a:off x="766079" y="2754037"/>
              <a:ext cx="1154682" cy="369332"/>
            </a:xfrm>
            <a:prstGeom prst="rect">
              <a:avLst/>
            </a:prstGeom>
            <a:solidFill>
              <a:srgbClr val="3F3F7B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Runtime</a:t>
              </a:r>
            </a:p>
          </p:txBody>
        </p:sp>
      </p:grpSp>
      <p:pic>
        <p:nvPicPr>
          <p:cNvPr id="38" name="Picture 37" descr="File:PostgreSQL logo.3colors.540x557.png">
            <a:extLst>
              <a:ext uri="{FF2B5EF4-FFF2-40B4-BE49-F238E27FC236}">
                <a16:creationId xmlns:a16="http://schemas.microsoft.com/office/drawing/2014/main" id="{0C7B3255-0660-B4E1-00C0-214F5CE1BB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8429" y="1880667"/>
            <a:ext cx="274086" cy="28271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93C3A9-C56C-CA4F-D53D-B3A3B30AE8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1852" y="4413221"/>
            <a:ext cx="857296" cy="15739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31F0373-C78B-D40A-1BCA-5712E39291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77507" y="1883432"/>
            <a:ext cx="253705" cy="27995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3BC5D8E-77DE-97C0-D54B-8E81463DE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218" y="2196807"/>
            <a:ext cx="473331" cy="423153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FDF1F5-F43B-DA67-5E1A-0DC6CB9FE79F}"/>
              </a:ext>
            </a:extLst>
          </p:cNvPr>
          <p:cNvCxnSpPr>
            <a:cxnSpLocks/>
            <a:stCxn id="11" idx="3"/>
            <a:endCxn id="41" idx="1"/>
          </p:cNvCxnSpPr>
          <p:nvPr/>
        </p:nvCxnSpPr>
        <p:spPr>
          <a:xfrm flipV="1">
            <a:off x="8506105" y="2408384"/>
            <a:ext cx="1121113" cy="11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96F86A03-3F6C-6202-7778-20191502AF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2525" y="1887027"/>
            <a:ext cx="282715" cy="282715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086AFD7-3686-A9BB-11B7-FD579428C3F0}"/>
              </a:ext>
            </a:extLst>
          </p:cNvPr>
          <p:cNvCxnSpPr>
            <a:cxnSpLocks/>
            <a:stCxn id="20" idx="1"/>
            <a:endCxn id="14" idx="3"/>
          </p:cNvCxnSpPr>
          <p:nvPr/>
        </p:nvCxnSpPr>
        <p:spPr>
          <a:xfrm flipH="1">
            <a:off x="5321145" y="4125783"/>
            <a:ext cx="1305159" cy="16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AFFCDF8-D7F1-AA19-E50C-12B0C2D7B8A2}"/>
              </a:ext>
            </a:extLst>
          </p:cNvPr>
          <p:cNvSpPr/>
          <p:nvPr/>
        </p:nvSpPr>
        <p:spPr>
          <a:xfrm>
            <a:off x="7160301" y="3870894"/>
            <a:ext cx="156492" cy="287438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C61DD4-7F35-AE81-04DC-26FDA4B34FB5}"/>
              </a:ext>
            </a:extLst>
          </p:cNvPr>
          <p:cNvSpPr/>
          <p:nvPr/>
        </p:nvSpPr>
        <p:spPr>
          <a:xfrm>
            <a:off x="7160301" y="4125783"/>
            <a:ext cx="156492" cy="318880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C78B519-7F7C-AD47-4D6C-8A1DD8C58597}"/>
              </a:ext>
            </a:extLst>
          </p:cNvPr>
          <p:cNvCxnSpPr>
            <a:cxnSpLocks/>
            <a:stCxn id="11" idx="2"/>
            <a:endCxn id="45" idx="3"/>
          </p:cNvCxnSpPr>
          <p:nvPr/>
        </p:nvCxnSpPr>
        <p:spPr>
          <a:xfrm rot="5400000">
            <a:off x="7096386" y="2841559"/>
            <a:ext cx="1393462" cy="952647"/>
          </a:xfrm>
          <a:prstGeom prst="bentConnector2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6B9485B6-4A98-5B5A-A3CF-0855DD34C593}"/>
              </a:ext>
            </a:extLst>
          </p:cNvPr>
          <p:cNvCxnSpPr>
            <a:cxnSpLocks/>
            <a:stCxn id="41" idx="2"/>
            <a:endCxn id="46" idx="3"/>
          </p:cNvCxnSpPr>
          <p:nvPr/>
        </p:nvCxnSpPr>
        <p:spPr>
          <a:xfrm rot="5400000">
            <a:off x="7757708" y="2179046"/>
            <a:ext cx="1665263" cy="2547091"/>
          </a:xfrm>
          <a:prstGeom prst="bentConnector2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2DF3015-8F4E-F585-CCB2-A94D4DA3F7AB}"/>
              </a:ext>
            </a:extLst>
          </p:cNvPr>
          <p:cNvSpPr txBox="1"/>
          <p:nvPr/>
        </p:nvSpPr>
        <p:spPr>
          <a:xfrm>
            <a:off x="6330185" y="2141808"/>
            <a:ext cx="144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structured job data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7F18C8-A521-D776-8829-E01C332F0838}"/>
              </a:ext>
            </a:extLst>
          </p:cNvPr>
          <p:cNvSpPr txBox="1"/>
          <p:nvPr/>
        </p:nvSpPr>
        <p:spPr>
          <a:xfrm rot="16200000">
            <a:off x="7440859" y="3178191"/>
            <a:ext cx="1393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jobs / statistics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B10B55-38FB-CA56-567D-B70B043BC90E}"/>
              </a:ext>
            </a:extLst>
          </p:cNvPr>
          <p:cNvSpPr txBox="1"/>
          <p:nvPr/>
        </p:nvSpPr>
        <p:spPr>
          <a:xfrm rot="16200000">
            <a:off x="8811499" y="3216660"/>
            <a:ext cx="167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ranked reference numbers</a:t>
            </a:r>
          </a:p>
        </p:txBody>
      </p:sp>
    </p:spTree>
    <p:extLst>
      <p:ext uri="{BB962C8B-B14F-4D97-AF65-F5344CB8AC3E}">
        <p14:creationId xmlns:p14="http://schemas.microsoft.com/office/powerpoint/2010/main" val="115913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7AAACF-7663-DB06-9F6E-E2349418C228}"/>
              </a:ext>
            </a:extLst>
          </p:cNvPr>
          <p:cNvSpPr/>
          <p:nvPr/>
        </p:nvSpPr>
        <p:spPr>
          <a:xfrm>
            <a:off x="2132992" y="1843265"/>
            <a:ext cx="7664173" cy="19828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F7743D-E0FF-A13E-57DC-4B4B810F4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242758"/>
              </p:ext>
            </p:extLst>
          </p:nvPr>
        </p:nvGraphicFramePr>
        <p:xfrm>
          <a:off x="2194173" y="1935628"/>
          <a:ext cx="7523035" cy="1797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607">
                  <a:extLst>
                    <a:ext uri="{9D8B030D-6E8A-4147-A177-3AD203B41FA5}">
                      <a16:colId xmlns:a16="http://schemas.microsoft.com/office/drawing/2014/main" val="42408300"/>
                    </a:ext>
                  </a:extLst>
                </a:gridCol>
                <a:gridCol w="1504607">
                  <a:extLst>
                    <a:ext uri="{9D8B030D-6E8A-4147-A177-3AD203B41FA5}">
                      <a16:colId xmlns:a16="http://schemas.microsoft.com/office/drawing/2014/main" val="4207326481"/>
                    </a:ext>
                  </a:extLst>
                </a:gridCol>
                <a:gridCol w="1504607">
                  <a:extLst>
                    <a:ext uri="{9D8B030D-6E8A-4147-A177-3AD203B41FA5}">
                      <a16:colId xmlns:a16="http://schemas.microsoft.com/office/drawing/2014/main" val="4011442136"/>
                    </a:ext>
                  </a:extLst>
                </a:gridCol>
                <a:gridCol w="1504607">
                  <a:extLst>
                    <a:ext uri="{9D8B030D-6E8A-4147-A177-3AD203B41FA5}">
                      <a16:colId xmlns:a16="http://schemas.microsoft.com/office/drawing/2014/main" val="1579474570"/>
                    </a:ext>
                  </a:extLst>
                </a:gridCol>
                <a:gridCol w="1504607">
                  <a:extLst>
                    <a:ext uri="{9D8B030D-6E8A-4147-A177-3AD203B41FA5}">
                      <a16:colId xmlns:a16="http://schemas.microsoft.com/office/drawing/2014/main" val="2907646003"/>
                    </a:ext>
                  </a:extLst>
                </a:gridCol>
              </a:tblGrid>
              <a:tr h="599237">
                <a:tc>
                  <a:txBody>
                    <a:bodyPr/>
                    <a:lstStyle/>
                    <a:p>
                      <a:r>
                        <a:rPr lang="en-US" dirty="0"/>
                        <a:t>Frontend</a:t>
                      </a:r>
                    </a:p>
                  </a:txBody>
                  <a:tcPr anchor="ctr">
                    <a:solidFill>
                      <a:srgbClr val="765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</a:p>
                  </a:txBody>
                  <a:tcPr anchor="ctr">
                    <a:solidFill>
                      <a:srgbClr val="765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</a:t>
                      </a:r>
                    </a:p>
                  </a:txBody>
                  <a:tcPr anchor="ctr">
                    <a:solidFill>
                      <a:srgbClr val="765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Workflow</a:t>
                      </a:r>
                    </a:p>
                  </a:txBody>
                  <a:tcPr anchor="ctr">
                    <a:solidFill>
                      <a:srgbClr val="765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Monitoring</a:t>
                      </a:r>
                    </a:p>
                  </a:txBody>
                  <a:tcPr anchor="ctr">
                    <a:solidFill>
                      <a:srgbClr val="76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655577"/>
                  </a:ext>
                </a:extLst>
              </a:tr>
              <a:tr h="5992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314828"/>
                  </a:ext>
                </a:extLst>
              </a:tr>
              <a:tr h="599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84873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7C4A118-2096-5CC6-4A56-87B1B60F6A77}"/>
              </a:ext>
            </a:extLst>
          </p:cNvPr>
          <p:cNvSpPr/>
          <p:nvPr/>
        </p:nvSpPr>
        <p:spPr>
          <a:xfrm>
            <a:off x="2312774" y="2666065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5707D1-E266-1BAB-3156-57C06BA98263}"/>
              </a:ext>
            </a:extLst>
          </p:cNvPr>
          <p:cNvSpPr/>
          <p:nvPr/>
        </p:nvSpPr>
        <p:spPr>
          <a:xfrm>
            <a:off x="3815697" y="2666065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C342BF-BBF6-CC31-31EA-F9246B450F44}"/>
              </a:ext>
            </a:extLst>
          </p:cNvPr>
          <p:cNvSpPr/>
          <p:nvPr/>
        </p:nvSpPr>
        <p:spPr>
          <a:xfrm>
            <a:off x="5327041" y="2666065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7ED4A-CC17-DF26-2066-7F449C0C38B3}"/>
              </a:ext>
            </a:extLst>
          </p:cNvPr>
          <p:cNvSpPr/>
          <p:nvPr/>
        </p:nvSpPr>
        <p:spPr>
          <a:xfrm>
            <a:off x="6829964" y="2666065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A1F386-15C3-D10E-EE6B-D4CB57F32C65}"/>
              </a:ext>
            </a:extLst>
          </p:cNvPr>
          <p:cNvSpPr/>
          <p:nvPr/>
        </p:nvSpPr>
        <p:spPr>
          <a:xfrm>
            <a:off x="8332887" y="2666065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D130B2-7DCD-8A7C-BCD2-5990D3C8C581}"/>
              </a:ext>
            </a:extLst>
          </p:cNvPr>
          <p:cNvSpPr/>
          <p:nvPr/>
        </p:nvSpPr>
        <p:spPr>
          <a:xfrm>
            <a:off x="2312774" y="3263629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077B8D-2053-1573-5D9A-FF8BC65E79EA}"/>
              </a:ext>
            </a:extLst>
          </p:cNvPr>
          <p:cNvSpPr/>
          <p:nvPr/>
        </p:nvSpPr>
        <p:spPr>
          <a:xfrm>
            <a:off x="3815697" y="3263629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3AAFB4-3151-2652-1285-25D16BBF5146}"/>
              </a:ext>
            </a:extLst>
          </p:cNvPr>
          <p:cNvSpPr/>
          <p:nvPr/>
        </p:nvSpPr>
        <p:spPr>
          <a:xfrm>
            <a:off x="5327041" y="3263629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F2BA57-8DA2-4184-41CA-158E9665D112}"/>
              </a:ext>
            </a:extLst>
          </p:cNvPr>
          <p:cNvSpPr/>
          <p:nvPr/>
        </p:nvSpPr>
        <p:spPr>
          <a:xfrm>
            <a:off x="6829964" y="3263629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45F189-FFE8-7828-7D48-25A95BEF9B55}"/>
              </a:ext>
            </a:extLst>
          </p:cNvPr>
          <p:cNvSpPr/>
          <p:nvPr/>
        </p:nvSpPr>
        <p:spPr>
          <a:xfrm>
            <a:off x="8332887" y="3263629"/>
            <a:ext cx="1265724" cy="333722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FA35B26-E825-2109-C8E4-A19F8F08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461" y="2765906"/>
            <a:ext cx="773924" cy="142814"/>
          </a:xfrm>
          <a:prstGeom prst="rect">
            <a:avLst/>
          </a:prstGeom>
        </p:spPr>
      </p:pic>
      <p:pic>
        <p:nvPicPr>
          <p:cNvPr id="31" name="Picture 30" descr="File:PostgreSQL logo.3colors.540x557.png">
            <a:extLst>
              <a:ext uri="{FF2B5EF4-FFF2-40B4-BE49-F238E27FC236}">
                <a16:creationId xmlns:a16="http://schemas.microsoft.com/office/drawing/2014/main" id="{539A5637-65E8-89ED-B50A-15EC088D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260" y="2700642"/>
            <a:ext cx="245547" cy="25327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DCF8F43-D677-295F-75F4-3274BBD37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644" y="2694367"/>
            <a:ext cx="736364" cy="2857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43BC357-4D38-00FB-CB3D-C2D03B076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178" y="2729373"/>
            <a:ext cx="1175839" cy="21587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2B4F3CA-D424-62A0-A460-43599C86D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602" y="2695837"/>
            <a:ext cx="266387" cy="26638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74C91E1-E1C9-C3F7-0FD2-D5D28163A9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024" y="3313965"/>
            <a:ext cx="973070" cy="23756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79358A5-9E19-B2BD-C5B5-9FC1E7A20B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3603" y="3293214"/>
            <a:ext cx="744115" cy="28028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5E0FD4D-A7D2-79E4-2100-6E2E0D3DD36B}"/>
              </a:ext>
            </a:extLst>
          </p:cNvPr>
          <p:cNvSpPr txBox="1"/>
          <p:nvPr/>
        </p:nvSpPr>
        <p:spPr>
          <a:xfrm>
            <a:off x="8651282" y="2690530"/>
            <a:ext cx="1006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F552E"/>
                </a:solidFill>
              </a:rPr>
              <a:t>Prometheus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E37B5C-D782-E019-E1A4-4705699AF3E0}"/>
              </a:ext>
            </a:extLst>
          </p:cNvPr>
          <p:cNvSpPr txBox="1"/>
          <p:nvPr/>
        </p:nvSpPr>
        <p:spPr>
          <a:xfrm>
            <a:off x="5620184" y="2691484"/>
            <a:ext cx="1129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85858"/>
                </a:solidFill>
              </a:rPr>
              <a:t>Postgre</a:t>
            </a:r>
            <a:r>
              <a:rPr lang="en-US" sz="1200" dirty="0">
                <a:solidFill>
                  <a:srgbClr val="336791"/>
                </a:solidFill>
              </a:rPr>
              <a:t>SQL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F75B497C-43DC-93FA-177C-C5A3BA5E9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9260" y="3307089"/>
            <a:ext cx="1098275" cy="24108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45DFE97-B4FB-F4B4-B3DF-04781181C1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9101" y="3316665"/>
            <a:ext cx="973070" cy="23756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001BA02-9EDB-70A2-E236-1375B328C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7943" y="3306240"/>
            <a:ext cx="973070" cy="23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81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0812A0-EA83-17EB-0706-B05417129CDF}"/>
              </a:ext>
            </a:extLst>
          </p:cNvPr>
          <p:cNvSpPr/>
          <p:nvPr/>
        </p:nvSpPr>
        <p:spPr>
          <a:xfrm>
            <a:off x="2119520" y="1792091"/>
            <a:ext cx="7638220" cy="2465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47C3A-CCFA-C38B-803C-6428BEEDB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32" y="2120376"/>
            <a:ext cx="456800" cy="4567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7F6D44-91C8-185F-A9A2-4BC3752F6697}"/>
              </a:ext>
            </a:extLst>
          </p:cNvPr>
          <p:cNvSpPr/>
          <p:nvPr/>
        </p:nvSpPr>
        <p:spPr>
          <a:xfrm>
            <a:off x="2179154" y="2195195"/>
            <a:ext cx="1208593" cy="304800"/>
          </a:xfrm>
          <a:prstGeom prst="rect">
            <a:avLst/>
          </a:prstGeom>
          <a:solidFill>
            <a:srgbClr val="D9D9D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Analyst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FDC9B7-F732-3AFF-D813-3D071C7B1906}"/>
              </a:ext>
            </a:extLst>
          </p:cNvPr>
          <p:cNvSpPr/>
          <p:nvPr/>
        </p:nvSpPr>
        <p:spPr>
          <a:xfrm>
            <a:off x="4540431" y="2190339"/>
            <a:ext cx="733162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47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Job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45698D-5ADA-B900-F076-7BD543546145}"/>
              </a:ext>
            </a:extLst>
          </p:cNvPr>
          <p:cNvSpPr/>
          <p:nvPr/>
        </p:nvSpPr>
        <p:spPr>
          <a:xfrm>
            <a:off x="4540431" y="2746631"/>
            <a:ext cx="733162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47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Job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5D045B-5A43-1D8D-C99D-7BF532CF555C}"/>
              </a:ext>
            </a:extLst>
          </p:cNvPr>
          <p:cNvSpPr/>
          <p:nvPr/>
        </p:nvSpPr>
        <p:spPr>
          <a:xfrm>
            <a:off x="4521381" y="3302923"/>
            <a:ext cx="733162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47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758ACE-96BD-2606-AA8B-131CE7F4BD06}"/>
              </a:ext>
            </a:extLst>
          </p:cNvPr>
          <p:cNvSpPr/>
          <p:nvPr/>
        </p:nvSpPr>
        <p:spPr>
          <a:xfrm>
            <a:off x="6814739" y="2184104"/>
            <a:ext cx="1144897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47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Job 1 details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A2069-6A7B-DC37-9437-4A535F64ED36}"/>
              </a:ext>
            </a:extLst>
          </p:cNvPr>
          <p:cNvSpPr/>
          <p:nvPr/>
        </p:nvSpPr>
        <p:spPr>
          <a:xfrm>
            <a:off x="2179153" y="2552029"/>
            <a:ext cx="1208593" cy="304800"/>
          </a:xfrm>
          <a:prstGeom prst="rect">
            <a:avLst/>
          </a:prstGeom>
          <a:solidFill>
            <a:srgbClr val="D9D9D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Engineer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91EAE8E-0663-32B7-331E-29B23DDCEAE0}"/>
              </a:ext>
            </a:extLst>
          </p:cNvPr>
          <p:cNvSpPr/>
          <p:nvPr/>
        </p:nvSpPr>
        <p:spPr>
          <a:xfrm rot="16200000">
            <a:off x="2695478" y="2371238"/>
            <a:ext cx="175942" cy="1208594"/>
          </a:xfrm>
          <a:prstGeom prst="leftBrace">
            <a:avLst>
              <a:gd name="adj1" fmla="val 33555"/>
              <a:gd name="adj2" fmla="val 50000"/>
            </a:avLst>
          </a:prstGeom>
          <a:ln>
            <a:solidFill>
              <a:srgbClr val="B7B7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CF348-B6BD-0018-78C2-6B3A2622448C}"/>
              </a:ext>
            </a:extLst>
          </p:cNvPr>
          <p:cNvSpPr txBox="1"/>
          <p:nvPr/>
        </p:nvSpPr>
        <p:spPr>
          <a:xfrm>
            <a:off x="2179150" y="3016812"/>
            <a:ext cx="1208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keywords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ADF74B-681F-BD82-EC1F-2C4C8B7D3587}"/>
              </a:ext>
            </a:extLst>
          </p:cNvPr>
          <p:cNvSpPr/>
          <p:nvPr/>
        </p:nvSpPr>
        <p:spPr>
          <a:xfrm>
            <a:off x="4521381" y="3859215"/>
            <a:ext cx="733162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47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Job 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54A5C2-0AC9-2140-5142-5C94BD70FF0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313132" y="2342739"/>
            <a:ext cx="227299" cy="6036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66ADCA-CE5C-2748-724B-A893BD5E6E82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5273593" y="2342739"/>
            <a:ext cx="880725" cy="0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D076F2-4552-17CE-208C-16920290D976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 flipV="1">
            <a:off x="6599046" y="2336504"/>
            <a:ext cx="215693" cy="6235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4A896D3-ABDD-A6F7-867B-F40F1A550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318" y="2120376"/>
            <a:ext cx="444728" cy="44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C34FED8-4C4E-DE8D-28AA-F099D014C98B}"/>
              </a:ext>
            </a:extLst>
          </p:cNvPr>
          <p:cNvSpPr txBox="1"/>
          <p:nvPr/>
        </p:nvSpPr>
        <p:spPr>
          <a:xfrm>
            <a:off x="5299066" y="2070710"/>
            <a:ext cx="810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ref. no. 1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6DDB8A8-30FA-E0DB-B285-BD4D55E80211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4151653" y="2510252"/>
            <a:ext cx="321857" cy="455699"/>
          </a:xfrm>
          <a:prstGeom prst="bentConnector2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B4015CE-57B5-BCA5-482D-565A3A19061A}"/>
              </a:ext>
            </a:extLst>
          </p:cNvPr>
          <p:cNvCxnSpPr>
            <a:cxnSpLocks/>
            <a:stCxn id="5" idx="2"/>
            <a:endCxn id="14" idx="1"/>
          </p:cNvCxnSpPr>
          <p:nvPr/>
        </p:nvCxnSpPr>
        <p:spPr>
          <a:xfrm rot="16200000" flipH="1">
            <a:off x="3585836" y="3076069"/>
            <a:ext cx="1434441" cy="436649"/>
          </a:xfrm>
          <a:prstGeom prst="bentConnector2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9392C1A-29FC-9AFC-7E0F-83B755064A11}"/>
              </a:ext>
            </a:extLst>
          </p:cNvPr>
          <p:cNvSpPr/>
          <p:nvPr/>
        </p:nvSpPr>
        <p:spPr>
          <a:xfrm>
            <a:off x="6814739" y="2744303"/>
            <a:ext cx="1144897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47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Job 2 details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FC6308-BCFC-5033-F2A0-7C4033C4936C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 flipV="1">
            <a:off x="5273593" y="2899030"/>
            <a:ext cx="880725" cy="1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56542B-87A6-09EC-86F6-31891D08DBD0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6599046" y="2896703"/>
            <a:ext cx="215693" cy="2327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9017C786-47D3-BC9A-EFEC-4F53091FD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318" y="2676667"/>
            <a:ext cx="444728" cy="444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74761CF-59D9-091F-E1E2-2D0FAED031F7}"/>
              </a:ext>
            </a:extLst>
          </p:cNvPr>
          <p:cNvSpPr txBox="1"/>
          <p:nvPr/>
        </p:nvSpPr>
        <p:spPr>
          <a:xfrm>
            <a:off x="5299066" y="2614768"/>
            <a:ext cx="810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ref. no.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6BB8C1-3336-C84F-1D77-0217957FF3E3}"/>
              </a:ext>
            </a:extLst>
          </p:cNvPr>
          <p:cNvSpPr/>
          <p:nvPr/>
        </p:nvSpPr>
        <p:spPr>
          <a:xfrm>
            <a:off x="6795689" y="3854728"/>
            <a:ext cx="1144897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473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Job 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details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961B528-B3B0-5E33-E65E-680E7950650F}"/>
              </a:ext>
            </a:extLst>
          </p:cNvPr>
          <p:cNvCxnSpPr>
            <a:cxnSpLocks/>
            <a:stCxn id="14" idx="3"/>
            <a:endCxn id="30" idx="1"/>
          </p:cNvCxnSpPr>
          <p:nvPr/>
        </p:nvCxnSpPr>
        <p:spPr>
          <a:xfrm flipV="1">
            <a:off x="5254543" y="4009455"/>
            <a:ext cx="880725" cy="2160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1F0A5F-8EA3-6694-0A17-C3F440E3329F}"/>
              </a:ext>
            </a:extLst>
          </p:cNvPr>
          <p:cNvCxnSpPr>
            <a:cxnSpLocks/>
            <a:stCxn id="30" idx="3"/>
            <a:endCxn id="27" idx="1"/>
          </p:cNvCxnSpPr>
          <p:nvPr/>
        </p:nvCxnSpPr>
        <p:spPr>
          <a:xfrm flipV="1">
            <a:off x="6579996" y="4007128"/>
            <a:ext cx="215693" cy="2327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6EFA6CA-C6C2-BD0D-2C19-B2CF7D224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268" y="3787092"/>
            <a:ext cx="444728" cy="444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1E6CF1C-9FAA-B8A4-2382-E496DD1C3E4D}"/>
              </a:ext>
            </a:extLst>
          </p:cNvPr>
          <p:cNvSpPr txBox="1"/>
          <p:nvPr/>
        </p:nvSpPr>
        <p:spPr>
          <a:xfrm>
            <a:off x="5272470" y="3725192"/>
            <a:ext cx="833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ref. no. </a:t>
            </a:r>
            <a:r>
              <a:rPr lang="en-US" sz="1200" i="1" dirty="0"/>
              <a:t>n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22E71DA-76A3-0C17-0C98-611D2E970493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16200000" flipH="1">
            <a:off x="3863982" y="2797923"/>
            <a:ext cx="878149" cy="436649"/>
          </a:xfrm>
          <a:prstGeom prst="bentConnector2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66403BE-9EAC-FE40-DD28-BB82E9BD3C21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>
            <a:off x="3387745" y="1996665"/>
            <a:ext cx="468587" cy="352110"/>
          </a:xfrm>
          <a:prstGeom prst="bentConnector3">
            <a:avLst>
              <a:gd name="adj1" fmla="val 50000"/>
            </a:avLst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023BC9C-7AF7-73C1-2A3D-FAC4E695923C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 flipV="1">
            <a:off x="3387746" y="2348775"/>
            <a:ext cx="468586" cy="355654"/>
          </a:xfrm>
          <a:prstGeom prst="bentConnector3">
            <a:avLst>
              <a:gd name="adj1" fmla="val 50000"/>
            </a:avLst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01BB871-8FFC-71C8-6871-F701F1A58FE7}"/>
              </a:ext>
            </a:extLst>
          </p:cNvPr>
          <p:cNvSpPr/>
          <p:nvPr/>
        </p:nvSpPr>
        <p:spPr>
          <a:xfrm>
            <a:off x="8249320" y="2190471"/>
            <a:ext cx="1450082" cy="196905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chemeClr val="accent6">
                  <a:lumMod val="95000"/>
                </a:schemeClr>
              </a:buClr>
            </a:pPr>
            <a:r>
              <a:rPr lang="en-US" sz="1200" b="1" dirty="0">
                <a:solidFill>
                  <a:srgbClr val="FAFAFA"/>
                </a:solidFill>
              </a:rPr>
              <a:t>Job Details: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title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occupation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employer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description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…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publication date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modification date</a:t>
            </a:r>
          </a:p>
          <a:p>
            <a:pPr marL="171450" indent="-171450">
              <a:buClr>
                <a:srgbClr val="E3E2DC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AFAFA"/>
                </a:solidFill>
              </a:rPr>
              <a:t>location(s)</a:t>
            </a:r>
            <a:endParaRPr lang="en-US" sz="1200" b="1" dirty="0">
              <a:solidFill>
                <a:srgbClr val="FAFAFA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957619-4063-5BDE-A62F-6C7A67B163E7}"/>
              </a:ext>
            </a:extLst>
          </p:cNvPr>
          <p:cNvSpPr/>
          <p:nvPr/>
        </p:nvSpPr>
        <p:spPr>
          <a:xfrm>
            <a:off x="2179152" y="1844265"/>
            <a:ext cx="1208593" cy="304800"/>
          </a:xfrm>
          <a:prstGeom prst="rect">
            <a:avLst/>
          </a:prstGeom>
          <a:solidFill>
            <a:srgbClr val="D9D9D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Engineer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AFBFC6B-70E7-ADF1-8C18-A1C98141B6D1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387747" y="2347595"/>
            <a:ext cx="468585" cy="1180"/>
          </a:xfrm>
          <a:prstGeom prst="straightConnector1">
            <a:avLst/>
          </a:prstGeom>
          <a:ln w="12700">
            <a:solidFill>
              <a:srgbClr val="7657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3205F7-CB0C-4C5A-6349-7F86021437A8}"/>
              </a:ext>
            </a:extLst>
          </p:cNvPr>
          <p:cNvSpPr txBox="1"/>
          <p:nvPr/>
        </p:nvSpPr>
        <p:spPr>
          <a:xfrm>
            <a:off x="3636036" y="1819756"/>
            <a:ext cx="1062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GET /jobs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E10115-0D0F-1012-7468-0A7B653D4F06}"/>
              </a:ext>
            </a:extLst>
          </p:cNvPr>
          <p:cNvSpPr txBox="1"/>
          <p:nvPr/>
        </p:nvSpPr>
        <p:spPr>
          <a:xfrm>
            <a:off x="5869469" y="1808290"/>
            <a:ext cx="23289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GET /job{</a:t>
            </a:r>
            <a:r>
              <a:rPr lang="en-US" sz="1000" b="1" dirty="0" err="1"/>
              <a:t>reference_number</a:t>
            </a:r>
            <a:r>
              <a:rPr lang="en-US" sz="1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933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D60656-6ADB-7E9E-F83D-B63B219D6CD5}"/>
              </a:ext>
            </a:extLst>
          </p:cNvPr>
          <p:cNvSpPr/>
          <p:nvPr/>
        </p:nvSpPr>
        <p:spPr>
          <a:xfrm>
            <a:off x="2270972" y="1371600"/>
            <a:ext cx="7659282" cy="35780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BD323B-10B6-1910-6626-EFC175E43041}"/>
              </a:ext>
            </a:extLst>
          </p:cNvPr>
          <p:cNvSpPr/>
          <p:nvPr/>
        </p:nvSpPr>
        <p:spPr>
          <a:xfrm>
            <a:off x="2522931" y="3853761"/>
            <a:ext cx="7353124" cy="1037904"/>
          </a:xfrm>
          <a:prstGeom prst="rect">
            <a:avLst/>
          </a:prstGeom>
          <a:solidFill>
            <a:srgbClr val="00B050">
              <a:alpha val="6000"/>
            </a:srgb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62057-3DD5-976D-CA3A-1614AD8A50A9}"/>
              </a:ext>
            </a:extLst>
          </p:cNvPr>
          <p:cNvSpPr/>
          <p:nvPr/>
        </p:nvSpPr>
        <p:spPr>
          <a:xfrm>
            <a:off x="2522931" y="2644465"/>
            <a:ext cx="7353124" cy="1037904"/>
          </a:xfrm>
          <a:prstGeom prst="rect">
            <a:avLst/>
          </a:prstGeom>
          <a:solidFill>
            <a:srgbClr val="FFFF00">
              <a:alpha val="6000"/>
            </a:srgb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FCDF8D-1634-43A8-EF69-942312E690A7}"/>
              </a:ext>
            </a:extLst>
          </p:cNvPr>
          <p:cNvSpPr/>
          <p:nvPr/>
        </p:nvSpPr>
        <p:spPr>
          <a:xfrm>
            <a:off x="2522933" y="1434379"/>
            <a:ext cx="7354956" cy="1037904"/>
          </a:xfrm>
          <a:prstGeom prst="rect">
            <a:avLst/>
          </a:prstGeom>
          <a:solidFill>
            <a:schemeClr val="tx2">
              <a:lumMod val="75000"/>
              <a:alpha val="6000"/>
            </a:schemeClr>
          </a:solidFill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E8910D-E827-3495-35F1-800874248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44" y="4196391"/>
            <a:ext cx="473331" cy="423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CCD5E8-790D-98B3-9790-6CBA48BE2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675" y="1733988"/>
            <a:ext cx="393496" cy="45274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C777D9-1D7E-DFD9-1ED1-F3B2E4E4BC24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3181246" y="1957036"/>
            <a:ext cx="266930" cy="1819"/>
          </a:xfrm>
          <a:prstGeom prst="straightConnector1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A5F0DC5-1564-6F3B-C67F-254C64E142E4}"/>
              </a:ext>
            </a:extLst>
          </p:cNvPr>
          <p:cNvCxnSpPr>
            <a:cxnSpLocks/>
            <a:stCxn id="9" idx="2"/>
            <a:endCxn id="26" idx="3"/>
          </p:cNvCxnSpPr>
          <p:nvPr/>
        </p:nvCxnSpPr>
        <p:spPr>
          <a:xfrm rot="5400000">
            <a:off x="6923905" y="2462315"/>
            <a:ext cx="1009104" cy="457932"/>
          </a:xfrm>
          <a:prstGeom prst="bentConnector2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8C6321C-A5AF-8684-8D45-FF1CF003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797" y="2971367"/>
            <a:ext cx="393496" cy="452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0000C4-B029-360C-9ACB-D0674CFCF0D1}"/>
              </a:ext>
            </a:extLst>
          </p:cNvPr>
          <p:cNvSpPr txBox="1"/>
          <p:nvPr/>
        </p:nvSpPr>
        <p:spPr>
          <a:xfrm rot="16200000">
            <a:off x="1946788" y="1804403"/>
            <a:ext cx="1046249" cy="307777"/>
          </a:xfrm>
          <a:prstGeom prst="rect">
            <a:avLst/>
          </a:prstGeom>
          <a:solidFill>
            <a:srgbClr val="3F3F7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Extract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BAACE4-9F25-8B90-A3E5-560355F16ED2}"/>
              </a:ext>
            </a:extLst>
          </p:cNvPr>
          <p:cNvSpPr txBox="1"/>
          <p:nvPr/>
        </p:nvSpPr>
        <p:spPr>
          <a:xfrm rot="16200000">
            <a:off x="1953701" y="3013700"/>
            <a:ext cx="1046249" cy="307777"/>
          </a:xfrm>
          <a:prstGeom prst="rect">
            <a:avLst/>
          </a:prstGeom>
          <a:solidFill>
            <a:srgbClr val="3F3F7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Transform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99859B-1D87-D362-07D1-B62B60623578}"/>
              </a:ext>
            </a:extLst>
          </p:cNvPr>
          <p:cNvSpPr txBox="1"/>
          <p:nvPr/>
        </p:nvSpPr>
        <p:spPr>
          <a:xfrm rot="16200000">
            <a:off x="1948546" y="4221235"/>
            <a:ext cx="1042731" cy="307777"/>
          </a:xfrm>
          <a:prstGeom prst="rect">
            <a:avLst/>
          </a:prstGeom>
          <a:solidFill>
            <a:srgbClr val="3F3F7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Load</a:t>
            </a:r>
          </a:p>
        </p:txBody>
      </p:sp>
      <p:pic>
        <p:nvPicPr>
          <p:cNvPr id="16" name="Picture 15" descr="File:PostgreSQL logo.3colors.540x557.png">
            <a:extLst>
              <a:ext uri="{FF2B5EF4-FFF2-40B4-BE49-F238E27FC236}">
                <a16:creationId xmlns:a16="http://schemas.microsoft.com/office/drawing/2014/main" id="{77172736-4960-A07F-0B60-DC68592A1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289" y="3925270"/>
            <a:ext cx="231040" cy="238314"/>
          </a:xfrm>
          <a:prstGeom prst="rect">
            <a:avLst/>
          </a:prstGeom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84AE476-2077-4F83-7D69-3A266D695915}"/>
              </a:ext>
            </a:extLst>
          </p:cNvPr>
          <p:cNvCxnSpPr>
            <a:cxnSpLocks/>
            <a:stCxn id="12" idx="2"/>
            <a:endCxn id="29" idx="1"/>
          </p:cNvCxnSpPr>
          <p:nvPr/>
        </p:nvCxnSpPr>
        <p:spPr>
          <a:xfrm rot="16200000" flipH="1">
            <a:off x="3417748" y="3026905"/>
            <a:ext cx="983860" cy="1778266"/>
          </a:xfrm>
          <a:prstGeom prst="bentConnector2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3B8420CC-0E81-9914-9A0E-EE66FD84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797" y="1780130"/>
            <a:ext cx="357449" cy="35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B21FD3D-AF5E-09E7-6EEE-AFB18744C9C0}"/>
              </a:ext>
            </a:extLst>
          </p:cNvPr>
          <p:cNvSpPr/>
          <p:nvPr/>
        </p:nvSpPr>
        <p:spPr>
          <a:xfrm>
            <a:off x="3448176" y="1580066"/>
            <a:ext cx="1074401" cy="753940"/>
          </a:xfrm>
          <a:prstGeom prst="roundRect">
            <a:avLst/>
          </a:prstGeom>
          <a:solidFill>
            <a:srgbClr val="7151FD"/>
          </a:solidFill>
          <a:ln w="12700">
            <a:solidFill>
              <a:schemeClr val="bg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Search pages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13A0B9-94D0-411E-1DA4-0E3E2FECC7DB}"/>
              </a:ext>
            </a:extLst>
          </p:cNvPr>
          <p:cNvSpPr/>
          <p:nvPr/>
        </p:nvSpPr>
        <p:spPr>
          <a:xfrm>
            <a:off x="4789507" y="1571933"/>
            <a:ext cx="1074401" cy="770206"/>
          </a:xfrm>
          <a:prstGeom prst="roundRect">
            <a:avLst/>
          </a:prstGeom>
          <a:solidFill>
            <a:srgbClr val="7151FD"/>
          </a:solidFill>
          <a:ln w="12700">
            <a:solidFill>
              <a:schemeClr val="bg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Deduplicate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0FA0ED-43F0-6D19-F4D8-F69E07B7DF6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522577" y="1957036"/>
            <a:ext cx="266930" cy="0"/>
          </a:xfrm>
          <a:prstGeom prst="straightConnector1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77DC099-88FC-7EDB-66CD-393CACB84736}"/>
              </a:ext>
            </a:extLst>
          </p:cNvPr>
          <p:cNvSpPr/>
          <p:nvPr/>
        </p:nvSpPr>
        <p:spPr>
          <a:xfrm>
            <a:off x="6125091" y="1571933"/>
            <a:ext cx="1074401" cy="770206"/>
          </a:xfrm>
          <a:prstGeom prst="roundRect">
            <a:avLst/>
          </a:prstGeom>
          <a:solidFill>
            <a:srgbClr val="7151FD"/>
          </a:solidFill>
          <a:ln w="12700">
            <a:solidFill>
              <a:schemeClr val="bg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Retrieve details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F14E59-B045-3891-0AB7-9388234CD495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5863908" y="1957036"/>
            <a:ext cx="261183" cy="0"/>
          </a:xfrm>
          <a:prstGeom prst="straightConnector1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11B7B7-86E3-5519-2E21-8BCE4BBDBAE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>
            <a:off x="7199492" y="1957036"/>
            <a:ext cx="261183" cy="33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FE2FA59-5009-A815-DFBD-DAE244391CD7}"/>
              </a:ext>
            </a:extLst>
          </p:cNvPr>
          <p:cNvSpPr/>
          <p:nvPr/>
        </p:nvSpPr>
        <p:spPr>
          <a:xfrm>
            <a:off x="3449752" y="2824983"/>
            <a:ext cx="1074401" cy="741700"/>
          </a:xfrm>
          <a:prstGeom prst="roundRect">
            <a:avLst/>
          </a:prstGeom>
          <a:solidFill>
            <a:srgbClr val="7151FD"/>
          </a:solidFill>
          <a:ln w="12700">
            <a:solidFill>
              <a:schemeClr val="bg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Geocode missing coordinates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2F38319-20E7-D2BF-958D-4FB142B27AD9}"/>
              </a:ext>
            </a:extLst>
          </p:cNvPr>
          <p:cNvSpPr/>
          <p:nvPr/>
        </p:nvSpPr>
        <p:spPr>
          <a:xfrm>
            <a:off x="6125090" y="2824983"/>
            <a:ext cx="1074401" cy="741700"/>
          </a:xfrm>
          <a:prstGeom prst="roundRect">
            <a:avLst/>
          </a:prstGeom>
          <a:solidFill>
            <a:srgbClr val="7151FD"/>
          </a:solidFill>
          <a:ln w="12700">
            <a:solidFill>
              <a:schemeClr val="bg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Convert to internal schema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568269-0CAB-B23D-0B88-3AA35009F2F5}"/>
              </a:ext>
            </a:extLst>
          </p:cNvPr>
          <p:cNvCxnSpPr>
            <a:cxnSpLocks/>
            <a:stCxn id="26" idx="1"/>
            <a:endCxn id="35" idx="3"/>
          </p:cNvCxnSpPr>
          <p:nvPr/>
        </p:nvCxnSpPr>
        <p:spPr>
          <a:xfrm flipH="1">
            <a:off x="5861821" y="3195833"/>
            <a:ext cx="263269" cy="1"/>
          </a:xfrm>
          <a:prstGeom prst="straightConnector1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9C9404-E4DE-295A-4DBA-3506D12F8A54}"/>
              </a:ext>
            </a:extLst>
          </p:cNvPr>
          <p:cNvCxnSpPr>
            <a:cxnSpLocks/>
            <a:stCxn id="25" idx="1"/>
            <a:endCxn id="12" idx="3"/>
          </p:cNvCxnSpPr>
          <p:nvPr/>
        </p:nvCxnSpPr>
        <p:spPr>
          <a:xfrm flipH="1">
            <a:off x="3217293" y="3195833"/>
            <a:ext cx="232459" cy="1905"/>
          </a:xfrm>
          <a:prstGeom prst="straightConnector1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D28E725-2887-BF91-8114-BD6F1402C377}"/>
              </a:ext>
            </a:extLst>
          </p:cNvPr>
          <p:cNvSpPr/>
          <p:nvPr/>
        </p:nvSpPr>
        <p:spPr>
          <a:xfrm>
            <a:off x="4798811" y="4037118"/>
            <a:ext cx="1074401" cy="741700"/>
          </a:xfrm>
          <a:prstGeom prst="roundRect">
            <a:avLst/>
          </a:prstGeom>
          <a:solidFill>
            <a:srgbClr val="7151FD"/>
          </a:solidFill>
          <a:ln w="12700">
            <a:solidFill>
              <a:schemeClr val="bg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Create or update DB  records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4B8872-C7A5-0A1F-FDBE-E1339C6A17FC}"/>
              </a:ext>
            </a:extLst>
          </p:cNvPr>
          <p:cNvSpPr/>
          <p:nvPr/>
        </p:nvSpPr>
        <p:spPr>
          <a:xfrm>
            <a:off x="8057780" y="2646423"/>
            <a:ext cx="1818275" cy="10379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data/processed/</a:t>
            </a:r>
            <a:r>
              <a:rPr lang="en-US" sz="8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arbeitsagentur</a:t>
            </a:r>
            <a:endParaRPr lang="en-US" sz="8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└───2026-08-03T11-14-18Z</a:t>
            </a: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│   </a:t>
            </a:r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clean-</a:t>
            </a:r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jobs.json</a:t>
            </a:r>
            <a:endParaRPr lang="en-US" sz="8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7744BD-032A-B81D-D3F0-F0DC459819D6}"/>
              </a:ext>
            </a:extLst>
          </p:cNvPr>
          <p:cNvSpPr/>
          <p:nvPr/>
        </p:nvSpPr>
        <p:spPr>
          <a:xfrm>
            <a:off x="8057780" y="1429655"/>
            <a:ext cx="1818275" cy="10379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data/raw/</a:t>
            </a:r>
            <a:r>
              <a:rPr lang="en-US" sz="8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arbeitsagentur</a:t>
            </a:r>
            <a:endParaRPr lang="en-US" sz="8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└───2026-08-03T11-14-18Z</a:t>
            </a: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│   job-</a:t>
            </a:r>
            <a:r>
              <a:rPr lang="en-US" sz="8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details.json</a:t>
            </a:r>
            <a:endParaRPr lang="en-US" sz="8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│   job-details-</a:t>
            </a:r>
            <a:r>
              <a:rPr lang="en-US" sz="8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f.json</a:t>
            </a:r>
            <a:endParaRPr lang="en-US" sz="8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└───search-results</a:t>
            </a: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    └───data-engineer</a:t>
            </a: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            page-001.json</a:t>
            </a:r>
          </a:p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               page-002.json</a:t>
            </a:r>
            <a:endParaRPr lang="en-US" sz="8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2A61AA-16E4-F748-63EA-F29A5E379658}"/>
              </a:ext>
            </a:extLst>
          </p:cNvPr>
          <p:cNvCxnSpPr>
            <a:cxnSpLocks/>
            <a:stCxn id="29" idx="3"/>
            <a:endCxn id="8" idx="1"/>
          </p:cNvCxnSpPr>
          <p:nvPr/>
        </p:nvCxnSpPr>
        <p:spPr>
          <a:xfrm>
            <a:off x="5873212" y="4407968"/>
            <a:ext cx="1516932" cy="0"/>
          </a:xfrm>
          <a:prstGeom prst="straightConnector1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EBB9B7ED-00E4-C902-3307-5F8BCBC8A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3241" y="1461867"/>
            <a:ext cx="207645" cy="2291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5646E14-AFC0-4525-148B-95A0AD7CD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9071" y="2693690"/>
            <a:ext cx="207645" cy="229125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8223DFA-F1D6-8F0D-9527-EE3D4FA0F0F8}"/>
              </a:ext>
            </a:extLst>
          </p:cNvPr>
          <p:cNvSpPr/>
          <p:nvPr/>
        </p:nvSpPr>
        <p:spPr>
          <a:xfrm>
            <a:off x="4787420" y="2824984"/>
            <a:ext cx="1074401" cy="741700"/>
          </a:xfrm>
          <a:prstGeom prst="roundRect">
            <a:avLst/>
          </a:prstGeom>
          <a:solidFill>
            <a:srgbClr val="7151FD"/>
          </a:solidFill>
          <a:ln w="12700">
            <a:solidFill>
              <a:schemeClr val="bg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Filter for Germany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6FE5AED-5E07-F0D8-D494-3EF5069CB498}"/>
              </a:ext>
            </a:extLst>
          </p:cNvPr>
          <p:cNvCxnSpPr>
            <a:cxnSpLocks/>
            <a:stCxn id="35" idx="1"/>
            <a:endCxn id="25" idx="3"/>
          </p:cNvCxnSpPr>
          <p:nvPr/>
        </p:nvCxnSpPr>
        <p:spPr>
          <a:xfrm flipH="1" flipV="1">
            <a:off x="4524153" y="3195833"/>
            <a:ext cx="263267" cy="1"/>
          </a:xfrm>
          <a:prstGeom prst="straightConnector1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32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229BC97-E46E-9754-6BCD-59289A021CD5}"/>
              </a:ext>
            </a:extLst>
          </p:cNvPr>
          <p:cNvSpPr/>
          <p:nvPr/>
        </p:nvSpPr>
        <p:spPr>
          <a:xfrm>
            <a:off x="2831123" y="1162561"/>
            <a:ext cx="6280717" cy="40471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FA1094-2A80-7E6F-E38E-4579871171FB}"/>
              </a:ext>
            </a:extLst>
          </p:cNvPr>
          <p:cNvSpPr/>
          <p:nvPr/>
        </p:nvSpPr>
        <p:spPr>
          <a:xfrm>
            <a:off x="5638800" y="1565652"/>
            <a:ext cx="2154994" cy="1158664"/>
          </a:xfrm>
          <a:prstGeom prst="rect">
            <a:avLst/>
          </a:prstGeom>
          <a:solidFill>
            <a:srgbClr val="F2F2F2"/>
          </a:solidFill>
          <a:ln w="12700">
            <a:solidFill>
              <a:srgbClr val="5D5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Engineer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Senior Data Platform Engineer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Backend Engineer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Machine Learning Engineer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Cloud Data Specialist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 Developer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...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03294B-334A-2C0E-2F21-D28E76A29195}"/>
              </a:ext>
            </a:extLst>
          </p:cNvPr>
          <p:cNvSpPr/>
          <p:nvPr/>
        </p:nvSpPr>
        <p:spPr>
          <a:xfrm>
            <a:off x="5638799" y="3264122"/>
            <a:ext cx="2154994" cy="1158664"/>
          </a:xfrm>
          <a:prstGeom prst="rect">
            <a:avLst/>
          </a:prstGeom>
          <a:solidFill>
            <a:srgbClr val="F2F2F2"/>
          </a:solidFill>
          <a:ln w="12700">
            <a:solidFill>
              <a:srgbClr val="5D5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/ Machine Learning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Engineering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Analysis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Cloud / DevOps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Backend Development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Other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2A445C-6A01-1E77-3A25-271F1B80922E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6716296" y="2724316"/>
            <a:ext cx="1" cy="539806"/>
          </a:xfrm>
          <a:prstGeom prst="straightConnector1">
            <a:avLst/>
          </a:prstGeom>
          <a:ln w="15875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9780E06-45A9-2C8B-A181-5DF0226AF596}"/>
              </a:ext>
            </a:extLst>
          </p:cNvPr>
          <p:cNvSpPr txBox="1"/>
          <p:nvPr/>
        </p:nvSpPr>
        <p:spPr>
          <a:xfrm>
            <a:off x="7793794" y="1832663"/>
            <a:ext cx="1318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Raw titles are too 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heterogeneous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for consistent analysis and </a:t>
            </a:r>
            <a:r>
              <a:rPr 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visualisation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E04BF7-5309-BF4C-0B43-FB0CE6B90DC2}"/>
              </a:ext>
            </a:extLst>
          </p:cNvPr>
          <p:cNvSpPr txBox="1"/>
          <p:nvPr/>
        </p:nvSpPr>
        <p:spPr>
          <a:xfrm>
            <a:off x="7793794" y="3412567"/>
            <a:ext cx="13180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Broad standardized categories derived from 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title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occupation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with “Other” as fallback.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6B65A0-DBD8-B800-0A87-DB15772C3339}"/>
              </a:ext>
            </a:extLst>
          </p:cNvPr>
          <p:cNvSpPr txBox="1"/>
          <p:nvPr/>
        </p:nvSpPr>
        <p:spPr>
          <a:xfrm>
            <a:off x="6716297" y="2834134"/>
            <a:ext cx="2011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rule-based classification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B1D79B-E989-EBB4-63FD-42A25D89928E}"/>
              </a:ext>
            </a:extLst>
          </p:cNvPr>
          <p:cNvSpPr txBox="1"/>
          <p:nvPr/>
        </p:nvSpPr>
        <p:spPr>
          <a:xfrm>
            <a:off x="5638800" y="4613496"/>
            <a:ext cx="26030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/>
              <a:t>Priority example:</a:t>
            </a:r>
          </a:p>
          <a:p>
            <a:r>
              <a:rPr lang="en-US" sz="1000" i="1" dirty="0"/>
              <a:t>“Backend Developer for Machine Learning” → “AI / Machine Learning”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2073E8-ADCC-529C-5BE5-A550B8564E8F}"/>
              </a:ext>
            </a:extLst>
          </p:cNvPr>
          <p:cNvCxnSpPr>
            <a:cxnSpLocks/>
          </p:cNvCxnSpPr>
          <p:nvPr/>
        </p:nvCxnSpPr>
        <p:spPr>
          <a:xfrm>
            <a:off x="5470046" y="1162561"/>
            <a:ext cx="2" cy="4047198"/>
          </a:xfrm>
          <a:prstGeom prst="line">
            <a:avLst/>
          </a:prstGeom>
          <a:ln w="28575">
            <a:solidFill>
              <a:srgbClr val="E3E2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809E82B-E3D5-D532-76EC-A6D67B0AE571}"/>
              </a:ext>
            </a:extLst>
          </p:cNvPr>
          <p:cNvSpPr txBox="1"/>
          <p:nvPr/>
        </p:nvSpPr>
        <p:spPr>
          <a:xfrm>
            <a:off x="5638800" y="1162561"/>
            <a:ext cx="347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Job Classification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86E99C-6086-A80F-2D1E-260E64E63A59}"/>
              </a:ext>
            </a:extLst>
          </p:cNvPr>
          <p:cNvSpPr txBox="1"/>
          <p:nvPr/>
        </p:nvSpPr>
        <p:spPr>
          <a:xfrm>
            <a:off x="2933305" y="1162561"/>
            <a:ext cx="2536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Location Enrichment</a:t>
            </a:r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80DCBA-9F9D-58FC-3529-41E751AEF1C7}"/>
              </a:ext>
            </a:extLst>
          </p:cNvPr>
          <p:cNvSpPr/>
          <p:nvPr/>
        </p:nvSpPr>
        <p:spPr>
          <a:xfrm>
            <a:off x="2933304" y="1565652"/>
            <a:ext cx="2154994" cy="1162152"/>
          </a:xfrm>
          <a:prstGeom prst="rect">
            <a:avLst/>
          </a:prstGeom>
          <a:solidFill>
            <a:srgbClr val="F2F2F2"/>
          </a:solidFill>
          <a:ln w="12700">
            <a:solidFill>
              <a:srgbClr val="5D5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Missing coordinates</a:t>
            </a:r>
            <a:b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city + postal code + country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4CB239-77C8-B234-4227-8D0C5A158652}"/>
              </a:ext>
            </a:extLst>
          </p:cNvPr>
          <p:cNvSpPr/>
          <p:nvPr/>
        </p:nvSpPr>
        <p:spPr>
          <a:xfrm>
            <a:off x="2933304" y="3264121"/>
            <a:ext cx="2154994" cy="1158665"/>
          </a:xfrm>
          <a:prstGeom prst="rect">
            <a:avLst/>
          </a:prstGeom>
          <a:solidFill>
            <a:srgbClr val="F2F2F2"/>
          </a:solidFill>
          <a:ln w="12700">
            <a:solidFill>
              <a:srgbClr val="5D5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latitude + longitude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73B358-A927-473B-E209-077D71E93DB9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4010801" y="2727804"/>
            <a:ext cx="0" cy="536317"/>
          </a:xfrm>
          <a:prstGeom prst="straightConnector1">
            <a:avLst/>
          </a:prstGeom>
          <a:ln w="15875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E2E0275-0B91-232B-DECA-424558A24EF1}"/>
              </a:ext>
            </a:extLst>
          </p:cNvPr>
          <p:cNvSpPr txBox="1"/>
          <p:nvPr/>
        </p:nvSpPr>
        <p:spPr>
          <a:xfrm>
            <a:off x="4010801" y="2850760"/>
            <a:ext cx="1459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Nominatim</a:t>
            </a:r>
            <a:r>
              <a:rPr lang="en-US" sz="1000" dirty="0"/>
              <a:t> via </a:t>
            </a:r>
            <a:r>
              <a:rPr lang="en-US" sz="1000" dirty="0" err="1"/>
              <a:t>geopy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34A48F-17C4-3339-1B21-F05090EF2CF3}"/>
              </a:ext>
            </a:extLst>
          </p:cNvPr>
          <p:cNvSpPr txBox="1"/>
          <p:nvPr/>
        </p:nvSpPr>
        <p:spPr>
          <a:xfrm>
            <a:off x="2831123" y="4603191"/>
            <a:ext cx="27052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existing source coordinates are kept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missing coordinates are geocoded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00" dirty="0"/>
              <a:t>failed geocoding requests are monitored</a:t>
            </a:r>
          </a:p>
        </p:txBody>
      </p:sp>
    </p:spTree>
    <p:extLst>
      <p:ext uri="{BB962C8B-B14F-4D97-AF65-F5344CB8AC3E}">
        <p14:creationId xmlns:p14="http://schemas.microsoft.com/office/powerpoint/2010/main" val="340420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135EFF-60FC-0CB4-73FD-822F561E27FF}"/>
              </a:ext>
            </a:extLst>
          </p:cNvPr>
          <p:cNvSpPr/>
          <p:nvPr/>
        </p:nvSpPr>
        <p:spPr>
          <a:xfrm>
            <a:off x="2475886" y="1601926"/>
            <a:ext cx="7817927" cy="322490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CDEE1C-2166-7E19-7C5D-71112C74A711}"/>
              </a:ext>
            </a:extLst>
          </p:cNvPr>
          <p:cNvSpPr/>
          <p:nvPr/>
        </p:nvSpPr>
        <p:spPr>
          <a:xfrm>
            <a:off x="3186584" y="3096336"/>
            <a:ext cx="1898302" cy="1051589"/>
          </a:xfrm>
          <a:prstGeom prst="roundRect">
            <a:avLst>
              <a:gd name="adj" fmla="val 35334"/>
            </a:avLst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first_publication_date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← JSON</a:t>
            </a: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modified_at</a:t>
            </a: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← JSON</a:t>
            </a: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publication_date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← JSON</a:t>
            </a:r>
          </a:p>
          <a:p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unchanged_republish_count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← 0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B2F86521-0015-6183-2E4A-E0542933CFEB}"/>
              </a:ext>
            </a:extLst>
          </p:cNvPr>
          <p:cNvSpPr/>
          <p:nvPr/>
        </p:nvSpPr>
        <p:spPr>
          <a:xfrm>
            <a:off x="7688420" y="1781200"/>
            <a:ext cx="1622028" cy="983544"/>
          </a:xfrm>
          <a:prstGeom prst="diamond">
            <a:avLst/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Has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publication_ date 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changed?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B631E533-E1AB-0EAF-C3A4-1DEE458B3428}"/>
              </a:ext>
            </a:extLst>
          </p:cNvPr>
          <p:cNvSpPr/>
          <p:nvPr/>
        </p:nvSpPr>
        <p:spPr>
          <a:xfrm>
            <a:off x="5503888" y="1781200"/>
            <a:ext cx="1622028" cy="983544"/>
          </a:xfrm>
          <a:prstGeom prst="diamond">
            <a:avLst/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Has </a:t>
            </a:r>
            <a:r>
              <a:rPr lang="en-US" sz="10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modified_at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changed?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5B2011-A602-DAB5-C3AA-637CC0036818}"/>
              </a:ext>
            </a:extLst>
          </p:cNvPr>
          <p:cNvSpPr/>
          <p:nvPr/>
        </p:nvSpPr>
        <p:spPr>
          <a:xfrm>
            <a:off x="5365751" y="3096337"/>
            <a:ext cx="1898302" cy="1051589"/>
          </a:xfrm>
          <a:prstGeom prst="roundRect">
            <a:avLst>
              <a:gd name="adj" fmla="val 35334"/>
            </a:avLst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modified_at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← JSON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publication_date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← JSON</a:t>
            </a:r>
          </a:p>
          <a:p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unchanged_republish_count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← 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E67B50-75FF-D754-6D9E-0EB4704FD6FD}"/>
              </a:ext>
            </a:extLst>
          </p:cNvPr>
          <p:cNvSpPr/>
          <p:nvPr/>
        </p:nvSpPr>
        <p:spPr>
          <a:xfrm>
            <a:off x="7550283" y="3096336"/>
            <a:ext cx="1898302" cy="1051589"/>
          </a:xfrm>
          <a:prstGeom prst="roundRect">
            <a:avLst>
              <a:gd name="adj" fmla="val 35334"/>
            </a:avLst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publication_date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← JSON</a:t>
            </a:r>
          </a:p>
          <a:p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unchanged_republish_count</a:t>
            </a:r>
            <a:r>
              <a:rPr lang="en-U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++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32FE25A-BD7F-3634-9362-4159F5306087}"/>
              </a:ext>
            </a:extLst>
          </p:cNvPr>
          <p:cNvSpPr/>
          <p:nvPr/>
        </p:nvSpPr>
        <p:spPr>
          <a:xfrm>
            <a:off x="3324721" y="1781200"/>
            <a:ext cx="1622028" cy="983544"/>
          </a:xfrm>
          <a:prstGeom prst="diamond">
            <a:avLst/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Already </a:t>
            </a:r>
            <a:r>
              <a:rPr 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database?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2A329C-70F5-06D5-1086-254D4A95B2F5}"/>
              </a:ext>
            </a:extLst>
          </p:cNvPr>
          <p:cNvSpPr/>
          <p:nvPr/>
        </p:nvSpPr>
        <p:spPr>
          <a:xfrm>
            <a:off x="2707539" y="2167397"/>
            <a:ext cx="211150" cy="211150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9A14CC-5CDA-D279-6D07-4B7EB404CBF5}"/>
              </a:ext>
            </a:extLst>
          </p:cNvPr>
          <p:cNvSpPr txBox="1"/>
          <p:nvPr/>
        </p:nvSpPr>
        <p:spPr>
          <a:xfrm>
            <a:off x="7113660" y="2018467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962045-379C-27F8-0CC3-138C054473A5}"/>
              </a:ext>
            </a:extLst>
          </p:cNvPr>
          <p:cNvSpPr txBox="1"/>
          <p:nvPr/>
        </p:nvSpPr>
        <p:spPr>
          <a:xfrm>
            <a:off x="4133052" y="2758890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EC605309-E9A9-E039-C3FC-32A966AFDD5C}"/>
              </a:ext>
            </a:extLst>
          </p:cNvPr>
          <p:cNvSpPr/>
          <p:nvPr/>
        </p:nvSpPr>
        <p:spPr>
          <a:xfrm>
            <a:off x="3324721" y="1781200"/>
            <a:ext cx="1622028" cy="983544"/>
          </a:xfrm>
          <a:prstGeom prst="diamond">
            <a:avLst/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Already in database?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E1F9C6-F152-E620-8834-0885A85CE94E}"/>
              </a:ext>
            </a:extLst>
          </p:cNvPr>
          <p:cNvCxnSpPr>
            <a:cxnSpLocks/>
            <a:stCxn id="14" idx="2"/>
            <a:endCxn id="5" idx="0"/>
          </p:cNvCxnSpPr>
          <p:nvPr/>
        </p:nvCxnSpPr>
        <p:spPr>
          <a:xfrm>
            <a:off x="4135735" y="2764744"/>
            <a:ext cx="0" cy="3315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5BDC05-C6D9-B21F-E277-B6D9C0568F27}"/>
              </a:ext>
            </a:extLst>
          </p:cNvPr>
          <p:cNvSpPr txBox="1"/>
          <p:nvPr/>
        </p:nvSpPr>
        <p:spPr>
          <a:xfrm>
            <a:off x="4929128" y="2006251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2B173E-39FE-3949-DC9F-C51B2BBCEC3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314902" y="2764744"/>
            <a:ext cx="0" cy="33159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F6CB4D-B336-6EDA-5712-82FB6FC58C78}"/>
              </a:ext>
            </a:extLst>
          </p:cNvPr>
          <p:cNvSpPr txBox="1"/>
          <p:nvPr/>
        </p:nvSpPr>
        <p:spPr>
          <a:xfrm>
            <a:off x="8494066" y="2758889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35029D-8A42-C0FA-CB4D-3F02A7001B68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8499434" y="2764744"/>
            <a:ext cx="0" cy="3315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CCB7E1-4883-9969-F5D1-64A8CAE83FFE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7125916" y="2272972"/>
            <a:ext cx="56250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EC7997-F1B7-5256-CA99-87EDF538DAB8}"/>
              </a:ext>
            </a:extLst>
          </p:cNvPr>
          <p:cNvSpPr txBox="1"/>
          <p:nvPr/>
        </p:nvSpPr>
        <p:spPr>
          <a:xfrm>
            <a:off x="9298192" y="2006250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B79B23-C0CB-5700-62F4-B2876736AC0F}"/>
              </a:ext>
            </a:extLst>
          </p:cNvPr>
          <p:cNvCxnSpPr>
            <a:cxnSpLocks/>
            <a:stCxn id="6" idx="3"/>
            <a:endCxn id="24" idx="2"/>
          </p:cNvCxnSpPr>
          <p:nvPr/>
        </p:nvCxnSpPr>
        <p:spPr>
          <a:xfrm>
            <a:off x="9310448" y="2272972"/>
            <a:ext cx="402944" cy="68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78DF54-7F08-1AC4-9BC0-780DEBAF4B7C}"/>
              </a:ext>
            </a:extLst>
          </p:cNvPr>
          <p:cNvGrpSpPr/>
          <p:nvPr/>
        </p:nvGrpSpPr>
        <p:grpSpPr>
          <a:xfrm>
            <a:off x="9713392" y="2127975"/>
            <a:ext cx="291356" cy="291356"/>
            <a:chOff x="7069437" y="3218381"/>
            <a:chExt cx="367665" cy="36766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A396B87-EC63-7E61-E614-474AE5CFE3B6}"/>
                </a:ext>
              </a:extLst>
            </p:cNvPr>
            <p:cNvSpPr/>
            <p:nvPr/>
          </p:nvSpPr>
          <p:spPr>
            <a:xfrm>
              <a:off x="7069437" y="3218381"/>
              <a:ext cx="367665" cy="36766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FFC1C5-55B3-B031-4667-53D98B61960C}"/>
                </a:ext>
              </a:extLst>
            </p:cNvPr>
            <p:cNvSpPr/>
            <p:nvPr/>
          </p:nvSpPr>
          <p:spPr>
            <a:xfrm>
              <a:off x="7130281" y="3279306"/>
              <a:ext cx="246221" cy="24622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CDD377-AFA4-FA0F-C59E-1908D085F112}"/>
              </a:ext>
            </a:extLst>
          </p:cNvPr>
          <p:cNvCxnSpPr>
            <a:cxnSpLocks/>
            <a:stCxn id="14" idx="3"/>
            <a:endCxn id="7" idx="1"/>
          </p:cNvCxnSpPr>
          <p:nvPr/>
        </p:nvCxnSpPr>
        <p:spPr>
          <a:xfrm>
            <a:off x="4946749" y="2272972"/>
            <a:ext cx="55713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8AA534F-E3EA-A9AF-0278-496E12553F7F}"/>
              </a:ext>
            </a:extLst>
          </p:cNvPr>
          <p:cNvCxnSpPr>
            <a:cxnSpLocks/>
            <a:stCxn id="11" idx="6"/>
            <a:endCxn id="14" idx="1"/>
          </p:cNvCxnSpPr>
          <p:nvPr/>
        </p:nvCxnSpPr>
        <p:spPr>
          <a:xfrm>
            <a:off x="2918689" y="2272972"/>
            <a:ext cx="40603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703216-3482-C0A6-F3F9-057420AA7576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>
            <a:off x="6314902" y="4147926"/>
            <a:ext cx="0" cy="35144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7B0F42F-5C75-9AFB-CEC7-09FEB1F03DD6}"/>
              </a:ext>
            </a:extLst>
          </p:cNvPr>
          <p:cNvSpPr txBox="1"/>
          <p:nvPr/>
        </p:nvSpPr>
        <p:spPr>
          <a:xfrm>
            <a:off x="6305067" y="2758890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C8045A2-89B0-DC6A-5867-36C8688202DE}"/>
              </a:ext>
            </a:extLst>
          </p:cNvPr>
          <p:cNvGrpSpPr/>
          <p:nvPr/>
        </p:nvGrpSpPr>
        <p:grpSpPr>
          <a:xfrm>
            <a:off x="6169224" y="4499366"/>
            <a:ext cx="291356" cy="291356"/>
            <a:chOff x="7069437" y="3218381"/>
            <a:chExt cx="367665" cy="367665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C948A87-199B-82D9-ECE7-02C3E33CDEF4}"/>
                </a:ext>
              </a:extLst>
            </p:cNvPr>
            <p:cNvSpPr/>
            <p:nvPr/>
          </p:nvSpPr>
          <p:spPr>
            <a:xfrm>
              <a:off x="7069437" y="3218381"/>
              <a:ext cx="367665" cy="36766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2088FC5-E320-0FD6-196C-26BF7643A4A8}"/>
                </a:ext>
              </a:extLst>
            </p:cNvPr>
            <p:cNvSpPr/>
            <p:nvPr/>
          </p:nvSpPr>
          <p:spPr>
            <a:xfrm>
              <a:off x="7130281" y="3279306"/>
              <a:ext cx="246221" cy="24622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3B403CB-BBFE-A821-C68B-89C8FA292577}"/>
              </a:ext>
            </a:extLst>
          </p:cNvPr>
          <p:cNvSpPr txBox="1"/>
          <p:nvPr/>
        </p:nvSpPr>
        <p:spPr>
          <a:xfrm rot="16200000">
            <a:off x="1423034" y="2703787"/>
            <a:ext cx="23519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Job returned by </a:t>
            </a:r>
            <a:r>
              <a:rPr lang="en-US" sz="1000" dirty="0" err="1"/>
              <a:t>Arbeitsagentur</a:t>
            </a:r>
            <a:r>
              <a:rPr lang="en-US" sz="1000" dirty="0"/>
              <a:t> search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79EE94F-0A12-B815-55A8-C7C01289AEBE}"/>
              </a:ext>
            </a:extLst>
          </p:cNvPr>
          <p:cNvCxnSpPr>
            <a:cxnSpLocks/>
            <a:stCxn id="9" idx="2"/>
            <a:endCxn id="31" idx="6"/>
          </p:cNvCxnSpPr>
          <p:nvPr/>
        </p:nvCxnSpPr>
        <p:spPr>
          <a:xfrm rot="5400000">
            <a:off x="7231448" y="3377057"/>
            <a:ext cx="497119" cy="2038854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663DD7A-6CCA-FF20-DF30-232592F0C571}"/>
              </a:ext>
            </a:extLst>
          </p:cNvPr>
          <p:cNvCxnSpPr>
            <a:cxnSpLocks/>
            <a:stCxn id="5" idx="2"/>
            <a:endCxn id="31" idx="2"/>
          </p:cNvCxnSpPr>
          <p:nvPr/>
        </p:nvCxnSpPr>
        <p:spPr>
          <a:xfrm rot="16200000" flipH="1">
            <a:off x="4903920" y="3379739"/>
            <a:ext cx="497119" cy="2033489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D3538B-63CD-5026-CCE8-CF3EE8EC12E6}"/>
              </a:ext>
            </a:extLst>
          </p:cNvPr>
          <p:cNvSpPr/>
          <p:nvPr/>
        </p:nvSpPr>
        <p:spPr>
          <a:xfrm>
            <a:off x="1696003" y="1420542"/>
            <a:ext cx="7639701" cy="38861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375953-ADA3-339E-E690-199EA014F402}"/>
              </a:ext>
            </a:extLst>
          </p:cNvPr>
          <p:cNvGrpSpPr/>
          <p:nvPr/>
        </p:nvGrpSpPr>
        <p:grpSpPr>
          <a:xfrm>
            <a:off x="8718384" y="1751995"/>
            <a:ext cx="560704" cy="501260"/>
            <a:chOff x="7034107" y="2235929"/>
            <a:chExt cx="720852" cy="64443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7BC2C7-88E9-A8B0-B67E-AA00045F0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4107" y="2235929"/>
              <a:ext cx="720852" cy="644430"/>
            </a:xfrm>
            <a:prstGeom prst="rect">
              <a:avLst/>
            </a:prstGeom>
          </p:spPr>
        </p:pic>
        <p:pic>
          <p:nvPicPr>
            <p:cNvPr id="7" name="Picture 6" descr="File:PostgreSQL logo.3colors.540x557.png">
              <a:extLst>
                <a:ext uri="{FF2B5EF4-FFF2-40B4-BE49-F238E27FC236}">
                  <a16:creationId xmlns:a16="http://schemas.microsoft.com/office/drawing/2014/main" id="{91007E88-A85E-DB95-F4CD-DE1DBDC35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6004" y="2265292"/>
              <a:ext cx="274086" cy="19343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E2D352E-E1BC-AB74-9CAE-48FECB11B89C}"/>
              </a:ext>
            </a:extLst>
          </p:cNvPr>
          <p:cNvSpPr txBox="1"/>
          <p:nvPr/>
        </p:nvSpPr>
        <p:spPr>
          <a:xfrm rot="16200000">
            <a:off x="4880453" y="2954903"/>
            <a:ext cx="11728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❺ ordered jobs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AFC4FF-2253-AE7F-42DA-7D1F6C3D8222}"/>
              </a:ext>
            </a:extLst>
          </p:cNvPr>
          <p:cNvGrpSpPr/>
          <p:nvPr/>
        </p:nvGrpSpPr>
        <p:grpSpPr>
          <a:xfrm>
            <a:off x="5293355" y="3655455"/>
            <a:ext cx="620030" cy="643963"/>
            <a:chOff x="897968" y="2512603"/>
            <a:chExt cx="620030" cy="6439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6BFA20-DB21-C458-F885-D153E0CBD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7968" y="2512603"/>
              <a:ext cx="620030" cy="49287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88FB0FA-D97B-2906-B562-BE867E8C1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7968" y="3042732"/>
              <a:ext cx="620030" cy="11383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2E6CDF-7496-974F-2D96-5E40882EC742}"/>
              </a:ext>
            </a:extLst>
          </p:cNvPr>
          <p:cNvGrpSpPr/>
          <p:nvPr/>
        </p:nvGrpSpPr>
        <p:grpSpPr>
          <a:xfrm>
            <a:off x="6048773" y="2566406"/>
            <a:ext cx="698519" cy="652343"/>
            <a:chOff x="3149408" y="2499587"/>
            <a:chExt cx="698519" cy="65234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659018-A147-E82A-8824-1FDDF04FE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25706" y="3051190"/>
              <a:ext cx="545920" cy="10074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E7423B3-DD14-1F82-5B7F-F48B55325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49408" y="2499587"/>
              <a:ext cx="698518" cy="5157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5CC018-95BA-0AA1-1EF9-DD1793D3ADBC}"/>
                </a:ext>
              </a:extLst>
            </p:cNvPr>
            <p:cNvSpPr/>
            <p:nvPr/>
          </p:nvSpPr>
          <p:spPr>
            <a:xfrm>
              <a:off x="3695700" y="2499587"/>
              <a:ext cx="128837" cy="13913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754EE1-D740-B5D9-0788-4EB052C523A2}"/>
                </a:ext>
              </a:extLst>
            </p:cNvPr>
            <p:cNvSpPr/>
            <p:nvPr/>
          </p:nvSpPr>
          <p:spPr>
            <a:xfrm>
              <a:off x="3719089" y="2872063"/>
              <a:ext cx="128838" cy="139132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78CAAC7-5672-1245-824B-277215A6C014}"/>
              </a:ext>
            </a:extLst>
          </p:cNvPr>
          <p:cNvCxnSpPr>
            <a:cxnSpLocks/>
            <a:stCxn id="6" idx="0"/>
            <a:endCxn id="14" idx="0"/>
          </p:cNvCxnSpPr>
          <p:nvPr/>
        </p:nvCxnSpPr>
        <p:spPr>
          <a:xfrm rot="16200000" flipH="1" flipV="1">
            <a:off x="7291178" y="858848"/>
            <a:ext cx="814411" cy="2600704"/>
          </a:xfrm>
          <a:prstGeom prst="bentConnector3">
            <a:avLst>
              <a:gd name="adj1" fmla="val -28069"/>
            </a:avLst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B47A403-3E44-4ED1-B255-53620178D7AE}"/>
              </a:ext>
            </a:extLst>
          </p:cNvPr>
          <p:cNvCxnSpPr>
            <a:cxnSpLocks/>
            <a:stCxn id="20" idx="2"/>
            <a:endCxn id="13" idx="2"/>
          </p:cNvCxnSpPr>
          <p:nvPr/>
        </p:nvCxnSpPr>
        <p:spPr>
          <a:xfrm rot="5400000" flipH="1">
            <a:off x="7337361" y="2279420"/>
            <a:ext cx="722046" cy="2600705"/>
          </a:xfrm>
          <a:prstGeom prst="bentConnector3">
            <a:avLst>
              <a:gd name="adj1" fmla="val -31660"/>
            </a:avLst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2E7CC5-0642-6F8B-DB86-9F66D84F1AE6}"/>
              </a:ext>
            </a:extLst>
          </p:cNvPr>
          <p:cNvGrpSpPr/>
          <p:nvPr/>
        </p:nvGrpSpPr>
        <p:grpSpPr>
          <a:xfrm>
            <a:off x="8718384" y="3439535"/>
            <a:ext cx="560704" cy="501260"/>
            <a:chOff x="7180642" y="3871913"/>
            <a:chExt cx="720852" cy="64443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3821BAA-9174-B6E7-6781-4E570BEA2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0642" y="3871913"/>
              <a:ext cx="720852" cy="64443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34FF4EA-FDA1-54ED-D2EE-2E4E185E7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98870" y="3901277"/>
              <a:ext cx="282715" cy="193438"/>
            </a:xfrm>
            <a:prstGeom prst="rect">
              <a:avLst/>
            </a:prstGeom>
          </p:spPr>
        </p:pic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7061227-CDB8-8243-149A-5844BFEE0801}"/>
              </a:ext>
            </a:extLst>
          </p:cNvPr>
          <p:cNvCxnSpPr>
            <a:cxnSpLocks/>
            <a:stCxn id="15" idx="3"/>
            <a:endCxn id="6" idx="2"/>
          </p:cNvCxnSpPr>
          <p:nvPr/>
        </p:nvCxnSpPr>
        <p:spPr>
          <a:xfrm flipV="1">
            <a:off x="6723902" y="2253255"/>
            <a:ext cx="2274834" cy="382717"/>
          </a:xfrm>
          <a:prstGeom prst="bentConnector2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02A0DF8-802E-044E-78DB-A90AD9C989A5}"/>
              </a:ext>
            </a:extLst>
          </p:cNvPr>
          <p:cNvCxnSpPr>
            <a:cxnSpLocks/>
            <a:stCxn id="16" idx="3"/>
            <a:endCxn id="20" idx="0"/>
          </p:cNvCxnSpPr>
          <p:nvPr/>
        </p:nvCxnSpPr>
        <p:spPr>
          <a:xfrm>
            <a:off x="6747292" y="3008448"/>
            <a:ext cx="2251444" cy="431087"/>
          </a:xfrm>
          <a:prstGeom prst="bentConnector2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3ABE512-2D81-7E40-6C13-BD4DDA1D820C}"/>
              </a:ext>
            </a:extLst>
          </p:cNvPr>
          <p:cNvSpPr txBox="1"/>
          <p:nvPr/>
        </p:nvSpPr>
        <p:spPr>
          <a:xfrm>
            <a:off x="6747291" y="3019523"/>
            <a:ext cx="22514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❶ search with a keyword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F2C0F0-723C-84BF-0FF4-FA10E77C6244}"/>
              </a:ext>
            </a:extLst>
          </p:cNvPr>
          <p:cNvSpPr txBox="1"/>
          <p:nvPr/>
        </p:nvSpPr>
        <p:spPr>
          <a:xfrm>
            <a:off x="6398030" y="3933521"/>
            <a:ext cx="2600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❷ ranked reference numbers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1A46F7-A829-2DF6-16E1-705AB9C86247}"/>
              </a:ext>
            </a:extLst>
          </p:cNvPr>
          <p:cNvSpPr txBox="1"/>
          <p:nvPr/>
        </p:nvSpPr>
        <p:spPr>
          <a:xfrm>
            <a:off x="6682872" y="2381903"/>
            <a:ext cx="2315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❸ fetch jobs by reference number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010697-F393-45A0-FB0F-40750A9B59B8}"/>
              </a:ext>
            </a:extLst>
          </p:cNvPr>
          <p:cNvSpPr txBox="1"/>
          <p:nvPr/>
        </p:nvSpPr>
        <p:spPr>
          <a:xfrm>
            <a:off x="6398030" y="1532816"/>
            <a:ext cx="2600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❹ job records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3766FE-AC6A-1E5F-1E04-833F349601A5}"/>
              </a:ext>
            </a:extLst>
          </p:cNvPr>
          <p:cNvSpPr/>
          <p:nvPr/>
        </p:nvSpPr>
        <p:spPr>
          <a:xfrm>
            <a:off x="7058963" y="4229117"/>
            <a:ext cx="1278838" cy="982783"/>
          </a:xfrm>
          <a:prstGeom prst="rect">
            <a:avLst/>
          </a:prstGeom>
          <a:solidFill>
            <a:srgbClr val="F2F2F2"/>
          </a:solidFill>
          <a:ln w="12700">
            <a:solidFill>
              <a:srgbClr val="6261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Search relevance: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Title ×4</a:t>
            </a:r>
            <a:b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Occupation ×3</a:t>
            </a:r>
            <a:b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Company ×2</a:t>
            </a:r>
            <a:b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Category ×2</a:t>
            </a:r>
            <a:b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Description ×1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756CA5-E843-A0AB-039D-01EB5BA96ADE}"/>
              </a:ext>
            </a:extLst>
          </p:cNvPr>
          <p:cNvSpPr txBox="1"/>
          <p:nvPr/>
        </p:nvSpPr>
        <p:spPr>
          <a:xfrm>
            <a:off x="2413999" y="2280699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9F826BC6-49CE-C626-CA54-74DF113B2AEF}"/>
              </a:ext>
            </a:extLst>
          </p:cNvPr>
          <p:cNvSpPr/>
          <p:nvPr/>
        </p:nvSpPr>
        <p:spPr>
          <a:xfrm>
            <a:off x="2717737" y="2012338"/>
            <a:ext cx="1129278" cy="1044510"/>
          </a:xfrm>
          <a:prstGeom prst="diamond">
            <a:avLst/>
          </a:prstGeom>
          <a:solidFill>
            <a:srgbClr val="FFFFC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Keyword provided?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773629-A7F9-9008-D19E-65EDC2D2A919}"/>
              </a:ext>
            </a:extLst>
          </p:cNvPr>
          <p:cNvSpPr txBox="1"/>
          <p:nvPr/>
        </p:nvSpPr>
        <p:spPr>
          <a:xfrm>
            <a:off x="3828014" y="2281321"/>
            <a:ext cx="418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D6CFC9F-7313-1D3B-86F8-433194843CB3}"/>
              </a:ext>
            </a:extLst>
          </p:cNvPr>
          <p:cNvGrpSpPr/>
          <p:nvPr/>
        </p:nvGrpSpPr>
        <p:grpSpPr>
          <a:xfrm>
            <a:off x="1770889" y="3204416"/>
            <a:ext cx="1443854" cy="838350"/>
            <a:chOff x="5661388" y="2978068"/>
            <a:chExt cx="1443854" cy="83835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54BBD75-A0AA-0698-522E-153107610A1A}"/>
                </a:ext>
              </a:extLst>
            </p:cNvPr>
            <p:cNvSpPr/>
            <p:nvPr/>
          </p:nvSpPr>
          <p:spPr>
            <a:xfrm>
              <a:off x="5661388" y="2978068"/>
              <a:ext cx="1443854" cy="838350"/>
            </a:xfrm>
            <a:prstGeom prst="roundRect">
              <a:avLst>
                <a:gd name="adj" fmla="val 24465"/>
              </a:avLst>
            </a:prstGeom>
            <a:solidFill>
              <a:srgbClr val="FFFFC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Apply structured filters. Order by publication date, newest first.</a:t>
              </a:r>
            </a:p>
          </p:txBody>
        </p:sp>
        <p:pic>
          <p:nvPicPr>
            <p:cNvPr id="34" name="Picture 33" descr="File:PostgreSQL logo.3colors.540x557.png">
              <a:extLst>
                <a:ext uri="{FF2B5EF4-FFF2-40B4-BE49-F238E27FC236}">
                  <a16:creationId xmlns:a16="http://schemas.microsoft.com/office/drawing/2014/main" id="{6748CC6D-57A7-B796-5DF1-A3EACCB27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55192" y="3044384"/>
              <a:ext cx="181196" cy="186901"/>
            </a:xfrm>
            <a:prstGeom prst="rect">
              <a:avLst/>
            </a:prstGeom>
          </p:spPr>
        </p:pic>
      </p:grp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E90417B-9B5F-ECF3-6E45-B9AFDAA81592}"/>
              </a:ext>
            </a:extLst>
          </p:cNvPr>
          <p:cNvCxnSpPr>
            <a:cxnSpLocks/>
            <a:stCxn id="30" idx="1"/>
            <a:endCxn id="33" idx="0"/>
          </p:cNvCxnSpPr>
          <p:nvPr/>
        </p:nvCxnSpPr>
        <p:spPr>
          <a:xfrm rot="10800000" flipV="1">
            <a:off x="2492817" y="2534592"/>
            <a:ext cx="224921" cy="669823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697B836-376D-7439-318E-FA3B2EE6462E}"/>
              </a:ext>
            </a:extLst>
          </p:cNvPr>
          <p:cNvCxnSpPr>
            <a:cxnSpLocks/>
            <a:stCxn id="30" idx="3"/>
            <a:endCxn id="38" idx="0"/>
          </p:cNvCxnSpPr>
          <p:nvPr/>
        </p:nvCxnSpPr>
        <p:spPr>
          <a:xfrm>
            <a:off x="3847015" y="2534593"/>
            <a:ext cx="258786" cy="667539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DF1FFD-B3B4-EF7A-123C-4A2388D621CE}"/>
              </a:ext>
            </a:extLst>
          </p:cNvPr>
          <p:cNvGrpSpPr/>
          <p:nvPr/>
        </p:nvGrpSpPr>
        <p:grpSpPr>
          <a:xfrm>
            <a:off x="3383874" y="3202132"/>
            <a:ext cx="1443854" cy="838352"/>
            <a:chOff x="7371477" y="2971818"/>
            <a:chExt cx="1443854" cy="83835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4902DC9-B1A4-6EA4-6124-2DF33A9992B7}"/>
                </a:ext>
              </a:extLst>
            </p:cNvPr>
            <p:cNvSpPr/>
            <p:nvPr/>
          </p:nvSpPr>
          <p:spPr>
            <a:xfrm>
              <a:off x="7371477" y="2971818"/>
              <a:ext cx="1443854" cy="838352"/>
            </a:xfrm>
            <a:prstGeom prst="roundRect">
              <a:avLst>
                <a:gd name="adj" fmla="val 24465"/>
              </a:avLst>
            </a:prstGeom>
            <a:solidFill>
              <a:srgbClr val="FFFFC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Apply full-text search + structured filters.</a:t>
              </a:r>
            </a:p>
            <a:p>
              <a:r>
                <a:rPr 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Rank by relevance.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0FB59C3-073D-29E9-3E52-DB34AD9F6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67898" y="3037630"/>
              <a:ext cx="189689" cy="189689"/>
            </a:xfrm>
            <a:prstGeom prst="rect">
              <a:avLst/>
            </a:prstGeom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4D6639-39AA-3C6B-6509-B59B81C25F94}"/>
              </a:ext>
            </a:extLst>
          </p:cNvPr>
          <p:cNvCxnSpPr>
            <a:cxnSpLocks/>
            <a:stCxn id="49" idx="4"/>
            <a:endCxn id="30" idx="0"/>
          </p:cNvCxnSpPr>
          <p:nvPr/>
        </p:nvCxnSpPr>
        <p:spPr>
          <a:xfrm flipH="1">
            <a:off x="3282376" y="1782455"/>
            <a:ext cx="3515" cy="2298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30D52BB-D9D9-3BA3-2594-A31EBE5A9725}"/>
              </a:ext>
            </a:extLst>
          </p:cNvPr>
          <p:cNvSpPr txBox="1"/>
          <p:nvPr/>
        </p:nvSpPr>
        <p:spPr>
          <a:xfrm>
            <a:off x="3408924" y="1539911"/>
            <a:ext cx="11272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Search triggered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3E331FD-D956-8AE0-84E2-2A37F8B1C0D3}"/>
              </a:ext>
            </a:extLst>
          </p:cNvPr>
          <p:cNvCxnSpPr>
            <a:cxnSpLocks/>
            <a:stCxn id="14" idx="1"/>
            <a:endCxn id="10" idx="0"/>
          </p:cNvCxnSpPr>
          <p:nvPr/>
        </p:nvCxnSpPr>
        <p:spPr>
          <a:xfrm rot="10800000" flipV="1">
            <a:off x="5603371" y="2824255"/>
            <a:ext cx="445403" cy="831199"/>
          </a:xfrm>
          <a:prstGeom prst="bentConnector2">
            <a:avLst/>
          </a:prstGeom>
          <a:ln w="19050">
            <a:solidFill>
              <a:srgbClr val="7151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64638D7-EDF0-14DD-7E4E-7E65E1F107EF}"/>
              </a:ext>
            </a:extLst>
          </p:cNvPr>
          <p:cNvCxnSpPr>
            <a:cxnSpLocks/>
            <a:stCxn id="38" idx="2"/>
            <a:endCxn id="45" idx="0"/>
          </p:cNvCxnSpPr>
          <p:nvPr/>
        </p:nvCxnSpPr>
        <p:spPr>
          <a:xfrm>
            <a:off x="4105801" y="4040484"/>
            <a:ext cx="0" cy="2901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19C2716-8CF4-3E82-BB83-CBA3910BEF73}"/>
              </a:ext>
            </a:extLst>
          </p:cNvPr>
          <p:cNvGrpSpPr/>
          <p:nvPr/>
        </p:nvGrpSpPr>
        <p:grpSpPr>
          <a:xfrm>
            <a:off x="3383874" y="4330587"/>
            <a:ext cx="1443854" cy="838350"/>
            <a:chOff x="5661388" y="2978068"/>
            <a:chExt cx="1443854" cy="83835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157A852-D345-EE0B-A132-356AE31DAA10}"/>
                </a:ext>
              </a:extLst>
            </p:cNvPr>
            <p:cNvSpPr/>
            <p:nvPr/>
          </p:nvSpPr>
          <p:spPr>
            <a:xfrm>
              <a:off x="5661388" y="2978068"/>
              <a:ext cx="1443854" cy="838350"/>
            </a:xfrm>
            <a:prstGeom prst="roundRect">
              <a:avLst>
                <a:gd name="adj" fmla="val 24465"/>
              </a:avLst>
            </a:prstGeom>
            <a:solidFill>
              <a:srgbClr val="FFFFC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Retrieve job records in ranked order.</a:t>
              </a:r>
            </a:p>
          </p:txBody>
        </p:sp>
        <p:pic>
          <p:nvPicPr>
            <p:cNvPr id="46" name="Picture 45" descr="File:PostgreSQL logo.3colors.540x557.png">
              <a:extLst>
                <a:ext uri="{FF2B5EF4-FFF2-40B4-BE49-F238E27FC236}">
                  <a16:creationId xmlns:a16="http://schemas.microsoft.com/office/drawing/2014/main" id="{B970F369-36ED-5348-5300-BE3A81995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55193" y="3044385"/>
              <a:ext cx="174948" cy="180456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040D745B-15EF-88E8-9247-86FE33140181}"/>
              </a:ext>
            </a:extLst>
          </p:cNvPr>
          <p:cNvSpPr/>
          <p:nvPr/>
        </p:nvSpPr>
        <p:spPr>
          <a:xfrm>
            <a:off x="7083625" y="3291601"/>
            <a:ext cx="1514356" cy="295869"/>
          </a:xfrm>
          <a:prstGeom prst="rect">
            <a:avLst/>
          </a:prstGeom>
          <a:solidFill>
            <a:srgbClr val="F2F2F2"/>
          </a:solidFill>
          <a:ln w="12700">
            <a:solidFill>
              <a:srgbClr val="6261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"Python Kubernetes"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0FB9E43-6D44-FCF0-00A6-214FB14F6957}"/>
              </a:ext>
            </a:extLst>
          </p:cNvPr>
          <p:cNvCxnSpPr>
            <a:cxnSpLocks/>
          </p:cNvCxnSpPr>
          <p:nvPr/>
        </p:nvCxnSpPr>
        <p:spPr>
          <a:xfrm>
            <a:off x="5085007" y="1420542"/>
            <a:ext cx="0" cy="3886199"/>
          </a:xfrm>
          <a:prstGeom prst="line">
            <a:avLst/>
          </a:prstGeom>
          <a:ln w="28575">
            <a:solidFill>
              <a:srgbClr val="E3E2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0F74DDC9-6BCA-9770-EED0-1002908E528F}"/>
              </a:ext>
            </a:extLst>
          </p:cNvPr>
          <p:cNvSpPr/>
          <p:nvPr/>
        </p:nvSpPr>
        <p:spPr>
          <a:xfrm>
            <a:off x="3180316" y="1571305"/>
            <a:ext cx="211150" cy="211150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572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Microsoft Office PowerPoint</Application>
  <PresentationFormat>Widescreen</PresentationFormat>
  <Paragraphs>165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Krutikov</dc:creator>
  <cp:lastModifiedBy>Sergey Krutikov</cp:lastModifiedBy>
  <cp:revision>105</cp:revision>
  <dcterms:created xsi:type="dcterms:W3CDTF">2026-08-22T10:19:54Z</dcterms:created>
  <dcterms:modified xsi:type="dcterms:W3CDTF">2026-10-06T14:50:09Z</dcterms:modified>
</cp:coreProperties>
</file>