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6" r:id="rId1"/>
  </p:sldMasterIdLst>
  <p:notesMasterIdLst>
    <p:notesMasterId r:id="rId19"/>
  </p:notesMasterIdLst>
  <p:sldIdLst>
    <p:sldId id="256" r:id="rId2"/>
    <p:sldId id="303" r:id="rId3"/>
    <p:sldId id="290" r:id="rId4"/>
    <p:sldId id="302" r:id="rId5"/>
    <p:sldId id="276" r:id="rId6"/>
    <p:sldId id="298" r:id="rId7"/>
    <p:sldId id="299" r:id="rId8"/>
    <p:sldId id="283" r:id="rId9"/>
    <p:sldId id="277" r:id="rId10"/>
    <p:sldId id="285" r:id="rId11"/>
    <p:sldId id="287" r:id="rId12"/>
    <p:sldId id="296" r:id="rId13"/>
    <p:sldId id="286" r:id="rId14"/>
    <p:sldId id="278" r:id="rId15"/>
    <p:sldId id="300" r:id="rId16"/>
    <p:sldId id="281" r:id="rId17"/>
    <p:sldId id="294"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90">
          <p15:clr>
            <a:srgbClr val="747775"/>
          </p15:clr>
        </p15:guide>
        <p15:guide id="2" pos="2880">
          <p15:clr>
            <a:srgbClr val="747775"/>
          </p15:clr>
        </p15:guide>
        <p15:guide id="3" orient="horz" pos="1437">
          <p15:clr>
            <a:srgbClr val="747775"/>
          </p15:clr>
        </p15:guide>
        <p15:guide id="4" orient="horz" pos="1014">
          <p15:clr>
            <a:srgbClr val="747775"/>
          </p15:clr>
        </p15:guide>
        <p15:guide id="5" orient="horz" pos="1893">
          <p15:clr>
            <a:srgbClr val="747775"/>
          </p15:clr>
        </p15:guide>
        <p15:guide id="6" pos="4921">
          <p15:clr>
            <a:srgbClr val="747775"/>
          </p15:clr>
        </p15:guide>
        <p15:guide id="7" orient="horz" pos="2679">
          <p15:clr>
            <a:srgbClr val="747775"/>
          </p15:clr>
        </p15:guide>
        <p15:guide id="8" orient="horz" pos="59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51FD"/>
    <a:srgbClr val="FFFFC0"/>
    <a:srgbClr val="FF0000"/>
    <a:srgbClr val="FF0705"/>
    <a:srgbClr val="585858"/>
    <a:srgbClr val="336791"/>
    <a:srgbClr val="EF552E"/>
    <a:srgbClr val="262626"/>
    <a:srgbClr val="0000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4" autoAdjust="0"/>
    <p:restoredTop sz="75885" autoAdjust="0"/>
  </p:normalViewPr>
  <p:slideViewPr>
    <p:cSldViewPr snapToGrid="0">
      <p:cViewPr varScale="1">
        <p:scale>
          <a:sx n="159" d="100"/>
          <a:sy n="159" d="100"/>
        </p:scale>
        <p:origin x="1860" y="138"/>
      </p:cViewPr>
      <p:guideLst>
        <p:guide orient="horz" pos="2290"/>
        <p:guide pos="2880"/>
        <p:guide orient="horz" pos="1437"/>
        <p:guide orient="horz" pos="1014"/>
        <p:guide orient="horz" pos="1893"/>
        <p:guide pos="4921"/>
        <p:guide orient="horz" pos="2679"/>
        <p:guide orient="horz" pos="591"/>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b454739a23_0_14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b454739a23_0_1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3E4B1951-AF97-153B-5197-417DDEA6D43D}"/>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EEB38D9-E4D2-707B-2A0D-2B7850E846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2C7D7A9-AC48-C6ED-126C-2F8047A65B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00:00</a:t>
            </a:r>
          </a:p>
          <a:p>
            <a:pPr marL="0" lvl="0" indent="0" algn="l" rtl="0">
              <a:spcBef>
                <a:spcPts val="0"/>
              </a:spcBef>
              <a:spcAft>
                <a:spcPts val="0"/>
              </a:spcAft>
              <a:buNone/>
            </a:pPr>
            <a:r>
              <a:rPr lang="en-US" dirty="0"/>
              <a:t>To begin with, let me briefly explain the motivation behind our project.</a:t>
            </a:r>
          </a:p>
          <a:p>
            <a:pPr marL="0" lvl="0" indent="0" algn="l" rtl="0">
              <a:spcBef>
                <a:spcPts val="0"/>
              </a:spcBef>
              <a:spcAft>
                <a:spcPts val="0"/>
              </a:spcAft>
              <a:buNone/>
            </a:pPr>
            <a:r>
              <a:rPr lang="en-US" dirty="0"/>
              <a:t>Job advertisements contain useful information about the job market, such as</a:t>
            </a:r>
          </a:p>
          <a:p>
            <a:pPr marL="0" lvl="0" indent="0" algn="l" rtl="0">
              <a:spcBef>
                <a:spcPts val="0"/>
              </a:spcBef>
              <a:spcAft>
                <a:spcPts val="0"/>
              </a:spcAft>
              <a:buNone/>
            </a:pPr>
            <a:r>
              <a:rPr lang="en-US" dirty="0"/>
              <a:t>	companies,</a:t>
            </a:r>
          </a:p>
          <a:p>
            <a:pPr marL="0" lvl="0" indent="0" algn="l" rtl="0">
              <a:spcBef>
                <a:spcPts val="0"/>
              </a:spcBef>
              <a:spcAft>
                <a:spcPts val="0"/>
              </a:spcAft>
              <a:buNone/>
            </a:pPr>
            <a:r>
              <a:rPr lang="en-US" dirty="0"/>
              <a:t>	occupations,</a:t>
            </a:r>
          </a:p>
          <a:p>
            <a:pPr marL="0" lvl="0" indent="0" algn="l" rtl="0">
              <a:spcBef>
                <a:spcPts val="0"/>
              </a:spcBef>
              <a:spcAft>
                <a:spcPts val="0"/>
              </a:spcAft>
              <a:buNone/>
            </a:pPr>
            <a:r>
              <a:rPr lang="en-US" dirty="0"/>
              <a:t>	locations,</a:t>
            </a:r>
          </a:p>
          <a:p>
            <a:pPr marL="0" lvl="0" indent="0" algn="l" rtl="0">
              <a:spcBef>
                <a:spcPts val="0"/>
              </a:spcBef>
              <a:spcAft>
                <a:spcPts val="0"/>
              </a:spcAft>
              <a:buNone/>
            </a:pPr>
            <a:r>
              <a:rPr lang="en-US" dirty="0"/>
              <a:t>	etc.</a:t>
            </a:r>
          </a:p>
          <a:p>
            <a:pPr marL="0" lvl="0" indent="0" algn="l" rtl="0">
              <a:spcBef>
                <a:spcPts val="0"/>
              </a:spcBef>
              <a:spcAft>
                <a:spcPts val="0"/>
              </a:spcAft>
              <a:buNone/>
            </a:pPr>
            <a:r>
              <a:rPr lang="en-US" dirty="0"/>
              <a:t>But the job market is continuously changing:</a:t>
            </a:r>
          </a:p>
          <a:p>
            <a:pPr marL="0" lvl="0" indent="0" algn="l" rtl="0">
              <a:spcBef>
                <a:spcPts val="0"/>
              </a:spcBef>
              <a:spcAft>
                <a:spcPts val="0"/>
              </a:spcAft>
              <a:buNone/>
            </a:pPr>
            <a:r>
              <a:rPr lang="en-US" dirty="0"/>
              <a:t>	new advertisements appear,</a:t>
            </a:r>
          </a:p>
          <a:p>
            <a:pPr marL="0" lvl="0" indent="0" algn="l" rtl="0">
              <a:spcBef>
                <a:spcPts val="0"/>
              </a:spcBef>
              <a:spcAft>
                <a:spcPts val="0"/>
              </a:spcAft>
              <a:buNone/>
            </a:pPr>
            <a:r>
              <a:rPr lang="en-US" dirty="0"/>
              <a:t>	some are modified,</a:t>
            </a:r>
          </a:p>
          <a:p>
            <a:pPr marL="0" lvl="0" indent="0" algn="l" rtl="0">
              <a:spcBef>
                <a:spcPts val="0"/>
              </a:spcBef>
              <a:spcAft>
                <a:spcPts val="0"/>
              </a:spcAft>
              <a:buNone/>
            </a:pPr>
            <a:r>
              <a:rPr lang="en-US" dirty="0"/>
              <a:t>	others are republished without any modification,</a:t>
            </a:r>
          </a:p>
          <a:p>
            <a:pPr marL="0" lvl="0" indent="0" algn="l" rtl="0">
              <a:spcBef>
                <a:spcPts val="0"/>
              </a:spcBef>
              <a:spcAft>
                <a:spcPts val="0"/>
              </a:spcAft>
              <a:buNone/>
            </a:pPr>
            <a:r>
              <a:rPr lang="en-US" dirty="0"/>
              <a:t>	and some others disappear.</a:t>
            </a:r>
          </a:p>
          <a:p>
            <a:pPr marL="0" lvl="0" indent="0" algn="l" rtl="0">
              <a:spcBef>
                <a:spcPts val="0"/>
              </a:spcBef>
              <a:spcAft>
                <a:spcPts val="0"/>
              </a:spcAft>
              <a:buNone/>
            </a:pPr>
            <a:r>
              <a:rPr lang="en-US" dirty="0"/>
              <a:t>A single snapshot is not enough to capture how the job market evolves over time.</a:t>
            </a:r>
          </a:p>
          <a:p>
            <a:pPr marL="0" lvl="0" indent="0" algn="l" rtl="0">
              <a:spcBef>
                <a:spcPts val="0"/>
              </a:spcBef>
              <a:spcAft>
                <a:spcPts val="0"/>
              </a:spcAft>
              <a:buNone/>
            </a:pPr>
            <a:r>
              <a:rPr lang="en-US" dirty="0"/>
              <a:t>So, our goal is to collect job advertisements regularly</a:t>
            </a:r>
          </a:p>
          <a:p>
            <a:pPr marL="0" lvl="0" indent="0" algn="l" rtl="0">
              <a:spcBef>
                <a:spcPts val="0"/>
              </a:spcBef>
              <a:spcAft>
                <a:spcPts val="0"/>
              </a:spcAft>
              <a:buNone/>
            </a:pPr>
            <a:r>
              <a:rPr lang="en-US" dirty="0"/>
              <a:t>	and turn them into structured data</a:t>
            </a:r>
          </a:p>
          <a:p>
            <a:pPr marL="0" lvl="0" indent="0" algn="l" rtl="0">
              <a:spcBef>
                <a:spcPts val="0"/>
              </a:spcBef>
              <a:spcAft>
                <a:spcPts val="0"/>
              </a:spcAft>
              <a:buNone/>
            </a:pPr>
            <a:r>
              <a:rPr lang="en-US" dirty="0"/>
              <a:t>	that can be searched</a:t>
            </a:r>
          </a:p>
          <a:p>
            <a:pPr marL="0" lvl="0" indent="0" algn="l" rtl="0">
              <a:spcBef>
                <a:spcPts val="0"/>
              </a:spcBef>
              <a:spcAft>
                <a:spcPts val="0"/>
              </a:spcAft>
              <a:buNone/>
            </a:pPr>
            <a:r>
              <a:rPr lang="en-US" dirty="0"/>
              <a:t>	and </a:t>
            </a:r>
            <a:r>
              <a:rPr lang="en-US" dirty="0" err="1"/>
              <a:t>analysed</a:t>
            </a:r>
            <a:r>
              <a:rPr lang="en-US" dirty="0"/>
              <a:t>. For that we use a single data source which is the topic of the</a:t>
            </a:r>
          </a:p>
          <a:p>
            <a:pPr marL="0" lvl="0" indent="0" algn="l" rtl="0">
              <a:spcBef>
                <a:spcPts val="0"/>
              </a:spcBef>
              <a:spcAft>
                <a:spcPts val="0"/>
              </a:spcAft>
              <a:buNone/>
            </a:pPr>
            <a:r>
              <a:rPr lang="en-US" dirty="0"/>
              <a:t>		next slide.</a:t>
            </a:r>
            <a:endParaRPr dirty="0"/>
          </a:p>
        </p:txBody>
      </p:sp>
    </p:spTree>
    <p:extLst>
      <p:ext uri="{BB962C8B-B14F-4D97-AF65-F5344CB8AC3E}">
        <p14:creationId xmlns:p14="http://schemas.microsoft.com/office/powerpoint/2010/main" val="163583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E6C9F87E-9A65-1B42-074F-DA1910996688}"/>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3DE926D-78B7-0912-49FD-AF7AC4FB0D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18F6117-92C7-F89C-A16F-7EA17F9039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01:00</a:t>
            </a:r>
          </a:p>
          <a:p>
            <a:pPr marL="0" lvl="0" indent="0" algn="l" rtl="0">
              <a:spcBef>
                <a:spcPts val="0"/>
              </a:spcBef>
              <a:spcAft>
                <a:spcPts val="0"/>
              </a:spcAft>
              <a:buNone/>
            </a:pPr>
            <a:r>
              <a:rPr lang="en-US" b="0" dirty="0"/>
              <a:t>As our data source, we use the API of the German Federal Employment Agency.</a:t>
            </a:r>
          </a:p>
          <a:p>
            <a:pPr marL="0" lvl="0" indent="0" algn="l" rtl="0">
              <a:spcBef>
                <a:spcPts val="0"/>
              </a:spcBef>
              <a:spcAft>
                <a:spcPts val="0"/>
              </a:spcAft>
              <a:buNone/>
            </a:pPr>
            <a:r>
              <a:rPr lang="en-US" b="0" dirty="0"/>
              <a:t>The API has a two-stage structure.</a:t>
            </a:r>
          </a:p>
          <a:p>
            <a:pPr marL="0" lvl="0" indent="0" algn="l" rtl="0">
              <a:spcBef>
                <a:spcPts val="0"/>
              </a:spcBef>
              <a:spcAft>
                <a:spcPts val="0"/>
              </a:spcAft>
              <a:buNone/>
            </a:pPr>
            <a:r>
              <a:rPr lang="en-US" b="0" dirty="0"/>
              <a:t>First, the /jobs endpoint returns job summaries together with their IDs.</a:t>
            </a:r>
          </a:p>
          <a:p>
            <a:pPr marL="0" lvl="0" indent="0" algn="l" rtl="0">
              <a:spcBef>
                <a:spcPts val="0"/>
              </a:spcBef>
              <a:spcAft>
                <a:spcPts val="0"/>
              </a:spcAft>
              <a:buNone/>
            </a:pPr>
            <a:r>
              <a:rPr lang="en-US" b="0" dirty="0"/>
              <a:t>We then use each ID to retrieve the complete job details.</a:t>
            </a:r>
          </a:p>
          <a:p>
            <a:pPr marL="0" lvl="0" indent="0" algn="l" rtl="0">
              <a:spcBef>
                <a:spcPts val="0"/>
              </a:spcBef>
              <a:spcAft>
                <a:spcPts val="0"/>
              </a:spcAft>
              <a:buNone/>
            </a:pPr>
            <a:r>
              <a:rPr lang="en-US" b="0" dirty="0"/>
              <a:t>For our regular collection, we use the keywords Data Engineer, Data Analyst and AI Engineer.</a:t>
            </a:r>
            <a:endParaRPr b="0" dirty="0"/>
          </a:p>
        </p:txBody>
      </p:sp>
    </p:spTree>
    <p:extLst>
      <p:ext uri="{BB962C8B-B14F-4D97-AF65-F5344CB8AC3E}">
        <p14:creationId xmlns:p14="http://schemas.microsoft.com/office/powerpoint/2010/main" val="212429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2DE0FF48-7459-8986-7D72-9D3CB36EB587}"/>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3C6CFCC3-EA9F-B1D6-F0A9-9FD48F132C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3AFA0482-F929-C474-9D2A-B09D67771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02:00</a:t>
            </a:r>
          </a:p>
          <a:p>
            <a:pPr marL="0" lvl="0" indent="0" algn="l" rtl="0">
              <a:spcBef>
                <a:spcPts val="0"/>
              </a:spcBef>
              <a:spcAft>
                <a:spcPts val="0"/>
              </a:spcAft>
              <a:buNone/>
            </a:pPr>
            <a:r>
              <a:rPr lang="en-US" dirty="0"/>
              <a:t>Here is a high-level overview of our project. It consists mainly of two parts:</a:t>
            </a:r>
          </a:p>
          <a:p>
            <a:pPr marL="0" lvl="0" indent="0" algn="l" rtl="0">
              <a:spcBef>
                <a:spcPts val="0"/>
              </a:spcBef>
              <a:spcAft>
                <a:spcPts val="0"/>
              </a:spcAft>
              <a:buNone/>
            </a:pPr>
            <a:r>
              <a:rPr lang="en-US" dirty="0"/>
              <a:t>	ingestion pipeline and user application.</a:t>
            </a:r>
          </a:p>
          <a:p>
            <a:pPr marL="0" lvl="0" indent="0" algn="l" rtl="0">
              <a:spcBef>
                <a:spcPts val="0"/>
              </a:spcBef>
              <a:spcAft>
                <a:spcPts val="0"/>
              </a:spcAft>
              <a:buNone/>
            </a:pPr>
            <a:r>
              <a:rPr lang="en-US" dirty="0"/>
              <a:t>During ingestion, our ETL retrieves job data from the Jobs API.</a:t>
            </a:r>
          </a:p>
          <a:p>
            <a:pPr marL="0" lvl="0" indent="0" algn="l" rtl="0">
              <a:spcBef>
                <a:spcPts val="0"/>
              </a:spcBef>
              <a:spcAft>
                <a:spcPts val="0"/>
              </a:spcAft>
              <a:buNone/>
            </a:pPr>
            <a:r>
              <a:rPr lang="en-US" dirty="0"/>
              <a:t>We preserve both the raw API responses and the cleaned data in the data archive,</a:t>
            </a:r>
          </a:p>
          <a:p>
            <a:pPr marL="0" lvl="0" indent="0" algn="l" rtl="0">
              <a:spcBef>
                <a:spcPts val="0"/>
              </a:spcBef>
              <a:spcAft>
                <a:spcPts val="0"/>
              </a:spcAft>
              <a:buNone/>
            </a:pPr>
            <a:r>
              <a:rPr lang="en-US" dirty="0"/>
              <a:t>	while the cleaned and enriched job records are loaded into PostgreSQL.</a:t>
            </a:r>
          </a:p>
          <a:p>
            <a:pPr marL="0" lvl="0" indent="0" algn="l" rtl="0">
              <a:spcBef>
                <a:spcPts val="0"/>
              </a:spcBef>
              <a:spcAft>
                <a:spcPts val="0"/>
              </a:spcAft>
              <a:buNone/>
            </a:pPr>
            <a:r>
              <a:rPr lang="en-US" dirty="0"/>
              <a:t>This is automated by Airflow, which runs the process every morning at six.</a:t>
            </a:r>
          </a:p>
          <a:p>
            <a:pPr marL="0" lvl="0" indent="0" algn="l" rtl="0">
              <a:spcBef>
                <a:spcPts val="0"/>
              </a:spcBef>
              <a:spcAft>
                <a:spcPts val="0"/>
              </a:spcAft>
              <a:buNone/>
            </a:pPr>
            <a:r>
              <a:rPr lang="en-US" dirty="0"/>
              <a:t>At runtime, our </a:t>
            </a:r>
            <a:r>
              <a:rPr lang="en-US" dirty="0" err="1"/>
              <a:t>FastAPI</a:t>
            </a:r>
            <a:r>
              <a:rPr lang="en-US" dirty="0"/>
              <a:t> backend reads jobs and statistics from PostgreSQL</a:t>
            </a:r>
          </a:p>
          <a:p>
            <a:pPr marL="0" lvl="0" indent="0" algn="l" rtl="0">
              <a:spcBef>
                <a:spcPts val="0"/>
              </a:spcBef>
              <a:spcAft>
                <a:spcPts val="0"/>
              </a:spcAft>
              <a:buNone/>
            </a:pPr>
            <a:r>
              <a:rPr lang="en-US" dirty="0"/>
              <a:t>	and provides them to the Dash frontend,</a:t>
            </a:r>
          </a:p>
          <a:p>
            <a:pPr marL="0" lvl="0" indent="0" algn="l" rtl="0">
              <a:spcBef>
                <a:spcPts val="0"/>
              </a:spcBef>
              <a:spcAft>
                <a:spcPts val="0"/>
              </a:spcAft>
              <a:buNone/>
            </a:pPr>
            <a:r>
              <a:rPr lang="en-US" dirty="0"/>
              <a:t>	where the user can</a:t>
            </a:r>
          </a:p>
          <a:p>
            <a:pPr marL="0" lvl="0" indent="0" algn="l" rtl="0">
              <a:spcBef>
                <a:spcPts val="0"/>
              </a:spcBef>
              <a:spcAft>
                <a:spcPts val="0"/>
              </a:spcAft>
              <a:buNone/>
            </a:pPr>
            <a:r>
              <a:rPr lang="en-US" dirty="0"/>
              <a:t>		search for jobs,</a:t>
            </a:r>
          </a:p>
          <a:p>
            <a:pPr marL="0" lvl="0" indent="0" algn="l" rtl="0">
              <a:spcBef>
                <a:spcPts val="0"/>
              </a:spcBef>
              <a:spcAft>
                <a:spcPts val="0"/>
              </a:spcAft>
              <a:buNone/>
            </a:pPr>
            <a:r>
              <a:rPr lang="en-US" dirty="0"/>
              <a:t>		view statistics and</a:t>
            </a:r>
          </a:p>
          <a:p>
            <a:pPr marL="0" lvl="0" indent="0" algn="l" rtl="0">
              <a:spcBef>
                <a:spcPts val="0"/>
              </a:spcBef>
              <a:spcAft>
                <a:spcPts val="0"/>
              </a:spcAft>
              <a:buNone/>
            </a:pPr>
            <a:r>
              <a:rPr lang="en-US" dirty="0"/>
              <a:t>		explore the jobs on a map.</a:t>
            </a:r>
            <a:endParaRPr dirty="0"/>
          </a:p>
        </p:txBody>
      </p:sp>
    </p:spTree>
    <p:extLst>
      <p:ext uri="{BB962C8B-B14F-4D97-AF65-F5344CB8AC3E}">
        <p14:creationId xmlns:p14="http://schemas.microsoft.com/office/powerpoint/2010/main" val="51808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AD9B68FD-C652-2B2D-3D10-CB6CDDF29EF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247C6C0-368F-8126-90AE-95A7BB54A3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6CA0F2F-7171-467D-3928-881AA20DF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03:00</a:t>
            </a:r>
          </a:p>
          <a:p>
            <a:pPr marL="158750" indent="0">
              <a:buNone/>
            </a:pPr>
            <a:r>
              <a:rPr lang="en-US" dirty="0"/>
              <a:t>Let us now look at the ETL</a:t>
            </a:r>
          </a:p>
          <a:p>
            <a:pPr marL="158750" indent="0">
              <a:buNone/>
            </a:pPr>
            <a:r>
              <a:rPr lang="en-US" dirty="0"/>
              <a:t>	in more detail.</a:t>
            </a:r>
          </a:p>
          <a:p>
            <a:pPr marL="158750" indent="0">
              <a:buNone/>
            </a:pPr>
            <a:r>
              <a:rPr lang="en-US" dirty="0"/>
              <a:t>In the EXTRACT stage, we request job pages from the Jobs API with a predefined set of keywords (like "Data Engineer" for instance).</a:t>
            </a:r>
          </a:p>
          <a:p>
            <a:pPr marL="158750" indent="0">
              <a:buNone/>
            </a:pPr>
            <a:r>
              <a:rPr lang="en-US" dirty="0"/>
              <a:t>For this, a data folder named with a timestamp is created, together with a subfolder for each keyword.</a:t>
            </a:r>
          </a:p>
          <a:p>
            <a:pPr marL="158750" indent="0">
              <a:buNone/>
            </a:pPr>
            <a:r>
              <a:rPr lang="en-US" dirty="0"/>
              <a:t>In these subfolders, the search pages are saved as raw JSON.</a:t>
            </a:r>
          </a:p>
          <a:p>
            <a:pPr marL="158750" indent="0">
              <a:buNone/>
            </a:pPr>
            <a:r>
              <a:rPr lang="en-US" dirty="0"/>
              <a:t>Because the same job can appear in different search results, we have to deduplicate the jobs by their IDs.</a:t>
            </a:r>
          </a:p>
          <a:p>
            <a:pPr marL="158750" indent="0">
              <a:buNone/>
            </a:pPr>
            <a:r>
              <a:rPr lang="en-US" dirty="0"/>
              <a:t>We then retrieve and save the full job details as a single JSON file (still with raw data).</a:t>
            </a:r>
          </a:p>
          <a:p>
            <a:pPr marL="158750" indent="0">
              <a:buNone/>
            </a:pPr>
            <a:r>
              <a:rPr lang="en-US" dirty="0"/>
              <a:t>In the TRANSFORM stage, we read this JSON file and normalize and restructure the source data and classify the jobs.</a:t>
            </a:r>
          </a:p>
          <a:p>
            <a:pPr marL="158750" indent="0">
              <a:buNone/>
            </a:pPr>
            <a:r>
              <a:rPr lang="en-US" dirty="0"/>
              <a:t>We keep only jobs located in Germany</a:t>
            </a:r>
          </a:p>
          <a:p>
            <a:pPr marL="158750" indent="0">
              <a:buNone/>
            </a:pPr>
            <a:r>
              <a:rPr lang="en-US" dirty="0"/>
              <a:t>	and geocode missing coordinates where needed.</a:t>
            </a:r>
          </a:p>
          <a:p>
            <a:pPr marL="158750" indent="0">
              <a:buNone/>
            </a:pPr>
            <a:r>
              <a:rPr lang="en-US" dirty="0"/>
              <a:t>The resulting cleaned data is also preserved as a single JSON file.</a:t>
            </a:r>
          </a:p>
          <a:p>
            <a:pPr marL="158750" indent="0">
              <a:buNone/>
            </a:pPr>
            <a:r>
              <a:rPr lang="en-US" dirty="0"/>
              <a:t>Finally, in the LOAD stage, we create new PostgreSQL records or update existing jobs with the same ID if they already exist.</a:t>
            </a:r>
          </a:p>
          <a:p>
            <a:pPr marL="158750" indent="0">
              <a:buNone/>
            </a:pPr>
            <a:r>
              <a:rPr lang="en-US" dirty="0"/>
              <a:t>Two parts of the transformation -- geocoding and classification -- are explained on the</a:t>
            </a:r>
          </a:p>
          <a:p>
            <a:pPr marL="158750" indent="0">
              <a:buNone/>
            </a:pPr>
            <a:r>
              <a:rPr lang="en-US" dirty="0"/>
              <a:t>	next slide.</a:t>
            </a:r>
          </a:p>
        </p:txBody>
      </p:sp>
    </p:spTree>
    <p:extLst>
      <p:ext uri="{BB962C8B-B14F-4D97-AF65-F5344CB8AC3E}">
        <p14:creationId xmlns:p14="http://schemas.microsoft.com/office/powerpoint/2010/main" val="3477106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31DAE28-F881-AA18-4627-70BD47EA54C9}"/>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A847E18-20F5-248F-BBDA-ED2B528DD4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2F2E233E-E30F-3F3D-996E-97CD739E2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05:00</a:t>
            </a:r>
          </a:p>
          <a:p>
            <a:pPr marL="0" lvl="0" indent="0" algn="l" rtl="0">
              <a:spcBef>
                <a:spcPts val="0"/>
              </a:spcBef>
              <a:spcAft>
                <a:spcPts val="0"/>
              </a:spcAft>
              <a:buNone/>
            </a:pPr>
            <a:r>
              <a:rPr lang="en-US" dirty="0"/>
              <a:t>For geocoding, some jobs already contain coordinates, and we keep those coordinates unchanged.</a:t>
            </a:r>
          </a:p>
          <a:p>
            <a:pPr marL="0" lvl="0" indent="0" algn="l" rtl="0">
              <a:spcBef>
                <a:spcPts val="0"/>
              </a:spcBef>
              <a:spcAft>
                <a:spcPts val="0"/>
              </a:spcAft>
              <a:buNone/>
            </a:pPr>
            <a:r>
              <a:rPr lang="en-US" dirty="0"/>
              <a:t>If coordinates are missing, we use the city, postal code and country with </a:t>
            </a:r>
            <a:r>
              <a:rPr lang="en-US" dirty="0" err="1"/>
              <a:t>Nominatim</a:t>
            </a:r>
            <a:r>
              <a:rPr lang="en-US" dirty="0"/>
              <a:t> via </a:t>
            </a:r>
            <a:r>
              <a:rPr lang="en-US" dirty="0" err="1"/>
              <a:t>geopy</a:t>
            </a:r>
            <a:r>
              <a:rPr lang="en-US" dirty="0"/>
              <a:t> to obtain latitude and longitude.</a:t>
            </a:r>
          </a:p>
          <a:p>
            <a:pPr marL="0" lvl="0" indent="0" algn="l" rtl="0">
              <a:spcBef>
                <a:spcPts val="0"/>
              </a:spcBef>
              <a:spcAft>
                <a:spcPts val="0"/>
              </a:spcAft>
              <a:buNone/>
            </a:pPr>
            <a:r>
              <a:rPr lang="en-US" dirty="0"/>
              <a:t>These coordinates can then be used on the map.</a:t>
            </a:r>
          </a:p>
          <a:p>
            <a:pPr marL="0" lvl="0" indent="0" algn="l" rtl="0">
              <a:spcBef>
                <a:spcPts val="0"/>
              </a:spcBef>
              <a:spcAft>
                <a:spcPts val="0"/>
              </a:spcAft>
              <a:buNone/>
            </a:pPr>
            <a:r>
              <a:rPr lang="en-US" dirty="0"/>
              <a:t>For job classification, raw job titles are too heterogeneous for consistent analysis.</a:t>
            </a:r>
          </a:p>
          <a:p>
            <a:pPr marL="0" lvl="0" indent="0" algn="l" rtl="0">
              <a:spcBef>
                <a:spcPts val="0"/>
              </a:spcBef>
              <a:spcAft>
                <a:spcPts val="0"/>
              </a:spcAft>
              <a:buNone/>
            </a:pPr>
            <a:r>
              <a:rPr lang="en-US" dirty="0"/>
              <a:t>We therefore use a rule-based classifier based on the job title and occupation.</a:t>
            </a:r>
          </a:p>
          <a:p>
            <a:pPr marL="0" lvl="0" indent="0" algn="l" rtl="0">
              <a:spcBef>
                <a:spcPts val="0"/>
              </a:spcBef>
              <a:spcAft>
                <a:spcPts val="0"/>
              </a:spcAft>
              <a:buNone/>
            </a:pPr>
            <a:r>
              <a:rPr lang="en-US" dirty="0"/>
              <a:t>Jobs are mapped to broad categories such as Data Engineering, Data Analysis or Backend Development.</a:t>
            </a:r>
          </a:p>
          <a:p>
            <a:pPr marL="0" lvl="0" indent="0" algn="l" rtl="0">
              <a:spcBef>
                <a:spcPts val="0"/>
              </a:spcBef>
              <a:spcAft>
                <a:spcPts val="0"/>
              </a:spcAft>
              <a:buNone/>
            </a:pPr>
            <a:r>
              <a:rPr lang="en-US" dirty="0"/>
              <a:t>If no rule matches, the category is Other.</a:t>
            </a:r>
            <a:endParaRPr dirty="0"/>
          </a:p>
        </p:txBody>
      </p:sp>
    </p:spTree>
    <p:extLst>
      <p:ext uri="{BB962C8B-B14F-4D97-AF65-F5344CB8AC3E}">
        <p14:creationId xmlns:p14="http://schemas.microsoft.com/office/powerpoint/2010/main" val="1708650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5FBE54DF-E4CF-B18B-F0F7-9D6CC1836AFC}"/>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9058E91-EAE9-5513-E70C-5DB19A698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4C64AFCA-8149-9E3C-95EA-E9DAC24A22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06:00</a:t>
            </a:r>
          </a:p>
          <a:p>
            <a:pPr marL="0" lvl="0" indent="0" algn="l" rtl="0">
              <a:spcBef>
                <a:spcPts val="0"/>
              </a:spcBef>
              <a:spcAft>
                <a:spcPts val="0"/>
              </a:spcAft>
              <a:buNone/>
            </a:pPr>
            <a:r>
              <a:rPr lang="en-US" dirty="0"/>
              <a:t>Another issue we address is job freshness.</a:t>
            </a:r>
          </a:p>
          <a:p>
            <a:pPr marL="0" lvl="0" indent="0" algn="l" rtl="0">
              <a:spcBef>
                <a:spcPts val="0"/>
              </a:spcBef>
              <a:spcAft>
                <a:spcPts val="0"/>
              </a:spcAft>
              <a:buNone/>
            </a:pPr>
            <a:r>
              <a:rPr lang="en-US" dirty="0"/>
              <a:t>A recent publication date does not necessarily mean that a job is actually new, because advertisements can be republished without changes.</a:t>
            </a:r>
          </a:p>
          <a:p>
            <a:pPr marL="0" lvl="0" indent="0" algn="l" rtl="0">
              <a:spcBef>
                <a:spcPts val="0"/>
              </a:spcBef>
              <a:spcAft>
                <a:spcPts val="0"/>
              </a:spcAft>
              <a:buNone/>
            </a:pPr>
            <a:r>
              <a:rPr lang="en-US" dirty="0"/>
              <a:t>We therefore compare the current API data with the version stored in PostgreSQL.</a:t>
            </a:r>
          </a:p>
          <a:p>
            <a:pPr marL="0" lvl="0" indent="0" algn="l" rtl="0">
              <a:spcBef>
                <a:spcPts val="0"/>
              </a:spcBef>
              <a:spcAft>
                <a:spcPts val="0"/>
              </a:spcAft>
              <a:buNone/>
            </a:pPr>
            <a:r>
              <a:rPr lang="en-US" dirty="0"/>
              <a:t>If </a:t>
            </a:r>
            <a:r>
              <a:rPr lang="en-US" dirty="0" err="1"/>
              <a:t>modified_at</a:t>
            </a:r>
            <a:r>
              <a:rPr lang="en-US" dirty="0"/>
              <a:t> changes, we treat it as a real update; if only the publication date changes, we count it as an unchanged republication.</a:t>
            </a:r>
          </a:p>
          <a:p>
            <a:pPr marL="0" lvl="0" indent="0" algn="l" rtl="0">
              <a:spcBef>
                <a:spcPts val="0"/>
              </a:spcBef>
              <a:spcAft>
                <a:spcPts val="0"/>
              </a:spcAft>
              <a:buNone/>
            </a:pPr>
            <a:r>
              <a:rPr lang="en-US" dirty="0"/>
              <a:t>This gives the user a more meaningful freshness summary.</a:t>
            </a:r>
            <a:endParaRPr dirty="0"/>
          </a:p>
        </p:txBody>
      </p:sp>
    </p:spTree>
    <p:extLst>
      <p:ext uri="{BB962C8B-B14F-4D97-AF65-F5344CB8AC3E}">
        <p14:creationId xmlns:p14="http://schemas.microsoft.com/office/powerpoint/2010/main" val="898554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4ABFAA4-0D5F-2C11-7FD1-737AFEC36141}"/>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BCECB95F-8073-09EF-BE97-02741F289F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50403A7B-AF7D-2673-853C-086ED7C5E4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07:00</a:t>
            </a:r>
          </a:p>
          <a:p>
            <a:pPr marL="158750" indent="0">
              <a:buNone/>
            </a:pPr>
            <a:r>
              <a:rPr lang="en-US" dirty="0"/>
              <a:t>Now, a couple of words about Elasticsearch.</a:t>
            </a:r>
          </a:p>
          <a:p>
            <a:pPr marL="158750" indent="0">
              <a:buNone/>
            </a:pPr>
            <a:r>
              <a:rPr lang="en-US" dirty="0"/>
              <a:t>Generally, our search interface (that we will hopefully see in the demo) has one free-text field, What, and three structured filters for location, company, and category.</a:t>
            </a:r>
          </a:p>
          <a:p>
            <a:pPr marL="158750" indent="0">
              <a:buNone/>
            </a:pPr>
            <a:r>
              <a:rPr lang="en-US" dirty="0"/>
              <a:t>And this free-text field "What" decides if Elasticsearch is used or not.</a:t>
            </a:r>
          </a:p>
          <a:p>
            <a:pPr marL="158750" indent="0">
              <a:buNone/>
            </a:pPr>
            <a:r>
              <a:rPr lang="en-US" dirty="0"/>
              <a:t>If it is empty,</a:t>
            </a:r>
          </a:p>
          <a:p>
            <a:pPr marL="158750" indent="0">
              <a:buNone/>
            </a:pPr>
            <a:r>
              <a:rPr lang="en-US" dirty="0"/>
              <a:t>	we query PostgreSQL directly using the remaining structured filters and order the results by publication date, newest first. So, no Elasticsearch is </a:t>
            </a:r>
            <a:r>
              <a:rPr lang="en-US" dirty="0" err="1"/>
              <a:t>envolved</a:t>
            </a:r>
            <a:r>
              <a:rPr lang="en-US" dirty="0"/>
              <a:t> in this case.</a:t>
            </a:r>
          </a:p>
          <a:p>
            <a:pPr marL="158750" indent="0">
              <a:buNone/>
            </a:pPr>
            <a:r>
              <a:rPr lang="en-US" dirty="0"/>
              <a:t>If a free-text query is provided by the user,</a:t>
            </a:r>
          </a:p>
          <a:p>
            <a:pPr marL="158750" indent="0">
              <a:buNone/>
            </a:pPr>
            <a:r>
              <a:rPr lang="en-US" dirty="0"/>
              <a:t>	we use Elasticsearch. It performs the full-text search together with the structured filters and ranks the results by relevance.</a:t>
            </a:r>
          </a:p>
          <a:p>
            <a:pPr marL="158750" indent="0">
              <a:buNone/>
            </a:pPr>
            <a:r>
              <a:rPr lang="en-US" dirty="0"/>
              <a:t>And in this full-text search, matches in the title have the highest weight, while the description has the lowest weight because it tends to contain more noise. Elasticsearch returns only the ranked job IDs,</a:t>
            </a:r>
          </a:p>
          <a:p>
            <a:pPr marL="158750" indent="0">
              <a:buNone/>
            </a:pPr>
            <a:r>
              <a:rPr lang="en-US" dirty="0"/>
              <a:t>	and we still need to use PostgreSQL to retrieve the actual job records while preserving this ranked order from Elasticsearch.</a:t>
            </a:r>
          </a:p>
          <a:p>
            <a:pPr marL="158750" indent="0">
              <a:buNone/>
            </a:pPr>
            <a:r>
              <a:rPr lang="en-US" dirty="0"/>
              <a:t>This way, PostgreSQL remains our authoritative source.</a:t>
            </a:r>
          </a:p>
        </p:txBody>
      </p:sp>
    </p:spTree>
    <p:extLst>
      <p:ext uri="{BB962C8B-B14F-4D97-AF65-F5344CB8AC3E}">
        <p14:creationId xmlns:p14="http://schemas.microsoft.com/office/powerpoint/2010/main" val="1747742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B12BD581-E3B5-6A20-0E5C-258BC9A86AF6}"/>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FCF3F26B-197F-5B9B-18D8-E88CCF4F49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49EC9746-462D-4000-B6B1-EF08ADCCA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08:00</a:t>
            </a:r>
          </a:p>
          <a:p>
            <a:pPr marL="158750" indent="0">
              <a:buNone/>
            </a:pPr>
            <a:r>
              <a:rPr lang="en-US" dirty="0"/>
              <a:t>The complete application runs as Docker services</a:t>
            </a:r>
          </a:p>
          <a:p>
            <a:pPr marL="158750" indent="0">
              <a:buNone/>
            </a:pPr>
            <a:r>
              <a:rPr lang="en-US" dirty="0"/>
              <a:t>	and is started with Docker Compose.</a:t>
            </a:r>
          </a:p>
          <a:p>
            <a:pPr marL="158750" indent="0">
              <a:buNone/>
            </a:pPr>
            <a:r>
              <a:rPr lang="en-US" dirty="0"/>
              <a:t>The most obvious services are the frontend, the backend and the database.</a:t>
            </a:r>
          </a:p>
          <a:p>
            <a:pPr marL="158750" indent="0">
              <a:buNone/>
            </a:pPr>
            <a:r>
              <a:rPr lang="en-US" dirty="0"/>
              <a:t>At runtime, Dash communicates with </a:t>
            </a:r>
            <a:r>
              <a:rPr lang="en-US" dirty="0" err="1"/>
              <a:t>FastAPI</a:t>
            </a:r>
            <a:r>
              <a:rPr lang="en-US" dirty="0"/>
              <a:t> over HTTP.</a:t>
            </a:r>
          </a:p>
          <a:p>
            <a:pPr marL="158750" indent="0">
              <a:buNone/>
            </a:pPr>
            <a:r>
              <a:rPr lang="en-US" dirty="0"/>
              <a:t>The backend reads job data from PostgreSQL and uses</a:t>
            </a:r>
          </a:p>
          <a:p>
            <a:pPr marL="158750" indent="0">
              <a:buNone/>
            </a:pPr>
            <a:r>
              <a:rPr lang="en-US" dirty="0"/>
              <a:t>	Elasticsearch for the free-text search we discussed on the previous slide.</a:t>
            </a:r>
          </a:p>
          <a:p>
            <a:pPr marL="158750" indent="0">
              <a:buNone/>
            </a:pPr>
            <a:r>
              <a:rPr lang="en-US" dirty="0"/>
              <a:t>Airflow runs our ETL every morning at six.</a:t>
            </a:r>
          </a:p>
          <a:p>
            <a:pPr marL="158750" indent="0">
              <a:buNone/>
            </a:pPr>
            <a:r>
              <a:rPr lang="en-US" dirty="0"/>
              <a:t>It updates PostgreSQL</a:t>
            </a:r>
          </a:p>
          <a:p>
            <a:pPr marL="158750" indent="0">
              <a:buNone/>
            </a:pPr>
            <a:r>
              <a:rPr lang="en-US" dirty="0"/>
              <a:t>	and synchronizes Elasticsearch.</a:t>
            </a:r>
          </a:p>
          <a:p>
            <a:pPr marL="158750" indent="0">
              <a:buNone/>
            </a:pPr>
            <a:r>
              <a:rPr lang="en-US" dirty="0"/>
              <a:t>For monitoring, Prometheus scrapes the backend every 15 seconds,</a:t>
            </a:r>
          </a:p>
          <a:p>
            <a:pPr marL="158750" indent="0">
              <a:buNone/>
            </a:pPr>
            <a:r>
              <a:rPr lang="en-US" dirty="0"/>
              <a:t>	and Grafana visualizes these runtime metrics.</a:t>
            </a:r>
          </a:p>
          <a:p>
            <a:pPr marL="158750" indent="0">
              <a:buNone/>
            </a:pPr>
            <a:r>
              <a:rPr lang="en-US" dirty="0"/>
              <a:t>In contrast, the ETL metrics are pushed by Airflow to </a:t>
            </a:r>
            <a:r>
              <a:rPr lang="en-US" dirty="0" err="1"/>
              <a:t>Pushgateway</a:t>
            </a:r>
            <a:r>
              <a:rPr lang="en-US" dirty="0"/>
              <a:t>,</a:t>
            </a:r>
          </a:p>
          <a:p>
            <a:pPr marL="158750" indent="0">
              <a:buNone/>
            </a:pPr>
            <a:r>
              <a:rPr lang="en-US" dirty="0"/>
              <a:t>	where they can then be scraped by Prometheus every 15 seconds.</a:t>
            </a:r>
          </a:p>
          <a:p>
            <a:pPr marL="158750" indent="0">
              <a:buNone/>
            </a:pPr>
            <a:r>
              <a:rPr lang="en-US" dirty="0"/>
              <a:t>Additionally, Prometheus triggers an alert if there has been no successful ETL run for more than 26 hours, and </a:t>
            </a:r>
            <a:r>
              <a:rPr lang="en-US" dirty="0" err="1"/>
              <a:t>Alertmanager</a:t>
            </a:r>
            <a:r>
              <a:rPr lang="en-US" dirty="0"/>
              <a:t> handles the notification.</a:t>
            </a:r>
          </a:p>
          <a:p>
            <a:pPr marL="158750" indent="0">
              <a:buNone/>
            </a:pPr>
            <a:r>
              <a:rPr lang="en-US" dirty="0"/>
              <a:t>You can imagine: with nine services, this is quite a lot of code and configuration, so we use GitHub Actions for continuous integration to check the project changes</a:t>
            </a:r>
          </a:p>
          <a:p>
            <a:pPr marL="158750" indent="0">
              <a:buNone/>
            </a:pPr>
            <a:r>
              <a:rPr lang="en-US" dirty="0"/>
              <a:t>	automatically.</a:t>
            </a:r>
          </a:p>
        </p:txBody>
      </p:sp>
    </p:spTree>
    <p:extLst>
      <p:ext uri="{BB962C8B-B14F-4D97-AF65-F5344CB8AC3E}">
        <p14:creationId xmlns:p14="http://schemas.microsoft.com/office/powerpoint/2010/main" val="732733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147EA35-C048-03B5-3B2A-D97327898CFF}"/>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8A501384-DA99-AE86-BB52-079F9840A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81D3174D-B695-A353-C208-F6C9ABBB6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10:00</a:t>
            </a:r>
          </a:p>
          <a:p>
            <a:pPr marL="158750" indent="0">
              <a:buNone/>
            </a:pPr>
            <a:r>
              <a:rPr lang="en-US" dirty="0"/>
              <a:t>The workflow runs on every push and on pull requests targeting main or master.</a:t>
            </a:r>
          </a:p>
          <a:p>
            <a:pPr marL="158750" indent="0">
              <a:buNone/>
            </a:pPr>
            <a:r>
              <a:rPr lang="en-US" dirty="0"/>
              <a:t>It first prepares the environment by checking out the repository, setting up Python 3.12 and installing the dependencies.</a:t>
            </a:r>
          </a:p>
          <a:p>
            <a:pPr marL="158750" indent="0">
              <a:buNone/>
            </a:pPr>
            <a:r>
              <a:rPr lang="en-US" dirty="0"/>
              <a:t>It then runs three checks: Black for code formatting, </a:t>
            </a:r>
            <a:r>
              <a:rPr lang="en-US" dirty="0" err="1"/>
              <a:t>pytest</a:t>
            </a:r>
            <a:r>
              <a:rPr lang="en-US" dirty="0"/>
              <a:t> for automated tests, and a Docker build to verify that the application can still be packaged successfully.</a:t>
            </a:r>
          </a:p>
          <a:p>
            <a:pPr marL="158750" indent="0">
              <a:buNone/>
            </a:pPr>
            <a:r>
              <a:rPr lang="en-US" dirty="0"/>
              <a:t>We configured the validate job as a required status check, so if any of these steps fails, the whole workflow fails and the merge is blocked.</a:t>
            </a:r>
          </a:p>
        </p:txBody>
      </p:sp>
    </p:spTree>
    <p:extLst>
      <p:ext uri="{BB962C8B-B14F-4D97-AF65-F5344CB8AC3E}">
        <p14:creationId xmlns:p14="http://schemas.microsoft.com/office/powerpoint/2010/main" val="3495488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5736AA4C-64C7-241C-91A2-B8270FA9EF2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B188B41-0D99-2904-401A-F6B57A1D3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A39897C0-1FF6-78B2-1504-54B4031A85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12:00</a:t>
            </a:r>
          </a:p>
          <a:p>
            <a:pPr marL="0" lvl="0" indent="0" algn="l" rtl="0">
              <a:spcBef>
                <a:spcPts val="0"/>
              </a:spcBef>
              <a:spcAft>
                <a:spcPts val="0"/>
              </a:spcAft>
              <a:buNone/>
            </a:pPr>
            <a:r>
              <a:rPr lang="en-US" dirty="0"/>
              <a:t>To conclude,</a:t>
            </a:r>
          </a:p>
          <a:p>
            <a:pPr marL="0" lvl="0" indent="0" algn="l" rtl="0">
              <a:spcBef>
                <a:spcPts val="0"/>
              </a:spcBef>
              <a:spcAft>
                <a:spcPts val="0"/>
              </a:spcAft>
              <a:buNone/>
            </a:pPr>
            <a:r>
              <a:rPr lang="en-US" dirty="0"/>
              <a:t>	we built an end-to-end data platform that regularly collects job advertisements, transforms and enriches them, stores them in PostgreSQL, provides full-text search through Elasticsearch, exposes the data through </a:t>
            </a:r>
            <a:r>
              <a:rPr lang="en-US" dirty="0" err="1"/>
              <a:t>FastAPI</a:t>
            </a:r>
            <a:r>
              <a:rPr lang="en-US" dirty="0"/>
              <a:t>, and makes it accessible through the Dash frontend.</a:t>
            </a:r>
          </a:p>
          <a:p>
            <a:pPr marL="0" lvl="0" indent="0" algn="l" rtl="0">
              <a:spcBef>
                <a:spcPts val="0"/>
              </a:spcBef>
              <a:spcAft>
                <a:spcPts val="0"/>
              </a:spcAft>
              <a:buNone/>
            </a:pPr>
            <a:r>
              <a:rPr lang="en-US" dirty="0"/>
              <a:t>The workflow is automated with Airflow,</a:t>
            </a:r>
          </a:p>
          <a:p>
            <a:pPr marL="0" lvl="0" indent="0" algn="l" rtl="0">
              <a:spcBef>
                <a:spcPts val="0"/>
              </a:spcBef>
              <a:spcAft>
                <a:spcPts val="0"/>
              </a:spcAft>
              <a:buNone/>
            </a:pPr>
            <a:r>
              <a:rPr lang="en-US" dirty="0"/>
              <a:t>	the complete application is reproducibly deployed with Docker Compose,</a:t>
            </a:r>
          </a:p>
          <a:p>
            <a:pPr marL="0" lvl="0" indent="0" algn="l" rtl="0">
              <a:spcBef>
                <a:spcPts val="0"/>
              </a:spcBef>
              <a:spcAft>
                <a:spcPts val="0"/>
              </a:spcAft>
              <a:buNone/>
            </a:pPr>
            <a:r>
              <a:rPr lang="en-US" dirty="0"/>
              <a:t>	and the system is monitored with Prometheus and Grafana.</a:t>
            </a:r>
            <a:endParaRPr dirty="0"/>
          </a:p>
        </p:txBody>
      </p:sp>
    </p:spTree>
    <p:extLst>
      <p:ext uri="{BB962C8B-B14F-4D97-AF65-F5344CB8AC3E}">
        <p14:creationId xmlns:p14="http://schemas.microsoft.com/office/powerpoint/2010/main" val="4068343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574819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0CFDF225-9D6C-070C-7AA2-498661D94DFA}"/>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1E9E779-8DA5-DD3F-C5A3-D7087099B3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52B3448-BA03-99AE-1050-A4AFA513B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indent="-298450"/>
            <a:r>
              <a:rPr lang="en-US" dirty="0"/>
              <a:t>Our first limitation is market coverage: we currently use only one data source and selected search terms, so additional sources would improve coverage.</a:t>
            </a:r>
          </a:p>
          <a:p>
            <a:pPr marL="457200" indent="-298450"/>
            <a:r>
              <a:rPr lang="en-US" dirty="0"/>
              <a:t>Second, our observation period is still short, and freshness and historical trends become more useful over time.</a:t>
            </a:r>
          </a:p>
          <a:p>
            <a:pPr marL="457200" indent="-298450"/>
            <a:r>
              <a:rPr lang="en-US" dirty="0"/>
              <a:t>Third, our classification is rule-based and therefore has limited semantic understanding; this could be improved with semantic or machine-learning methods.</a:t>
            </a:r>
          </a:p>
        </p:txBody>
      </p:sp>
    </p:spTree>
    <p:extLst>
      <p:ext uri="{BB962C8B-B14F-4D97-AF65-F5344CB8AC3E}">
        <p14:creationId xmlns:p14="http://schemas.microsoft.com/office/powerpoint/2010/main" val="1869462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70F0DE1-61C8-B949-CF9F-889D5125301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4AAADD59-477D-A0E5-6A76-02B7BE631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B00DFA13-910D-3747-D068-FAF410152E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dirty="0"/>
              <a:t>Backend time-series metrics</a:t>
            </a:r>
            <a:r>
              <a:rPr lang="en-US" b="0" dirty="0"/>
              <a:t>:</a:t>
            </a:r>
          </a:p>
          <a:p>
            <a:r>
              <a:rPr lang="en-US" b="0" dirty="0"/>
              <a:t>Job Search Requests Counter → Cumulative number of requests (Grafana converts it into #requests per time window)</a:t>
            </a:r>
          </a:p>
          <a:p>
            <a:r>
              <a:rPr lang="en-US" b="0" dirty="0"/>
              <a:t>Job Search Duration (p95) Histogram → Observations accumulate in histogram buckets (Grafana calculates the 95th percentile over a time window)</a:t>
            </a:r>
          </a:p>
          <a:p>
            <a:r>
              <a:rPr lang="en-US" b="0" dirty="0"/>
              <a:t>Active Database Connections Gauge → Current value that can go up and down</a:t>
            </a:r>
          </a:p>
          <a:p>
            <a:pPr marL="158750" indent="0">
              <a:buNone/>
            </a:pPr>
            <a:endParaRPr lang="en-US" b="0" dirty="0"/>
          </a:p>
          <a:p>
            <a:pPr marL="158750" indent="0">
              <a:buNone/>
            </a:pPr>
            <a:r>
              <a:rPr lang="en-US" dirty="0"/>
              <a:t>ETL state metrics:</a:t>
            </a:r>
          </a:p>
          <a:p>
            <a:pPr lvl="0"/>
            <a:r>
              <a:rPr lang="en-US" b="0" dirty="0"/>
              <a:t>Time Since Last Successful ETL → derived from a Gauge that stores the Unix timestamp of the last successful ETL. </a:t>
            </a:r>
          </a:p>
          <a:p>
            <a:pPr lvl="0"/>
            <a:r>
              <a:rPr lang="en-US" b="0" dirty="0"/>
              <a:t>Last ETL Duration → Gauge storing the duration of the most recent ETL run. </a:t>
            </a:r>
          </a:p>
          <a:p>
            <a:pPr lvl="0"/>
            <a:r>
              <a:rPr lang="en-US" b="0" dirty="0"/>
              <a:t>Geocoding Failures → Gauge storing the number of failed geocoding requests in the most recent ETL run.</a:t>
            </a:r>
          </a:p>
          <a:p>
            <a:endParaRPr lang="en-US" dirty="0"/>
          </a:p>
          <a:p>
            <a:endParaRPr lang="en-US" b="0" dirty="0"/>
          </a:p>
          <a:p>
            <a:endParaRPr lang="en-US" b="0" dirty="0"/>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2264944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D8A5AE8C-369D-91D4-587D-8177342BE12E}"/>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7A6C1C45-39F9-867E-6E24-3FB46997C4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C00D164-4E9A-4592-8B85-81BBEA7536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For job access, we distinguish between searches with and without a free-text keyword.</a:t>
            </a:r>
          </a:p>
          <a:p>
            <a:endParaRPr lang="en-US" dirty="0"/>
          </a:p>
          <a:p>
            <a:r>
              <a:rPr lang="en-US" dirty="0"/>
              <a:t>If no keyword is provided, the request can be handled directly in PostgreSQL. Structured filters such as city, company, home-office availability, and category are applied there, and the jobs are ordered by publication date, newest first. </a:t>
            </a:r>
          </a:p>
          <a:p>
            <a:endParaRPr lang="en-US" dirty="0"/>
          </a:p>
          <a:p>
            <a:r>
              <a:rPr lang="en-US" dirty="0"/>
              <a:t>If a keyword is provided, we use Elasticsearch. It performs the full-text search together with the structured filters and ranks the matching jobs by relevance. The search covers several fields, but they are weighted differently: the title has the highest weight because it most directly represents the advertised role, followed by occupation, while the description has the lowest weight because it contains much more incidental text. </a:t>
            </a:r>
          </a:p>
          <a:p>
            <a:endParaRPr lang="en-US" dirty="0"/>
          </a:p>
          <a:p>
            <a:r>
              <a:rPr lang="en-US" dirty="0"/>
              <a:t>Elasticsearch then returns only the ranked reference numbers. </a:t>
            </a:r>
            <a:r>
              <a:rPr lang="en-US" dirty="0" err="1"/>
              <a:t>FastAPI</a:t>
            </a:r>
            <a:r>
              <a:rPr lang="en-US" dirty="0"/>
              <a:t> uses those reference numbers to retrieve the complete job records from PostgreSQL while preserving the Elasticsearch ranking. PostgreSQL therefore remains the authoritative data store, while Elasticsearch is used specifically for search and relevance ranking.”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12616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33C81560-8DE1-343F-2CE5-3720508C6846}"/>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FA68678-17EF-C4C5-E091-657DA27581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E34EECCF-D3ED-58B6-CAF9-F03E047F2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During transformation, we also enrich the source data in two ways.</a:t>
            </a:r>
          </a:p>
          <a:p>
            <a:endParaRPr lang="en-US" dirty="0"/>
          </a:p>
          <a:p>
            <a:r>
              <a:rPr lang="en-US" dirty="0"/>
              <a:t>First, not every job location contains usable coordinates. If latitude and longitude are already provided by the source, we keep them. Otherwise, we build a location query from the available postal code, city, and country and use </a:t>
            </a:r>
            <a:r>
              <a:rPr lang="en-US" dirty="0" err="1"/>
              <a:t>Nominatim</a:t>
            </a:r>
            <a:r>
              <a:rPr lang="en-US" dirty="0"/>
              <a:t> through </a:t>
            </a:r>
            <a:r>
              <a:rPr lang="en-US" dirty="0" err="1"/>
              <a:t>geopy</a:t>
            </a:r>
            <a:r>
              <a:rPr lang="en-US" dirty="0"/>
              <a:t> to retrieve coordinates. Failed geocoding attempts are recorded so that this part of the enrichment is observable.</a:t>
            </a:r>
          </a:p>
          <a:p>
            <a:endParaRPr lang="en-US" dirty="0"/>
          </a:p>
          <a:p>
            <a:r>
              <a:rPr lang="en-US" dirty="0"/>
              <a:t>The second enrichment is job classification. Raw job titles are very heterogeneous, which makes aggregation and </a:t>
            </a:r>
            <a:r>
              <a:rPr lang="en-US" dirty="0" err="1"/>
              <a:t>visualisation</a:t>
            </a:r>
            <a:r>
              <a:rPr lang="en-US" dirty="0"/>
              <a:t> difficult. We therefore map jobs into six broad categories using deterministic keyword rules applied to the title and occupation. The rules also have an explicit priority—for example, a ‘Backend Developer for Machine Learning’ is classified as AI / Machine Learning rather than Backend Development. Jobs that do not match any rule fall back to Other.</a:t>
            </a:r>
          </a:p>
          <a:p>
            <a:endParaRPr lang="en-US" dirty="0"/>
          </a:p>
          <a:p>
            <a:r>
              <a:rPr lang="en-US" dirty="0"/>
              <a:t>These enrichments make the data more useful later for the map, filtering, and statistics.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04260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a:extLst>
            <a:ext uri="{FF2B5EF4-FFF2-40B4-BE49-F238E27FC236}">
              <a16:creationId xmlns:a16="http://schemas.microsoft.com/office/drawing/2014/main" id="{750BA8A5-B848-DD94-8669-123F131E9093}"/>
            </a:ext>
          </a:extLst>
        </p:cNvPr>
        <p:cNvGrpSpPr/>
        <p:nvPr/>
      </p:nvGrpSpPr>
      <p:grpSpPr>
        <a:xfrm>
          <a:off x="0" y="0"/>
          <a:ext cx="0" cy="0"/>
          <a:chOff x="0" y="0"/>
          <a:chExt cx="0" cy="0"/>
        </a:xfrm>
      </p:grpSpPr>
      <p:sp>
        <p:nvSpPr>
          <p:cNvPr id="630" name="Google Shape;630;g3b5a5a12495_0_1110:notes">
            <a:extLst>
              <a:ext uri="{FF2B5EF4-FFF2-40B4-BE49-F238E27FC236}">
                <a16:creationId xmlns:a16="http://schemas.microsoft.com/office/drawing/2014/main" id="{EA5C82FD-3124-9A4C-0BC0-9D10ACC016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b5a5a12495_0_1110:notes">
            <a:extLst>
              <a:ext uri="{FF2B5EF4-FFF2-40B4-BE49-F238E27FC236}">
                <a16:creationId xmlns:a16="http://schemas.microsoft.com/office/drawing/2014/main" id="{7215332F-E345-1C6F-3690-0F1A964357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begin with, let me briefly explain the motivation behind our project:</a:t>
            </a:r>
            <a:br>
              <a:rPr lang="en-US" dirty="0"/>
            </a:br>
            <a:r>
              <a:rPr lang="en-US" dirty="0"/>
              <a:t>Job advertisements contain useful information about the </a:t>
            </a:r>
            <a:r>
              <a:rPr lang="en-US" dirty="0" err="1"/>
              <a:t>labour</a:t>
            </a:r>
            <a:r>
              <a:rPr lang="en-US" dirty="0"/>
              <a:t> market, such as occupations, companies, and locations.</a:t>
            </a:r>
            <a:br>
              <a:rPr lang="en-US" dirty="0"/>
            </a:br>
            <a:r>
              <a:rPr lang="en-US" dirty="0"/>
              <a:t>The job market is continuously changing: new advertisements appear, existing ones are modified or republished, and others disappear.</a:t>
            </a:r>
            <a:br>
              <a:rPr lang="en-US" dirty="0"/>
            </a:br>
            <a:r>
              <a:rPr lang="en-US" dirty="0"/>
              <a:t>A single snapshot is therefore not enough to observe these changes over time.</a:t>
            </a:r>
            <a:br>
              <a:rPr lang="en-US" dirty="0"/>
            </a:br>
            <a:r>
              <a:rPr lang="en-US" dirty="0"/>
              <a:t>Our goal is to collect job advertisements regularly and turn them into structured data that can be searched and </a:t>
            </a:r>
            <a:r>
              <a:rPr lang="en-US" dirty="0" err="1"/>
              <a:t>analysed</a:t>
            </a:r>
            <a:r>
              <a:rPr lang="en-US" dirty="0"/>
              <a:t>.</a:t>
            </a:r>
            <a:endParaRPr dirty="0"/>
          </a:p>
        </p:txBody>
      </p:sp>
    </p:spTree>
    <p:extLst>
      <p:ext uri="{BB962C8B-B14F-4D97-AF65-F5344CB8AC3E}">
        <p14:creationId xmlns:p14="http://schemas.microsoft.com/office/powerpoint/2010/main" val="30019144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A - Couverture" type="title">
  <p:cSld name="TITLE">
    <p:bg>
      <p:bgPr>
        <a:solidFill>
          <a:schemeClr val="dk2"/>
        </a:solidFill>
        <a:effectLst/>
      </p:bgPr>
    </p:bg>
    <p:spTree>
      <p:nvGrpSpPr>
        <p:cNvPr id="1" name="Shape 57"/>
        <p:cNvGrpSpPr/>
        <p:nvPr/>
      </p:nvGrpSpPr>
      <p:grpSpPr>
        <a:xfrm>
          <a:off x="0" y="0"/>
          <a:ext cx="0" cy="0"/>
          <a:chOff x="0" y="0"/>
          <a:chExt cx="0" cy="0"/>
        </a:xfrm>
      </p:grpSpPr>
      <p:pic>
        <p:nvPicPr>
          <p:cNvPr id="58" name="Google Shape;58;p15"/>
          <p:cNvPicPr preferRelativeResize="0"/>
          <p:nvPr/>
        </p:nvPicPr>
        <p:blipFill>
          <a:blip r:embed="rId2">
            <a:alphaModFix/>
          </a:blip>
          <a:stretch>
            <a:fillRect/>
          </a:stretch>
        </p:blipFill>
        <p:spPr>
          <a:xfrm>
            <a:off x="215774" y="4544172"/>
            <a:ext cx="1292251" cy="408025"/>
          </a:xfrm>
          <a:prstGeom prst="rect">
            <a:avLst/>
          </a:prstGeom>
          <a:noFill/>
          <a:ln>
            <a:noFill/>
          </a:ln>
        </p:spPr>
      </p:pic>
      <p:pic>
        <p:nvPicPr>
          <p:cNvPr id="59" name="Google Shape;59;p15"/>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0" name="Google Shape;60;p15"/>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1" name="Google Shape;61;p15"/>
          <p:cNvSpPr txBox="1">
            <a:spLocks noGrp="1"/>
          </p:cNvSpPr>
          <p:nvPr>
            <p:ph type="title"/>
          </p:nvPr>
        </p:nvSpPr>
        <p:spPr>
          <a:xfrm>
            <a:off x="198000" y="1530525"/>
            <a:ext cx="5766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62" name="Google Shape;62;p15"/>
          <p:cNvSpPr txBox="1">
            <a:spLocks noGrp="1"/>
          </p:cNvSpPr>
          <p:nvPr>
            <p:ph type="title" idx="2"/>
          </p:nvPr>
        </p:nvSpPr>
        <p:spPr>
          <a:xfrm>
            <a:off x="198000" y="198000"/>
            <a:ext cx="5766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3" name="Google Shape;63;p1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B - Chapitrage">
  <p:cSld name="TITLE_1">
    <p:bg>
      <p:bgPr>
        <a:solidFill>
          <a:schemeClr val="dk2"/>
        </a:solidFill>
        <a:effectLst/>
      </p:bgPr>
    </p:bg>
    <p:spTree>
      <p:nvGrpSpPr>
        <p:cNvPr id="1" name="Shape 64"/>
        <p:cNvGrpSpPr/>
        <p:nvPr/>
      </p:nvGrpSpPr>
      <p:grpSpPr>
        <a:xfrm>
          <a:off x="0" y="0"/>
          <a:ext cx="0" cy="0"/>
          <a:chOff x="0" y="0"/>
          <a:chExt cx="0" cy="0"/>
        </a:xfrm>
      </p:grpSpPr>
      <p:pic>
        <p:nvPicPr>
          <p:cNvPr id="65" name="Google Shape;65;p16"/>
          <p:cNvPicPr preferRelativeResize="0"/>
          <p:nvPr/>
        </p:nvPicPr>
        <p:blipFill>
          <a:blip r:embed="rId2">
            <a:alphaModFix/>
          </a:blip>
          <a:stretch>
            <a:fillRect/>
          </a:stretch>
        </p:blipFill>
        <p:spPr>
          <a:xfrm>
            <a:off x="198000" y="4747499"/>
            <a:ext cx="547501" cy="172176"/>
          </a:xfrm>
          <a:prstGeom prst="rect">
            <a:avLst/>
          </a:prstGeom>
          <a:noFill/>
          <a:ln>
            <a:noFill/>
          </a:ln>
        </p:spPr>
      </p:pic>
      <p:pic>
        <p:nvPicPr>
          <p:cNvPr id="66" name="Google Shape;66;p16"/>
          <p:cNvPicPr preferRelativeResize="0"/>
          <p:nvPr/>
        </p:nvPicPr>
        <p:blipFill>
          <a:blip r:embed="rId3">
            <a:alphaModFix/>
          </a:blip>
          <a:stretch>
            <a:fillRect/>
          </a:stretch>
        </p:blipFill>
        <p:spPr>
          <a:xfrm>
            <a:off x="4224597" y="481824"/>
            <a:ext cx="9144026" cy="4524833"/>
          </a:xfrm>
          <a:prstGeom prst="rect">
            <a:avLst/>
          </a:prstGeom>
          <a:noFill/>
          <a:ln>
            <a:noFill/>
          </a:ln>
        </p:spPr>
      </p:pic>
      <p:sp>
        <p:nvSpPr>
          <p:cNvPr id="67" name="Google Shape;67;p16"/>
          <p:cNvSpPr txBox="1"/>
          <p:nvPr/>
        </p:nvSpPr>
        <p:spPr>
          <a:xfrm>
            <a:off x="4671000" y="4747508"/>
            <a:ext cx="2021400" cy="132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fr" sz="900">
                <a:solidFill>
                  <a:schemeClr val="lt1"/>
                </a:solidFill>
                <a:latin typeface="Work Sans Light"/>
                <a:ea typeface="Work Sans Light"/>
                <a:cs typeface="Work Sans Light"/>
                <a:sym typeface="Work Sans Light"/>
              </a:rPr>
              <a:t>YOUR FUTURE, </a:t>
            </a:r>
            <a:r>
              <a:rPr lang="fr" sz="900" b="1">
                <a:solidFill>
                  <a:schemeClr val="lt1"/>
                </a:solidFill>
                <a:latin typeface="Work Sans"/>
                <a:ea typeface="Work Sans"/>
                <a:cs typeface="Work Sans"/>
                <a:sym typeface="Work Sans"/>
              </a:rPr>
              <a:t>DECODED.</a:t>
            </a:r>
            <a:endParaRPr sz="900" b="1">
              <a:solidFill>
                <a:schemeClr val="lt1"/>
              </a:solidFill>
              <a:latin typeface="Work Sans"/>
              <a:ea typeface="Work Sans"/>
              <a:cs typeface="Work Sans"/>
              <a:sym typeface="Work Sans"/>
            </a:endParaRPr>
          </a:p>
        </p:txBody>
      </p:sp>
      <p:sp>
        <p:nvSpPr>
          <p:cNvPr id="68" name="Google Shape;68;p16"/>
          <p:cNvSpPr txBox="1">
            <a:spLocks noGrp="1"/>
          </p:cNvSpPr>
          <p:nvPr>
            <p:ph type="title"/>
          </p:nvPr>
        </p:nvSpPr>
        <p:spPr>
          <a:xfrm>
            <a:off x="198000" y="198000"/>
            <a:ext cx="5766000" cy="38073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69" name="Google Shape;69;p1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solidFill>
                  <a:schemeClr val="lt1"/>
                </a:solidFill>
                <a:latin typeface="Inter"/>
                <a:ea typeface="Inter"/>
                <a:cs typeface="Inter"/>
                <a:sym typeface="Inter"/>
              </a:defRPr>
            </a:lvl1pPr>
            <a:lvl2pPr lvl="1">
              <a:buNone/>
              <a:defRPr sz="600" b="1">
                <a:solidFill>
                  <a:schemeClr val="lt1"/>
                </a:solidFill>
                <a:latin typeface="Inter"/>
                <a:ea typeface="Inter"/>
                <a:cs typeface="Inter"/>
                <a:sym typeface="Inter"/>
              </a:defRPr>
            </a:lvl2pPr>
            <a:lvl3pPr lvl="2">
              <a:buNone/>
              <a:defRPr sz="600" b="1">
                <a:solidFill>
                  <a:schemeClr val="lt1"/>
                </a:solidFill>
                <a:latin typeface="Inter"/>
                <a:ea typeface="Inter"/>
                <a:cs typeface="Inter"/>
                <a:sym typeface="Inter"/>
              </a:defRPr>
            </a:lvl3pPr>
            <a:lvl4pPr lvl="3">
              <a:buNone/>
              <a:defRPr sz="600" b="1">
                <a:solidFill>
                  <a:schemeClr val="lt1"/>
                </a:solidFill>
                <a:latin typeface="Inter"/>
                <a:ea typeface="Inter"/>
                <a:cs typeface="Inter"/>
                <a:sym typeface="Inter"/>
              </a:defRPr>
            </a:lvl4pPr>
            <a:lvl5pPr lvl="4">
              <a:buNone/>
              <a:defRPr sz="600" b="1">
                <a:solidFill>
                  <a:schemeClr val="lt1"/>
                </a:solidFill>
                <a:latin typeface="Inter"/>
                <a:ea typeface="Inter"/>
                <a:cs typeface="Inter"/>
                <a:sym typeface="Inter"/>
              </a:defRPr>
            </a:lvl5pPr>
            <a:lvl6pPr lvl="5">
              <a:buNone/>
              <a:defRPr sz="600" b="1">
                <a:solidFill>
                  <a:schemeClr val="lt1"/>
                </a:solidFill>
                <a:latin typeface="Inter"/>
                <a:ea typeface="Inter"/>
                <a:cs typeface="Inter"/>
                <a:sym typeface="Inter"/>
              </a:defRPr>
            </a:lvl6pPr>
            <a:lvl7pPr lvl="6">
              <a:buNone/>
              <a:defRPr sz="600" b="1">
                <a:solidFill>
                  <a:schemeClr val="lt1"/>
                </a:solidFill>
                <a:latin typeface="Inter"/>
                <a:ea typeface="Inter"/>
                <a:cs typeface="Inter"/>
                <a:sym typeface="Inter"/>
              </a:defRPr>
            </a:lvl7pPr>
            <a:lvl8pPr lvl="7">
              <a:buNone/>
              <a:defRPr sz="600" b="1">
                <a:solidFill>
                  <a:schemeClr val="lt1"/>
                </a:solidFill>
                <a:latin typeface="Inter"/>
                <a:ea typeface="Inter"/>
                <a:cs typeface="Inter"/>
                <a:sym typeface="Inter"/>
              </a:defRPr>
            </a:lvl8pPr>
            <a:lvl9pPr lvl="8">
              <a:buNone/>
              <a:defRPr sz="600" b="1">
                <a:solidFill>
                  <a:schemeClr val="lt1"/>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B - Sommaire avec Colonne">
  <p:cSld name="SECTION_HEADER_1">
    <p:bg>
      <p:bgPr>
        <a:solidFill>
          <a:schemeClr val="accent1"/>
        </a:solidFill>
        <a:effectLst/>
      </p:bgPr>
    </p:bg>
    <p:spTree>
      <p:nvGrpSpPr>
        <p:cNvPr id="1" name="Shape 70"/>
        <p:cNvGrpSpPr/>
        <p:nvPr/>
      </p:nvGrpSpPr>
      <p:grpSpPr>
        <a:xfrm>
          <a:off x="0" y="0"/>
          <a:ext cx="0" cy="0"/>
          <a:chOff x="0" y="0"/>
          <a:chExt cx="0" cy="0"/>
        </a:xfrm>
      </p:grpSpPr>
      <p:sp>
        <p:nvSpPr>
          <p:cNvPr id="71" name="Google Shape;71;p17"/>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73" name="Google Shape;73;p17"/>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
        <p:nvSpPr>
          <p:cNvPr id="74" name="Google Shape;74;p17"/>
          <p:cNvSpPr txBox="1">
            <a:spLocks noGrp="1"/>
          </p:cNvSpPr>
          <p:nvPr>
            <p:ph type="title" idx="2"/>
          </p:nvPr>
        </p:nvSpPr>
        <p:spPr>
          <a:xfrm>
            <a:off x="2434500" y="198100"/>
            <a:ext cx="1084200" cy="4549500"/>
          </a:xfrm>
          <a:prstGeom prst="rect">
            <a:avLst/>
          </a:prstGeom>
          <a:noFill/>
          <a:ln>
            <a:noFill/>
          </a:ln>
        </p:spPr>
        <p:txBody>
          <a:bodyPr spcFirstLastPara="1" wrap="square" lIns="0" tIns="0" rIns="0" bIns="0" anchor="ctr" anchorCtr="0">
            <a:noAutofit/>
          </a:bodyPr>
          <a:lstStyle>
            <a:lvl1pPr lvl="0"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1pPr>
            <a:lvl2pPr lvl="1"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2pPr>
            <a:lvl3pPr lvl="2"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3pPr>
            <a:lvl4pPr lvl="3"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4pPr>
            <a:lvl5pPr lvl="4"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5pPr>
            <a:lvl6pPr lvl="5"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6pPr>
            <a:lvl7pPr lvl="6"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7pPr>
            <a:lvl8pPr lvl="7"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8pPr>
            <a:lvl9pPr lvl="8" algn="r">
              <a:lnSpc>
                <a:spcPct val="200000"/>
              </a:lnSpc>
              <a:spcBef>
                <a:spcPts val="0"/>
              </a:spcBef>
              <a:spcAft>
                <a:spcPts val="0"/>
              </a:spcAft>
              <a:buClr>
                <a:schemeClr val="lt2"/>
              </a:buClr>
              <a:buSzPts val="1200"/>
              <a:buFont typeface="Inter Medium"/>
              <a:buChar char="■"/>
              <a:defRPr sz="1200">
                <a:solidFill>
                  <a:schemeClr val="lt2"/>
                </a:solidFill>
                <a:latin typeface="Inter Medium"/>
                <a:ea typeface="Inter Medium"/>
                <a:cs typeface="Inter Medium"/>
                <a:sym typeface="Inter Medium"/>
              </a:defRPr>
            </a:lvl9pPr>
          </a:lstStyle>
          <a:p>
            <a:endParaRPr/>
          </a:p>
        </p:txBody>
      </p:sp>
      <p:sp>
        <p:nvSpPr>
          <p:cNvPr id="75" name="Google Shape;75;p17"/>
          <p:cNvSpPr txBox="1">
            <a:spLocks noGrp="1"/>
          </p:cNvSpPr>
          <p:nvPr>
            <p:ph type="title" idx="3"/>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76" name="Google Shape;76;p17"/>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C - Sommaire avec accroche">
  <p:cSld name="SECTION_HEADER_1_1">
    <p:bg>
      <p:bgPr>
        <a:solidFill>
          <a:schemeClr val="accent1"/>
        </a:solidFill>
        <a:effectLst/>
      </p:bgPr>
    </p:bg>
    <p:spTree>
      <p:nvGrpSpPr>
        <p:cNvPr id="1" name="Shape 77"/>
        <p:cNvGrpSpPr/>
        <p:nvPr/>
      </p:nvGrpSpPr>
      <p:grpSpPr>
        <a:xfrm>
          <a:off x="0" y="0"/>
          <a:ext cx="0" cy="0"/>
          <a:chOff x="0" y="0"/>
          <a:chExt cx="0" cy="0"/>
        </a:xfrm>
      </p:grpSpPr>
      <p:sp>
        <p:nvSpPr>
          <p:cNvPr id="78" name="Google Shape;78;p18"/>
          <p:cNvSpPr/>
          <p:nvPr/>
        </p:nvSpPr>
        <p:spPr>
          <a:xfrm>
            <a:off x="0" y="0"/>
            <a:ext cx="3727500" cy="5143500"/>
          </a:xfrm>
          <a:prstGeom prst="rect">
            <a:avLst/>
          </a:prstGeom>
          <a:solidFill>
            <a:srgbClr val="1A1A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9" name="Google Shape;79;p18"/>
          <p:cNvPicPr preferRelativeResize="0"/>
          <p:nvPr/>
        </p:nvPicPr>
        <p:blipFill>
          <a:blip r:embed="rId2">
            <a:alphaModFix/>
          </a:blip>
          <a:stretch>
            <a:fillRect/>
          </a:stretch>
        </p:blipFill>
        <p:spPr>
          <a:xfrm flipH="1">
            <a:off x="-3709809" y="932975"/>
            <a:ext cx="6648326" cy="3289874"/>
          </a:xfrm>
          <a:prstGeom prst="rect">
            <a:avLst/>
          </a:prstGeom>
          <a:noFill/>
          <a:ln>
            <a:noFill/>
          </a:ln>
        </p:spPr>
      </p:pic>
      <p:sp>
        <p:nvSpPr>
          <p:cNvPr id="80" name="Google Shape;80;p1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81" name="Google Shape;81;p18"/>
          <p:cNvSpPr txBox="1">
            <a:spLocks noGrp="1"/>
          </p:cNvSpPr>
          <p:nvPr>
            <p:ph type="title"/>
          </p:nvPr>
        </p:nvSpPr>
        <p:spPr>
          <a:xfrm>
            <a:off x="3925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82" name="Google Shape;82;p18"/>
          <p:cNvPicPr preferRelativeResize="0"/>
          <p:nvPr/>
        </p:nvPicPr>
        <p:blipFill>
          <a:blip r:embed="rId3">
            <a:alphaModFix/>
          </a:blip>
          <a:stretch>
            <a:fillRect/>
          </a:stretch>
        </p:blipFill>
        <p:spPr>
          <a:xfrm>
            <a:off x="198000" y="4747499"/>
            <a:ext cx="547501" cy="172176"/>
          </a:xfrm>
          <a:prstGeom prst="rect">
            <a:avLst/>
          </a:prstGeom>
          <a:noFill/>
          <a:ln>
            <a:noFill/>
          </a:ln>
        </p:spPr>
      </p:pic>
      <p:sp>
        <p:nvSpPr>
          <p:cNvPr id="83" name="Google Shape;83;p18"/>
          <p:cNvSpPr txBox="1">
            <a:spLocks noGrp="1"/>
          </p:cNvSpPr>
          <p:nvPr>
            <p:ph type="body" idx="1"/>
          </p:nvPr>
        </p:nvSpPr>
        <p:spPr>
          <a:xfrm>
            <a:off x="964591" y="1097325"/>
            <a:ext cx="1780500" cy="1395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84" name="Google Shape;84;p18"/>
          <p:cNvSpPr txBox="1">
            <a:spLocks noGrp="1"/>
          </p:cNvSpPr>
          <p:nvPr>
            <p:ph type="title" idx="2"/>
          </p:nvPr>
        </p:nvSpPr>
        <p:spPr>
          <a:xfrm>
            <a:off x="198000" y="198100"/>
            <a:ext cx="2038500" cy="1359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1pPr>
            <a:lvl2pPr lvl="1">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2pPr>
            <a:lvl3pPr lvl="2">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3pPr>
            <a:lvl4pPr lvl="3">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4pPr>
            <a:lvl5pPr lvl="4">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5pPr>
            <a:lvl6pPr lvl="5">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6pPr>
            <a:lvl7pPr lvl="6">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7pPr>
            <a:lvl8pPr lvl="7">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8pPr>
            <a:lvl9pPr lvl="8">
              <a:spcBef>
                <a:spcPts val="0"/>
              </a:spcBef>
              <a:spcAft>
                <a:spcPts val="0"/>
              </a:spcAft>
              <a:buClr>
                <a:schemeClr val="lt2"/>
              </a:buClr>
              <a:buSzPts val="2100"/>
              <a:buFont typeface="Work Sans Medium"/>
              <a:buChar char="■"/>
              <a:defRPr sz="2100">
                <a:solidFill>
                  <a:schemeClr val="lt2"/>
                </a:solidFill>
                <a:latin typeface="Work Sans Medium"/>
                <a:ea typeface="Work Sans Medium"/>
                <a:cs typeface="Work Sans Medium"/>
                <a:sym typeface="Work Sa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A - Texte &amp; Image / Fond Clair 1">
  <p:cSld name="SECTION_HEADER_1_1_1">
    <p:bg>
      <p:bgPr>
        <a:solidFill>
          <a:schemeClr val="lt1"/>
        </a:solidFill>
        <a:effectLst/>
      </p:bgPr>
    </p:bg>
    <p:spTree>
      <p:nvGrpSpPr>
        <p:cNvPr id="1" name="Shape 85"/>
        <p:cNvGrpSpPr/>
        <p:nvPr/>
      </p:nvGrpSpPr>
      <p:grpSpPr>
        <a:xfrm>
          <a:off x="0" y="0"/>
          <a:ext cx="0" cy="0"/>
          <a:chOff x="0" y="0"/>
          <a:chExt cx="0" cy="0"/>
        </a:xfrm>
      </p:grpSpPr>
      <p:pic>
        <p:nvPicPr>
          <p:cNvPr id="86" name="Google Shape;86;p1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87" name="Google Shape;87;p1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89" name="Google Shape;89;p1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0" name="Google Shape;90;p1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B - Texte &amp; Image / Fond Clair 2">
  <p:cSld name="TITLE_AND_BODY_2">
    <p:spTree>
      <p:nvGrpSpPr>
        <p:cNvPr id="1" name="Shape 91"/>
        <p:cNvGrpSpPr/>
        <p:nvPr/>
      </p:nvGrpSpPr>
      <p:grpSpPr>
        <a:xfrm>
          <a:off x="0" y="0"/>
          <a:ext cx="0" cy="0"/>
          <a:chOff x="0" y="0"/>
          <a:chExt cx="0" cy="0"/>
        </a:xfrm>
      </p:grpSpPr>
      <p:pic>
        <p:nvPicPr>
          <p:cNvPr id="92" name="Google Shape;92;p2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93" name="Google Shape;93;p2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5" name="Google Shape;95;p2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96" name="Google Shape;96;p20"/>
          <p:cNvSpPr>
            <a:spLocks noGrp="1"/>
          </p:cNvSpPr>
          <p:nvPr>
            <p:ph type="pic" idx="3"/>
          </p:nvPr>
        </p:nvSpPr>
        <p:spPr>
          <a:xfrm>
            <a:off x="3180000" y="198000"/>
            <a:ext cx="5766000" cy="2175600"/>
          </a:xfrm>
          <a:prstGeom prst="roundRect">
            <a:avLst>
              <a:gd name="adj" fmla="val 2361"/>
            </a:avLst>
          </a:prstGeom>
          <a:noFill/>
          <a:ln>
            <a:noFill/>
          </a:ln>
        </p:spPr>
      </p:sp>
      <p:sp>
        <p:nvSpPr>
          <p:cNvPr id="97" name="Google Shape;97;p2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98" name="Google Shape;98;p2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D - Texte &amp; Image / Fond Clair 4">
  <p:cSld name="TITLE_AND_BODY_2_1">
    <p:spTree>
      <p:nvGrpSpPr>
        <p:cNvPr id="1" name="Shape 99"/>
        <p:cNvGrpSpPr/>
        <p:nvPr/>
      </p:nvGrpSpPr>
      <p:grpSpPr>
        <a:xfrm>
          <a:off x="0" y="0"/>
          <a:ext cx="0" cy="0"/>
          <a:chOff x="0" y="0"/>
          <a:chExt cx="0" cy="0"/>
        </a:xfrm>
      </p:grpSpPr>
      <p:pic>
        <p:nvPicPr>
          <p:cNvPr id="100" name="Google Shape;100;p2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1" name="Google Shape;101;p21"/>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1"/>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3" name="Google Shape;103;p2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04" name="Google Shape;104;p21"/>
          <p:cNvSpPr>
            <a:spLocks noGrp="1"/>
          </p:cNvSpPr>
          <p:nvPr>
            <p:ph type="pic" idx="3"/>
          </p:nvPr>
        </p:nvSpPr>
        <p:spPr>
          <a:xfrm>
            <a:off x="3180000" y="198000"/>
            <a:ext cx="2784000" cy="2175600"/>
          </a:xfrm>
          <a:prstGeom prst="roundRect">
            <a:avLst>
              <a:gd name="adj" fmla="val 2361"/>
            </a:avLst>
          </a:prstGeom>
          <a:noFill/>
          <a:ln>
            <a:noFill/>
          </a:ln>
        </p:spPr>
      </p:sp>
      <p:sp>
        <p:nvSpPr>
          <p:cNvPr id="105" name="Google Shape;105;p21"/>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06" name="Google Shape;106;p21"/>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E - Texte &amp; Image / Fond Clair 5">
  <p:cSld name="TITLE_AND_BODY_2_1_1">
    <p:spTree>
      <p:nvGrpSpPr>
        <p:cNvPr id="1" name="Shape 107"/>
        <p:cNvGrpSpPr/>
        <p:nvPr/>
      </p:nvGrpSpPr>
      <p:grpSpPr>
        <a:xfrm>
          <a:off x="0" y="0"/>
          <a:ext cx="0" cy="0"/>
          <a:chOff x="0" y="0"/>
          <a:chExt cx="0" cy="0"/>
        </a:xfrm>
      </p:grpSpPr>
      <p:pic>
        <p:nvPicPr>
          <p:cNvPr id="108" name="Google Shape;108;p2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09" name="Google Shape;109;p2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1" name="Google Shape;111;p2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12" name="Google Shape;112;p22"/>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3" name="Google Shape;113;p22"/>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4" name="Google Shape;114;p22"/>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15" name="Google Shape;115;p22"/>
          <p:cNvSpPr>
            <a:spLocks noGrp="1"/>
          </p:cNvSpPr>
          <p:nvPr>
            <p:ph type="pic" idx="6"/>
          </p:nvPr>
        </p:nvSpPr>
        <p:spPr>
          <a:xfrm>
            <a:off x="3180000" y="3362975"/>
            <a:ext cx="1293300" cy="1384500"/>
          </a:xfrm>
          <a:prstGeom prst="roundRect">
            <a:avLst>
              <a:gd name="adj" fmla="val 8277"/>
            </a:avLst>
          </a:prstGeom>
          <a:noFill/>
          <a:ln>
            <a:noFill/>
          </a:ln>
        </p:spPr>
      </p:sp>
      <p:sp>
        <p:nvSpPr>
          <p:cNvPr id="116" name="Google Shape;116;p22"/>
          <p:cNvSpPr>
            <a:spLocks noGrp="1"/>
          </p:cNvSpPr>
          <p:nvPr>
            <p:ph type="pic" idx="7"/>
          </p:nvPr>
        </p:nvSpPr>
        <p:spPr>
          <a:xfrm>
            <a:off x="7653000" y="1780500"/>
            <a:ext cx="1293300" cy="1384500"/>
          </a:xfrm>
          <a:prstGeom prst="roundRect">
            <a:avLst>
              <a:gd name="adj" fmla="val 8277"/>
            </a:avLst>
          </a:prstGeom>
          <a:noFill/>
          <a:ln>
            <a:noFill/>
          </a:ln>
        </p:spPr>
      </p:sp>
      <p:sp>
        <p:nvSpPr>
          <p:cNvPr id="117" name="Google Shape;117;p22"/>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F - Texte &amp; Image / Fond Clair 6">
  <p:cSld name="TITLE_AND_BODY_1">
    <p:spTree>
      <p:nvGrpSpPr>
        <p:cNvPr id="1" name="Shape 118"/>
        <p:cNvGrpSpPr/>
        <p:nvPr/>
      </p:nvGrpSpPr>
      <p:grpSpPr>
        <a:xfrm>
          <a:off x="0" y="0"/>
          <a:ext cx="0" cy="0"/>
          <a:chOff x="0" y="0"/>
          <a:chExt cx="0" cy="0"/>
        </a:xfrm>
      </p:grpSpPr>
      <p:pic>
        <p:nvPicPr>
          <p:cNvPr id="119" name="Google Shape;119;p2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20" name="Google Shape;120;p2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3"/>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2" name="Google Shape;122;p2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23" name="Google Shape;123;p23"/>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4" name="Google Shape;124;p23"/>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5" name="Google Shape;125;p23"/>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26" name="Google Shape;126;p23"/>
          <p:cNvSpPr>
            <a:spLocks noGrp="1"/>
          </p:cNvSpPr>
          <p:nvPr>
            <p:ph type="pic" idx="6"/>
          </p:nvPr>
        </p:nvSpPr>
        <p:spPr>
          <a:xfrm>
            <a:off x="2435425" y="198000"/>
            <a:ext cx="2037600" cy="3144900"/>
          </a:xfrm>
          <a:prstGeom prst="roundRect">
            <a:avLst>
              <a:gd name="adj" fmla="val 5271"/>
            </a:avLst>
          </a:prstGeom>
          <a:noFill/>
          <a:ln>
            <a:noFill/>
          </a:ln>
        </p:spPr>
      </p:sp>
      <p:sp>
        <p:nvSpPr>
          <p:cNvPr id="127" name="Google Shape;127;p23"/>
          <p:cNvSpPr>
            <a:spLocks noGrp="1"/>
          </p:cNvSpPr>
          <p:nvPr>
            <p:ph type="pic" idx="7"/>
          </p:nvPr>
        </p:nvSpPr>
        <p:spPr>
          <a:xfrm>
            <a:off x="4671463" y="198000"/>
            <a:ext cx="2037600" cy="3144900"/>
          </a:xfrm>
          <a:prstGeom prst="roundRect">
            <a:avLst>
              <a:gd name="adj" fmla="val 5271"/>
            </a:avLst>
          </a:prstGeom>
          <a:noFill/>
          <a:ln>
            <a:noFill/>
          </a:ln>
        </p:spPr>
      </p:sp>
      <p:sp>
        <p:nvSpPr>
          <p:cNvPr id="128" name="Google Shape;128;p23"/>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G - Texte &amp; Image / Fond Clair 7">
  <p:cSld name="TITLE_AND_BODY_1_2">
    <p:spTree>
      <p:nvGrpSpPr>
        <p:cNvPr id="1"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31" name="Google Shape;131;p2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2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3" name="Google Shape;133;p24"/>
          <p:cNvSpPr txBox="1">
            <a:spLocks noGrp="1"/>
          </p:cNvSpPr>
          <p:nvPr>
            <p:ph type="sldNum" idx="12"/>
          </p:nvPr>
        </p:nvSpPr>
        <p:spPr>
          <a:xfrm>
            <a:off x="8398500" y="487470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34" name="Google Shape;134;p24"/>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5" name="Google Shape;135;p24"/>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6" name="Google Shape;136;p24"/>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7" name="Google Shape;137;p24"/>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8" name="Google Shape;138;p24"/>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39" name="Google Shape;139;p24"/>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40" name="Google Shape;140;p24"/>
          <p:cNvSpPr>
            <a:spLocks noGrp="1"/>
          </p:cNvSpPr>
          <p:nvPr>
            <p:ph type="pic" idx="9"/>
          </p:nvPr>
        </p:nvSpPr>
        <p:spPr>
          <a:xfrm>
            <a:off x="4671488" y="198000"/>
            <a:ext cx="2037600" cy="1584000"/>
          </a:xfrm>
          <a:prstGeom prst="roundRect">
            <a:avLst>
              <a:gd name="adj" fmla="val 3727"/>
            </a:avLst>
          </a:prstGeom>
          <a:noFill/>
          <a:ln>
            <a:noFill/>
          </a:ln>
        </p:spPr>
      </p:sp>
      <p:sp>
        <p:nvSpPr>
          <p:cNvPr id="141" name="Google Shape;141;p24"/>
          <p:cNvSpPr>
            <a:spLocks noGrp="1"/>
          </p:cNvSpPr>
          <p:nvPr>
            <p:ph type="pic" idx="13"/>
          </p:nvPr>
        </p:nvSpPr>
        <p:spPr>
          <a:xfrm>
            <a:off x="6907550" y="198000"/>
            <a:ext cx="2037600" cy="1584000"/>
          </a:xfrm>
          <a:prstGeom prst="roundRect">
            <a:avLst>
              <a:gd name="adj" fmla="val 3727"/>
            </a:avLst>
          </a:prstGeom>
          <a:noFill/>
          <a:ln>
            <a:noFill/>
          </a:ln>
        </p:spPr>
      </p:sp>
      <p:sp>
        <p:nvSpPr>
          <p:cNvPr id="142" name="Google Shape;142;p24"/>
          <p:cNvSpPr>
            <a:spLocks noGrp="1"/>
          </p:cNvSpPr>
          <p:nvPr>
            <p:ph type="pic" idx="14"/>
          </p:nvPr>
        </p:nvSpPr>
        <p:spPr>
          <a:xfrm>
            <a:off x="2435425" y="203055"/>
            <a:ext cx="2037600" cy="1584000"/>
          </a:xfrm>
          <a:prstGeom prst="roundRect">
            <a:avLst>
              <a:gd name="adj" fmla="val 3727"/>
            </a:avLst>
          </a:prstGeom>
          <a:noFill/>
          <a:ln>
            <a:noFill/>
          </a:ln>
        </p:spPr>
      </p:sp>
      <p:sp>
        <p:nvSpPr>
          <p:cNvPr id="143" name="Google Shape;143;p24"/>
          <p:cNvSpPr>
            <a:spLocks noGrp="1"/>
          </p:cNvSpPr>
          <p:nvPr>
            <p:ph type="pic" idx="15"/>
          </p:nvPr>
        </p:nvSpPr>
        <p:spPr>
          <a:xfrm>
            <a:off x="4672338" y="2571746"/>
            <a:ext cx="2037600" cy="1578900"/>
          </a:xfrm>
          <a:prstGeom prst="roundRect">
            <a:avLst>
              <a:gd name="adj" fmla="val 3727"/>
            </a:avLst>
          </a:prstGeom>
          <a:noFill/>
          <a:ln>
            <a:noFill/>
          </a:ln>
        </p:spPr>
      </p:sp>
      <p:sp>
        <p:nvSpPr>
          <p:cNvPr id="144" name="Google Shape;144;p24"/>
          <p:cNvSpPr>
            <a:spLocks noGrp="1"/>
          </p:cNvSpPr>
          <p:nvPr>
            <p:ph type="pic" idx="16"/>
          </p:nvPr>
        </p:nvSpPr>
        <p:spPr>
          <a:xfrm>
            <a:off x="6907988" y="2571746"/>
            <a:ext cx="2037600" cy="1578900"/>
          </a:xfrm>
          <a:prstGeom prst="roundRect">
            <a:avLst>
              <a:gd name="adj" fmla="val 3727"/>
            </a:avLst>
          </a:prstGeom>
          <a:noFill/>
          <a:ln>
            <a:noFill/>
          </a:ln>
        </p:spPr>
      </p:sp>
      <p:sp>
        <p:nvSpPr>
          <p:cNvPr id="145" name="Google Shape;145;p24"/>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H - Texte &amp; Image / Fond Clair 8">
  <p:cSld name="TITLE_AND_BODY_1_1">
    <p:spTree>
      <p:nvGrpSpPr>
        <p:cNvPr id="1" name="Shape 146"/>
        <p:cNvGrpSpPr/>
        <p:nvPr/>
      </p:nvGrpSpPr>
      <p:grpSpPr>
        <a:xfrm>
          <a:off x="0" y="0"/>
          <a:ext cx="0" cy="0"/>
          <a:chOff x="0" y="0"/>
          <a:chExt cx="0" cy="0"/>
        </a:xfrm>
      </p:grpSpPr>
      <p:pic>
        <p:nvPicPr>
          <p:cNvPr id="147" name="Google Shape;147;p2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48" name="Google Shape;148;p2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5"/>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0" name="Google Shape;150;p2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51" name="Google Shape;151;p25"/>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2" name="Google Shape;152;p25"/>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3" name="Google Shape;153;p25"/>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4" name="Google Shape;154;p25"/>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55" name="Google Shape;155;p25"/>
          <p:cNvSpPr>
            <a:spLocks noGrp="1"/>
          </p:cNvSpPr>
          <p:nvPr>
            <p:ph type="pic" idx="7"/>
          </p:nvPr>
        </p:nvSpPr>
        <p:spPr>
          <a:xfrm>
            <a:off x="3179925" y="198009"/>
            <a:ext cx="1292100" cy="2667000"/>
          </a:xfrm>
          <a:prstGeom prst="roundRect">
            <a:avLst>
              <a:gd name="adj" fmla="val 3727"/>
            </a:avLst>
          </a:prstGeom>
          <a:noFill/>
          <a:ln>
            <a:noFill/>
          </a:ln>
        </p:spPr>
      </p:sp>
      <p:sp>
        <p:nvSpPr>
          <p:cNvPr id="156" name="Google Shape;156;p25"/>
          <p:cNvSpPr>
            <a:spLocks noGrp="1"/>
          </p:cNvSpPr>
          <p:nvPr>
            <p:ph type="pic" idx="8"/>
          </p:nvPr>
        </p:nvSpPr>
        <p:spPr>
          <a:xfrm>
            <a:off x="4671000" y="198009"/>
            <a:ext cx="1292100" cy="2667000"/>
          </a:xfrm>
          <a:prstGeom prst="roundRect">
            <a:avLst>
              <a:gd name="adj" fmla="val 3727"/>
            </a:avLst>
          </a:prstGeom>
          <a:noFill/>
          <a:ln>
            <a:noFill/>
          </a:ln>
        </p:spPr>
      </p:sp>
      <p:sp>
        <p:nvSpPr>
          <p:cNvPr id="157" name="Google Shape;157;p25"/>
          <p:cNvSpPr>
            <a:spLocks noGrp="1"/>
          </p:cNvSpPr>
          <p:nvPr>
            <p:ph type="pic" idx="9"/>
          </p:nvPr>
        </p:nvSpPr>
        <p:spPr>
          <a:xfrm>
            <a:off x="7653050" y="198009"/>
            <a:ext cx="1292100" cy="2667000"/>
          </a:xfrm>
          <a:prstGeom prst="roundRect">
            <a:avLst>
              <a:gd name="adj" fmla="val 3727"/>
            </a:avLst>
          </a:prstGeom>
          <a:noFill/>
          <a:ln>
            <a:noFill/>
          </a:ln>
        </p:spPr>
      </p:sp>
      <p:sp>
        <p:nvSpPr>
          <p:cNvPr id="158" name="Google Shape;158;p25"/>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I - Texte &amp; Image / Fond Clair 9">
  <p:cSld name="TITLE_AND_BODY_1_1_1">
    <p:spTree>
      <p:nvGrpSpPr>
        <p:cNvPr id="1" name="Shape 159"/>
        <p:cNvGrpSpPr/>
        <p:nvPr/>
      </p:nvGrpSpPr>
      <p:grpSpPr>
        <a:xfrm>
          <a:off x="0" y="0"/>
          <a:ext cx="0" cy="0"/>
          <a:chOff x="0" y="0"/>
          <a:chExt cx="0" cy="0"/>
        </a:xfrm>
      </p:grpSpPr>
      <p:pic>
        <p:nvPicPr>
          <p:cNvPr id="160" name="Google Shape;160;p2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61" name="Google Shape;161;p2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3" name="Google Shape;163;p26"/>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4" name="Google Shape;164;p26"/>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5" name="Google Shape;165;p26"/>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6" name="Google Shape;166;p26"/>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7" name="Google Shape;167;p26"/>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8" name="Google Shape;168;p26"/>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69" name="Google Shape;169;p26"/>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0" name="Google Shape;170;p26"/>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71" name="Google Shape;171;p26"/>
          <p:cNvSpPr txBox="1">
            <a:spLocks noGrp="1"/>
          </p:cNvSpPr>
          <p:nvPr>
            <p:ph type="sldNum" idx="12"/>
          </p:nvPr>
        </p:nvSpPr>
        <p:spPr>
          <a:xfrm>
            <a:off x="8398500" y="4766025"/>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72" name="Google Shape;172;p26"/>
          <p:cNvSpPr>
            <a:spLocks noGrp="1"/>
          </p:cNvSpPr>
          <p:nvPr>
            <p:ph type="pic" idx="14"/>
          </p:nvPr>
        </p:nvSpPr>
        <p:spPr>
          <a:xfrm>
            <a:off x="3179925" y="204528"/>
            <a:ext cx="1292100" cy="1292400"/>
          </a:xfrm>
          <a:prstGeom prst="roundRect">
            <a:avLst>
              <a:gd name="adj" fmla="val 3727"/>
            </a:avLst>
          </a:prstGeom>
          <a:noFill/>
          <a:ln>
            <a:noFill/>
          </a:ln>
        </p:spPr>
      </p:sp>
      <p:sp>
        <p:nvSpPr>
          <p:cNvPr id="173" name="Google Shape;173;p26"/>
          <p:cNvSpPr>
            <a:spLocks noGrp="1"/>
          </p:cNvSpPr>
          <p:nvPr>
            <p:ph type="pic" idx="15"/>
          </p:nvPr>
        </p:nvSpPr>
        <p:spPr>
          <a:xfrm>
            <a:off x="4671000" y="204528"/>
            <a:ext cx="1292100" cy="1292400"/>
          </a:xfrm>
          <a:prstGeom prst="roundRect">
            <a:avLst>
              <a:gd name="adj" fmla="val 3727"/>
            </a:avLst>
          </a:prstGeom>
          <a:noFill/>
          <a:ln>
            <a:noFill/>
          </a:ln>
        </p:spPr>
      </p:sp>
      <p:sp>
        <p:nvSpPr>
          <p:cNvPr id="174" name="Google Shape;174;p26"/>
          <p:cNvSpPr>
            <a:spLocks noGrp="1"/>
          </p:cNvSpPr>
          <p:nvPr>
            <p:ph type="pic" idx="16"/>
          </p:nvPr>
        </p:nvSpPr>
        <p:spPr>
          <a:xfrm>
            <a:off x="6162050" y="204523"/>
            <a:ext cx="1292100" cy="1292400"/>
          </a:xfrm>
          <a:prstGeom prst="roundRect">
            <a:avLst>
              <a:gd name="adj" fmla="val 3727"/>
            </a:avLst>
          </a:prstGeom>
          <a:noFill/>
          <a:ln>
            <a:noFill/>
          </a:ln>
        </p:spPr>
      </p:sp>
      <p:sp>
        <p:nvSpPr>
          <p:cNvPr id="175" name="Google Shape;175;p26"/>
          <p:cNvSpPr>
            <a:spLocks noGrp="1"/>
          </p:cNvSpPr>
          <p:nvPr>
            <p:ph type="pic" idx="17"/>
          </p:nvPr>
        </p:nvSpPr>
        <p:spPr>
          <a:xfrm>
            <a:off x="3179925" y="2571753"/>
            <a:ext cx="1292100" cy="1292400"/>
          </a:xfrm>
          <a:prstGeom prst="roundRect">
            <a:avLst>
              <a:gd name="adj" fmla="val 3727"/>
            </a:avLst>
          </a:prstGeom>
          <a:noFill/>
          <a:ln>
            <a:noFill/>
          </a:ln>
        </p:spPr>
      </p:sp>
      <p:sp>
        <p:nvSpPr>
          <p:cNvPr id="176" name="Google Shape;176;p26"/>
          <p:cNvSpPr>
            <a:spLocks noGrp="1"/>
          </p:cNvSpPr>
          <p:nvPr>
            <p:ph type="pic" idx="18"/>
          </p:nvPr>
        </p:nvSpPr>
        <p:spPr>
          <a:xfrm>
            <a:off x="4671000" y="2571753"/>
            <a:ext cx="1292100" cy="1292400"/>
          </a:xfrm>
          <a:prstGeom prst="roundRect">
            <a:avLst>
              <a:gd name="adj" fmla="val 3727"/>
            </a:avLst>
          </a:prstGeom>
          <a:noFill/>
          <a:ln>
            <a:noFill/>
          </a:ln>
        </p:spPr>
      </p:sp>
      <p:sp>
        <p:nvSpPr>
          <p:cNvPr id="177" name="Google Shape;177;p26"/>
          <p:cNvSpPr>
            <a:spLocks noGrp="1"/>
          </p:cNvSpPr>
          <p:nvPr>
            <p:ph type="pic" idx="19"/>
          </p:nvPr>
        </p:nvSpPr>
        <p:spPr>
          <a:xfrm>
            <a:off x="6162050" y="2571748"/>
            <a:ext cx="1292100" cy="1292400"/>
          </a:xfrm>
          <a:prstGeom prst="roundRect">
            <a:avLst>
              <a:gd name="adj" fmla="val 3727"/>
            </a:avLst>
          </a:prstGeom>
          <a:noFill/>
          <a:ln>
            <a:noFill/>
          </a:ln>
        </p:spPr>
      </p:sp>
      <p:sp>
        <p:nvSpPr>
          <p:cNvPr id="178" name="Google Shape;178;p26"/>
          <p:cNvSpPr>
            <a:spLocks noGrp="1"/>
          </p:cNvSpPr>
          <p:nvPr>
            <p:ph type="pic" idx="20"/>
          </p:nvPr>
        </p:nvSpPr>
        <p:spPr>
          <a:xfrm>
            <a:off x="7653050" y="204528"/>
            <a:ext cx="1292100" cy="1292400"/>
          </a:xfrm>
          <a:prstGeom prst="roundRect">
            <a:avLst>
              <a:gd name="adj" fmla="val 3727"/>
            </a:avLst>
          </a:prstGeom>
          <a:noFill/>
          <a:ln>
            <a:noFill/>
          </a:ln>
        </p:spPr>
      </p:sp>
      <p:sp>
        <p:nvSpPr>
          <p:cNvPr id="179" name="Google Shape;179;p26"/>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J - Texte &amp; Image / Fond Clair 10">
  <p:cSld name="TITLE_AND_BODY_1_1_1_1">
    <p:spTree>
      <p:nvGrpSpPr>
        <p:cNvPr id="1" name="Shape 180"/>
        <p:cNvGrpSpPr/>
        <p:nvPr/>
      </p:nvGrpSpPr>
      <p:grpSpPr>
        <a:xfrm>
          <a:off x="0" y="0"/>
          <a:ext cx="0" cy="0"/>
          <a:chOff x="0" y="0"/>
          <a:chExt cx="0" cy="0"/>
        </a:xfrm>
      </p:grpSpPr>
      <p:sp>
        <p:nvSpPr>
          <p:cNvPr id="181" name="Google Shape;181;p27"/>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82" name="Google Shape;182;p2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3" name="Google Shape;183;p2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4" name="Google Shape;184;p27"/>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85" name="Google Shape;185;p27"/>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K - Texte / Fond Clair 11">
  <p:cSld name="TITLE_AND_BODY_1_1_1_1_1">
    <p:spTree>
      <p:nvGrpSpPr>
        <p:cNvPr id="1" name="Shape 186"/>
        <p:cNvGrpSpPr/>
        <p:nvPr/>
      </p:nvGrpSpPr>
      <p:grpSpPr>
        <a:xfrm>
          <a:off x="0" y="0"/>
          <a:ext cx="0" cy="0"/>
          <a:chOff x="0" y="0"/>
          <a:chExt cx="0" cy="0"/>
        </a:xfrm>
      </p:grpSpPr>
      <p:pic>
        <p:nvPicPr>
          <p:cNvPr id="187" name="Google Shape;187;p2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88" name="Google Shape;188;p2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89" name="Google Shape;189;p28"/>
          <p:cNvSpPr txBox="1">
            <a:spLocks noGrp="1"/>
          </p:cNvSpPr>
          <p:nvPr>
            <p:ph type="body" idx="1"/>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0" name="Google Shape;190;p28"/>
          <p:cNvSpPr txBox="1">
            <a:spLocks noGrp="1"/>
          </p:cNvSpPr>
          <p:nvPr>
            <p:ph type="body" idx="2"/>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1" name="Google Shape;191;p28"/>
          <p:cNvSpPr txBox="1">
            <a:spLocks noGrp="1"/>
          </p:cNvSpPr>
          <p:nvPr>
            <p:ph type="body" idx="3"/>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2" name="Google Shape;192;p28"/>
          <p:cNvSpPr txBox="1">
            <a:spLocks noGrp="1"/>
          </p:cNvSpPr>
          <p:nvPr>
            <p:ph type="subTitle" idx="4"/>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L - Texte &amp; Image / Fond Clair 12">
  <p:cSld name="TITLE_AND_BODY_1_1_1_1_1_1">
    <p:spTree>
      <p:nvGrpSpPr>
        <p:cNvPr id="1" name="Shape 193"/>
        <p:cNvGrpSpPr/>
        <p:nvPr/>
      </p:nvGrpSpPr>
      <p:grpSpPr>
        <a:xfrm>
          <a:off x="0" y="0"/>
          <a:ext cx="0" cy="0"/>
          <a:chOff x="0" y="0"/>
          <a:chExt cx="0" cy="0"/>
        </a:xfrm>
      </p:grpSpPr>
      <p:pic>
        <p:nvPicPr>
          <p:cNvPr id="194" name="Google Shape;194;p2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195" name="Google Shape;195;p2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196" name="Google Shape;196;p2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29"/>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8" name="Google Shape;198;p29"/>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199" name="Google Shape;199;p29"/>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0" name="Google Shape;200;p29"/>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01" name="Google Shape;201;p29"/>
          <p:cNvSpPr>
            <a:spLocks noGrp="1"/>
          </p:cNvSpPr>
          <p:nvPr>
            <p:ph type="pic" idx="6"/>
          </p:nvPr>
        </p:nvSpPr>
        <p:spPr>
          <a:xfrm>
            <a:off x="197925" y="700500"/>
            <a:ext cx="2038500" cy="1673400"/>
          </a:xfrm>
          <a:prstGeom prst="roundRect">
            <a:avLst>
              <a:gd name="adj" fmla="val 2361"/>
            </a:avLst>
          </a:prstGeom>
          <a:noFill/>
          <a:ln>
            <a:noFill/>
          </a:ln>
        </p:spPr>
      </p:sp>
      <p:sp>
        <p:nvSpPr>
          <p:cNvPr id="202" name="Google Shape;202;p29"/>
          <p:cNvSpPr>
            <a:spLocks noGrp="1"/>
          </p:cNvSpPr>
          <p:nvPr>
            <p:ph type="pic" idx="7"/>
          </p:nvPr>
        </p:nvSpPr>
        <p:spPr>
          <a:xfrm>
            <a:off x="2434450" y="700500"/>
            <a:ext cx="2038500" cy="1673400"/>
          </a:xfrm>
          <a:prstGeom prst="roundRect">
            <a:avLst>
              <a:gd name="adj" fmla="val 2361"/>
            </a:avLst>
          </a:prstGeom>
          <a:noFill/>
          <a:ln>
            <a:noFill/>
          </a:ln>
        </p:spPr>
      </p:sp>
      <p:sp>
        <p:nvSpPr>
          <p:cNvPr id="203" name="Google Shape;203;p29"/>
          <p:cNvSpPr>
            <a:spLocks noGrp="1"/>
          </p:cNvSpPr>
          <p:nvPr>
            <p:ph type="pic" idx="8"/>
          </p:nvPr>
        </p:nvSpPr>
        <p:spPr>
          <a:xfrm>
            <a:off x="4670975" y="700500"/>
            <a:ext cx="2038500" cy="1673400"/>
          </a:xfrm>
          <a:prstGeom prst="roundRect">
            <a:avLst>
              <a:gd name="adj" fmla="val 2361"/>
            </a:avLst>
          </a:prstGeom>
          <a:noFill/>
          <a:ln>
            <a:noFill/>
          </a:ln>
        </p:spPr>
      </p:sp>
      <p:sp>
        <p:nvSpPr>
          <p:cNvPr id="204" name="Google Shape;204;p29"/>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N - Texte / Fond Clair 14">
  <p:cSld name="TITLE_AND_BODY_1_1_1_1_1_1_1_1">
    <p:spTree>
      <p:nvGrpSpPr>
        <p:cNvPr id="1" name="Shape 211"/>
        <p:cNvGrpSpPr/>
        <p:nvPr/>
      </p:nvGrpSpPr>
      <p:grpSpPr>
        <a:xfrm>
          <a:off x="0" y="0"/>
          <a:ext cx="0" cy="0"/>
          <a:chOff x="0" y="0"/>
          <a:chExt cx="0" cy="0"/>
        </a:xfrm>
      </p:grpSpPr>
      <p:pic>
        <p:nvPicPr>
          <p:cNvPr id="212" name="Google Shape;212;p3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13" name="Google Shape;213;p3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14" name="Google Shape;214;p3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31"/>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6" name="Google Shape;216;p31"/>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7" name="Google Shape;217;p31"/>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18" name="Google Shape;218;p31"/>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O - Vide / Fond Clair">
  <p:cSld name="TITLE_AND_BODY_1_1_1_1_1_1_1_1_1">
    <p:spTree>
      <p:nvGrpSpPr>
        <p:cNvPr id="1" name="Shape 219"/>
        <p:cNvGrpSpPr/>
        <p:nvPr/>
      </p:nvGrpSpPr>
      <p:grpSpPr>
        <a:xfrm>
          <a:off x="0" y="0"/>
          <a:ext cx="0" cy="0"/>
          <a:chOff x="0" y="0"/>
          <a:chExt cx="0" cy="0"/>
        </a:xfrm>
      </p:grpSpPr>
      <p:pic>
        <p:nvPicPr>
          <p:cNvPr id="220" name="Google Shape;220;p3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1" name="Google Shape;221;p3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F - Titre et Image / Fond Blanc">
  <p:cSld name="TITLE_AND_TWO_COLUMNS_4">
    <p:spTree>
      <p:nvGrpSpPr>
        <p:cNvPr id="1" name="Shape 222"/>
        <p:cNvGrpSpPr/>
        <p:nvPr/>
      </p:nvGrpSpPr>
      <p:grpSpPr>
        <a:xfrm>
          <a:off x="0" y="0"/>
          <a:ext cx="0" cy="0"/>
          <a:chOff x="0" y="0"/>
          <a:chExt cx="0" cy="0"/>
        </a:xfrm>
      </p:grpSpPr>
      <p:pic>
        <p:nvPicPr>
          <p:cNvPr id="223" name="Google Shape;223;p3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24" name="Google Shape;224;p3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5" name="Google Shape;225;p33"/>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33"/>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6A - Titre seul / Fond Navy">
  <p:cSld name="TITLE_AND_TWO_COLUMNS_3">
    <p:bg>
      <p:bgPr>
        <a:solidFill>
          <a:schemeClr val="dk2"/>
        </a:solidFill>
        <a:effectLst/>
      </p:bgPr>
    </p:bg>
    <p:spTree>
      <p:nvGrpSpPr>
        <p:cNvPr id="1" name="Shape 227"/>
        <p:cNvGrpSpPr/>
        <p:nvPr/>
      </p:nvGrpSpPr>
      <p:grpSpPr>
        <a:xfrm>
          <a:off x="0" y="0"/>
          <a:ext cx="0" cy="0"/>
          <a:chOff x="0" y="0"/>
          <a:chExt cx="0" cy="0"/>
        </a:xfrm>
      </p:grpSpPr>
      <p:sp>
        <p:nvSpPr>
          <p:cNvPr id="228" name="Google Shape;228;p3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29" name="Google Shape;229;p34"/>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0" name="Google Shape;230;p34"/>
          <p:cNvPicPr preferRelativeResize="0"/>
          <p:nvPr/>
        </p:nvPicPr>
        <p:blipFill>
          <a:blip r:embed="rId2">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D - Titre et Image / Fond Navy">
  <p:cSld name="TITLE_AND_TWO_COLUMNS_3_1">
    <p:bg>
      <p:bgPr>
        <a:solidFill>
          <a:schemeClr val="dk2"/>
        </a:solidFill>
        <a:effectLst/>
      </p:bgPr>
    </p:bg>
    <p:spTree>
      <p:nvGrpSpPr>
        <p:cNvPr id="1" name="Shape 231"/>
        <p:cNvGrpSpPr/>
        <p:nvPr/>
      </p:nvGrpSpPr>
      <p:grpSpPr>
        <a:xfrm>
          <a:off x="0" y="0"/>
          <a:ext cx="0" cy="0"/>
          <a:chOff x="0" y="0"/>
          <a:chExt cx="0" cy="0"/>
        </a:xfrm>
      </p:grpSpPr>
      <p:sp>
        <p:nvSpPr>
          <p:cNvPr id="232" name="Google Shape;232;p3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3" name="Google Shape;233;p35"/>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34" name="Google Shape;234;p35"/>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235" name="Google Shape;235;p35"/>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B - Titre seul / Fond Grey">
  <p:cSld name="TITLE_AND_TWO_COLUMNS_2">
    <p:bg>
      <p:bgPr>
        <a:solidFill>
          <a:schemeClr val="accent1"/>
        </a:solidFill>
        <a:effectLst/>
      </p:bgPr>
    </p:bg>
    <p:spTree>
      <p:nvGrpSpPr>
        <p:cNvPr id="1" name="Shape 236"/>
        <p:cNvGrpSpPr/>
        <p:nvPr/>
      </p:nvGrpSpPr>
      <p:grpSpPr>
        <a:xfrm>
          <a:off x="0" y="0"/>
          <a:ext cx="0" cy="0"/>
          <a:chOff x="0" y="0"/>
          <a:chExt cx="0" cy="0"/>
        </a:xfrm>
      </p:grpSpPr>
      <p:pic>
        <p:nvPicPr>
          <p:cNvPr id="237" name="Google Shape;237;p3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38" name="Google Shape;238;p3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39" name="Google Shape;239;p36"/>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6C - Titre Seul / Fond Blanc">
  <p:cSld name="TITLE_AND_TWO_COLUMNS_2_2">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C - Titre Seul / Fond Blanc" preserve="1" userDrawn="1">
  <p:cSld name="1_6C - Titre Seul / Fond Blanc">
    <p:bg>
      <p:bgPr>
        <a:solidFill>
          <a:schemeClr val="lt1"/>
        </a:solidFill>
        <a:effectLst/>
      </p:bgPr>
    </p:bg>
    <p:spTree>
      <p:nvGrpSpPr>
        <p:cNvPr id="1" name="Shape 240"/>
        <p:cNvGrpSpPr/>
        <p:nvPr/>
      </p:nvGrpSpPr>
      <p:grpSpPr>
        <a:xfrm>
          <a:off x="0" y="0"/>
          <a:ext cx="0" cy="0"/>
          <a:chOff x="0" y="0"/>
          <a:chExt cx="0" cy="0"/>
        </a:xfrm>
      </p:grpSpPr>
      <p:pic>
        <p:nvPicPr>
          <p:cNvPr id="241" name="Google Shape;241;p3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2" name="Google Shape;242;p3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3" name="Google Shape;243;p37"/>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800"/>
              <a:buFont typeface="Inter"/>
              <a:buNone/>
              <a:defRPr sz="1800">
                <a:latin typeface="Inter"/>
                <a:ea typeface="Inter"/>
                <a:cs typeface="Inter"/>
                <a:sym typeface="Inter"/>
              </a:defRPr>
            </a:lvl2pPr>
            <a:lvl3pPr lvl="2">
              <a:spcBef>
                <a:spcPts val="0"/>
              </a:spcBef>
              <a:spcAft>
                <a:spcPts val="0"/>
              </a:spcAft>
              <a:buSzPts val="1800"/>
              <a:buFont typeface="Inter"/>
              <a:buNone/>
              <a:defRPr sz="1800">
                <a:latin typeface="Inter"/>
                <a:ea typeface="Inter"/>
                <a:cs typeface="Inter"/>
                <a:sym typeface="Inter"/>
              </a:defRPr>
            </a:lvl3pPr>
            <a:lvl4pPr lvl="3">
              <a:spcBef>
                <a:spcPts val="0"/>
              </a:spcBef>
              <a:spcAft>
                <a:spcPts val="0"/>
              </a:spcAft>
              <a:buSzPts val="1800"/>
              <a:buFont typeface="Inter"/>
              <a:buNone/>
              <a:defRPr sz="1800">
                <a:latin typeface="Inter"/>
                <a:ea typeface="Inter"/>
                <a:cs typeface="Inter"/>
                <a:sym typeface="Inter"/>
              </a:defRPr>
            </a:lvl4pPr>
            <a:lvl5pPr lvl="4">
              <a:spcBef>
                <a:spcPts val="0"/>
              </a:spcBef>
              <a:spcAft>
                <a:spcPts val="0"/>
              </a:spcAft>
              <a:buSzPts val="1800"/>
              <a:buFont typeface="Inter"/>
              <a:buNone/>
              <a:defRPr sz="1800">
                <a:latin typeface="Inter"/>
                <a:ea typeface="Inter"/>
                <a:cs typeface="Inter"/>
                <a:sym typeface="Inter"/>
              </a:defRPr>
            </a:lvl5pPr>
            <a:lvl6pPr lvl="5">
              <a:spcBef>
                <a:spcPts val="0"/>
              </a:spcBef>
              <a:spcAft>
                <a:spcPts val="0"/>
              </a:spcAft>
              <a:buSzPts val="1800"/>
              <a:buFont typeface="Inter"/>
              <a:buNone/>
              <a:defRPr sz="1800">
                <a:latin typeface="Inter"/>
                <a:ea typeface="Inter"/>
                <a:cs typeface="Inter"/>
                <a:sym typeface="Inter"/>
              </a:defRPr>
            </a:lvl6pPr>
            <a:lvl7pPr lvl="6">
              <a:spcBef>
                <a:spcPts val="0"/>
              </a:spcBef>
              <a:spcAft>
                <a:spcPts val="0"/>
              </a:spcAft>
              <a:buSzPts val="1800"/>
              <a:buFont typeface="Inter"/>
              <a:buNone/>
              <a:defRPr sz="1800">
                <a:latin typeface="Inter"/>
                <a:ea typeface="Inter"/>
                <a:cs typeface="Inter"/>
                <a:sym typeface="Inter"/>
              </a:defRPr>
            </a:lvl7pPr>
            <a:lvl8pPr lvl="7">
              <a:spcBef>
                <a:spcPts val="0"/>
              </a:spcBef>
              <a:spcAft>
                <a:spcPts val="0"/>
              </a:spcAft>
              <a:buSzPts val="1800"/>
              <a:buFont typeface="Inter"/>
              <a:buNone/>
              <a:defRPr sz="1800">
                <a:latin typeface="Inter"/>
                <a:ea typeface="Inter"/>
                <a:cs typeface="Inter"/>
                <a:sym typeface="Inter"/>
              </a:defRPr>
            </a:lvl8pPr>
            <a:lvl9pPr lvl="8">
              <a:spcBef>
                <a:spcPts val="0"/>
              </a:spcBef>
              <a:spcAft>
                <a:spcPts val="0"/>
              </a:spcAft>
              <a:buSzPts val="1800"/>
              <a:buFont typeface="Inter"/>
              <a:buNone/>
              <a:defRPr sz="1800">
                <a:latin typeface="Inter"/>
                <a:ea typeface="Inter"/>
                <a:cs typeface="Inter"/>
                <a:sym typeface="Inter"/>
              </a:defRPr>
            </a:lvl9pPr>
          </a:lstStyle>
          <a:p>
            <a:endParaRPr/>
          </a:p>
        </p:txBody>
      </p:sp>
      <p:sp>
        <p:nvSpPr>
          <p:cNvPr id="3" name="Content Placeholder 2">
            <a:extLst>
              <a:ext uri="{FF2B5EF4-FFF2-40B4-BE49-F238E27FC236}">
                <a16:creationId xmlns:a16="http://schemas.microsoft.com/office/drawing/2014/main" id="{4B936976-35EF-CD56-8BC4-7DE21D98E10B}"/>
              </a:ext>
            </a:extLst>
          </p:cNvPr>
          <p:cNvSpPr>
            <a:spLocks noGrp="1"/>
          </p:cNvSpPr>
          <p:nvPr>
            <p:ph sz="quarter" idx="13"/>
          </p:nvPr>
        </p:nvSpPr>
        <p:spPr>
          <a:xfrm>
            <a:off x="197564" y="641350"/>
            <a:ext cx="8747999" cy="3951288"/>
          </a:xfrm>
          <a:prstGeom prst="rect">
            <a:avLst/>
          </a:prstGeom>
        </p:spPr>
        <p:txBody>
          <a:bodyPr/>
          <a:lstStyle>
            <a:lvl1pPr>
              <a:defRPr sz="2400">
                <a:latin typeface="+mj-lt"/>
              </a:defRPr>
            </a:lvl1pPr>
            <a:lvl2pPr>
              <a:defRPr sz="1050"/>
            </a:lvl2pPr>
            <a:lvl3pPr>
              <a:defRPr sz="1050"/>
            </a:lvl3pPr>
            <a:lvl4pPr>
              <a:defRPr sz="1050"/>
            </a:lvl4pPr>
            <a:lvl5pPr>
              <a:defRPr sz="1050"/>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Fifth level</a:t>
            </a:r>
          </a:p>
        </p:txBody>
      </p:sp>
    </p:spTree>
    <p:extLst>
      <p:ext uri="{BB962C8B-B14F-4D97-AF65-F5344CB8AC3E}">
        <p14:creationId xmlns:p14="http://schemas.microsoft.com/office/powerpoint/2010/main" val="3487171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6E - Titre et Image / Fond Grey">
  <p:cSld name="TITLE_AND_TWO_COLUMNS_2_1">
    <p:bg>
      <p:bgPr>
        <a:solidFill>
          <a:schemeClr val="accent1"/>
        </a:solidFill>
        <a:effectLst/>
      </p:bgPr>
    </p:bg>
    <p:spTree>
      <p:nvGrpSpPr>
        <p:cNvPr id="1" name="Shape 244"/>
        <p:cNvGrpSpPr/>
        <p:nvPr/>
      </p:nvGrpSpPr>
      <p:grpSpPr>
        <a:xfrm>
          <a:off x="0" y="0"/>
          <a:ext cx="0" cy="0"/>
          <a:chOff x="0" y="0"/>
          <a:chExt cx="0" cy="0"/>
        </a:xfrm>
      </p:grpSpPr>
      <p:pic>
        <p:nvPicPr>
          <p:cNvPr id="245" name="Google Shape;245;p3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46" name="Google Shape;246;p3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47" name="Google Shape;247;p3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38"/>
          <p:cNvSpPr>
            <a:spLocks noGrp="1"/>
          </p:cNvSpPr>
          <p:nvPr>
            <p:ph type="pic" idx="2"/>
          </p:nvPr>
        </p:nvSpPr>
        <p:spPr>
          <a:xfrm>
            <a:off x="198000" y="600075"/>
            <a:ext cx="8748000" cy="4028700"/>
          </a:xfrm>
          <a:prstGeom prst="roundRect">
            <a:avLst>
              <a:gd name="adj" fmla="val 1913"/>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A - Texte &amp; Image / Fond Grey 1">
  <p:cSld name="TITLE_AND_TWO_COLUMNS_1">
    <p:bg>
      <p:bgPr>
        <a:solidFill>
          <a:schemeClr val="accent1"/>
        </a:solidFill>
        <a:effectLst/>
      </p:bgPr>
    </p:bg>
    <p:spTree>
      <p:nvGrpSpPr>
        <p:cNvPr id="1" name="Shape 249"/>
        <p:cNvGrpSpPr/>
        <p:nvPr/>
      </p:nvGrpSpPr>
      <p:grpSpPr>
        <a:xfrm>
          <a:off x="0" y="0"/>
          <a:ext cx="0" cy="0"/>
          <a:chOff x="0" y="0"/>
          <a:chExt cx="0" cy="0"/>
        </a:xfrm>
      </p:grpSpPr>
      <p:pic>
        <p:nvPicPr>
          <p:cNvPr id="250" name="Google Shape;250;p3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1" name="Google Shape;251;p3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2" name="Google Shape;252;p39"/>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39"/>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54" name="Google Shape;254;p39"/>
          <p:cNvSpPr>
            <a:spLocks noGrp="1"/>
          </p:cNvSpPr>
          <p:nvPr>
            <p:ph type="pic" idx="3"/>
          </p:nvPr>
        </p:nvSpPr>
        <p:spPr>
          <a:xfrm>
            <a:off x="3180000" y="198000"/>
            <a:ext cx="5766000" cy="4549500"/>
          </a:xfrm>
          <a:prstGeom prst="roundRect">
            <a:avLst>
              <a:gd name="adj" fmla="val 2361"/>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5B - Texte &amp; Image / Fond Grey 2">
  <p:cSld name="TITLE_AND_TWO_COLUMNS_1_4">
    <p:bg>
      <p:bgPr>
        <a:solidFill>
          <a:schemeClr val="accent1"/>
        </a:solidFill>
        <a:effectLst/>
      </p:bgPr>
    </p:bg>
    <p:spTree>
      <p:nvGrpSpPr>
        <p:cNvPr id="1" name="Shape 255"/>
        <p:cNvGrpSpPr/>
        <p:nvPr/>
      </p:nvGrpSpPr>
      <p:grpSpPr>
        <a:xfrm>
          <a:off x="0" y="0"/>
          <a:ext cx="0" cy="0"/>
          <a:chOff x="0" y="0"/>
          <a:chExt cx="0" cy="0"/>
        </a:xfrm>
      </p:grpSpPr>
      <p:pic>
        <p:nvPicPr>
          <p:cNvPr id="256" name="Google Shape;256;p4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57" name="Google Shape;257;p4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58" name="Google Shape;258;p40"/>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0"/>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0" name="Google Shape;260;p40"/>
          <p:cNvSpPr>
            <a:spLocks noGrp="1"/>
          </p:cNvSpPr>
          <p:nvPr>
            <p:ph type="pic" idx="3"/>
          </p:nvPr>
        </p:nvSpPr>
        <p:spPr>
          <a:xfrm>
            <a:off x="3180000" y="198000"/>
            <a:ext cx="5766000" cy="2175600"/>
          </a:xfrm>
          <a:prstGeom prst="roundRect">
            <a:avLst>
              <a:gd name="adj" fmla="val 2361"/>
            </a:avLst>
          </a:prstGeom>
          <a:noFill/>
          <a:ln>
            <a:noFill/>
          </a:ln>
        </p:spPr>
      </p:sp>
      <p:sp>
        <p:nvSpPr>
          <p:cNvPr id="261" name="Google Shape;261;p40"/>
          <p:cNvSpPr txBox="1">
            <a:spLocks noGrp="1"/>
          </p:cNvSpPr>
          <p:nvPr>
            <p:ph type="body" idx="4"/>
          </p:nvPr>
        </p:nvSpPr>
        <p:spPr>
          <a:xfrm>
            <a:off x="3180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62" name="Google Shape;262;p40"/>
          <p:cNvSpPr txBox="1">
            <a:spLocks noGrp="1"/>
          </p:cNvSpPr>
          <p:nvPr>
            <p:ph type="body" idx="5"/>
          </p:nvPr>
        </p:nvSpPr>
        <p:spPr>
          <a:xfrm>
            <a:off x="6162000" y="2571900"/>
            <a:ext cx="2784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5C - Texte &amp; Image / Fond Grey 3">
  <p:cSld name="TITLE_AND_TWO_COLUMNS_1_4_2">
    <p:bg>
      <p:bgPr>
        <a:solidFill>
          <a:schemeClr val="accent1"/>
        </a:solidFill>
        <a:effectLst/>
      </p:bgPr>
    </p:bg>
    <p:spTree>
      <p:nvGrpSpPr>
        <p:cNvPr id="1" name="Shape 263"/>
        <p:cNvGrpSpPr/>
        <p:nvPr/>
      </p:nvGrpSpPr>
      <p:grpSpPr>
        <a:xfrm>
          <a:off x="0" y="0"/>
          <a:ext cx="0" cy="0"/>
          <a:chOff x="0" y="0"/>
          <a:chExt cx="0" cy="0"/>
        </a:xfrm>
      </p:grpSpPr>
      <p:pic>
        <p:nvPicPr>
          <p:cNvPr id="264" name="Google Shape;264;p4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65" name="Google Shape;265;p4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66" name="Google Shape;266;p41"/>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7" name="Google Shape;267;p41"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268" name="Google Shape;268;p41"/>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41"/>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D - Texte &amp; Image / Fond Grey 4">
  <p:cSld name="TITLE_AND_TWO_COLUMNS_1_4_1">
    <p:bg>
      <p:bgPr>
        <a:solidFill>
          <a:schemeClr val="accent1"/>
        </a:solidFill>
        <a:effectLst/>
      </p:bgPr>
    </p:bg>
    <p:spTree>
      <p:nvGrpSpPr>
        <p:cNvPr id="1" name="Shape 270"/>
        <p:cNvGrpSpPr/>
        <p:nvPr/>
      </p:nvGrpSpPr>
      <p:grpSpPr>
        <a:xfrm>
          <a:off x="0" y="0"/>
          <a:ext cx="0" cy="0"/>
          <a:chOff x="0" y="0"/>
          <a:chExt cx="0" cy="0"/>
        </a:xfrm>
      </p:grpSpPr>
      <p:pic>
        <p:nvPicPr>
          <p:cNvPr id="271" name="Google Shape;271;p4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72" name="Google Shape;272;p4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73" name="Google Shape;273;p42"/>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42"/>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5" name="Google Shape;275;p42"/>
          <p:cNvSpPr>
            <a:spLocks noGrp="1"/>
          </p:cNvSpPr>
          <p:nvPr>
            <p:ph type="pic" idx="3"/>
          </p:nvPr>
        </p:nvSpPr>
        <p:spPr>
          <a:xfrm>
            <a:off x="3180000" y="198000"/>
            <a:ext cx="2784000" cy="2175600"/>
          </a:xfrm>
          <a:prstGeom prst="roundRect">
            <a:avLst>
              <a:gd name="adj" fmla="val 2361"/>
            </a:avLst>
          </a:prstGeom>
          <a:noFill/>
          <a:ln>
            <a:noFill/>
          </a:ln>
        </p:spPr>
      </p:sp>
      <p:sp>
        <p:nvSpPr>
          <p:cNvPr id="276" name="Google Shape;276;p42"/>
          <p:cNvSpPr txBox="1">
            <a:spLocks noGrp="1"/>
          </p:cNvSpPr>
          <p:nvPr>
            <p:ph type="body" idx="4"/>
          </p:nvPr>
        </p:nvSpPr>
        <p:spPr>
          <a:xfrm>
            <a:off x="3180000" y="2571900"/>
            <a:ext cx="5766000" cy="2175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77" name="Google Shape;277;p42"/>
          <p:cNvSpPr>
            <a:spLocks noGrp="1"/>
          </p:cNvSpPr>
          <p:nvPr>
            <p:ph type="pic" idx="5"/>
          </p:nvPr>
        </p:nvSpPr>
        <p:spPr>
          <a:xfrm>
            <a:off x="6162000" y="198000"/>
            <a:ext cx="2784000" cy="2175600"/>
          </a:xfrm>
          <a:prstGeom prst="roundRect">
            <a:avLst>
              <a:gd name="adj" fmla="val 2361"/>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E - Texte &amp; Image / Fond Grey 5">
  <p:cSld name="TITLE_AND_TWO_COLUMNS_1_4_1_1">
    <p:bg>
      <p:bgPr>
        <a:solidFill>
          <a:schemeClr val="accent1"/>
        </a:solidFill>
        <a:effectLst/>
      </p:bgPr>
    </p:bg>
    <p:spTree>
      <p:nvGrpSpPr>
        <p:cNvPr id="1" name="Shape 278"/>
        <p:cNvGrpSpPr/>
        <p:nvPr/>
      </p:nvGrpSpPr>
      <p:grpSpPr>
        <a:xfrm>
          <a:off x="0" y="0"/>
          <a:ext cx="0" cy="0"/>
          <a:chOff x="0" y="0"/>
          <a:chExt cx="0" cy="0"/>
        </a:xfrm>
      </p:grpSpPr>
      <p:pic>
        <p:nvPicPr>
          <p:cNvPr id="279" name="Google Shape;279;p4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80" name="Google Shape;280;p43"/>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81" name="Google Shape;281;p43"/>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43"/>
          <p:cNvSpPr txBox="1">
            <a:spLocks noGrp="1"/>
          </p:cNvSpPr>
          <p:nvPr>
            <p:ph type="body" idx="2"/>
          </p:nvPr>
        </p:nvSpPr>
        <p:spPr>
          <a:xfrm>
            <a:off x="198000" y="878400"/>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3" name="Google Shape;283;p43"/>
          <p:cNvSpPr txBox="1">
            <a:spLocks noGrp="1"/>
          </p:cNvSpPr>
          <p:nvPr>
            <p:ph type="body" idx="3"/>
          </p:nvPr>
        </p:nvSpPr>
        <p:spPr>
          <a:xfrm>
            <a:off x="4671000" y="198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4" name="Google Shape;284;p43"/>
          <p:cNvSpPr txBox="1">
            <a:spLocks noGrp="1"/>
          </p:cNvSpPr>
          <p:nvPr>
            <p:ph type="body" idx="4"/>
          </p:nvPr>
        </p:nvSpPr>
        <p:spPr>
          <a:xfrm>
            <a:off x="3180000" y="17805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5" name="Google Shape;285;p43"/>
          <p:cNvSpPr txBox="1">
            <a:spLocks noGrp="1"/>
          </p:cNvSpPr>
          <p:nvPr>
            <p:ph type="body" idx="5"/>
          </p:nvPr>
        </p:nvSpPr>
        <p:spPr>
          <a:xfrm>
            <a:off x="4671000" y="3363000"/>
            <a:ext cx="4275000" cy="13845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86" name="Google Shape;286;p43"/>
          <p:cNvSpPr>
            <a:spLocks noGrp="1"/>
          </p:cNvSpPr>
          <p:nvPr>
            <p:ph type="pic" idx="6"/>
          </p:nvPr>
        </p:nvSpPr>
        <p:spPr>
          <a:xfrm>
            <a:off x="3180000" y="3362975"/>
            <a:ext cx="1293300" cy="1384500"/>
          </a:xfrm>
          <a:prstGeom prst="roundRect">
            <a:avLst>
              <a:gd name="adj" fmla="val 8277"/>
            </a:avLst>
          </a:prstGeom>
          <a:noFill/>
          <a:ln>
            <a:noFill/>
          </a:ln>
        </p:spPr>
      </p:sp>
      <p:sp>
        <p:nvSpPr>
          <p:cNvPr id="287" name="Google Shape;287;p43"/>
          <p:cNvSpPr>
            <a:spLocks noGrp="1"/>
          </p:cNvSpPr>
          <p:nvPr>
            <p:ph type="pic" idx="7"/>
          </p:nvPr>
        </p:nvSpPr>
        <p:spPr>
          <a:xfrm>
            <a:off x="7653000" y="1780500"/>
            <a:ext cx="1293300" cy="1384500"/>
          </a:xfrm>
          <a:prstGeom prst="roundRect">
            <a:avLst>
              <a:gd name="adj" fmla="val 8277"/>
            </a:avLst>
          </a:prstGeom>
          <a:noFill/>
          <a:ln>
            <a:noFill/>
          </a:ln>
        </p:spPr>
      </p:sp>
      <p:sp>
        <p:nvSpPr>
          <p:cNvPr id="288" name="Google Shape;288;p43"/>
          <p:cNvSpPr>
            <a:spLocks noGrp="1"/>
          </p:cNvSpPr>
          <p:nvPr>
            <p:ph type="pic" idx="8"/>
          </p:nvPr>
        </p:nvSpPr>
        <p:spPr>
          <a:xfrm>
            <a:off x="3180000" y="198025"/>
            <a:ext cx="1293300" cy="1384500"/>
          </a:xfrm>
          <a:prstGeom prst="roundRect">
            <a:avLst>
              <a:gd name="adj" fmla="val 8277"/>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5F - Texte &amp; Image / Fond Grey 6">
  <p:cSld name="TITLE_AND_TWO_COLUMNS_1_4_1_1_1">
    <p:bg>
      <p:bgPr>
        <a:solidFill>
          <a:schemeClr val="accent1"/>
        </a:solidFill>
        <a:effectLst/>
      </p:bgPr>
    </p:bg>
    <p:spTree>
      <p:nvGrpSpPr>
        <p:cNvPr id="1" name="Shape 289"/>
        <p:cNvGrpSpPr/>
        <p:nvPr/>
      </p:nvGrpSpPr>
      <p:grpSpPr>
        <a:xfrm>
          <a:off x="0" y="0"/>
          <a:ext cx="0" cy="0"/>
          <a:chOff x="0" y="0"/>
          <a:chExt cx="0" cy="0"/>
        </a:xfrm>
      </p:grpSpPr>
      <p:pic>
        <p:nvPicPr>
          <p:cNvPr id="290" name="Google Shape;290;p4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291" name="Google Shape;291;p44"/>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292" name="Google Shape;292;p44"/>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44"/>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4" name="Google Shape;294;p44"/>
          <p:cNvSpPr txBox="1">
            <a:spLocks noGrp="1"/>
          </p:cNvSpPr>
          <p:nvPr>
            <p:ph type="body" idx="3"/>
          </p:nvPr>
        </p:nvSpPr>
        <p:spPr>
          <a:xfrm>
            <a:off x="467185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5" name="Google Shape;295;p44"/>
          <p:cNvSpPr txBox="1">
            <a:spLocks noGrp="1"/>
          </p:cNvSpPr>
          <p:nvPr>
            <p:ph type="body" idx="4"/>
          </p:nvPr>
        </p:nvSpPr>
        <p:spPr>
          <a:xfrm>
            <a:off x="6907500" y="3458675"/>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6" name="Google Shape;296;p44"/>
          <p:cNvSpPr txBox="1">
            <a:spLocks noGrp="1"/>
          </p:cNvSpPr>
          <p:nvPr>
            <p:ph type="body" idx="5"/>
          </p:nvPr>
        </p:nvSpPr>
        <p:spPr>
          <a:xfrm>
            <a:off x="2435375" y="3465529"/>
            <a:ext cx="2037600" cy="12819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297" name="Google Shape;297;p44"/>
          <p:cNvSpPr>
            <a:spLocks noGrp="1"/>
          </p:cNvSpPr>
          <p:nvPr>
            <p:ph type="pic" idx="6"/>
          </p:nvPr>
        </p:nvSpPr>
        <p:spPr>
          <a:xfrm>
            <a:off x="2435425" y="198000"/>
            <a:ext cx="2037600" cy="3144900"/>
          </a:xfrm>
          <a:prstGeom prst="roundRect">
            <a:avLst>
              <a:gd name="adj" fmla="val 5271"/>
            </a:avLst>
          </a:prstGeom>
          <a:noFill/>
          <a:ln>
            <a:noFill/>
          </a:ln>
        </p:spPr>
      </p:sp>
      <p:sp>
        <p:nvSpPr>
          <p:cNvPr id="298" name="Google Shape;298;p44"/>
          <p:cNvSpPr>
            <a:spLocks noGrp="1"/>
          </p:cNvSpPr>
          <p:nvPr>
            <p:ph type="pic" idx="7"/>
          </p:nvPr>
        </p:nvSpPr>
        <p:spPr>
          <a:xfrm>
            <a:off x="4671463" y="198000"/>
            <a:ext cx="2037600" cy="3144900"/>
          </a:xfrm>
          <a:prstGeom prst="roundRect">
            <a:avLst>
              <a:gd name="adj" fmla="val 5271"/>
            </a:avLst>
          </a:prstGeom>
          <a:noFill/>
          <a:ln>
            <a:noFill/>
          </a:ln>
        </p:spPr>
      </p:sp>
      <p:sp>
        <p:nvSpPr>
          <p:cNvPr id="299" name="Google Shape;299;p44"/>
          <p:cNvSpPr>
            <a:spLocks noGrp="1"/>
          </p:cNvSpPr>
          <p:nvPr>
            <p:ph type="pic" idx="8"/>
          </p:nvPr>
        </p:nvSpPr>
        <p:spPr>
          <a:xfrm>
            <a:off x="6907500" y="198000"/>
            <a:ext cx="2037600" cy="3144900"/>
          </a:xfrm>
          <a:prstGeom prst="roundRect">
            <a:avLst>
              <a:gd name="adj" fmla="val 5271"/>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5G - Texte &amp; Image / Fond Grey 7">
  <p:cSld name="TITLE_AND_TWO_COLUMNS_1_4_1_1_1_1">
    <p:bg>
      <p:bgPr>
        <a:solidFill>
          <a:schemeClr val="accent1"/>
        </a:solidFill>
        <a:effectLst/>
      </p:bgPr>
    </p:bg>
    <p:spTree>
      <p:nvGrpSpPr>
        <p:cNvPr id="1" name="Shape 300"/>
        <p:cNvGrpSpPr/>
        <p:nvPr/>
      </p:nvGrpSpPr>
      <p:grpSpPr>
        <a:xfrm>
          <a:off x="0" y="0"/>
          <a:ext cx="0" cy="0"/>
          <a:chOff x="0" y="0"/>
          <a:chExt cx="0" cy="0"/>
        </a:xfrm>
      </p:grpSpPr>
      <p:pic>
        <p:nvPicPr>
          <p:cNvPr id="301" name="Google Shape;301;p4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02" name="Google Shape;302;p45"/>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03" name="Google Shape;303;p45"/>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45"/>
          <p:cNvSpPr txBox="1">
            <a:spLocks noGrp="1"/>
          </p:cNvSpPr>
          <p:nvPr>
            <p:ph type="body" idx="2"/>
          </p:nvPr>
        </p:nvSpPr>
        <p:spPr>
          <a:xfrm>
            <a:off x="198000"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5" name="Google Shape;305;p45"/>
          <p:cNvSpPr txBox="1">
            <a:spLocks noGrp="1"/>
          </p:cNvSpPr>
          <p:nvPr>
            <p:ph type="body" idx="3"/>
          </p:nvPr>
        </p:nvSpPr>
        <p:spPr>
          <a:xfrm>
            <a:off x="467185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6" name="Google Shape;306;p45"/>
          <p:cNvSpPr txBox="1">
            <a:spLocks noGrp="1"/>
          </p:cNvSpPr>
          <p:nvPr>
            <p:ph type="body" idx="4"/>
          </p:nvPr>
        </p:nvSpPr>
        <p:spPr>
          <a:xfrm>
            <a:off x="6907500" y="1839900"/>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7" name="Google Shape;307;p45"/>
          <p:cNvSpPr txBox="1">
            <a:spLocks noGrp="1"/>
          </p:cNvSpPr>
          <p:nvPr>
            <p:ph type="body" idx="5"/>
          </p:nvPr>
        </p:nvSpPr>
        <p:spPr>
          <a:xfrm>
            <a:off x="2435375" y="1842197"/>
            <a:ext cx="2037600" cy="4296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8" name="Google Shape;308;p45"/>
          <p:cNvSpPr txBox="1">
            <a:spLocks noGrp="1"/>
          </p:cNvSpPr>
          <p:nvPr>
            <p:ph type="body" idx="6"/>
          </p:nvPr>
        </p:nvSpPr>
        <p:spPr>
          <a:xfrm>
            <a:off x="467228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09" name="Google Shape;309;p45"/>
          <p:cNvSpPr txBox="1">
            <a:spLocks noGrp="1"/>
          </p:cNvSpPr>
          <p:nvPr>
            <p:ph type="body" idx="7"/>
          </p:nvPr>
        </p:nvSpPr>
        <p:spPr>
          <a:xfrm>
            <a:off x="6907938" y="4279271"/>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0" name="Google Shape;310;p45"/>
          <p:cNvSpPr txBox="1">
            <a:spLocks noGrp="1"/>
          </p:cNvSpPr>
          <p:nvPr>
            <p:ph type="body" idx="8"/>
          </p:nvPr>
        </p:nvSpPr>
        <p:spPr>
          <a:xfrm>
            <a:off x="2435813" y="4282522"/>
            <a:ext cx="2037600" cy="428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11" name="Google Shape;311;p45"/>
          <p:cNvSpPr>
            <a:spLocks noGrp="1"/>
          </p:cNvSpPr>
          <p:nvPr>
            <p:ph type="pic" idx="9"/>
          </p:nvPr>
        </p:nvSpPr>
        <p:spPr>
          <a:xfrm>
            <a:off x="4671488" y="198000"/>
            <a:ext cx="2037600" cy="1584000"/>
          </a:xfrm>
          <a:prstGeom prst="roundRect">
            <a:avLst>
              <a:gd name="adj" fmla="val 3727"/>
            </a:avLst>
          </a:prstGeom>
          <a:noFill/>
          <a:ln>
            <a:noFill/>
          </a:ln>
        </p:spPr>
      </p:sp>
      <p:sp>
        <p:nvSpPr>
          <p:cNvPr id="312" name="Google Shape;312;p45"/>
          <p:cNvSpPr>
            <a:spLocks noGrp="1"/>
          </p:cNvSpPr>
          <p:nvPr>
            <p:ph type="pic" idx="13"/>
          </p:nvPr>
        </p:nvSpPr>
        <p:spPr>
          <a:xfrm>
            <a:off x="6907550" y="198000"/>
            <a:ext cx="2037600" cy="1584000"/>
          </a:xfrm>
          <a:prstGeom prst="roundRect">
            <a:avLst>
              <a:gd name="adj" fmla="val 3727"/>
            </a:avLst>
          </a:prstGeom>
          <a:noFill/>
          <a:ln>
            <a:noFill/>
          </a:ln>
        </p:spPr>
      </p:sp>
      <p:sp>
        <p:nvSpPr>
          <p:cNvPr id="313" name="Google Shape;313;p45"/>
          <p:cNvSpPr>
            <a:spLocks noGrp="1"/>
          </p:cNvSpPr>
          <p:nvPr>
            <p:ph type="pic" idx="14"/>
          </p:nvPr>
        </p:nvSpPr>
        <p:spPr>
          <a:xfrm>
            <a:off x="2435425" y="203055"/>
            <a:ext cx="2037600" cy="1584000"/>
          </a:xfrm>
          <a:prstGeom prst="roundRect">
            <a:avLst>
              <a:gd name="adj" fmla="val 3727"/>
            </a:avLst>
          </a:prstGeom>
          <a:noFill/>
          <a:ln>
            <a:noFill/>
          </a:ln>
        </p:spPr>
      </p:sp>
      <p:sp>
        <p:nvSpPr>
          <p:cNvPr id="314" name="Google Shape;314;p45"/>
          <p:cNvSpPr>
            <a:spLocks noGrp="1"/>
          </p:cNvSpPr>
          <p:nvPr>
            <p:ph type="pic" idx="15"/>
          </p:nvPr>
        </p:nvSpPr>
        <p:spPr>
          <a:xfrm>
            <a:off x="4672338" y="2571746"/>
            <a:ext cx="2037600" cy="1578900"/>
          </a:xfrm>
          <a:prstGeom prst="roundRect">
            <a:avLst>
              <a:gd name="adj" fmla="val 3727"/>
            </a:avLst>
          </a:prstGeom>
          <a:noFill/>
          <a:ln>
            <a:noFill/>
          </a:ln>
        </p:spPr>
      </p:sp>
      <p:sp>
        <p:nvSpPr>
          <p:cNvPr id="315" name="Google Shape;315;p45"/>
          <p:cNvSpPr>
            <a:spLocks noGrp="1"/>
          </p:cNvSpPr>
          <p:nvPr>
            <p:ph type="pic" idx="16"/>
          </p:nvPr>
        </p:nvSpPr>
        <p:spPr>
          <a:xfrm>
            <a:off x="6907988" y="2571746"/>
            <a:ext cx="2037600" cy="1578900"/>
          </a:xfrm>
          <a:prstGeom prst="roundRect">
            <a:avLst>
              <a:gd name="adj" fmla="val 3727"/>
            </a:avLst>
          </a:prstGeom>
          <a:noFill/>
          <a:ln>
            <a:noFill/>
          </a:ln>
        </p:spPr>
      </p:sp>
      <p:sp>
        <p:nvSpPr>
          <p:cNvPr id="316" name="Google Shape;316;p45"/>
          <p:cNvSpPr>
            <a:spLocks noGrp="1"/>
          </p:cNvSpPr>
          <p:nvPr>
            <p:ph type="pic" idx="17"/>
          </p:nvPr>
        </p:nvSpPr>
        <p:spPr>
          <a:xfrm>
            <a:off x="2435863" y="2576801"/>
            <a:ext cx="2037600" cy="1578900"/>
          </a:xfrm>
          <a:prstGeom prst="roundRect">
            <a:avLst>
              <a:gd name="adj" fmla="val 3727"/>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5H - Texte &amp; Image / Fond Grey 8">
  <p:cSld name="TITLE_AND_TWO_COLUMNS_1_4_1_1_1_1_1">
    <p:bg>
      <p:bgPr>
        <a:solidFill>
          <a:schemeClr val="accent1"/>
        </a:solidFill>
        <a:effectLst/>
      </p:bgPr>
    </p:bg>
    <p:spTree>
      <p:nvGrpSpPr>
        <p:cNvPr id="1" name="Shape 317"/>
        <p:cNvGrpSpPr/>
        <p:nvPr/>
      </p:nvGrpSpPr>
      <p:grpSpPr>
        <a:xfrm>
          <a:off x="0" y="0"/>
          <a:ext cx="0" cy="0"/>
          <a:chOff x="0" y="0"/>
          <a:chExt cx="0" cy="0"/>
        </a:xfrm>
      </p:grpSpPr>
      <p:pic>
        <p:nvPicPr>
          <p:cNvPr id="318" name="Google Shape;318;p46"/>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19" name="Google Shape;319;p46"/>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20" name="Google Shape;320;p46"/>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46"/>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2" name="Google Shape;322;p46"/>
          <p:cNvSpPr txBox="1">
            <a:spLocks noGrp="1"/>
          </p:cNvSpPr>
          <p:nvPr>
            <p:ph type="body" idx="3"/>
          </p:nvPr>
        </p:nvSpPr>
        <p:spPr>
          <a:xfrm>
            <a:off x="3179875"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3" name="Google Shape;323;p46"/>
          <p:cNvSpPr txBox="1">
            <a:spLocks noGrp="1"/>
          </p:cNvSpPr>
          <p:nvPr>
            <p:ph type="body" idx="4"/>
          </p:nvPr>
        </p:nvSpPr>
        <p:spPr>
          <a:xfrm>
            <a:off x="467095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4" name="Google Shape;324;p46"/>
          <p:cNvSpPr txBox="1">
            <a:spLocks noGrp="1"/>
          </p:cNvSpPr>
          <p:nvPr>
            <p:ph type="body" idx="5"/>
          </p:nvPr>
        </p:nvSpPr>
        <p:spPr>
          <a:xfrm>
            <a:off x="7653000" y="3031342"/>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5" name="Google Shape;325;p46"/>
          <p:cNvSpPr txBox="1">
            <a:spLocks noGrp="1"/>
          </p:cNvSpPr>
          <p:nvPr>
            <p:ph type="body" idx="6"/>
          </p:nvPr>
        </p:nvSpPr>
        <p:spPr>
          <a:xfrm>
            <a:off x="6162000" y="3031325"/>
            <a:ext cx="1292100" cy="16542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26" name="Google Shape;326;p46"/>
          <p:cNvSpPr>
            <a:spLocks noGrp="1"/>
          </p:cNvSpPr>
          <p:nvPr>
            <p:ph type="pic" idx="7"/>
          </p:nvPr>
        </p:nvSpPr>
        <p:spPr>
          <a:xfrm>
            <a:off x="3179925" y="198009"/>
            <a:ext cx="1292100" cy="2667000"/>
          </a:xfrm>
          <a:prstGeom prst="roundRect">
            <a:avLst>
              <a:gd name="adj" fmla="val 3727"/>
            </a:avLst>
          </a:prstGeom>
          <a:noFill/>
          <a:ln>
            <a:noFill/>
          </a:ln>
        </p:spPr>
      </p:sp>
      <p:sp>
        <p:nvSpPr>
          <p:cNvPr id="327" name="Google Shape;327;p46"/>
          <p:cNvSpPr>
            <a:spLocks noGrp="1"/>
          </p:cNvSpPr>
          <p:nvPr>
            <p:ph type="pic" idx="8"/>
          </p:nvPr>
        </p:nvSpPr>
        <p:spPr>
          <a:xfrm>
            <a:off x="4671000" y="198009"/>
            <a:ext cx="1292100" cy="2667000"/>
          </a:xfrm>
          <a:prstGeom prst="roundRect">
            <a:avLst>
              <a:gd name="adj" fmla="val 3727"/>
            </a:avLst>
          </a:prstGeom>
          <a:noFill/>
          <a:ln>
            <a:noFill/>
          </a:ln>
        </p:spPr>
      </p:sp>
      <p:sp>
        <p:nvSpPr>
          <p:cNvPr id="328" name="Google Shape;328;p46"/>
          <p:cNvSpPr>
            <a:spLocks noGrp="1"/>
          </p:cNvSpPr>
          <p:nvPr>
            <p:ph type="pic" idx="9"/>
          </p:nvPr>
        </p:nvSpPr>
        <p:spPr>
          <a:xfrm>
            <a:off x="7653050" y="198009"/>
            <a:ext cx="1292100" cy="2667000"/>
          </a:xfrm>
          <a:prstGeom prst="roundRect">
            <a:avLst>
              <a:gd name="adj" fmla="val 3727"/>
            </a:avLst>
          </a:prstGeom>
          <a:noFill/>
          <a:ln>
            <a:noFill/>
          </a:ln>
        </p:spPr>
      </p:sp>
      <p:sp>
        <p:nvSpPr>
          <p:cNvPr id="329" name="Google Shape;329;p46"/>
          <p:cNvSpPr>
            <a:spLocks noGrp="1"/>
          </p:cNvSpPr>
          <p:nvPr>
            <p:ph type="pic" idx="13"/>
          </p:nvPr>
        </p:nvSpPr>
        <p:spPr>
          <a:xfrm>
            <a:off x="6162050" y="197998"/>
            <a:ext cx="1292100" cy="2667000"/>
          </a:xfrm>
          <a:prstGeom prst="roundRect">
            <a:avLst>
              <a:gd name="adj" fmla="val 3727"/>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5I - Texte &amp; Image / Fond Grey 9">
  <p:cSld name="TITLE_AND_TWO_COLUMNS_1_4_1_1_1_1_1_1">
    <p:bg>
      <p:bgPr>
        <a:solidFill>
          <a:schemeClr val="accent1"/>
        </a:solidFill>
        <a:effectLst/>
      </p:bgPr>
    </p:bg>
    <p:spTree>
      <p:nvGrpSpPr>
        <p:cNvPr id="1" name="Shape 330"/>
        <p:cNvGrpSpPr/>
        <p:nvPr/>
      </p:nvGrpSpPr>
      <p:grpSpPr>
        <a:xfrm>
          <a:off x="0" y="0"/>
          <a:ext cx="0" cy="0"/>
          <a:chOff x="0" y="0"/>
          <a:chExt cx="0" cy="0"/>
        </a:xfrm>
      </p:grpSpPr>
      <p:pic>
        <p:nvPicPr>
          <p:cNvPr id="331" name="Google Shape;331;p4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32" name="Google Shape;332;p47"/>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33" name="Google Shape;333;p47"/>
          <p:cNvSpPr txBox="1">
            <a:spLocks noGrp="1"/>
          </p:cNvSpPr>
          <p:nvPr>
            <p:ph type="subTitle" idx="1"/>
          </p:nvPr>
        </p:nvSpPr>
        <p:spPr>
          <a:xfrm>
            <a:off x="198000" y="198000"/>
            <a:ext cx="20385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4" name="Google Shape;334;p47"/>
          <p:cNvSpPr txBox="1">
            <a:spLocks noGrp="1"/>
          </p:cNvSpPr>
          <p:nvPr>
            <p:ph type="body" idx="2"/>
          </p:nvPr>
        </p:nvSpPr>
        <p:spPr>
          <a:xfrm>
            <a:off x="197925" y="968775"/>
            <a:ext cx="2038500" cy="338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5" name="Google Shape;335;p47"/>
          <p:cNvSpPr txBox="1">
            <a:spLocks noGrp="1"/>
          </p:cNvSpPr>
          <p:nvPr>
            <p:ph type="body" idx="3"/>
          </p:nvPr>
        </p:nvSpPr>
        <p:spPr>
          <a:xfrm>
            <a:off x="3179875"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6" name="Google Shape;336;p47"/>
          <p:cNvSpPr txBox="1">
            <a:spLocks noGrp="1"/>
          </p:cNvSpPr>
          <p:nvPr>
            <p:ph type="body" idx="4"/>
          </p:nvPr>
        </p:nvSpPr>
        <p:spPr>
          <a:xfrm>
            <a:off x="4670950" y="1668454"/>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7" name="Google Shape;337;p47"/>
          <p:cNvSpPr txBox="1">
            <a:spLocks noGrp="1"/>
          </p:cNvSpPr>
          <p:nvPr>
            <p:ph type="body" idx="5"/>
          </p:nvPr>
        </p:nvSpPr>
        <p:spPr>
          <a:xfrm>
            <a:off x="6162000" y="1668445"/>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8" name="Google Shape;338;p47"/>
          <p:cNvSpPr txBox="1">
            <a:spLocks noGrp="1"/>
          </p:cNvSpPr>
          <p:nvPr>
            <p:ph type="body" idx="6"/>
          </p:nvPr>
        </p:nvSpPr>
        <p:spPr>
          <a:xfrm>
            <a:off x="3179875"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39" name="Google Shape;339;p47"/>
          <p:cNvSpPr txBox="1">
            <a:spLocks noGrp="1"/>
          </p:cNvSpPr>
          <p:nvPr>
            <p:ph type="body" idx="7"/>
          </p:nvPr>
        </p:nvSpPr>
        <p:spPr>
          <a:xfrm>
            <a:off x="467095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0" name="Google Shape;340;p47"/>
          <p:cNvSpPr txBox="1">
            <a:spLocks noGrp="1"/>
          </p:cNvSpPr>
          <p:nvPr>
            <p:ph type="body" idx="8"/>
          </p:nvPr>
        </p:nvSpPr>
        <p:spPr>
          <a:xfrm>
            <a:off x="6162000" y="4035670"/>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1" name="Google Shape;341;p47"/>
          <p:cNvSpPr txBox="1">
            <a:spLocks noGrp="1"/>
          </p:cNvSpPr>
          <p:nvPr>
            <p:ph type="body" idx="9"/>
          </p:nvPr>
        </p:nvSpPr>
        <p:spPr>
          <a:xfrm>
            <a:off x="7653000" y="1668453"/>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2" name="Google Shape;342;p47"/>
          <p:cNvSpPr txBox="1">
            <a:spLocks noGrp="1"/>
          </p:cNvSpPr>
          <p:nvPr>
            <p:ph type="body" idx="13"/>
          </p:nvPr>
        </p:nvSpPr>
        <p:spPr>
          <a:xfrm>
            <a:off x="7653000" y="4035678"/>
            <a:ext cx="1292100" cy="7200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43" name="Google Shape;343;p47"/>
          <p:cNvSpPr>
            <a:spLocks noGrp="1"/>
          </p:cNvSpPr>
          <p:nvPr>
            <p:ph type="pic" idx="14"/>
          </p:nvPr>
        </p:nvSpPr>
        <p:spPr>
          <a:xfrm>
            <a:off x="3179925" y="204528"/>
            <a:ext cx="1292100" cy="1292400"/>
          </a:xfrm>
          <a:prstGeom prst="roundRect">
            <a:avLst>
              <a:gd name="adj" fmla="val 3727"/>
            </a:avLst>
          </a:prstGeom>
          <a:noFill/>
          <a:ln>
            <a:noFill/>
          </a:ln>
        </p:spPr>
      </p:sp>
      <p:sp>
        <p:nvSpPr>
          <p:cNvPr id="344" name="Google Shape;344;p47"/>
          <p:cNvSpPr>
            <a:spLocks noGrp="1"/>
          </p:cNvSpPr>
          <p:nvPr>
            <p:ph type="pic" idx="15"/>
          </p:nvPr>
        </p:nvSpPr>
        <p:spPr>
          <a:xfrm>
            <a:off x="4671000" y="204528"/>
            <a:ext cx="1292100" cy="1292400"/>
          </a:xfrm>
          <a:prstGeom prst="roundRect">
            <a:avLst>
              <a:gd name="adj" fmla="val 3727"/>
            </a:avLst>
          </a:prstGeom>
          <a:noFill/>
          <a:ln>
            <a:noFill/>
          </a:ln>
        </p:spPr>
      </p:sp>
      <p:sp>
        <p:nvSpPr>
          <p:cNvPr id="345" name="Google Shape;345;p47"/>
          <p:cNvSpPr>
            <a:spLocks noGrp="1"/>
          </p:cNvSpPr>
          <p:nvPr>
            <p:ph type="pic" idx="16"/>
          </p:nvPr>
        </p:nvSpPr>
        <p:spPr>
          <a:xfrm>
            <a:off x="6162050" y="204523"/>
            <a:ext cx="1292100" cy="1292400"/>
          </a:xfrm>
          <a:prstGeom prst="roundRect">
            <a:avLst>
              <a:gd name="adj" fmla="val 3727"/>
            </a:avLst>
          </a:prstGeom>
          <a:noFill/>
          <a:ln>
            <a:noFill/>
          </a:ln>
        </p:spPr>
      </p:sp>
      <p:sp>
        <p:nvSpPr>
          <p:cNvPr id="346" name="Google Shape;346;p47"/>
          <p:cNvSpPr>
            <a:spLocks noGrp="1"/>
          </p:cNvSpPr>
          <p:nvPr>
            <p:ph type="pic" idx="17"/>
          </p:nvPr>
        </p:nvSpPr>
        <p:spPr>
          <a:xfrm>
            <a:off x="3179925" y="2571753"/>
            <a:ext cx="1292100" cy="1292400"/>
          </a:xfrm>
          <a:prstGeom prst="roundRect">
            <a:avLst>
              <a:gd name="adj" fmla="val 3727"/>
            </a:avLst>
          </a:prstGeom>
          <a:noFill/>
          <a:ln>
            <a:noFill/>
          </a:ln>
        </p:spPr>
      </p:sp>
      <p:sp>
        <p:nvSpPr>
          <p:cNvPr id="347" name="Google Shape;347;p47"/>
          <p:cNvSpPr>
            <a:spLocks noGrp="1"/>
          </p:cNvSpPr>
          <p:nvPr>
            <p:ph type="pic" idx="18"/>
          </p:nvPr>
        </p:nvSpPr>
        <p:spPr>
          <a:xfrm>
            <a:off x="4671000" y="2571753"/>
            <a:ext cx="1292100" cy="1292400"/>
          </a:xfrm>
          <a:prstGeom prst="roundRect">
            <a:avLst>
              <a:gd name="adj" fmla="val 3727"/>
            </a:avLst>
          </a:prstGeom>
          <a:noFill/>
          <a:ln>
            <a:noFill/>
          </a:ln>
        </p:spPr>
      </p:sp>
      <p:sp>
        <p:nvSpPr>
          <p:cNvPr id="348" name="Google Shape;348;p47"/>
          <p:cNvSpPr>
            <a:spLocks noGrp="1"/>
          </p:cNvSpPr>
          <p:nvPr>
            <p:ph type="pic" idx="19"/>
          </p:nvPr>
        </p:nvSpPr>
        <p:spPr>
          <a:xfrm>
            <a:off x="6162050" y="2571748"/>
            <a:ext cx="1292100" cy="1292400"/>
          </a:xfrm>
          <a:prstGeom prst="roundRect">
            <a:avLst>
              <a:gd name="adj" fmla="val 3727"/>
            </a:avLst>
          </a:prstGeom>
          <a:noFill/>
          <a:ln>
            <a:noFill/>
          </a:ln>
        </p:spPr>
      </p:sp>
      <p:sp>
        <p:nvSpPr>
          <p:cNvPr id="349" name="Google Shape;349;p47"/>
          <p:cNvSpPr>
            <a:spLocks noGrp="1"/>
          </p:cNvSpPr>
          <p:nvPr>
            <p:ph type="pic" idx="20"/>
          </p:nvPr>
        </p:nvSpPr>
        <p:spPr>
          <a:xfrm>
            <a:off x="7653050" y="204528"/>
            <a:ext cx="1292100" cy="1292400"/>
          </a:xfrm>
          <a:prstGeom prst="roundRect">
            <a:avLst>
              <a:gd name="adj" fmla="val 3727"/>
            </a:avLst>
          </a:prstGeom>
          <a:noFill/>
          <a:ln>
            <a:noFill/>
          </a:ln>
        </p:spPr>
      </p:sp>
      <p:sp>
        <p:nvSpPr>
          <p:cNvPr id="350" name="Google Shape;350;p47"/>
          <p:cNvSpPr>
            <a:spLocks noGrp="1"/>
          </p:cNvSpPr>
          <p:nvPr>
            <p:ph type="pic" idx="21"/>
          </p:nvPr>
        </p:nvSpPr>
        <p:spPr>
          <a:xfrm>
            <a:off x="7653050" y="2571753"/>
            <a:ext cx="1292100" cy="1292400"/>
          </a:xfrm>
          <a:prstGeom prst="roundRect">
            <a:avLst>
              <a:gd name="adj" fmla="val 3727"/>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J - Texte &amp; Image / Fond Grey 10">
  <p:cSld name="TITLE_AND_TWO_COLUMNS_1_3">
    <p:bg>
      <p:bgPr>
        <a:solidFill>
          <a:schemeClr val="accent1"/>
        </a:solidFill>
        <a:effectLst/>
      </p:bgPr>
    </p:bg>
    <p:spTree>
      <p:nvGrpSpPr>
        <p:cNvPr id="1" name="Shape 351"/>
        <p:cNvGrpSpPr/>
        <p:nvPr/>
      </p:nvGrpSpPr>
      <p:grpSpPr>
        <a:xfrm>
          <a:off x="0" y="0"/>
          <a:ext cx="0" cy="0"/>
          <a:chOff x="0" y="0"/>
          <a:chExt cx="0" cy="0"/>
        </a:xfrm>
      </p:grpSpPr>
      <p:sp>
        <p:nvSpPr>
          <p:cNvPr id="352" name="Google Shape;352;p48"/>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3" name="Google Shape;353;p4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54" name="Google Shape;354;p48"/>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55" name="Google Shape;355;p48"/>
          <p:cNvSpPr txBox="1">
            <a:spLocks noGrp="1"/>
          </p:cNvSpPr>
          <p:nvPr>
            <p:ph type="body" idx="2"/>
          </p:nvPr>
        </p:nvSpPr>
        <p:spPr>
          <a:xfrm>
            <a:off x="197925" y="730775"/>
            <a:ext cx="4275000" cy="4016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56" name="Google Shape;356;p48"/>
          <p:cNvSpPr>
            <a:spLocks noGrp="1"/>
          </p:cNvSpPr>
          <p:nvPr>
            <p:ph type="pic" idx="3"/>
          </p:nvPr>
        </p:nvSpPr>
        <p:spPr>
          <a:xfrm>
            <a:off x="4671000" y="730775"/>
            <a:ext cx="4275000" cy="4016700"/>
          </a:xfrm>
          <a:prstGeom prst="roundRect">
            <a:avLst>
              <a:gd name="adj" fmla="val 2361"/>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K - Texte / Fond Grey 11">
  <p:cSld name="TITLE_AND_TWO_COLUMNS_1_2">
    <p:bg>
      <p:bgPr>
        <a:solidFill>
          <a:schemeClr val="accent1"/>
        </a:solidFill>
        <a:effectLst/>
      </p:bgPr>
    </p:bg>
    <p:spTree>
      <p:nvGrpSpPr>
        <p:cNvPr id="1" name="Shape 357"/>
        <p:cNvGrpSpPr/>
        <p:nvPr/>
      </p:nvGrpSpPr>
      <p:grpSpPr>
        <a:xfrm>
          <a:off x="0" y="0"/>
          <a:ext cx="0" cy="0"/>
          <a:chOff x="0" y="0"/>
          <a:chExt cx="0" cy="0"/>
        </a:xfrm>
      </p:grpSpPr>
      <p:sp>
        <p:nvSpPr>
          <p:cNvPr id="358" name="Google Shape;358;p49"/>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9" name="Google Shape;359;p4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0" name="Google Shape;360;p4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1" name="Google Shape;361;p49"/>
          <p:cNvSpPr txBox="1">
            <a:spLocks noGrp="1"/>
          </p:cNvSpPr>
          <p:nvPr>
            <p:ph type="body" idx="2"/>
          </p:nvPr>
        </p:nvSpPr>
        <p:spPr>
          <a:xfrm>
            <a:off x="197925"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2" name="Google Shape;362;p49"/>
          <p:cNvSpPr txBox="1">
            <a:spLocks noGrp="1"/>
          </p:cNvSpPr>
          <p:nvPr>
            <p:ph type="body" idx="3"/>
          </p:nvPr>
        </p:nvSpPr>
        <p:spPr>
          <a:xfrm>
            <a:off x="3179963"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3" name="Google Shape;363;p49"/>
          <p:cNvSpPr txBox="1">
            <a:spLocks noGrp="1"/>
          </p:cNvSpPr>
          <p:nvPr>
            <p:ph type="body" idx="4"/>
          </p:nvPr>
        </p:nvSpPr>
        <p:spPr>
          <a:xfrm>
            <a:off x="6162000" y="857250"/>
            <a:ext cx="2784000" cy="3890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L - Texte &amp; Image / Fond Grey 12">
  <p:cSld name="TITLE_AND_TWO_COLUMNS_1_2_1">
    <p:bg>
      <p:bgPr>
        <a:solidFill>
          <a:schemeClr val="accent1"/>
        </a:solidFill>
        <a:effectLst/>
      </p:bgPr>
    </p:bg>
    <p:spTree>
      <p:nvGrpSpPr>
        <p:cNvPr id="1" name="Shape 364"/>
        <p:cNvGrpSpPr/>
        <p:nvPr/>
      </p:nvGrpSpPr>
      <p:grpSpPr>
        <a:xfrm>
          <a:off x="0" y="0"/>
          <a:ext cx="0" cy="0"/>
          <a:chOff x="0" y="0"/>
          <a:chExt cx="0" cy="0"/>
        </a:xfrm>
      </p:grpSpPr>
      <p:sp>
        <p:nvSpPr>
          <p:cNvPr id="365" name="Google Shape;365;p50"/>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66" name="Google Shape;366;p50"/>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67" name="Google Shape;367;p50"/>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68" name="Google Shape;368;p50"/>
          <p:cNvSpPr txBox="1">
            <a:spLocks noGrp="1"/>
          </p:cNvSpPr>
          <p:nvPr>
            <p:ph type="body" idx="2"/>
          </p:nvPr>
        </p:nvSpPr>
        <p:spPr>
          <a:xfrm>
            <a:off x="19792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69" name="Google Shape;369;p50"/>
          <p:cNvSpPr txBox="1">
            <a:spLocks noGrp="1"/>
          </p:cNvSpPr>
          <p:nvPr>
            <p:ph type="body" idx="3"/>
          </p:nvPr>
        </p:nvSpPr>
        <p:spPr>
          <a:xfrm>
            <a:off x="243445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0" name="Google Shape;370;p50"/>
          <p:cNvSpPr txBox="1">
            <a:spLocks noGrp="1"/>
          </p:cNvSpPr>
          <p:nvPr>
            <p:ph type="body" idx="4"/>
          </p:nvPr>
        </p:nvSpPr>
        <p:spPr>
          <a:xfrm>
            <a:off x="4670975"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1" name="Google Shape;371;p50"/>
          <p:cNvSpPr txBox="1">
            <a:spLocks noGrp="1"/>
          </p:cNvSpPr>
          <p:nvPr>
            <p:ph type="body" idx="5"/>
          </p:nvPr>
        </p:nvSpPr>
        <p:spPr>
          <a:xfrm>
            <a:off x="6907500" y="2571750"/>
            <a:ext cx="20385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72" name="Google Shape;372;p50"/>
          <p:cNvSpPr>
            <a:spLocks noGrp="1"/>
          </p:cNvSpPr>
          <p:nvPr>
            <p:ph type="pic" idx="6"/>
          </p:nvPr>
        </p:nvSpPr>
        <p:spPr>
          <a:xfrm>
            <a:off x="197925" y="700500"/>
            <a:ext cx="2038500" cy="1673400"/>
          </a:xfrm>
          <a:prstGeom prst="roundRect">
            <a:avLst>
              <a:gd name="adj" fmla="val 2361"/>
            </a:avLst>
          </a:prstGeom>
          <a:noFill/>
          <a:ln>
            <a:noFill/>
          </a:ln>
        </p:spPr>
      </p:sp>
      <p:sp>
        <p:nvSpPr>
          <p:cNvPr id="373" name="Google Shape;373;p50"/>
          <p:cNvSpPr>
            <a:spLocks noGrp="1"/>
          </p:cNvSpPr>
          <p:nvPr>
            <p:ph type="pic" idx="7"/>
          </p:nvPr>
        </p:nvSpPr>
        <p:spPr>
          <a:xfrm>
            <a:off x="2434450" y="700500"/>
            <a:ext cx="2038500" cy="1673400"/>
          </a:xfrm>
          <a:prstGeom prst="roundRect">
            <a:avLst>
              <a:gd name="adj" fmla="val 2361"/>
            </a:avLst>
          </a:prstGeom>
          <a:noFill/>
          <a:ln>
            <a:noFill/>
          </a:ln>
        </p:spPr>
      </p:sp>
      <p:sp>
        <p:nvSpPr>
          <p:cNvPr id="374" name="Google Shape;374;p50"/>
          <p:cNvSpPr>
            <a:spLocks noGrp="1"/>
          </p:cNvSpPr>
          <p:nvPr>
            <p:ph type="pic" idx="8"/>
          </p:nvPr>
        </p:nvSpPr>
        <p:spPr>
          <a:xfrm>
            <a:off x="4670975" y="700500"/>
            <a:ext cx="2038500" cy="1673400"/>
          </a:xfrm>
          <a:prstGeom prst="roundRect">
            <a:avLst>
              <a:gd name="adj" fmla="val 2361"/>
            </a:avLst>
          </a:prstGeom>
          <a:noFill/>
          <a:ln>
            <a:noFill/>
          </a:ln>
        </p:spPr>
      </p:sp>
      <p:sp>
        <p:nvSpPr>
          <p:cNvPr id="375" name="Google Shape;375;p50"/>
          <p:cNvSpPr>
            <a:spLocks noGrp="1"/>
          </p:cNvSpPr>
          <p:nvPr>
            <p:ph type="pic" idx="9"/>
          </p:nvPr>
        </p:nvSpPr>
        <p:spPr>
          <a:xfrm>
            <a:off x="6907500" y="700500"/>
            <a:ext cx="2038500" cy="1673400"/>
          </a:xfrm>
          <a:prstGeom prst="roundRect">
            <a:avLst>
              <a:gd name="adj" fmla="val 2361"/>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M - Texte &amp; Image / Fond Grey 13">
  <p:cSld name="TITLE_AND_TWO_COLUMNS_1_2_1_1">
    <p:bg>
      <p:bgPr>
        <a:solidFill>
          <a:schemeClr val="accent1"/>
        </a:solidFill>
        <a:effectLst/>
      </p:bgPr>
    </p:bg>
    <p:spTree>
      <p:nvGrpSpPr>
        <p:cNvPr id="1" name="Shape 376"/>
        <p:cNvGrpSpPr/>
        <p:nvPr/>
      </p:nvGrpSpPr>
      <p:grpSpPr>
        <a:xfrm>
          <a:off x="0" y="0"/>
          <a:ext cx="0" cy="0"/>
          <a:chOff x="0" y="0"/>
          <a:chExt cx="0" cy="0"/>
        </a:xfrm>
      </p:grpSpPr>
      <p:sp>
        <p:nvSpPr>
          <p:cNvPr id="377" name="Google Shape;377;p51"/>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8" name="Google Shape;378;p51"/>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79" name="Google Shape;379;p51"/>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0" name="Google Shape;380;p51"/>
          <p:cNvSpPr txBox="1">
            <a:spLocks noGrp="1"/>
          </p:cNvSpPr>
          <p:nvPr>
            <p:ph type="body" idx="2"/>
          </p:nvPr>
        </p:nvSpPr>
        <p:spPr>
          <a:xfrm>
            <a:off x="943350" y="2571750"/>
            <a:ext cx="7257300" cy="18411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1" name="Google Shape;381;p51"/>
          <p:cNvSpPr>
            <a:spLocks noGrp="1"/>
          </p:cNvSpPr>
          <p:nvPr>
            <p:ph type="pic" idx="3"/>
          </p:nvPr>
        </p:nvSpPr>
        <p:spPr>
          <a:xfrm>
            <a:off x="943350" y="700500"/>
            <a:ext cx="7257300" cy="1673400"/>
          </a:xfrm>
          <a:prstGeom prst="roundRect">
            <a:avLst>
              <a:gd name="adj" fmla="val 2361"/>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5N - Texte / Fond Grey 14">
  <p:cSld name="TITLE_AND_TWO_COLUMNS_1_1">
    <p:bg>
      <p:bgPr>
        <a:solidFill>
          <a:schemeClr val="accent1"/>
        </a:solidFill>
        <a:effectLst/>
      </p:bgPr>
    </p:bg>
    <p:spTree>
      <p:nvGrpSpPr>
        <p:cNvPr id="1" name="Shape 382"/>
        <p:cNvGrpSpPr/>
        <p:nvPr/>
      </p:nvGrpSpPr>
      <p:grpSpPr>
        <a:xfrm>
          <a:off x="0" y="0"/>
          <a:ext cx="0" cy="0"/>
          <a:chOff x="0" y="0"/>
          <a:chExt cx="0" cy="0"/>
        </a:xfrm>
      </p:grpSpPr>
      <p:sp>
        <p:nvSpPr>
          <p:cNvPr id="383" name="Google Shape;383;p52"/>
          <p:cNvSpPr txBox="1">
            <a:spLocks noGrp="1"/>
          </p:cNvSpPr>
          <p:nvPr>
            <p:ph type="subTitle" idx="1"/>
          </p:nvPr>
        </p:nvSpPr>
        <p:spPr>
          <a:xfrm>
            <a:off x="198000" y="198000"/>
            <a:ext cx="8748000" cy="472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84" name="Google Shape;384;p52"/>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385" name="Google Shape;385;p52"/>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386" name="Google Shape;386;p52"/>
          <p:cNvSpPr txBox="1">
            <a:spLocks noGrp="1"/>
          </p:cNvSpPr>
          <p:nvPr>
            <p:ph type="body" idx="2"/>
          </p:nvPr>
        </p:nvSpPr>
        <p:spPr>
          <a:xfrm>
            <a:off x="197925"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7" name="Google Shape;387;p52"/>
          <p:cNvSpPr txBox="1">
            <a:spLocks noGrp="1"/>
          </p:cNvSpPr>
          <p:nvPr>
            <p:ph type="body" idx="3"/>
          </p:nvPr>
        </p:nvSpPr>
        <p:spPr>
          <a:xfrm>
            <a:off x="4671000"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8" name="Google Shape;388;p52"/>
          <p:cNvSpPr txBox="1">
            <a:spLocks noGrp="1"/>
          </p:cNvSpPr>
          <p:nvPr>
            <p:ph type="body" idx="4"/>
          </p:nvPr>
        </p:nvSpPr>
        <p:spPr>
          <a:xfrm>
            <a:off x="4671000" y="67020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
        <p:nvSpPr>
          <p:cNvPr id="389" name="Google Shape;389;p52"/>
          <p:cNvSpPr txBox="1">
            <a:spLocks noGrp="1"/>
          </p:cNvSpPr>
          <p:nvPr>
            <p:ph type="body" idx="5"/>
          </p:nvPr>
        </p:nvSpPr>
        <p:spPr>
          <a:xfrm>
            <a:off x="197925" y="2571750"/>
            <a:ext cx="4275000" cy="1703700"/>
          </a:xfrm>
          <a:prstGeom prst="rect">
            <a:avLst/>
          </a:prstGeom>
          <a:noFill/>
          <a:ln>
            <a:noFill/>
          </a:ln>
        </p:spPr>
        <p:txBody>
          <a:bodyPr spcFirstLastPara="1" wrap="square" lIns="0" tIns="0" rIns="0" bIns="0" anchor="t" anchorCtr="0">
            <a:noAutofit/>
          </a:bodyPr>
          <a:lstStyle>
            <a:lvl1pPr marL="457200" lvl="0" indent="-304800">
              <a:lnSpc>
                <a:spcPct val="115000"/>
              </a:lnSpc>
              <a:spcBef>
                <a:spcPts val="0"/>
              </a:spcBef>
              <a:spcAft>
                <a:spcPts val="0"/>
              </a:spcAft>
              <a:buSzPts val="1200"/>
              <a:buFont typeface="Inter"/>
              <a:buChar char="●"/>
              <a:defRPr sz="1200">
                <a:latin typeface="Inter"/>
                <a:ea typeface="Inter"/>
                <a:cs typeface="Inter"/>
                <a:sym typeface="Inter"/>
              </a:defRPr>
            </a:lvl1pPr>
            <a:lvl2pPr marL="914400" lvl="1" indent="-304800">
              <a:lnSpc>
                <a:spcPct val="115000"/>
              </a:lnSpc>
              <a:spcBef>
                <a:spcPts val="0"/>
              </a:spcBef>
              <a:spcAft>
                <a:spcPts val="0"/>
              </a:spcAft>
              <a:buSzPts val="1200"/>
              <a:buFont typeface="Inter"/>
              <a:buChar char="○"/>
              <a:defRPr sz="1200">
                <a:latin typeface="Inter"/>
                <a:ea typeface="Inter"/>
                <a:cs typeface="Inter"/>
                <a:sym typeface="Inter"/>
              </a:defRPr>
            </a:lvl2pPr>
            <a:lvl3pPr marL="1371600" lvl="2" indent="-304800">
              <a:lnSpc>
                <a:spcPct val="115000"/>
              </a:lnSpc>
              <a:spcBef>
                <a:spcPts val="0"/>
              </a:spcBef>
              <a:spcAft>
                <a:spcPts val="0"/>
              </a:spcAft>
              <a:buSzPts val="1200"/>
              <a:buFont typeface="Inter"/>
              <a:buChar char="■"/>
              <a:defRPr sz="1200">
                <a:latin typeface="Inter"/>
                <a:ea typeface="Inter"/>
                <a:cs typeface="Inter"/>
                <a:sym typeface="Inter"/>
              </a:defRPr>
            </a:lvl3pPr>
            <a:lvl4pPr marL="1828800" lvl="3" indent="-304800">
              <a:lnSpc>
                <a:spcPct val="115000"/>
              </a:lnSpc>
              <a:spcBef>
                <a:spcPts val="0"/>
              </a:spcBef>
              <a:spcAft>
                <a:spcPts val="0"/>
              </a:spcAft>
              <a:buSzPts val="1200"/>
              <a:buFont typeface="Inter"/>
              <a:buChar char="●"/>
              <a:defRPr sz="1200">
                <a:latin typeface="Inter"/>
                <a:ea typeface="Inter"/>
                <a:cs typeface="Inter"/>
                <a:sym typeface="Inter"/>
              </a:defRPr>
            </a:lvl4pPr>
            <a:lvl5pPr marL="2286000" lvl="4" indent="-304800">
              <a:lnSpc>
                <a:spcPct val="115000"/>
              </a:lnSpc>
              <a:spcBef>
                <a:spcPts val="0"/>
              </a:spcBef>
              <a:spcAft>
                <a:spcPts val="0"/>
              </a:spcAft>
              <a:buSzPts val="1200"/>
              <a:buFont typeface="Inter"/>
              <a:buChar char="○"/>
              <a:defRPr sz="1200">
                <a:latin typeface="Inter"/>
                <a:ea typeface="Inter"/>
                <a:cs typeface="Inter"/>
                <a:sym typeface="Inter"/>
              </a:defRPr>
            </a:lvl5pPr>
            <a:lvl6pPr marL="2743200" lvl="5" indent="-304800">
              <a:lnSpc>
                <a:spcPct val="115000"/>
              </a:lnSpc>
              <a:spcBef>
                <a:spcPts val="0"/>
              </a:spcBef>
              <a:spcAft>
                <a:spcPts val="0"/>
              </a:spcAft>
              <a:buSzPts val="1200"/>
              <a:buFont typeface="Inter"/>
              <a:buChar char="■"/>
              <a:defRPr sz="1200">
                <a:latin typeface="Inter"/>
                <a:ea typeface="Inter"/>
                <a:cs typeface="Inter"/>
                <a:sym typeface="Inter"/>
              </a:defRPr>
            </a:lvl6pPr>
            <a:lvl7pPr marL="3200400" lvl="6" indent="-304800">
              <a:lnSpc>
                <a:spcPct val="115000"/>
              </a:lnSpc>
              <a:spcBef>
                <a:spcPts val="0"/>
              </a:spcBef>
              <a:spcAft>
                <a:spcPts val="0"/>
              </a:spcAft>
              <a:buSzPts val="1200"/>
              <a:buFont typeface="Inter"/>
              <a:buChar char="●"/>
              <a:defRPr sz="1200">
                <a:latin typeface="Inter"/>
                <a:ea typeface="Inter"/>
                <a:cs typeface="Inter"/>
                <a:sym typeface="Inter"/>
              </a:defRPr>
            </a:lvl7pPr>
            <a:lvl8pPr marL="3657600" lvl="7" indent="-304800">
              <a:lnSpc>
                <a:spcPct val="115000"/>
              </a:lnSpc>
              <a:spcBef>
                <a:spcPts val="0"/>
              </a:spcBef>
              <a:spcAft>
                <a:spcPts val="0"/>
              </a:spcAft>
              <a:buSzPts val="1200"/>
              <a:buFont typeface="Inter"/>
              <a:buChar char="○"/>
              <a:defRPr sz="1200">
                <a:latin typeface="Inter"/>
                <a:ea typeface="Inter"/>
                <a:cs typeface="Inter"/>
                <a:sym typeface="Inter"/>
              </a:defRPr>
            </a:lvl8pPr>
            <a:lvl9pPr marL="4114800" lvl="8" indent="-304800">
              <a:lnSpc>
                <a:spcPct val="115000"/>
              </a:lnSpc>
              <a:spcBef>
                <a:spcPts val="0"/>
              </a:spcBef>
              <a:spcAft>
                <a:spcPts val="0"/>
              </a:spcAft>
              <a:buSzPts val="1200"/>
              <a:buFont typeface="Inter"/>
              <a:buChar char="■"/>
              <a:defRPr sz="1200">
                <a:latin typeface="Inter"/>
                <a:ea typeface="Inter"/>
                <a:cs typeface="Inter"/>
                <a:sym typeface="Inte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5O - Vide / Fond Grey 15">
  <p:cSld name="TITLE_AND_TWO_COLUMNS_1_1_1">
    <p:bg>
      <p:bgPr>
        <a:solidFill>
          <a:schemeClr val="accent1"/>
        </a:solidFill>
        <a:effectLst/>
      </p:bgPr>
    </p:bg>
    <p:spTree>
      <p:nvGrpSpPr>
        <p:cNvPr id="1" name="Shape 390"/>
        <p:cNvGrpSpPr/>
        <p:nvPr/>
      </p:nvGrpSpPr>
      <p:grpSpPr>
        <a:xfrm>
          <a:off x="0" y="0"/>
          <a:ext cx="0" cy="0"/>
          <a:chOff x="0" y="0"/>
          <a:chExt cx="0" cy="0"/>
        </a:xfrm>
      </p:grpSpPr>
      <p:pic>
        <p:nvPicPr>
          <p:cNvPr id="391" name="Google Shape;391;p5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4A - Transition avec Photo">
  <p:cSld name="CUSTOM_1_2">
    <p:bg>
      <p:bgPr>
        <a:solidFill>
          <a:schemeClr val="dk2"/>
        </a:solidFill>
        <a:effectLst/>
      </p:bgPr>
    </p:bg>
    <p:spTree>
      <p:nvGrpSpPr>
        <p:cNvPr id="1" name="Shape 392"/>
        <p:cNvGrpSpPr/>
        <p:nvPr/>
      </p:nvGrpSpPr>
      <p:grpSpPr>
        <a:xfrm>
          <a:off x="0" y="0"/>
          <a:ext cx="0" cy="0"/>
          <a:chOff x="0" y="0"/>
          <a:chExt cx="0" cy="0"/>
        </a:xfrm>
      </p:grpSpPr>
      <p:sp>
        <p:nvSpPr>
          <p:cNvPr id="393" name="Google Shape;393;p54"/>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4" name="Google Shape;394;p54"/>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sp>
        <p:nvSpPr>
          <p:cNvPr id="395" name="Google Shape;395;p54"/>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396" name="Google Shape;396;p54"/>
          <p:cNvPicPr preferRelativeResize="0"/>
          <p:nvPr/>
        </p:nvPicPr>
        <p:blipFill>
          <a:blip r:embed="rId3">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4C - Transition avec Photo &amp; Forme">
  <p:cSld name="CUSTOM_1_2_1">
    <p:bg>
      <p:bgPr>
        <a:solidFill>
          <a:schemeClr val="dk2"/>
        </a:solidFill>
        <a:effectLst/>
      </p:bgPr>
    </p:bg>
    <p:spTree>
      <p:nvGrpSpPr>
        <p:cNvPr id="1" name="Shape 397"/>
        <p:cNvGrpSpPr/>
        <p:nvPr/>
      </p:nvGrpSpPr>
      <p:grpSpPr>
        <a:xfrm>
          <a:off x="0" y="0"/>
          <a:ext cx="0" cy="0"/>
          <a:chOff x="0" y="0"/>
          <a:chExt cx="0" cy="0"/>
        </a:xfrm>
      </p:grpSpPr>
      <p:sp>
        <p:nvSpPr>
          <p:cNvPr id="398" name="Google Shape;398;p55"/>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pic>
        <p:nvPicPr>
          <p:cNvPr id="399" name="Google Shape;399;p55"/>
          <p:cNvPicPr preferRelativeResize="0"/>
          <p:nvPr/>
        </p:nvPicPr>
        <p:blipFill rotWithShape="1">
          <a:blip r:embed="rId2">
            <a:alphaModFix/>
          </a:blip>
          <a:srcRect l="24199" r="9303" b="4215"/>
          <a:stretch/>
        </p:blipFill>
        <p:spPr>
          <a:xfrm>
            <a:off x="4179650" y="187275"/>
            <a:ext cx="4758300" cy="4568400"/>
          </a:xfrm>
          <a:prstGeom prst="roundRect">
            <a:avLst>
              <a:gd name="adj" fmla="val 2605"/>
            </a:avLst>
          </a:prstGeom>
          <a:noFill/>
          <a:ln>
            <a:noFill/>
          </a:ln>
        </p:spPr>
      </p:pic>
      <p:pic>
        <p:nvPicPr>
          <p:cNvPr id="400" name="Google Shape;400;p55"/>
          <p:cNvPicPr preferRelativeResize="0"/>
          <p:nvPr/>
        </p:nvPicPr>
        <p:blipFill>
          <a:blip r:embed="rId3">
            <a:alphaModFix/>
          </a:blip>
          <a:stretch>
            <a:fillRect/>
          </a:stretch>
        </p:blipFill>
        <p:spPr>
          <a:xfrm rot="10800000">
            <a:off x="4860175" y="329425"/>
            <a:ext cx="8490126" cy="4201250"/>
          </a:xfrm>
          <a:prstGeom prst="rect">
            <a:avLst/>
          </a:prstGeom>
          <a:noFill/>
          <a:ln>
            <a:noFill/>
          </a:ln>
        </p:spPr>
      </p:pic>
      <p:sp>
        <p:nvSpPr>
          <p:cNvPr id="401" name="Google Shape;401;p55"/>
          <p:cNvSpPr txBox="1">
            <a:spLocks noGrp="1"/>
          </p:cNvSpPr>
          <p:nvPr>
            <p:ph type="title"/>
          </p:nvPr>
        </p:nvSpPr>
        <p:spPr>
          <a:xfrm>
            <a:off x="198000" y="198000"/>
            <a:ext cx="3529500" cy="45495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2pPr>
            <a:lvl3pPr lvl="2">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3pPr>
            <a:lvl4pPr lvl="3">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4pPr>
            <a:lvl5pPr lvl="4">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5pPr>
            <a:lvl6pPr lvl="5">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6pPr>
            <a:lvl7pPr lvl="6">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7pPr>
            <a:lvl8pPr lvl="7">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8pPr>
            <a:lvl9pPr lvl="8">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9pPr>
          </a:lstStyle>
          <a:p>
            <a:endParaRPr/>
          </a:p>
        </p:txBody>
      </p:sp>
      <p:pic>
        <p:nvPicPr>
          <p:cNvPr id="402" name="Google Shape;402;p55"/>
          <p:cNvPicPr preferRelativeResize="0"/>
          <p:nvPr/>
        </p:nvPicPr>
        <p:blipFill>
          <a:blip r:embed="rId4">
            <a:alphaModFix/>
          </a:blip>
          <a:stretch>
            <a:fillRect/>
          </a:stretch>
        </p:blipFill>
        <p:spPr>
          <a:xfrm>
            <a:off x="198000" y="4747499"/>
            <a:ext cx="547501" cy="172176"/>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7A - Transition / Data &amp; IA">
  <p:cSld name="CUSTOM">
    <p:bg>
      <p:bgPr>
        <a:solidFill>
          <a:schemeClr val="accent3"/>
        </a:solidFill>
        <a:effectLst/>
      </p:bgPr>
    </p:bg>
    <p:spTree>
      <p:nvGrpSpPr>
        <p:cNvPr id="1" name="Shape 408"/>
        <p:cNvGrpSpPr/>
        <p:nvPr/>
      </p:nvGrpSpPr>
      <p:grpSpPr>
        <a:xfrm>
          <a:off x="0" y="0"/>
          <a:ext cx="0" cy="0"/>
          <a:chOff x="0" y="0"/>
          <a:chExt cx="0" cy="0"/>
        </a:xfrm>
      </p:grpSpPr>
      <p:sp>
        <p:nvSpPr>
          <p:cNvPr id="409" name="Google Shape;409;p57"/>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0" name="Google Shape;410;p57"/>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1" name="Google Shape;411;p57"/>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2" name="Google Shape;412;p57"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7B - Transition &amp; Image / Data &amp; IA">
  <p:cSld name="CUSTOM_3">
    <p:bg>
      <p:bgPr>
        <a:solidFill>
          <a:schemeClr val="accent3"/>
        </a:solidFill>
        <a:effectLst/>
      </p:bgPr>
    </p:bg>
    <p:spTree>
      <p:nvGrpSpPr>
        <p:cNvPr id="1" name="Shape 413"/>
        <p:cNvGrpSpPr/>
        <p:nvPr/>
      </p:nvGrpSpPr>
      <p:grpSpPr>
        <a:xfrm>
          <a:off x="0" y="0"/>
          <a:ext cx="0" cy="0"/>
          <a:chOff x="0" y="0"/>
          <a:chExt cx="0" cy="0"/>
        </a:xfrm>
      </p:grpSpPr>
      <p:sp>
        <p:nvSpPr>
          <p:cNvPr id="414" name="Google Shape;414;p58"/>
          <p:cNvSpPr>
            <a:spLocks noGrp="1"/>
          </p:cNvSpPr>
          <p:nvPr>
            <p:ph type="pic" idx="2"/>
          </p:nvPr>
        </p:nvSpPr>
        <p:spPr>
          <a:xfrm>
            <a:off x="5218500" y="0"/>
            <a:ext cx="3925500" cy="5143500"/>
          </a:xfrm>
          <a:prstGeom prst="rect">
            <a:avLst/>
          </a:prstGeom>
          <a:noFill/>
          <a:ln>
            <a:noFill/>
          </a:ln>
        </p:spPr>
      </p:sp>
      <p:sp>
        <p:nvSpPr>
          <p:cNvPr id="415" name="Google Shape;415;p5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16" name="Google Shape;416;p58"/>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17" name="Google Shape;417;p58"/>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18" name="Google Shape;418;p58"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7C - Transition &amp; Texte / Data &amp; IA">
  <p:cSld name="CUSTOM_3_1">
    <p:bg>
      <p:bgPr>
        <a:solidFill>
          <a:schemeClr val="lt1"/>
        </a:solidFill>
        <a:effectLst/>
      </p:bgPr>
    </p:bg>
    <p:spTree>
      <p:nvGrpSpPr>
        <p:cNvPr id="1" name="Shape 419"/>
        <p:cNvGrpSpPr/>
        <p:nvPr/>
      </p:nvGrpSpPr>
      <p:grpSpPr>
        <a:xfrm>
          <a:off x="0" y="0"/>
          <a:ext cx="0" cy="0"/>
          <a:chOff x="0" y="0"/>
          <a:chExt cx="0" cy="0"/>
        </a:xfrm>
      </p:grpSpPr>
      <p:sp>
        <p:nvSpPr>
          <p:cNvPr id="420" name="Google Shape;420;p59"/>
          <p:cNvSpPr/>
          <p:nvPr/>
        </p:nvSpPr>
        <p:spPr>
          <a:xfrm>
            <a:off x="-57225" y="-86025"/>
            <a:ext cx="5275800" cy="53157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59"/>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22" name="Google Shape;422;p59"/>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sp>
        <p:nvSpPr>
          <p:cNvPr id="423" name="Google Shape;423;p59"/>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24" name="Google Shape;424;p5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25" name="Google Shape;425;p59"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7D - Transition / Digital">
  <p:cSld name="CUSTOM_5">
    <p:bg>
      <p:bgPr>
        <a:solidFill>
          <a:schemeClr val="accent4"/>
        </a:solidFill>
        <a:effectLst/>
      </p:bgPr>
    </p:bg>
    <p:spTree>
      <p:nvGrpSpPr>
        <p:cNvPr id="1" name="Shape 426"/>
        <p:cNvGrpSpPr/>
        <p:nvPr/>
      </p:nvGrpSpPr>
      <p:grpSpPr>
        <a:xfrm>
          <a:off x="0" y="0"/>
          <a:ext cx="0" cy="0"/>
          <a:chOff x="0" y="0"/>
          <a:chExt cx="0" cy="0"/>
        </a:xfrm>
      </p:grpSpPr>
      <p:pic>
        <p:nvPicPr>
          <p:cNvPr id="427" name="Google Shape;427;p60"/>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28" name="Google Shape;428;p60"/>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29" name="Google Shape;429;p60"/>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0" name="Google Shape;430;p60"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7E - Transition &amp; Image / Digital">
  <p:cSld name="CUSTOM_3_2">
    <p:bg>
      <p:bgPr>
        <a:solidFill>
          <a:schemeClr val="accent4"/>
        </a:solidFill>
        <a:effectLst/>
      </p:bgPr>
    </p:bg>
    <p:spTree>
      <p:nvGrpSpPr>
        <p:cNvPr id="1" name="Shape 431"/>
        <p:cNvGrpSpPr/>
        <p:nvPr/>
      </p:nvGrpSpPr>
      <p:grpSpPr>
        <a:xfrm>
          <a:off x="0" y="0"/>
          <a:ext cx="0" cy="0"/>
          <a:chOff x="0" y="0"/>
          <a:chExt cx="0" cy="0"/>
        </a:xfrm>
      </p:grpSpPr>
      <p:pic>
        <p:nvPicPr>
          <p:cNvPr id="432" name="Google Shape;432;p61"/>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33" name="Google Shape;433;p61"/>
          <p:cNvSpPr>
            <a:spLocks noGrp="1"/>
          </p:cNvSpPr>
          <p:nvPr>
            <p:ph type="pic" idx="2"/>
          </p:nvPr>
        </p:nvSpPr>
        <p:spPr>
          <a:xfrm>
            <a:off x="5218500" y="0"/>
            <a:ext cx="3925500" cy="5143500"/>
          </a:xfrm>
          <a:prstGeom prst="rect">
            <a:avLst/>
          </a:prstGeom>
          <a:noFill/>
          <a:ln>
            <a:noFill/>
          </a:ln>
        </p:spPr>
      </p:sp>
      <p:sp>
        <p:nvSpPr>
          <p:cNvPr id="434" name="Google Shape;434;p61"/>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35" name="Google Shape;435;p61"/>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36" name="Google Shape;436;p61"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7F - Transition &amp; Texte / Digital">
  <p:cSld name="CUSTOM_3_1_1">
    <p:bg>
      <p:bgPr>
        <a:solidFill>
          <a:schemeClr val="lt1"/>
        </a:solidFill>
        <a:effectLst/>
      </p:bgPr>
    </p:bg>
    <p:spTree>
      <p:nvGrpSpPr>
        <p:cNvPr id="1" name="Shape 437"/>
        <p:cNvGrpSpPr/>
        <p:nvPr/>
      </p:nvGrpSpPr>
      <p:grpSpPr>
        <a:xfrm>
          <a:off x="0" y="0"/>
          <a:ext cx="0" cy="0"/>
          <a:chOff x="0" y="0"/>
          <a:chExt cx="0" cy="0"/>
        </a:xfrm>
      </p:grpSpPr>
      <p:sp>
        <p:nvSpPr>
          <p:cNvPr id="438" name="Google Shape;438;p62"/>
          <p:cNvSpPr/>
          <p:nvPr/>
        </p:nvSpPr>
        <p:spPr>
          <a:xfrm>
            <a:off x="-64600" y="-56475"/>
            <a:ext cx="5283000" cy="5256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39" name="Google Shape;439;p62"/>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40" name="Google Shape;440;p62"/>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41" name="Google Shape;441;p62"/>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42" name="Google Shape;442;p62"/>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43" name="Google Shape;443;p62"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7G - Transition / Soft Dev">
  <p:cSld name="CUSTOM_5_1">
    <p:bg>
      <p:bgPr>
        <a:solidFill>
          <a:schemeClr val="accent2"/>
        </a:solidFill>
        <a:effectLst/>
      </p:bgPr>
    </p:bg>
    <p:spTree>
      <p:nvGrpSpPr>
        <p:cNvPr id="1" name="Shape 444"/>
        <p:cNvGrpSpPr/>
        <p:nvPr/>
      </p:nvGrpSpPr>
      <p:grpSpPr>
        <a:xfrm>
          <a:off x="0" y="0"/>
          <a:ext cx="0" cy="0"/>
          <a:chOff x="0" y="0"/>
          <a:chExt cx="0" cy="0"/>
        </a:xfrm>
      </p:grpSpPr>
      <p:sp>
        <p:nvSpPr>
          <p:cNvPr id="445" name="Google Shape;445;p63"/>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46" name="Google Shape;446;p63"/>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47" name="Google Shape;447;p63"/>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48" name="Google Shape;448;p63" title="Fichier 14.png"/>
          <p:cNvPicPr preferRelativeResize="0"/>
          <p:nvPr/>
        </p:nvPicPr>
        <p:blipFill>
          <a:blip r:embed="rId3">
            <a:alphaModFix/>
          </a:blip>
          <a:stretch>
            <a:fillRect/>
          </a:stretch>
        </p:blipFill>
        <p:spPr>
          <a:xfrm>
            <a:off x="4670987" y="3322434"/>
            <a:ext cx="4778949" cy="234180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7H - Transition &amp; Image / Soft Dev">
  <p:cSld name="CUSTOM_3_2_1">
    <p:bg>
      <p:bgPr>
        <a:solidFill>
          <a:schemeClr val="accent2"/>
        </a:solidFill>
        <a:effectLst/>
      </p:bgPr>
    </p:bg>
    <p:spTree>
      <p:nvGrpSpPr>
        <p:cNvPr id="1" name="Shape 449"/>
        <p:cNvGrpSpPr/>
        <p:nvPr/>
      </p:nvGrpSpPr>
      <p:grpSpPr>
        <a:xfrm>
          <a:off x="0" y="0"/>
          <a:ext cx="0" cy="0"/>
          <a:chOff x="0" y="0"/>
          <a:chExt cx="0" cy="0"/>
        </a:xfrm>
      </p:grpSpPr>
      <p:sp>
        <p:nvSpPr>
          <p:cNvPr id="450" name="Google Shape;450;p64"/>
          <p:cNvSpPr>
            <a:spLocks noGrp="1"/>
          </p:cNvSpPr>
          <p:nvPr>
            <p:ph type="pic" idx="2"/>
          </p:nvPr>
        </p:nvSpPr>
        <p:spPr>
          <a:xfrm>
            <a:off x="5218500" y="0"/>
            <a:ext cx="3925500" cy="5143500"/>
          </a:xfrm>
          <a:prstGeom prst="rect">
            <a:avLst/>
          </a:prstGeom>
          <a:noFill/>
          <a:ln>
            <a:noFill/>
          </a:ln>
        </p:spPr>
      </p:sp>
      <p:sp>
        <p:nvSpPr>
          <p:cNvPr id="451" name="Google Shape;451;p64"/>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3600"/>
              <a:buFont typeface="Work Sans Medium"/>
              <a:buChar char="■"/>
              <a:defRPr sz="3600">
                <a:solidFill>
                  <a:schemeClr val="dk2"/>
                </a:solidFill>
                <a:latin typeface="Work Sans Medium"/>
                <a:ea typeface="Work Sans Medium"/>
                <a:cs typeface="Work Sans Medium"/>
                <a:sym typeface="Work Sans Medium"/>
              </a:defRPr>
            </a:lvl9pPr>
          </a:lstStyle>
          <a:p>
            <a:endParaRPr/>
          </a:p>
        </p:txBody>
      </p:sp>
      <p:sp>
        <p:nvSpPr>
          <p:cNvPr id="452" name="Google Shape;452;p64"/>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1pPr>
            <a:lvl2pPr lvl="1">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2pPr>
            <a:lvl3pPr lvl="2">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3pPr>
            <a:lvl4pPr lvl="3">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4pPr>
            <a:lvl5pPr lvl="4">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5pPr>
            <a:lvl6pPr lvl="5">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6pPr>
            <a:lvl7pPr lvl="6">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7pPr>
            <a:lvl8pPr lvl="7">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8pPr>
            <a:lvl9pPr lvl="8">
              <a:spcBef>
                <a:spcPts val="0"/>
              </a:spcBef>
              <a:spcAft>
                <a:spcPts val="0"/>
              </a:spcAft>
              <a:buClr>
                <a:schemeClr val="dk2"/>
              </a:buClr>
              <a:buSzPts val="2100"/>
              <a:buFont typeface="Work Sans Medium"/>
              <a:buChar char="■"/>
              <a:defRPr sz="2100">
                <a:solidFill>
                  <a:schemeClr val="dk2"/>
                </a:solidFill>
                <a:latin typeface="Work Sans Medium"/>
                <a:ea typeface="Work Sans Medium"/>
                <a:cs typeface="Work Sans Medium"/>
                <a:sym typeface="Work Sans Medium"/>
              </a:defRPr>
            </a:lvl9pPr>
          </a:lstStyle>
          <a:p>
            <a:endParaRPr/>
          </a:p>
        </p:txBody>
      </p:sp>
      <p:pic>
        <p:nvPicPr>
          <p:cNvPr id="453" name="Google Shape;453;p64"/>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54" name="Google Shape;454;p64" title="Fichier 21.png"/>
          <p:cNvPicPr preferRelativeResize="0"/>
          <p:nvPr/>
        </p:nvPicPr>
        <p:blipFill>
          <a:blip r:embed="rId3">
            <a:alphaModFix/>
          </a:blip>
          <a:stretch>
            <a:fillRect/>
          </a:stretch>
        </p:blipFill>
        <p:spPr>
          <a:xfrm>
            <a:off x="-1262115" y="3219518"/>
            <a:ext cx="4625650" cy="227333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7I - Transition &amp; Texte / Soft Dev">
  <p:cSld name="CUSTOM_3_1_1_1">
    <p:bg>
      <p:bgPr>
        <a:solidFill>
          <a:schemeClr val="lt1"/>
        </a:solidFill>
        <a:effectLst/>
      </p:bgPr>
    </p:bg>
    <p:spTree>
      <p:nvGrpSpPr>
        <p:cNvPr id="1" name="Shape 455"/>
        <p:cNvGrpSpPr/>
        <p:nvPr/>
      </p:nvGrpSpPr>
      <p:grpSpPr>
        <a:xfrm>
          <a:off x="0" y="0"/>
          <a:ext cx="0" cy="0"/>
          <a:chOff x="0" y="0"/>
          <a:chExt cx="0" cy="0"/>
        </a:xfrm>
      </p:grpSpPr>
      <p:sp>
        <p:nvSpPr>
          <p:cNvPr id="456" name="Google Shape;456;p65"/>
          <p:cNvSpPr/>
          <p:nvPr/>
        </p:nvSpPr>
        <p:spPr>
          <a:xfrm>
            <a:off x="-57225" y="-63875"/>
            <a:ext cx="5275800" cy="5271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 name="Google Shape;457;p65"/>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3600"/>
              <a:buFont typeface="Work Sans Medium"/>
              <a:buChar char="■"/>
              <a:defRPr sz="3600">
                <a:solidFill>
                  <a:srgbClr val="1A1A33"/>
                </a:solidFill>
                <a:latin typeface="Work Sans Medium"/>
                <a:ea typeface="Work Sans Medium"/>
                <a:cs typeface="Work Sans Medium"/>
                <a:sym typeface="Work Sans Medium"/>
              </a:defRPr>
            </a:lvl9pPr>
          </a:lstStyle>
          <a:p>
            <a:endParaRPr/>
          </a:p>
        </p:txBody>
      </p:sp>
      <p:sp>
        <p:nvSpPr>
          <p:cNvPr id="458" name="Google Shape;458;p65"/>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1pPr>
            <a:lvl2pPr lvl="1">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2pPr>
            <a:lvl3pPr lvl="2">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3pPr>
            <a:lvl4pPr lvl="3">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4pPr>
            <a:lvl5pPr lvl="4">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5pPr>
            <a:lvl6pPr lvl="5">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6pPr>
            <a:lvl7pPr lvl="6">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7pPr>
            <a:lvl8pPr lvl="7">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8pPr>
            <a:lvl9pPr lvl="8">
              <a:spcBef>
                <a:spcPts val="0"/>
              </a:spcBef>
              <a:spcAft>
                <a:spcPts val="0"/>
              </a:spcAft>
              <a:buClr>
                <a:srgbClr val="1A1A33"/>
              </a:buClr>
              <a:buSzPts val="2100"/>
              <a:buFont typeface="Work Sans Medium"/>
              <a:buChar char="■"/>
              <a:defRPr sz="2100">
                <a:solidFill>
                  <a:srgbClr val="1A1A33"/>
                </a:solidFill>
                <a:latin typeface="Work Sans Medium"/>
                <a:ea typeface="Work Sans Medium"/>
                <a:cs typeface="Work Sans Medium"/>
                <a:sym typeface="Work Sans Medium"/>
              </a:defRPr>
            </a:lvl9pPr>
          </a:lstStyle>
          <a:p>
            <a:endParaRPr/>
          </a:p>
        </p:txBody>
      </p:sp>
      <p:sp>
        <p:nvSpPr>
          <p:cNvPr id="459" name="Google Shape;459;p65"/>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60" name="Google Shape;460;p65"/>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pic>
        <p:nvPicPr>
          <p:cNvPr id="461" name="Google Shape;461;p65" title="Fichier 20.png"/>
          <p:cNvPicPr preferRelativeResize="0"/>
          <p:nvPr/>
        </p:nvPicPr>
        <p:blipFill>
          <a:blip r:embed="rId3">
            <a:alphaModFix/>
          </a:blip>
          <a:stretch>
            <a:fillRect/>
          </a:stretch>
        </p:blipFill>
        <p:spPr>
          <a:xfrm rot="-5400000">
            <a:off x="-1702026" y="4617290"/>
            <a:ext cx="5951726" cy="29426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7J - Transition / Cybersecurity">
  <p:cSld name="CUSTOM_5_1_1">
    <p:bg>
      <p:bgPr>
        <a:solidFill>
          <a:schemeClr val="accent5"/>
        </a:solidFill>
        <a:effectLst/>
      </p:bgPr>
    </p:bg>
    <p:spTree>
      <p:nvGrpSpPr>
        <p:cNvPr id="1" name="Shape 462"/>
        <p:cNvGrpSpPr/>
        <p:nvPr/>
      </p:nvGrpSpPr>
      <p:grpSpPr>
        <a:xfrm>
          <a:off x="0" y="0"/>
          <a:ext cx="0" cy="0"/>
          <a:chOff x="0" y="0"/>
          <a:chExt cx="0" cy="0"/>
        </a:xfrm>
      </p:grpSpPr>
      <p:pic>
        <p:nvPicPr>
          <p:cNvPr id="463" name="Google Shape;463;p66"/>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4" name="Google Shape;464;p66"/>
          <p:cNvSpPr txBox="1">
            <a:spLocks noGrp="1"/>
          </p:cNvSpPr>
          <p:nvPr>
            <p:ph type="title"/>
          </p:nvPr>
        </p:nvSpPr>
        <p:spPr>
          <a:xfrm>
            <a:off x="198000" y="198000"/>
            <a:ext cx="8748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65" name="Google Shape;465;p66"/>
          <p:cNvSpPr txBox="1">
            <a:spLocks noGrp="1"/>
          </p:cNvSpPr>
          <p:nvPr>
            <p:ph type="title" idx="2"/>
          </p:nvPr>
        </p:nvSpPr>
        <p:spPr>
          <a:xfrm>
            <a:off x="198000" y="2105175"/>
            <a:ext cx="8748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66" name="Google Shape;466;p66" title="Fichier 14.png"/>
          <p:cNvPicPr preferRelativeResize="0"/>
          <p:nvPr/>
        </p:nvPicPr>
        <p:blipFill>
          <a:blip r:embed="rId3">
            <a:alphaModFix/>
          </a:blip>
          <a:stretch>
            <a:fillRect/>
          </a:stretch>
        </p:blipFill>
        <p:spPr>
          <a:xfrm>
            <a:off x="4671000" y="3322429"/>
            <a:ext cx="4778949" cy="233757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7K - Transition &amp; Image / Cybersecurity">
  <p:cSld name="CUSTOM_3_2_1_1">
    <p:bg>
      <p:bgPr>
        <a:solidFill>
          <a:schemeClr val="accent5"/>
        </a:solidFill>
        <a:effectLst/>
      </p:bgPr>
    </p:bg>
    <p:spTree>
      <p:nvGrpSpPr>
        <p:cNvPr id="1" name="Shape 467"/>
        <p:cNvGrpSpPr/>
        <p:nvPr/>
      </p:nvGrpSpPr>
      <p:grpSpPr>
        <a:xfrm>
          <a:off x="0" y="0"/>
          <a:ext cx="0" cy="0"/>
          <a:chOff x="0" y="0"/>
          <a:chExt cx="0" cy="0"/>
        </a:xfrm>
      </p:grpSpPr>
      <p:pic>
        <p:nvPicPr>
          <p:cNvPr id="468" name="Google Shape;468;p67"/>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69" name="Google Shape;469;p67"/>
          <p:cNvSpPr>
            <a:spLocks noGrp="1"/>
          </p:cNvSpPr>
          <p:nvPr>
            <p:ph type="pic" idx="2"/>
          </p:nvPr>
        </p:nvSpPr>
        <p:spPr>
          <a:xfrm>
            <a:off x="5218500" y="0"/>
            <a:ext cx="3925500" cy="5143500"/>
          </a:xfrm>
          <a:prstGeom prst="rect">
            <a:avLst/>
          </a:prstGeom>
          <a:noFill/>
          <a:ln>
            <a:noFill/>
          </a:ln>
        </p:spPr>
      </p:sp>
      <p:sp>
        <p:nvSpPr>
          <p:cNvPr id="470" name="Google Shape;470;p67"/>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1" name="Google Shape;471;p67"/>
          <p:cNvSpPr txBox="1">
            <a:spLocks noGrp="1"/>
          </p:cNvSpPr>
          <p:nvPr>
            <p:ph type="title" idx="3"/>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pic>
        <p:nvPicPr>
          <p:cNvPr id="472" name="Google Shape;472;p67" title="Fichier 21.png"/>
          <p:cNvPicPr preferRelativeResize="0"/>
          <p:nvPr/>
        </p:nvPicPr>
        <p:blipFill>
          <a:blip r:embed="rId3">
            <a:alphaModFix/>
          </a:blip>
          <a:stretch>
            <a:fillRect/>
          </a:stretch>
        </p:blipFill>
        <p:spPr>
          <a:xfrm>
            <a:off x="-1262125" y="3223499"/>
            <a:ext cx="4625651" cy="226934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7L - Transition &amp; Texte / Cybersecurity">
  <p:cSld name="CUSTOM_3_1_1_1_1">
    <p:bg>
      <p:bgPr>
        <a:solidFill>
          <a:schemeClr val="lt1"/>
        </a:solidFill>
        <a:effectLst/>
      </p:bgPr>
    </p:bg>
    <p:spTree>
      <p:nvGrpSpPr>
        <p:cNvPr id="1" name="Shape 473"/>
        <p:cNvGrpSpPr/>
        <p:nvPr/>
      </p:nvGrpSpPr>
      <p:grpSpPr>
        <a:xfrm>
          <a:off x="0" y="0"/>
          <a:ext cx="0" cy="0"/>
          <a:chOff x="0" y="0"/>
          <a:chExt cx="0" cy="0"/>
        </a:xfrm>
      </p:grpSpPr>
      <p:sp>
        <p:nvSpPr>
          <p:cNvPr id="474" name="Google Shape;474;p68"/>
          <p:cNvSpPr/>
          <p:nvPr/>
        </p:nvSpPr>
        <p:spPr>
          <a:xfrm>
            <a:off x="-88300" y="-102500"/>
            <a:ext cx="5306700" cy="5348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75" name="Google Shape;475;p68"/>
          <p:cNvPicPr preferRelativeResize="0"/>
          <p:nvPr/>
        </p:nvPicPr>
        <p:blipFill>
          <a:blip r:embed="rId2">
            <a:alphaModFix/>
          </a:blip>
          <a:stretch>
            <a:fillRect/>
          </a:stretch>
        </p:blipFill>
        <p:spPr>
          <a:xfrm>
            <a:off x="198000" y="4747499"/>
            <a:ext cx="547501" cy="172176"/>
          </a:xfrm>
          <a:prstGeom prst="rect">
            <a:avLst/>
          </a:prstGeom>
          <a:noFill/>
          <a:ln>
            <a:noFill/>
          </a:ln>
        </p:spPr>
      </p:pic>
      <p:sp>
        <p:nvSpPr>
          <p:cNvPr id="476" name="Google Shape;476;p68"/>
          <p:cNvSpPr txBox="1">
            <a:spLocks noGrp="1"/>
          </p:cNvSpPr>
          <p:nvPr>
            <p:ph type="title"/>
          </p:nvPr>
        </p:nvSpPr>
        <p:spPr>
          <a:xfrm>
            <a:off x="198000" y="198000"/>
            <a:ext cx="4473000" cy="1194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3600"/>
              <a:buFont typeface="Work Sans Medium"/>
              <a:buChar char="●"/>
              <a:defRPr sz="3600">
                <a:solidFill>
                  <a:schemeClr val="lt1"/>
                </a:solidFill>
                <a:latin typeface="Work Sans Medium"/>
                <a:ea typeface="Work Sans Medium"/>
                <a:cs typeface="Work Sans Medium"/>
                <a:sym typeface="Work Sans Medium"/>
              </a:defRPr>
            </a:lvl1pPr>
            <a:lvl2pPr lvl="1">
              <a:spcBef>
                <a:spcPts val="0"/>
              </a:spcBef>
              <a:spcAft>
                <a:spcPts val="0"/>
              </a:spcAft>
              <a:buSzPts val="3600"/>
              <a:buFont typeface="Work Sans Medium"/>
              <a:buChar char="○"/>
              <a:defRPr sz="3600">
                <a:latin typeface="Work Sans Medium"/>
                <a:ea typeface="Work Sans Medium"/>
                <a:cs typeface="Work Sans Medium"/>
                <a:sym typeface="Work Sans Medium"/>
              </a:defRPr>
            </a:lvl2pPr>
            <a:lvl3pPr lvl="2">
              <a:spcBef>
                <a:spcPts val="0"/>
              </a:spcBef>
              <a:spcAft>
                <a:spcPts val="0"/>
              </a:spcAft>
              <a:buSzPts val="3600"/>
              <a:buFont typeface="Work Sans Medium"/>
              <a:buChar char="■"/>
              <a:defRPr sz="3600">
                <a:latin typeface="Work Sans Medium"/>
                <a:ea typeface="Work Sans Medium"/>
                <a:cs typeface="Work Sans Medium"/>
                <a:sym typeface="Work Sans Medium"/>
              </a:defRPr>
            </a:lvl3pPr>
            <a:lvl4pPr lvl="3">
              <a:spcBef>
                <a:spcPts val="0"/>
              </a:spcBef>
              <a:spcAft>
                <a:spcPts val="0"/>
              </a:spcAft>
              <a:buSzPts val="3600"/>
              <a:buFont typeface="Work Sans Medium"/>
              <a:buChar char="●"/>
              <a:defRPr sz="3600">
                <a:latin typeface="Work Sans Medium"/>
                <a:ea typeface="Work Sans Medium"/>
                <a:cs typeface="Work Sans Medium"/>
                <a:sym typeface="Work Sans Medium"/>
              </a:defRPr>
            </a:lvl4pPr>
            <a:lvl5pPr lvl="4">
              <a:spcBef>
                <a:spcPts val="0"/>
              </a:spcBef>
              <a:spcAft>
                <a:spcPts val="0"/>
              </a:spcAft>
              <a:buSzPts val="3600"/>
              <a:buFont typeface="Work Sans Medium"/>
              <a:buChar char="○"/>
              <a:defRPr sz="3600">
                <a:latin typeface="Work Sans Medium"/>
                <a:ea typeface="Work Sans Medium"/>
                <a:cs typeface="Work Sans Medium"/>
                <a:sym typeface="Work Sans Medium"/>
              </a:defRPr>
            </a:lvl5pPr>
            <a:lvl6pPr lvl="5">
              <a:spcBef>
                <a:spcPts val="0"/>
              </a:spcBef>
              <a:spcAft>
                <a:spcPts val="0"/>
              </a:spcAft>
              <a:buSzPts val="3600"/>
              <a:buFont typeface="Work Sans Medium"/>
              <a:buChar char="■"/>
              <a:defRPr sz="3600">
                <a:latin typeface="Work Sans Medium"/>
                <a:ea typeface="Work Sans Medium"/>
                <a:cs typeface="Work Sans Medium"/>
                <a:sym typeface="Work Sans Medium"/>
              </a:defRPr>
            </a:lvl6pPr>
            <a:lvl7pPr lvl="6">
              <a:spcBef>
                <a:spcPts val="0"/>
              </a:spcBef>
              <a:spcAft>
                <a:spcPts val="0"/>
              </a:spcAft>
              <a:buSzPts val="3600"/>
              <a:buFont typeface="Work Sans Medium"/>
              <a:buChar char="●"/>
              <a:defRPr sz="3600">
                <a:latin typeface="Work Sans Medium"/>
                <a:ea typeface="Work Sans Medium"/>
                <a:cs typeface="Work Sans Medium"/>
                <a:sym typeface="Work Sans Medium"/>
              </a:defRPr>
            </a:lvl7pPr>
            <a:lvl8pPr lvl="7">
              <a:spcBef>
                <a:spcPts val="0"/>
              </a:spcBef>
              <a:spcAft>
                <a:spcPts val="0"/>
              </a:spcAft>
              <a:buSzPts val="3600"/>
              <a:buFont typeface="Work Sans Medium"/>
              <a:buChar char="○"/>
              <a:defRPr sz="3600">
                <a:latin typeface="Work Sans Medium"/>
                <a:ea typeface="Work Sans Medium"/>
                <a:cs typeface="Work Sans Medium"/>
                <a:sym typeface="Work Sans Medium"/>
              </a:defRPr>
            </a:lvl8pPr>
            <a:lvl9pPr lvl="8">
              <a:spcBef>
                <a:spcPts val="0"/>
              </a:spcBef>
              <a:spcAft>
                <a:spcPts val="0"/>
              </a:spcAft>
              <a:buSzPts val="3600"/>
              <a:buFont typeface="Work Sans Medium"/>
              <a:buChar char="■"/>
              <a:defRPr sz="3600">
                <a:latin typeface="Work Sans Medium"/>
                <a:ea typeface="Work Sans Medium"/>
                <a:cs typeface="Work Sans Medium"/>
                <a:sym typeface="Work Sans Medium"/>
              </a:defRPr>
            </a:lvl9pPr>
          </a:lstStyle>
          <a:p>
            <a:endParaRPr/>
          </a:p>
        </p:txBody>
      </p:sp>
      <p:sp>
        <p:nvSpPr>
          <p:cNvPr id="477" name="Google Shape;477;p68"/>
          <p:cNvSpPr txBox="1">
            <a:spLocks noGrp="1"/>
          </p:cNvSpPr>
          <p:nvPr>
            <p:ph type="title" idx="2"/>
          </p:nvPr>
        </p:nvSpPr>
        <p:spPr>
          <a:xfrm>
            <a:off x="198000" y="2105175"/>
            <a:ext cx="4473000" cy="8466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1"/>
              </a:buClr>
              <a:buSzPts val="2100"/>
              <a:buFont typeface="Work Sans Medium"/>
              <a:buChar char="●"/>
              <a:defRPr sz="2100">
                <a:solidFill>
                  <a:schemeClr val="lt1"/>
                </a:solidFill>
                <a:latin typeface="Work Sans Medium"/>
                <a:ea typeface="Work Sans Medium"/>
                <a:cs typeface="Work Sans Medium"/>
                <a:sym typeface="Work Sans Medium"/>
              </a:defRPr>
            </a:lvl1pPr>
            <a:lvl2pPr lvl="1">
              <a:spcBef>
                <a:spcPts val="0"/>
              </a:spcBef>
              <a:spcAft>
                <a:spcPts val="0"/>
              </a:spcAft>
              <a:buSzPts val="2100"/>
              <a:buFont typeface="Work Sans Medium"/>
              <a:buChar char="○"/>
              <a:defRPr sz="2100">
                <a:latin typeface="Work Sans Medium"/>
                <a:ea typeface="Work Sans Medium"/>
                <a:cs typeface="Work Sans Medium"/>
                <a:sym typeface="Work Sans Medium"/>
              </a:defRPr>
            </a:lvl2pPr>
            <a:lvl3pPr lvl="2">
              <a:spcBef>
                <a:spcPts val="0"/>
              </a:spcBef>
              <a:spcAft>
                <a:spcPts val="0"/>
              </a:spcAft>
              <a:buSzPts val="2100"/>
              <a:buFont typeface="Work Sans Medium"/>
              <a:buChar char="■"/>
              <a:defRPr sz="2100">
                <a:latin typeface="Work Sans Medium"/>
                <a:ea typeface="Work Sans Medium"/>
                <a:cs typeface="Work Sans Medium"/>
                <a:sym typeface="Work Sans Medium"/>
              </a:defRPr>
            </a:lvl3pPr>
            <a:lvl4pPr lvl="3">
              <a:spcBef>
                <a:spcPts val="0"/>
              </a:spcBef>
              <a:spcAft>
                <a:spcPts val="0"/>
              </a:spcAft>
              <a:buSzPts val="2100"/>
              <a:buFont typeface="Work Sans Medium"/>
              <a:buChar char="●"/>
              <a:defRPr sz="2100">
                <a:latin typeface="Work Sans Medium"/>
                <a:ea typeface="Work Sans Medium"/>
                <a:cs typeface="Work Sans Medium"/>
                <a:sym typeface="Work Sans Medium"/>
              </a:defRPr>
            </a:lvl4pPr>
            <a:lvl5pPr lvl="4">
              <a:spcBef>
                <a:spcPts val="0"/>
              </a:spcBef>
              <a:spcAft>
                <a:spcPts val="0"/>
              </a:spcAft>
              <a:buSzPts val="2100"/>
              <a:buFont typeface="Work Sans Medium"/>
              <a:buChar char="○"/>
              <a:defRPr sz="2100">
                <a:latin typeface="Work Sans Medium"/>
                <a:ea typeface="Work Sans Medium"/>
                <a:cs typeface="Work Sans Medium"/>
                <a:sym typeface="Work Sans Medium"/>
              </a:defRPr>
            </a:lvl5pPr>
            <a:lvl6pPr lvl="5">
              <a:spcBef>
                <a:spcPts val="0"/>
              </a:spcBef>
              <a:spcAft>
                <a:spcPts val="0"/>
              </a:spcAft>
              <a:buSzPts val="2100"/>
              <a:buFont typeface="Work Sans Medium"/>
              <a:buChar char="■"/>
              <a:defRPr sz="2100">
                <a:latin typeface="Work Sans Medium"/>
                <a:ea typeface="Work Sans Medium"/>
                <a:cs typeface="Work Sans Medium"/>
                <a:sym typeface="Work Sans Medium"/>
              </a:defRPr>
            </a:lvl6pPr>
            <a:lvl7pPr lvl="6">
              <a:spcBef>
                <a:spcPts val="0"/>
              </a:spcBef>
              <a:spcAft>
                <a:spcPts val="0"/>
              </a:spcAft>
              <a:buSzPts val="2100"/>
              <a:buFont typeface="Work Sans Medium"/>
              <a:buChar char="●"/>
              <a:defRPr sz="2100">
                <a:latin typeface="Work Sans Medium"/>
                <a:ea typeface="Work Sans Medium"/>
                <a:cs typeface="Work Sans Medium"/>
                <a:sym typeface="Work Sans Medium"/>
              </a:defRPr>
            </a:lvl7pPr>
            <a:lvl8pPr lvl="7">
              <a:spcBef>
                <a:spcPts val="0"/>
              </a:spcBef>
              <a:spcAft>
                <a:spcPts val="0"/>
              </a:spcAft>
              <a:buSzPts val="2100"/>
              <a:buFont typeface="Work Sans Medium"/>
              <a:buChar char="○"/>
              <a:defRPr sz="2100">
                <a:latin typeface="Work Sans Medium"/>
                <a:ea typeface="Work Sans Medium"/>
                <a:cs typeface="Work Sans Medium"/>
                <a:sym typeface="Work Sans Medium"/>
              </a:defRPr>
            </a:lvl8pPr>
            <a:lvl9pPr lvl="8">
              <a:spcBef>
                <a:spcPts val="0"/>
              </a:spcBef>
              <a:spcAft>
                <a:spcPts val="0"/>
              </a:spcAft>
              <a:buSzPts val="2100"/>
              <a:buFont typeface="Work Sans Medium"/>
              <a:buChar char="■"/>
              <a:defRPr sz="2100">
                <a:latin typeface="Work Sans Medium"/>
                <a:ea typeface="Work Sans Medium"/>
                <a:cs typeface="Work Sans Medium"/>
                <a:sym typeface="Work Sans Medium"/>
              </a:defRPr>
            </a:lvl9pPr>
          </a:lstStyle>
          <a:p>
            <a:endParaRPr/>
          </a:p>
        </p:txBody>
      </p:sp>
      <p:sp>
        <p:nvSpPr>
          <p:cNvPr id="478" name="Google Shape;478;p68"/>
          <p:cNvSpPr txBox="1">
            <a:spLocks noGrp="1"/>
          </p:cNvSpPr>
          <p:nvPr>
            <p:ph type="title" idx="3"/>
          </p:nvPr>
        </p:nvSpPr>
        <p:spPr>
          <a:xfrm>
            <a:off x="5416500" y="198100"/>
            <a:ext cx="3529500" cy="4549500"/>
          </a:xfrm>
          <a:prstGeom prst="rect">
            <a:avLst/>
          </a:prstGeom>
          <a:noFill/>
          <a:ln>
            <a:noFill/>
          </a:ln>
        </p:spPr>
        <p:txBody>
          <a:bodyPr spcFirstLastPara="1" wrap="square" lIns="0" tIns="0" rIns="0" bIns="0" anchor="ctr" anchorCtr="0">
            <a:noAutofit/>
          </a:bodyPr>
          <a:lstStyle>
            <a:lvl1pPr lvl="0">
              <a:lnSpc>
                <a:spcPct val="200000"/>
              </a:lnSpc>
              <a:spcBef>
                <a:spcPts val="0"/>
              </a:spcBef>
              <a:spcAft>
                <a:spcPts val="0"/>
              </a:spcAft>
              <a:buClr>
                <a:srgbClr val="1A1A33"/>
              </a:buClr>
              <a:buSzPts val="1200"/>
              <a:buFont typeface="Inter Medium"/>
              <a:buChar char="●"/>
              <a:defRPr sz="1200">
                <a:solidFill>
                  <a:srgbClr val="1A1A33"/>
                </a:solidFill>
                <a:latin typeface="Inter Medium"/>
                <a:ea typeface="Inter Medium"/>
                <a:cs typeface="Inter Medium"/>
                <a:sym typeface="Inter Medium"/>
              </a:defRPr>
            </a:lvl1pPr>
            <a:lvl2pPr lvl="1">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2pPr>
            <a:lvl3pPr lvl="2">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3pPr>
            <a:lvl4pPr lvl="3">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4pPr>
            <a:lvl5pPr lvl="4">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5pPr>
            <a:lvl6pPr lvl="5">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6pPr>
            <a:lvl7pPr lvl="6">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7pPr>
            <a:lvl8pPr lvl="7">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8pPr>
            <a:lvl9pPr lvl="8">
              <a:lnSpc>
                <a:spcPct val="200000"/>
              </a:lnSpc>
              <a:spcBef>
                <a:spcPts val="0"/>
              </a:spcBef>
              <a:spcAft>
                <a:spcPts val="0"/>
              </a:spcAft>
              <a:buClr>
                <a:schemeClr val="lt1"/>
              </a:buClr>
              <a:buSzPts val="1200"/>
              <a:buFont typeface="Inter Medium"/>
              <a:buChar char="■"/>
              <a:defRPr sz="1200">
                <a:solidFill>
                  <a:schemeClr val="lt1"/>
                </a:solidFill>
                <a:latin typeface="Inter Medium"/>
                <a:ea typeface="Inter Medium"/>
                <a:cs typeface="Inter Medium"/>
                <a:sym typeface="Inter Medium"/>
              </a:defRPr>
            </a:lvl9pPr>
          </a:lstStyle>
          <a:p>
            <a:endParaRPr/>
          </a:p>
        </p:txBody>
      </p:sp>
      <p:pic>
        <p:nvPicPr>
          <p:cNvPr id="479" name="Google Shape;479;p68" title="Fichier 20.png"/>
          <p:cNvPicPr preferRelativeResize="0"/>
          <p:nvPr/>
        </p:nvPicPr>
        <p:blipFill>
          <a:blip r:embed="rId3">
            <a:alphaModFix/>
          </a:blip>
          <a:stretch>
            <a:fillRect/>
          </a:stretch>
        </p:blipFill>
        <p:spPr>
          <a:xfrm rot="-5400000">
            <a:off x="-1715650" y="4618471"/>
            <a:ext cx="5970801" cy="29469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C - Texte &amp; Image Fond Clair 3">
  <p:cSld name="CUSTOM_4">
    <p:spTree>
      <p:nvGrpSpPr>
        <p:cNvPr id="1" name="Shape 480"/>
        <p:cNvGrpSpPr/>
        <p:nvPr/>
      </p:nvGrpSpPr>
      <p:grpSpPr>
        <a:xfrm>
          <a:off x="0" y="0"/>
          <a:ext cx="0" cy="0"/>
          <a:chOff x="0" y="0"/>
          <a:chExt cx="0" cy="0"/>
        </a:xfrm>
      </p:grpSpPr>
      <p:pic>
        <p:nvPicPr>
          <p:cNvPr id="481" name="Google Shape;481;p6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482" name="Google Shape;482;p6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50000"/>
              </a:srgbClr>
            </a:outerShdw>
          </a:effectLst>
        </p:spPr>
        <p:txBody>
          <a:bodyPr spcFirstLastPara="1" wrap="square" lIns="0" tIns="0" rIns="0" bIns="0" anchor="t" anchorCtr="0">
            <a:noAutofit/>
          </a:bodyPr>
          <a:lstStyle>
            <a:lvl1pPr lvl="0">
              <a:buNone/>
              <a:defRPr sz="600" b="1">
                <a:latin typeface="Inter"/>
                <a:ea typeface="Inter"/>
                <a:cs typeface="Inter"/>
                <a:sym typeface="Inter"/>
              </a:defRPr>
            </a:lvl1pPr>
            <a:lvl2pPr lvl="1">
              <a:buNone/>
              <a:defRPr sz="600" b="1">
                <a:latin typeface="Inter"/>
                <a:ea typeface="Inter"/>
                <a:cs typeface="Inter"/>
                <a:sym typeface="Inter"/>
              </a:defRPr>
            </a:lvl2pPr>
            <a:lvl3pPr lvl="2">
              <a:buNone/>
              <a:defRPr sz="600" b="1">
                <a:latin typeface="Inter"/>
                <a:ea typeface="Inter"/>
                <a:cs typeface="Inter"/>
                <a:sym typeface="Inter"/>
              </a:defRPr>
            </a:lvl3pPr>
            <a:lvl4pPr lvl="3">
              <a:buNone/>
              <a:defRPr sz="600" b="1">
                <a:latin typeface="Inter"/>
                <a:ea typeface="Inter"/>
                <a:cs typeface="Inter"/>
                <a:sym typeface="Inter"/>
              </a:defRPr>
            </a:lvl4pPr>
            <a:lvl5pPr lvl="4">
              <a:buNone/>
              <a:defRPr sz="600" b="1">
                <a:latin typeface="Inter"/>
                <a:ea typeface="Inter"/>
                <a:cs typeface="Inter"/>
                <a:sym typeface="Inter"/>
              </a:defRPr>
            </a:lvl5pPr>
            <a:lvl6pPr lvl="5">
              <a:buNone/>
              <a:defRPr sz="600" b="1">
                <a:latin typeface="Inter"/>
                <a:ea typeface="Inter"/>
                <a:cs typeface="Inter"/>
                <a:sym typeface="Inter"/>
              </a:defRPr>
            </a:lvl6pPr>
            <a:lvl7pPr lvl="6">
              <a:buNone/>
              <a:defRPr sz="600" b="1">
                <a:latin typeface="Inter"/>
                <a:ea typeface="Inter"/>
                <a:cs typeface="Inter"/>
                <a:sym typeface="Inter"/>
              </a:defRPr>
            </a:lvl7pPr>
            <a:lvl8pPr lvl="7">
              <a:buNone/>
              <a:defRPr sz="600" b="1">
                <a:latin typeface="Inter"/>
                <a:ea typeface="Inter"/>
                <a:cs typeface="Inter"/>
                <a:sym typeface="Inter"/>
              </a:defRPr>
            </a:lvl8pPr>
            <a:lvl9pPr lvl="8">
              <a:buNone/>
              <a:defRPr sz="600" b="1">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sp>
        <p:nvSpPr>
          <p:cNvPr id="483" name="Google Shape;483;p69"/>
          <p:cNvSpPr txBox="1">
            <a:spLocks noGrp="1"/>
          </p:cNvSpPr>
          <p:nvPr>
            <p:ph type="subTitle" idx="1"/>
          </p:nvPr>
        </p:nvSpPr>
        <p:spPr>
          <a:xfrm>
            <a:off x="198000" y="198000"/>
            <a:ext cx="8748000" cy="3090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lt2"/>
              </a:buClr>
              <a:buSzPts val="1800"/>
              <a:buFont typeface="Inter Medium"/>
              <a:buNone/>
              <a:defRPr sz="1800">
                <a:solidFill>
                  <a:schemeClr val="lt2"/>
                </a:solidFill>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4" name="Google Shape;484;p69" title="Laptop Mockup.png"/>
          <p:cNvPicPr preferRelativeResize="0"/>
          <p:nvPr/>
        </p:nvPicPr>
        <p:blipFill rotWithShape="1">
          <a:blip r:embed="rId3">
            <a:alphaModFix/>
          </a:blip>
          <a:srcRect b="8139"/>
          <a:stretch/>
        </p:blipFill>
        <p:spPr>
          <a:xfrm>
            <a:off x="1208600" y="928126"/>
            <a:ext cx="6726799" cy="4215375"/>
          </a:xfrm>
          <a:prstGeom prst="rect">
            <a:avLst/>
          </a:prstGeom>
          <a:noFill/>
          <a:ln>
            <a:noFill/>
          </a:ln>
        </p:spPr>
      </p:pic>
      <p:sp>
        <p:nvSpPr>
          <p:cNvPr id="485" name="Google Shape;485;p69"/>
          <p:cNvSpPr/>
          <p:nvPr/>
        </p:nvSpPr>
        <p:spPr>
          <a:xfrm>
            <a:off x="1830500" y="1111250"/>
            <a:ext cx="5412300" cy="35217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69"/>
          <p:cNvSpPr>
            <a:spLocks noGrp="1"/>
          </p:cNvSpPr>
          <p:nvPr>
            <p:ph type="pic" idx="2"/>
          </p:nvPr>
        </p:nvSpPr>
        <p:spPr>
          <a:xfrm>
            <a:off x="1821475" y="1101825"/>
            <a:ext cx="5404500" cy="3531000"/>
          </a:xfrm>
          <a:prstGeom prst="roundRect">
            <a:avLst>
              <a:gd name="adj" fmla="val 1781"/>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C - Fin">
  <p:cSld name="CUSTOM_6">
    <p:bg>
      <p:bgPr>
        <a:solidFill>
          <a:schemeClr val="dk2"/>
        </a:solidFill>
        <a:effectLst/>
      </p:bgPr>
    </p:bg>
    <p:spTree>
      <p:nvGrpSpPr>
        <p:cNvPr id="1" name="Shape 487"/>
        <p:cNvGrpSpPr/>
        <p:nvPr/>
      </p:nvGrpSpPr>
      <p:grpSpPr>
        <a:xfrm>
          <a:off x="0" y="0"/>
          <a:ext cx="0" cy="0"/>
          <a:chOff x="0" y="0"/>
          <a:chExt cx="0" cy="0"/>
        </a:xfrm>
      </p:grpSpPr>
      <p:pic>
        <p:nvPicPr>
          <p:cNvPr id="488" name="Google Shape;488;p70"/>
          <p:cNvPicPr preferRelativeResize="0"/>
          <p:nvPr/>
        </p:nvPicPr>
        <p:blipFill>
          <a:blip r:embed="rId2">
            <a:alphaModFix/>
          </a:blip>
          <a:stretch>
            <a:fillRect/>
          </a:stretch>
        </p:blipFill>
        <p:spPr>
          <a:xfrm flipH="1">
            <a:off x="-4928766" y="481824"/>
            <a:ext cx="9144026" cy="4524833"/>
          </a:xfrm>
          <a:prstGeom prst="rect">
            <a:avLst/>
          </a:prstGeom>
          <a:noFill/>
          <a:ln>
            <a:noFill/>
          </a:ln>
        </p:spPr>
      </p:pic>
      <p:sp>
        <p:nvSpPr>
          <p:cNvPr id="489" name="Google Shape;489;p70"/>
          <p:cNvSpPr txBox="1"/>
          <p:nvPr/>
        </p:nvSpPr>
        <p:spPr>
          <a:xfrm>
            <a:off x="1802950" y="4747508"/>
            <a:ext cx="2021400" cy="132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fr" sz="900">
                <a:solidFill>
                  <a:srgbClr val="FFFFFF"/>
                </a:solidFill>
                <a:latin typeface="Work Sans Light"/>
                <a:ea typeface="Work Sans Light"/>
                <a:cs typeface="Work Sans Light"/>
                <a:sym typeface="Work Sans Light"/>
              </a:rPr>
              <a:t>YOUR FUTURE, </a:t>
            </a:r>
            <a:r>
              <a:rPr lang="fr" sz="900" b="1">
                <a:solidFill>
                  <a:srgbClr val="FFFFFF"/>
                </a:solidFill>
                <a:latin typeface="Work Sans"/>
                <a:ea typeface="Work Sans"/>
                <a:cs typeface="Work Sans"/>
                <a:sym typeface="Work Sans"/>
              </a:rPr>
              <a:t>DECODED.</a:t>
            </a:r>
            <a:endParaRPr sz="900" b="1">
              <a:solidFill>
                <a:srgbClr val="FFFFFF"/>
              </a:solidFill>
              <a:latin typeface="Work Sans"/>
              <a:ea typeface="Work Sans"/>
              <a:cs typeface="Work Sans"/>
              <a:sym typeface="Work Sans"/>
            </a:endParaRPr>
          </a:p>
        </p:txBody>
      </p:sp>
      <p:pic>
        <p:nvPicPr>
          <p:cNvPr id="490" name="Google Shape;490;p70"/>
          <p:cNvPicPr preferRelativeResize="0"/>
          <p:nvPr/>
        </p:nvPicPr>
        <p:blipFill>
          <a:blip r:embed="rId3">
            <a:alphaModFix/>
          </a:blip>
          <a:stretch>
            <a:fillRect/>
          </a:stretch>
        </p:blipFill>
        <p:spPr>
          <a:xfrm>
            <a:off x="8398500" y="4747499"/>
            <a:ext cx="547501" cy="17217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iapositive de titre 1">
  <p:cSld name="TITLE_1_1">
    <p:spTree>
      <p:nvGrpSpPr>
        <p:cNvPr id="1" name="Shape 498"/>
        <p:cNvGrpSpPr/>
        <p:nvPr/>
      </p:nvGrpSpPr>
      <p:grpSpPr>
        <a:xfrm>
          <a:off x="0" y="0"/>
          <a:ext cx="0" cy="0"/>
          <a:chOff x="0" y="0"/>
          <a:chExt cx="0" cy="0"/>
        </a:xfrm>
      </p:grpSpPr>
      <p:sp>
        <p:nvSpPr>
          <p:cNvPr id="499" name="Google Shape;499;p7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500" name="Google Shape;500;p7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01" name="Google Shape;501;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exte - TITRE en annonce">
  <p:cSld name="TITLE_AND_BODY_1_3">
    <p:bg>
      <p:bgPr>
        <a:solidFill>
          <a:srgbClr val="E8E3D4"/>
        </a:solidFill>
        <a:effectLst/>
      </p:bgPr>
    </p:bg>
    <p:spTree>
      <p:nvGrpSpPr>
        <p:cNvPr id="1" name="Shape 502"/>
        <p:cNvGrpSpPr/>
        <p:nvPr/>
      </p:nvGrpSpPr>
      <p:grpSpPr>
        <a:xfrm>
          <a:off x="0" y="0"/>
          <a:ext cx="0" cy="0"/>
          <a:chOff x="0" y="0"/>
          <a:chExt cx="0" cy="0"/>
        </a:xfrm>
      </p:grpSpPr>
      <p:sp>
        <p:nvSpPr>
          <p:cNvPr id="503" name="Google Shape;503;p73"/>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04" name="Google Shape;504;p73"/>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5" name="Google Shape;505;p73"/>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06" name="Google Shape;506;p73"/>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07" name="Google Shape;507;p73"/>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08" name="Google Shape;508;p73"/>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09" name="Google Shape;509;p73"/>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10" name="Google Shape;510;p73"/>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11" name="Google Shape;511;p73"/>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exte - TITRE en annonce 5">
  <p:cSld name="TITLE_AND_BODY_6">
    <p:bg>
      <p:bgPr>
        <a:solidFill>
          <a:srgbClr val="E8E3D4"/>
        </a:solidFill>
        <a:effectLst/>
      </p:bgPr>
    </p:bg>
    <p:spTree>
      <p:nvGrpSpPr>
        <p:cNvPr id="1" name="Shape 512"/>
        <p:cNvGrpSpPr/>
        <p:nvPr/>
      </p:nvGrpSpPr>
      <p:grpSpPr>
        <a:xfrm>
          <a:off x="0" y="0"/>
          <a:ext cx="0" cy="0"/>
          <a:chOff x="0" y="0"/>
          <a:chExt cx="0" cy="0"/>
        </a:xfrm>
      </p:grpSpPr>
      <p:sp>
        <p:nvSpPr>
          <p:cNvPr id="513" name="Google Shape;513;p7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14" name="Google Shape;514;p74"/>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5" name="Google Shape;515;p74"/>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16" name="Google Shape;516;p74"/>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17" name="Google Shape;517;p7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18" name="Google Shape;518;p74"/>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19" name="Google Shape;519;p74"/>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20" name="Google Shape;520;p74"/>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21" name="Google Shape;521;p74"/>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exte - TITRE en annonce 1">
  <p:cSld name="TITLE_AND_BODY_7">
    <p:bg>
      <p:bgPr>
        <a:solidFill>
          <a:srgbClr val="E8E3D4"/>
        </a:solidFill>
        <a:effectLst/>
      </p:bgPr>
    </p:bg>
    <p:spTree>
      <p:nvGrpSpPr>
        <p:cNvPr id="1" name="Shape 522"/>
        <p:cNvGrpSpPr/>
        <p:nvPr/>
      </p:nvGrpSpPr>
      <p:grpSpPr>
        <a:xfrm>
          <a:off x="0" y="0"/>
          <a:ext cx="0" cy="0"/>
          <a:chOff x="0" y="0"/>
          <a:chExt cx="0" cy="0"/>
        </a:xfrm>
      </p:grpSpPr>
      <p:sp>
        <p:nvSpPr>
          <p:cNvPr id="523" name="Google Shape;523;p7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24" name="Google Shape;524;p7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5" name="Google Shape;525;p7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26" name="Google Shape;526;p7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27" name="Google Shape;527;p7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28" name="Google Shape;528;p7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29" name="Google Shape;529;p7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exte - TITRE en annonce 2">
  <p:cSld name="TITLE_AND_BODY_8">
    <p:bg>
      <p:bgPr>
        <a:solidFill>
          <a:srgbClr val="E8E3D4"/>
        </a:solidFill>
        <a:effectLst/>
      </p:bgPr>
    </p:bg>
    <p:spTree>
      <p:nvGrpSpPr>
        <p:cNvPr id="1" name="Shape 530"/>
        <p:cNvGrpSpPr/>
        <p:nvPr/>
      </p:nvGrpSpPr>
      <p:grpSpPr>
        <a:xfrm>
          <a:off x="0" y="0"/>
          <a:ext cx="0" cy="0"/>
          <a:chOff x="0" y="0"/>
          <a:chExt cx="0" cy="0"/>
        </a:xfrm>
      </p:grpSpPr>
      <p:sp>
        <p:nvSpPr>
          <p:cNvPr id="531" name="Google Shape;531;p76"/>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32" name="Google Shape;532;p76"/>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76"/>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34" name="Google Shape;534;p76"/>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35" name="Google Shape;535;p76"/>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36" name="Google Shape;536;p76"/>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37" name="Google Shape;537;p76"/>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38" name="Google Shape;538;p76"/>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39" name="Google Shape;539;p76"/>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exte - TITRE en annonce 3">
  <p:cSld name="TITLE_AND_BODY_9">
    <p:bg>
      <p:bgPr>
        <a:solidFill>
          <a:srgbClr val="E8E3D4"/>
        </a:solidFill>
        <a:effectLst/>
      </p:bgPr>
    </p:bg>
    <p:spTree>
      <p:nvGrpSpPr>
        <p:cNvPr id="1" name="Shape 540"/>
        <p:cNvGrpSpPr/>
        <p:nvPr/>
      </p:nvGrpSpPr>
      <p:grpSpPr>
        <a:xfrm>
          <a:off x="0" y="0"/>
          <a:ext cx="0" cy="0"/>
          <a:chOff x="0" y="0"/>
          <a:chExt cx="0" cy="0"/>
        </a:xfrm>
      </p:grpSpPr>
      <p:sp>
        <p:nvSpPr>
          <p:cNvPr id="541" name="Google Shape;541;p77"/>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42" name="Google Shape;542;p77"/>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3" name="Google Shape;543;p77"/>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44" name="Google Shape;544;p77"/>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45" name="Google Shape;545;p77"/>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46" name="Google Shape;546;p77"/>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47" name="Google Shape;547;p77"/>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48" name="Google Shape;548;p77"/>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49" name="Google Shape;549;p77"/>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ransition">
  <p:cSld name="SECTION_HEADER_2">
    <p:bg>
      <p:bgPr>
        <a:solidFill>
          <a:srgbClr val="E8E3D4"/>
        </a:solidFill>
        <a:effectLst/>
      </p:bgPr>
    </p:bg>
    <p:spTree>
      <p:nvGrpSpPr>
        <p:cNvPr id="1" name="Shape 550"/>
        <p:cNvGrpSpPr/>
        <p:nvPr/>
      </p:nvGrpSpPr>
      <p:grpSpPr>
        <a:xfrm>
          <a:off x="0" y="0"/>
          <a:ext cx="0" cy="0"/>
          <a:chOff x="0" y="0"/>
          <a:chExt cx="0" cy="0"/>
        </a:xfrm>
      </p:grpSpPr>
      <p:sp>
        <p:nvSpPr>
          <p:cNvPr id="551" name="Google Shape;551;p78"/>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52" name="Google Shape;552;p78"/>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53" name="Google Shape;553;p78"/>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54" name="Google Shape;554;p78"/>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exte - TITRE en annonce 4">
  <p:cSld name="TITLE_AND_BODY_10">
    <p:bg>
      <p:bgPr>
        <a:solidFill>
          <a:srgbClr val="E8E3D4"/>
        </a:solidFill>
        <a:effectLst/>
      </p:bgPr>
    </p:bg>
    <p:spTree>
      <p:nvGrpSpPr>
        <p:cNvPr id="1" name="Shape 555"/>
        <p:cNvGrpSpPr/>
        <p:nvPr/>
      </p:nvGrpSpPr>
      <p:grpSpPr>
        <a:xfrm>
          <a:off x="0" y="0"/>
          <a:ext cx="0" cy="0"/>
          <a:chOff x="0" y="0"/>
          <a:chExt cx="0" cy="0"/>
        </a:xfrm>
      </p:grpSpPr>
      <p:sp>
        <p:nvSpPr>
          <p:cNvPr id="556" name="Google Shape;556;p79"/>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57" name="Google Shape;557;p79"/>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8" name="Google Shape;558;p79"/>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59" name="Google Shape;559;p79"/>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60" name="Google Shape;560;p79"/>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61" name="Google Shape;561;p79"/>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62" name="Google Shape;562;p79"/>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63" name="Google Shape;563;p79"/>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64" name="Google Shape;564;p79"/>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exte - TITRE en annonce 6">
  <p:cSld name="TITLE_AND_BODY_11">
    <p:bg>
      <p:bgPr>
        <a:solidFill>
          <a:srgbClr val="E8E3D4"/>
        </a:solidFill>
        <a:effectLst/>
      </p:bgPr>
    </p:bg>
    <p:spTree>
      <p:nvGrpSpPr>
        <p:cNvPr id="1" name="Shape 565"/>
        <p:cNvGrpSpPr/>
        <p:nvPr/>
      </p:nvGrpSpPr>
      <p:grpSpPr>
        <a:xfrm>
          <a:off x="0" y="0"/>
          <a:ext cx="0" cy="0"/>
          <a:chOff x="0" y="0"/>
          <a:chExt cx="0" cy="0"/>
        </a:xfrm>
      </p:grpSpPr>
      <p:sp>
        <p:nvSpPr>
          <p:cNvPr id="566" name="Google Shape;566;p80"/>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67" name="Google Shape;567;p80"/>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8" name="Google Shape;568;p80"/>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69" name="Google Shape;569;p80"/>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70" name="Google Shape;570;p80"/>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71" name="Google Shape;571;p80"/>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72" name="Google Shape;572;p80"/>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pic>
        <p:nvPicPr>
          <p:cNvPr id="573" name="Google Shape;573;p80"/>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74" name="Google Shape;574;p80"/>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exte - TITRE en annonce 7">
  <p:cSld name="TITLE_AND_BODY_12">
    <p:bg>
      <p:bgPr>
        <a:solidFill>
          <a:srgbClr val="E8E3D4"/>
        </a:solidFill>
        <a:effectLst/>
      </p:bgPr>
    </p:bg>
    <p:spTree>
      <p:nvGrpSpPr>
        <p:cNvPr id="1" name="Shape 575"/>
        <p:cNvGrpSpPr/>
        <p:nvPr/>
      </p:nvGrpSpPr>
      <p:grpSpPr>
        <a:xfrm>
          <a:off x="0" y="0"/>
          <a:ext cx="0" cy="0"/>
          <a:chOff x="0" y="0"/>
          <a:chExt cx="0" cy="0"/>
        </a:xfrm>
      </p:grpSpPr>
      <p:sp>
        <p:nvSpPr>
          <p:cNvPr id="576" name="Google Shape;576;p81"/>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77" name="Google Shape;577;p81"/>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8" name="Google Shape;578;p81"/>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579" name="Google Shape;579;p81"/>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580" name="Google Shape;580;p81"/>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81" name="Google Shape;581;p81"/>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582" name="Google Shape;582;p81"/>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ransition 1">
  <p:cSld name="SECTION_HEADER_3">
    <p:bg>
      <p:bgPr>
        <a:solidFill>
          <a:srgbClr val="E8E3D4"/>
        </a:solidFill>
        <a:effectLst/>
      </p:bgPr>
    </p:bg>
    <p:spTree>
      <p:nvGrpSpPr>
        <p:cNvPr id="1" name="Shape 583"/>
        <p:cNvGrpSpPr/>
        <p:nvPr/>
      </p:nvGrpSpPr>
      <p:grpSpPr>
        <a:xfrm>
          <a:off x="0" y="0"/>
          <a:ext cx="0" cy="0"/>
          <a:chOff x="0" y="0"/>
          <a:chExt cx="0" cy="0"/>
        </a:xfrm>
      </p:grpSpPr>
      <p:sp>
        <p:nvSpPr>
          <p:cNvPr id="584" name="Google Shape;584;p82"/>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85" name="Google Shape;585;p82"/>
          <p:cNvPicPr preferRelativeResize="0"/>
          <p:nvPr/>
        </p:nvPicPr>
        <p:blipFill>
          <a:blip r:embed="rId2">
            <a:alphaModFix/>
          </a:blip>
          <a:stretch>
            <a:fillRect/>
          </a:stretch>
        </p:blipFill>
        <p:spPr>
          <a:xfrm>
            <a:off x="8548275" y="4547775"/>
            <a:ext cx="443325" cy="443325"/>
          </a:xfrm>
          <a:prstGeom prst="rect">
            <a:avLst/>
          </a:prstGeom>
          <a:noFill/>
          <a:ln>
            <a:noFill/>
          </a:ln>
        </p:spPr>
      </p:pic>
      <p:pic>
        <p:nvPicPr>
          <p:cNvPr id="586" name="Google Shape;586;p82"/>
          <p:cNvPicPr preferRelativeResize="0"/>
          <p:nvPr/>
        </p:nvPicPr>
        <p:blipFill rotWithShape="1">
          <a:blip r:embed="rId3">
            <a:alphaModFix/>
          </a:blip>
          <a:srcRect r="78350"/>
          <a:stretch/>
        </p:blipFill>
        <p:spPr>
          <a:xfrm>
            <a:off x="7993025" y="4545189"/>
            <a:ext cx="443326" cy="448499"/>
          </a:xfrm>
          <a:prstGeom prst="rect">
            <a:avLst/>
          </a:prstGeom>
          <a:noFill/>
          <a:ln>
            <a:noFill/>
          </a:ln>
        </p:spPr>
      </p:pic>
      <p:pic>
        <p:nvPicPr>
          <p:cNvPr id="587" name="Google Shape;587;p82"/>
          <p:cNvPicPr preferRelativeResize="0"/>
          <p:nvPr/>
        </p:nvPicPr>
        <p:blipFill rotWithShape="1">
          <a:blip r:embed="rId4">
            <a:alphaModFix/>
          </a:blip>
          <a:srcRect l="4050" t="9114" r="78055" b="19463"/>
          <a:stretch/>
        </p:blipFill>
        <p:spPr>
          <a:xfrm>
            <a:off x="7418367" y="4538588"/>
            <a:ext cx="462734" cy="4617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_2">
  <p:cSld name="TITLE_2">
    <p:bg>
      <p:bgPr>
        <a:solidFill>
          <a:srgbClr val="E8E3D4"/>
        </a:solidFill>
        <a:effectLst/>
      </p:bgPr>
    </p:bg>
    <p:spTree>
      <p:nvGrpSpPr>
        <p:cNvPr id="1" name="Shape 588"/>
        <p:cNvGrpSpPr/>
        <p:nvPr/>
      </p:nvGrpSpPr>
      <p:grpSpPr>
        <a:xfrm>
          <a:off x="0" y="0"/>
          <a:ext cx="0" cy="0"/>
          <a:chOff x="0" y="0"/>
          <a:chExt cx="0" cy="0"/>
        </a:xfrm>
      </p:grpSpPr>
      <p:pic>
        <p:nvPicPr>
          <p:cNvPr id="589" name="Google Shape;589;p83"/>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590" name="Google Shape;590;p83"/>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591" name="Google Shape;591;p83"/>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592" name="Google Shape;592;p83"/>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Arrière-plan simple" type="blank">
  <p:cSld name="BLANK">
    <p:bg>
      <p:bgPr>
        <a:solidFill>
          <a:srgbClr val="E8E3D4"/>
        </a:solidFill>
        <a:effectLst/>
      </p:bgPr>
    </p:bg>
    <p:spTree>
      <p:nvGrpSpPr>
        <p:cNvPr id="1" name="Shape 593"/>
        <p:cNvGrpSpPr/>
        <p:nvPr/>
      </p:nvGrpSpPr>
      <p:grpSpPr>
        <a:xfrm>
          <a:off x="0" y="0"/>
          <a:ext cx="0" cy="0"/>
          <a:chOff x="0" y="0"/>
          <a:chExt cx="0" cy="0"/>
        </a:xfrm>
      </p:grpSpPr>
      <p:pic>
        <p:nvPicPr>
          <p:cNvPr id="594" name="Google Shape;594;p84"/>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595" name="Google Shape;595;p84"/>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exte - TITRE en annonce 8">
  <p:cSld name="TITLE_AND_BODY_13">
    <p:bg>
      <p:bgPr>
        <a:solidFill>
          <a:srgbClr val="E8E3D4"/>
        </a:solidFill>
        <a:effectLst/>
      </p:bgPr>
    </p:bg>
    <p:spTree>
      <p:nvGrpSpPr>
        <p:cNvPr id="1" name="Shape 596"/>
        <p:cNvGrpSpPr/>
        <p:nvPr/>
      </p:nvGrpSpPr>
      <p:grpSpPr>
        <a:xfrm>
          <a:off x="0" y="0"/>
          <a:ext cx="0" cy="0"/>
          <a:chOff x="0" y="0"/>
          <a:chExt cx="0" cy="0"/>
        </a:xfrm>
      </p:grpSpPr>
      <p:sp>
        <p:nvSpPr>
          <p:cNvPr id="597" name="Google Shape;597;p85"/>
          <p:cNvSpPr txBox="1">
            <a:spLocks noGrp="1"/>
          </p:cNvSpPr>
          <p:nvPr>
            <p:ph type="sldNum" idx="12"/>
          </p:nvPr>
        </p:nvSpPr>
        <p:spPr>
          <a:xfrm>
            <a:off x="102433" y="4663217"/>
            <a:ext cx="548700" cy="393600"/>
          </a:xfrm>
          <a:prstGeom prst="rect">
            <a:avLst/>
          </a:prstGeom>
          <a:noFill/>
          <a:ln>
            <a:noFill/>
          </a:ln>
        </p:spPr>
        <p:txBody>
          <a:bodyPr spcFirstLastPara="1" wrap="square" lIns="91425" tIns="91425" rIns="91425" bIns="91425" anchor="ctr" anchorCtr="0">
            <a:noAutofit/>
          </a:bodyPr>
          <a:lstStyle>
            <a:lvl1pPr lvl="0" algn="l">
              <a:buNone/>
              <a:defRPr>
                <a:solidFill>
                  <a:schemeClr val="dk1"/>
                </a:solidFill>
                <a:latin typeface="Rubik"/>
                <a:ea typeface="Rubik"/>
                <a:cs typeface="Rubik"/>
                <a:sym typeface="Rubik"/>
              </a:defRPr>
            </a:lvl1pPr>
            <a:lvl2pPr lvl="1" algn="l">
              <a:buNone/>
              <a:defRPr>
                <a:solidFill>
                  <a:schemeClr val="dk1"/>
                </a:solidFill>
                <a:latin typeface="Rubik"/>
                <a:ea typeface="Rubik"/>
                <a:cs typeface="Rubik"/>
                <a:sym typeface="Rubik"/>
              </a:defRPr>
            </a:lvl2pPr>
            <a:lvl3pPr lvl="2" algn="l">
              <a:buNone/>
              <a:defRPr>
                <a:solidFill>
                  <a:schemeClr val="dk1"/>
                </a:solidFill>
                <a:latin typeface="Rubik"/>
                <a:ea typeface="Rubik"/>
                <a:cs typeface="Rubik"/>
                <a:sym typeface="Rubik"/>
              </a:defRPr>
            </a:lvl3pPr>
            <a:lvl4pPr lvl="3" algn="l">
              <a:buNone/>
              <a:defRPr>
                <a:solidFill>
                  <a:schemeClr val="dk1"/>
                </a:solidFill>
                <a:latin typeface="Rubik"/>
                <a:ea typeface="Rubik"/>
                <a:cs typeface="Rubik"/>
                <a:sym typeface="Rubik"/>
              </a:defRPr>
            </a:lvl4pPr>
            <a:lvl5pPr lvl="4" algn="l">
              <a:buNone/>
              <a:defRPr>
                <a:solidFill>
                  <a:schemeClr val="dk1"/>
                </a:solidFill>
                <a:latin typeface="Rubik"/>
                <a:ea typeface="Rubik"/>
                <a:cs typeface="Rubik"/>
                <a:sym typeface="Rubik"/>
              </a:defRPr>
            </a:lvl5pPr>
            <a:lvl6pPr lvl="5" algn="l">
              <a:buNone/>
              <a:defRPr>
                <a:solidFill>
                  <a:schemeClr val="dk1"/>
                </a:solidFill>
                <a:latin typeface="Rubik"/>
                <a:ea typeface="Rubik"/>
                <a:cs typeface="Rubik"/>
                <a:sym typeface="Rubik"/>
              </a:defRPr>
            </a:lvl6pPr>
            <a:lvl7pPr lvl="6" algn="l">
              <a:buNone/>
              <a:defRPr>
                <a:solidFill>
                  <a:schemeClr val="dk1"/>
                </a:solidFill>
                <a:latin typeface="Rubik"/>
                <a:ea typeface="Rubik"/>
                <a:cs typeface="Rubik"/>
                <a:sym typeface="Rubik"/>
              </a:defRPr>
            </a:lvl7pPr>
            <a:lvl8pPr lvl="7" algn="l">
              <a:buNone/>
              <a:defRPr>
                <a:solidFill>
                  <a:schemeClr val="dk1"/>
                </a:solidFill>
                <a:latin typeface="Rubik"/>
                <a:ea typeface="Rubik"/>
                <a:cs typeface="Rubik"/>
                <a:sym typeface="Rubik"/>
              </a:defRPr>
            </a:lvl8pPr>
            <a:lvl9pPr lvl="8" algn="l">
              <a:buNone/>
              <a:defRPr>
                <a:solidFill>
                  <a:schemeClr val="dk1"/>
                </a:solidFill>
                <a:latin typeface="Rubik"/>
                <a:ea typeface="Rubik"/>
                <a:cs typeface="Rubik"/>
                <a:sym typeface="Rubik"/>
              </a:defRPr>
            </a:lvl9pPr>
          </a:lstStyle>
          <a:p>
            <a:pPr marL="0" lvl="0" indent="0" algn="l" rtl="0">
              <a:spcBef>
                <a:spcPts val="0"/>
              </a:spcBef>
              <a:spcAft>
                <a:spcPts val="0"/>
              </a:spcAft>
              <a:buNone/>
            </a:pPr>
            <a:fld id="{00000000-1234-1234-1234-123412341234}" type="slidenum">
              <a:rPr lang="fr"/>
              <a:t>‹#›</a:t>
            </a:fld>
            <a:endParaRPr/>
          </a:p>
        </p:txBody>
      </p:sp>
      <p:sp>
        <p:nvSpPr>
          <p:cNvPr id="598" name="Google Shape;598;p85"/>
          <p:cNvSpPr txBox="1">
            <a:spLocks noGrp="1"/>
          </p:cNvSpPr>
          <p:nvPr>
            <p:ph type="title"/>
          </p:nvPr>
        </p:nvSpPr>
        <p:spPr>
          <a:xfrm>
            <a:off x="1098750" y="313175"/>
            <a:ext cx="4481400" cy="5505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300"/>
              <a:buFont typeface="Urbanist Black"/>
              <a:buNone/>
              <a:defRPr sz="230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9" name="Google Shape;599;p85"/>
          <p:cNvSpPr txBox="1">
            <a:spLocks noGrp="1"/>
          </p:cNvSpPr>
          <p:nvPr>
            <p:ph type="subTitle" idx="1"/>
          </p:nvPr>
        </p:nvSpPr>
        <p:spPr>
          <a:xfrm>
            <a:off x="1022550" y="11568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00" name="Google Shape;600;p85"/>
          <p:cNvSpPr txBox="1">
            <a:spLocks noGrp="1"/>
          </p:cNvSpPr>
          <p:nvPr>
            <p:ph type="body" idx="2"/>
          </p:nvPr>
        </p:nvSpPr>
        <p:spPr>
          <a:xfrm>
            <a:off x="1037400" y="1720225"/>
            <a:ext cx="7076100" cy="10884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pic>
        <p:nvPicPr>
          <p:cNvPr id="601" name="Google Shape;601;p85"/>
          <p:cNvPicPr preferRelativeResize="0"/>
          <p:nvPr/>
        </p:nvPicPr>
        <p:blipFill>
          <a:blip r:embed="rId2">
            <a:alphaModFix/>
          </a:blip>
          <a:stretch>
            <a:fillRect/>
          </a:stretch>
        </p:blipFill>
        <p:spPr>
          <a:xfrm>
            <a:off x="8548275" y="4547775"/>
            <a:ext cx="443325" cy="443325"/>
          </a:xfrm>
          <a:prstGeom prst="rect">
            <a:avLst/>
          </a:prstGeom>
          <a:noFill/>
          <a:ln>
            <a:noFill/>
          </a:ln>
        </p:spPr>
      </p:pic>
      <p:sp>
        <p:nvSpPr>
          <p:cNvPr id="602" name="Google Shape;602;p85"/>
          <p:cNvSpPr txBox="1">
            <a:spLocks noGrp="1"/>
          </p:cNvSpPr>
          <p:nvPr>
            <p:ph type="body" idx="3"/>
          </p:nvPr>
        </p:nvSpPr>
        <p:spPr>
          <a:xfrm>
            <a:off x="1045346" y="3604725"/>
            <a:ext cx="7076100" cy="1195800"/>
          </a:xfrm>
          <a:prstGeom prst="rect">
            <a:avLst/>
          </a:prstGeom>
          <a:noFill/>
          <a:ln>
            <a:noFill/>
          </a:ln>
        </p:spPr>
        <p:txBody>
          <a:bodyPr spcFirstLastPara="1" wrap="square" lIns="91425" tIns="91425" rIns="91425" bIns="91425" anchor="t" anchorCtr="0">
            <a:noAutofit/>
          </a:bodyPr>
          <a:lstStyle>
            <a:lvl1pPr marL="457200" lvl="0"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1pPr>
            <a:lvl2pPr marL="914400" lvl="1"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2pPr>
            <a:lvl3pPr marL="1371600" lvl="2"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3pPr>
            <a:lvl4pPr marL="1828800" lvl="3"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4pPr>
            <a:lvl5pPr marL="2286000" lvl="4"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5pPr>
            <a:lvl6pPr marL="2743200" lvl="5"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6pPr>
            <a:lvl7pPr marL="3200400" lvl="6"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7pPr>
            <a:lvl8pPr marL="3657600" lvl="7"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8pPr>
            <a:lvl9pPr marL="4114800" lvl="8" indent="-295275">
              <a:spcBef>
                <a:spcPts val="0"/>
              </a:spcBef>
              <a:spcAft>
                <a:spcPts val="0"/>
              </a:spcAft>
              <a:buClr>
                <a:schemeClr val="dk1"/>
              </a:buClr>
              <a:buSzPts val="1050"/>
              <a:buFont typeface="Rubik"/>
              <a:buChar char="■"/>
              <a:defRPr sz="1050">
                <a:solidFill>
                  <a:schemeClr val="dk1"/>
                </a:solidFill>
                <a:latin typeface="Rubik"/>
                <a:ea typeface="Rubik"/>
                <a:cs typeface="Rubik"/>
                <a:sym typeface="Rubik"/>
              </a:defRPr>
            </a:lvl9pPr>
          </a:lstStyle>
          <a:p>
            <a:endParaRPr/>
          </a:p>
        </p:txBody>
      </p:sp>
      <p:sp>
        <p:nvSpPr>
          <p:cNvPr id="603" name="Google Shape;603;p85"/>
          <p:cNvSpPr txBox="1">
            <a:spLocks noGrp="1"/>
          </p:cNvSpPr>
          <p:nvPr>
            <p:ph type="subTitle" idx="4"/>
          </p:nvPr>
        </p:nvSpPr>
        <p:spPr>
          <a:xfrm>
            <a:off x="1029975" y="3041325"/>
            <a:ext cx="1825200" cy="461700"/>
          </a:xfrm>
          <a:prstGeom prst="rect">
            <a:avLst/>
          </a:prstGeom>
          <a:solidFill>
            <a:srgbClr val="F5FA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Clr>
                <a:schemeClr val="dk1"/>
              </a:buClr>
              <a:buSzPts val="1400"/>
              <a:buFont typeface="Urbanist Black"/>
              <a:buNone/>
              <a:defRPr>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ransition 2">
  <p:cSld name="SECTION_HEADER_4">
    <p:bg>
      <p:bgPr>
        <a:solidFill>
          <a:srgbClr val="E8E3D4"/>
        </a:solidFill>
        <a:effectLst/>
      </p:bgPr>
    </p:bg>
    <p:spTree>
      <p:nvGrpSpPr>
        <p:cNvPr id="1" name="Shape 604"/>
        <p:cNvGrpSpPr/>
        <p:nvPr/>
      </p:nvGrpSpPr>
      <p:grpSpPr>
        <a:xfrm>
          <a:off x="0" y="0"/>
          <a:ext cx="0" cy="0"/>
          <a:chOff x="0" y="0"/>
          <a:chExt cx="0" cy="0"/>
        </a:xfrm>
      </p:grpSpPr>
      <p:sp>
        <p:nvSpPr>
          <p:cNvPr id="605" name="Google Shape;605;p86"/>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6" name="Google Shape;606;p86"/>
          <p:cNvPicPr preferRelativeResize="0"/>
          <p:nvPr/>
        </p:nvPicPr>
        <p:blipFill>
          <a:blip r:embed="rId2">
            <a:alphaModFix/>
          </a:blip>
          <a:stretch>
            <a:fillRect/>
          </a:stretch>
        </p:blipFill>
        <p:spPr>
          <a:xfrm>
            <a:off x="8548275" y="4547775"/>
            <a:ext cx="443325" cy="443325"/>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Diapositive de titre 1 1">
  <p:cSld name="TITLE_1_2">
    <p:bg>
      <p:bgPr>
        <a:solidFill>
          <a:srgbClr val="E8E3D4"/>
        </a:solidFill>
        <a:effectLst/>
      </p:bgPr>
    </p:bg>
    <p:spTree>
      <p:nvGrpSpPr>
        <p:cNvPr id="1" name="Shape 607"/>
        <p:cNvGrpSpPr/>
        <p:nvPr/>
      </p:nvGrpSpPr>
      <p:grpSpPr>
        <a:xfrm>
          <a:off x="0" y="0"/>
          <a:ext cx="0" cy="0"/>
          <a:chOff x="0" y="0"/>
          <a:chExt cx="0" cy="0"/>
        </a:xfrm>
      </p:grpSpPr>
      <p:pic>
        <p:nvPicPr>
          <p:cNvPr id="608" name="Google Shape;608;p87"/>
          <p:cNvPicPr preferRelativeResize="0"/>
          <p:nvPr/>
        </p:nvPicPr>
        <p:blipFill>
          <a:blip r:embed="rId2">
            <a:alphaModFix/>
          </a:blip>
          <a:stretch>
            <a:fillRect/>
          </a:stretch>
        </p:blipFill>
        <p:spPr>
          <a:xfrm>
            <a:off x="438330" y="403365"/>
            <a:ext cx="1076958" cy="824400"/>
          </a:xfrm>
          <a:prstGeom prst="rect">
            <a:avLst/>
          </a:prstGeom>
          <a:noFill/>
          <a:ln>
            <a:noFill/>
          </a:ln>
        </p:spPr>
      </p:pic>
      <p:pic>
        <p:nvPicPr>
          <p:cNvPr id="609" name="Google Shape;609;p87"/>
          <p:cNvPicPr preferRelativeResize="0"/>
          <p:nvPr/>
        </p:nvPicPr>
        <p:blipFill>
          <a:blip r:embed="rId3">
            <a:alphaModFix/>
          </a:blip>
          <a:stretch>
            <a:fillRect/>
          </a:stretch>
        </p:blipFill>
        <p:spPr>
          <a:xfrm>
            <a:off x="3254263" y="4337565"/>
            <a:ext cx="2635477" cy="518950"/>
          </a:xfrm>
          <a:prstGeom prst="rect">
            <a:avLst/>
          </a:prstGeom>
          <a:noFill/>
          <a:ln>
            <a:noFill/>
          </a:ln>
        </p:spPr>
      </p:pic>
      <p:pic>
        <p:nvPicPr>
          <p:cNvPr id="610" name="Google Shape;610;p87"/>
          <p:cNvPicPr preferRelativeResize="0"/>
          <p:nvPr/>
        </p:nvPicPr>
        <p:blipFill>
          <a:blip r:embed="rId4">
            <a:alphaModFix/>
          </a:blip>
          <a:stretch>
            <a:fillRect/>
          </a:stretch>
        </p:blipFill>
        <p:spPr>
          <a:xfrm>
            <a:off x="7660579" y="4002409"/>
            <a:ext cx="1076975" cy="676023"/>
          </a:xfrm>
          <a:prstGeom prst="rect">
            <a:avLst/>
          </a:prstGeom>
          <a:noFill/>
          <a:ln>
            <a:noFill/>
          </a:ln>
        </p:spPr>
      </p:pic>
      <p:sp>
        <p:nvSpPr>
          <p:cNvPr id="611" name="Google Shape;611;p87"/>
          <p:cNvSpPr txBox="1">
            <a:spLocks noGrp="1"/>
          </p:cNvSpPr>
          <p:nvPr>
            <p:ph type="title"/>
          </p:nvPr>
        </p:nvSpPr>
        <p:spPr>
          <a:xfrm>
            <a:off x="2259000" y="1957025"/>
            <a:ext cx="4626000" cy="855300"/>
          </a:xfrm>
          <a:prstGeom prst="rect">
            <a:avLst/>
          </a:prstGeom>
          <a:solidFill>
            <a:srgbClr val="F5FAFF"/>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4250"/>
              <a:buFont typeface="Urbanist Black"/>
              <a:buNone/>
              <a:defRPr sz="4250">
                <a:latin typeface="Urbanist Black"/>
                <a:ea typeface="Urbanist Black"/>
                <a:cs typeface="Urbanist Black"/>
                <a:sym typeface="Urbanis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2A - Sommaire uni 1">
  <p:cSld name="CUSTOM_6_1_1">
    <p:bg>
      <p:bgPr>
        <a:solidFill>
          <a:schemeClr val="accent1"/>
        </a:solidFill>
        <a:effectLst/>
      </p:bgPr>
    </p:bg>
    <p:spTree>
      <p:nvGrpSpPr>
        <p:cNvPr id="1" name="Shape 616"/>
        <p:cNvGrpSpPr/>
        <p:nvPr/>
      </p:nvGrpSpPr>
      <p:grpSpPr>
        <a:xfrm>
          <a:off x="0" y="0"/>
          <a:ext cx="0" cy="0"/>
          <a:chOff x="0" y="0"/>
          <a:chExt cx="0" cy="0"/>
        </a:xfrm>
      </p:grpSpPr>
      <p:sp>
        <p:nvSpPr>
          <p:cNvPr id="617" name="Google Shape;617;p89"/>
          <p:cNvSpPr txBox="1">
            <a:spLocks noGrp="1"/>
          </p:cNvSpPr>
          <p:nvPr>
            <p:ph type="sldNum" idx="12"/>
          </p:nvPr>
        </p:nvSpPr>
        <p:spPr>
          <a:xfrm>
            <a:off x="8398500" y="4754250"/>
            <a:ext cx="547500" cy="247800"/>
          </a:xfrm>
          <a:prstGeom prst="rect">
            <a:avLst/>
          </a:prstGeom>
          <a:noFill/>
          <a:ln>
            <a:noFill/>
          </a:ln>
          <a:effectLst>
            <a:outerShdw blurRad="57150" dist="19050" dir="5400000" algn="bl" rotWithShape="0">
              <a:srgbClr val="000000">
                <a:alpha val="49799"/>
              </a:srgbClr>
            </a:outerShdw>
          </a:effectLst>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1pPr>
            <a:lvl2pPr marL="0" marR="0" lvl="1"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2pPr>
            <a:lvl3pPr marL="0" marR="0" lvl="2"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3pPr>
            <a:lvl4pPr marL="0" marR="0" lvl="3"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4pPr>
            <a:lvl5pPr marL="0" marR="0" lvl="4"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5pPr>
            <a:lvl6pPr marL="0" marR="0" lvl="5"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6pPr>
            <a:lvl7pPr marL="0" marR="0" lvl="6"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7pPr>
            <a:lvl8pPr marL="0" marR="0" lvl="7"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8pPr>
            <a:lvl9pPr marL="0" marR="0" lvl="8" indent="0" algn="l">
              <a:lnSpc>
                <a:spcPct val="100000"/>
              </a:lnSpc>
              <a:spcBef>
                <a:spcPts val="0"/>
              </a:spcBef>
              <a:spcAft>
                <a:spcPts val="0"/>
              </a:spcAft>
              <a:buClr>
                <a:srgbClr val="000000"/>
              </a:buClr>
              <a:buSzPts val="600"/>
              <a:buFont typeface="Arial"/>
              <a:buNone/>
              <a:defRPr sz="600" b="1" i="0" u="none" strike="noStrike" cap="none">
                <a:solidFill>
                  <a:srgbClr val="000000"/>
                </a:solidFill>
                <a:latin typeface="Inter"/>
                <a:ea typeface="Inter"/>
                <a:cs typeface="Inter"/>
                <a:sym typeface="Inter"/>
              </a:defRPr>
            </a:lvl9pPr>
          </a:lstStyle>
          <a:p>
            <a:pPr marL="0" lvl="0" indent="0" algn="l" rtl="0">
              <a:spcBef>
                <a:spcPts val="0"/>
              </a:spcBef>
              <a:spcAft>
                <a:spcPts val="0"/>
              </a:spcAft>
              <a:buNone/>
            </a:pPr>
            <a:fld id="{00000000-1234-1234-1234-123412341234}" type="slidenum">
              <a:rPr lang="fr"/>
              <a:t>‹#›</a:t>
            </a:fld>
            <a:endParaRPr/>
          </a:p>
        </p:txBody>
      </p:sp>
      <p:pic>
        <p:nvPicPr>
          <p:cNvPr id="618" name="Google Shape;618;p89"/>
          <p:cNvPicPr preferRelativeResize="0"/>
          <p:nvPr/>
        </p:nvPicPr>
        <p:blipFill rotWithShape="1">
          <a:blip r:embed="rId2">
            <a:alphaModFix/>
          </a:blip>
          <a:srcRect t="209" b="209"/>
          <a:stretch/>
        </p:blipFill>
        <p:spPr>
          <a:xfrm>
            <a:off x="198000" y="4747499"/>
            <a:ext cx="547501" cy="172176"/>
          </a:xfrm>
          <a:prstGeom prst="rect">
            <a:avLst/>
          </a:prstGeom>
          <a:noFill/>
          <a:ln>
            <a:noFill/>
          </a:ln>
        </p:spPr>
      </p:pic>
      <p:sp>
        <p:nvSpPr>
          <p:cNvPr id="619" name="Google Shape;619;p89"/>
          <p:cNvSpPr txBox="1">
            <a:spLocks noGrp="1"/>
          </p:cNvSpPr>
          <p:nvPr>
            <p:ph type="title"/>
          </p:nvPr>
        </p:nvSpPr>
        <p:spPr>
          <a:xfrm>
            <a:off x="198000" y="198100"/>
            <a:ext cx="2038500" cy="34572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1pPr>
            <a:lvl2pPr marR="0" lvl="1"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2pPr>
            <a:lvl3pPr marR="0" lvl="2"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3pPr>
            <a:lvl4pPr marR="0" lvl="3"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4pPr>
            <a:lvl5pPr marR="0" lvl="4"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5pPr>
            <a:lvl6pPr marR="0" lvl="5"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6pPr>
            <a:lvl7pPr marR="0" lvl="6"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7pPr>
            <a:lvl8pPr marR="0" lvl="7"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8pPr>
            <a:lvl9pPr marR="0" lvl="8" algn="l">
              <a:lnSpc>
                <a:spcPct val="100000"/>
              </a:lnSpc>
              <a:spcBef>
                <a:spcPts val="0"/>
              </a:spcBef>
              <a:spcAft>
                <a:spcPts val="0"/>
              </a:spcAft>
              <a:buClr>
                <a:schemeClr val="lt2"/>
              </a:buClr>
              <a:buSzPts val="2100"/>
              <a:buFont typeface="Work Sans Medium"/>
              <a:buChar char="■"/>
              <a:defRPr sz="2100" b="0" i="0" u="none" strike="noStrike" cap="none">
                <a:solidFill>
                  <a:schemeClr val="lt2"/>
                </a:solidFill>
                <a:latin typeface="Work Sans Medium"/>
                <a:ea typeface="Work Sans Medium"/>
                <a:cs typeface="Work Sans Medium"/>
                <a:sym typeface="Work Sans Medium"/>
              </a:defRPr>
            </a:lvl9pPr>
          </a:lstStyle>
          <a:p>
            <a:endParaRPr/>
          </a:p>
        </p:txBody>
      </p:sp>
      <p:sp>
        <p:nvSpPr>
          <p:cNvPr id="620" name="Google Shape;620;p89"/>
          <p:cNvSpPr txBox="1">
            <a:spLocks noGrp="1"/>
          </p:cNvSpPr>
          <p:nvPr>
            <p:ph type="title" idx="2"/>
          </p:nvPr>
        </p:nvSpPr>
        <p:spPr>
          <a:xfrm>
            <a:off x="2434500" y="198100"/>
            <a:ext cx="547500" cy="4549500"/>
          </a:xfrm>
          <a:prstGeom prst="rect">
            <a:avLst/>
          </a:prstGeom>
          <a:noFill/>
          <a:ln>
            <a:noFill/>
          </a:ln>
        </p:spPr>
        <p:txBody>
          <a:bodyPr spcFirstLastPara="1" wrap="square" lIns="0" tIns="0" rIns="0" bIns="0" anchor="ctr" anchorCtr="0">
            <a:noAutofit/>
          </a:bodyPr>
          <a:lstStyle>
            <a:lvl1pPr marR="0" lvl="0"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1pPr>
            <a:lvl2pPr marR="0" lvl="1"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2pPr>
            <a:lvl3pPr marR="0" lvl="2"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3pPr>
            <a:lvl4pPr marR="0" lvl="3"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4pPr>
            <a:lvl5pPr marR="0" lvl="4"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5pPr>
            <a:lvl6pPr marR="0" lvl="5"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6pPr>
            <a:lvl7pPr marR="0" lvl="6"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7pPr>
            <a:lvl8pPr marR="0" lvl="7"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8pPr>
            <a:lvl9pPr marR="0" lvl="8" algn="r">
              <a:lnSpc>
                <a:spcPct val="200000"/>
              </a:lnSpc>
              <a:spcBef>
                <a:spcPts val="0"/>
              </a:spcBef>
              <a:spcAft>
                <a:spcPts val="0"/>
              </a:spcAft>
              <a:buClr>
                <a:schemeClr val="lt2"/>
              </a:buClr>
              <a:buSzPts val="1200"/>
              <a:buFont typeface="Inter Medium"/>
              <a:buChar char="■"/>
              <a:defRPr sz="1200" b="0" i="0" u="none" strike="noStrike" cap="none">
                <a:solidFill>
                  <a:schemeClr val="lt2"/>
                </a:solidFill>
                <a:latin typeface="Inter Medium"/>
                <a:ea typeface="Inter Medium"/>
                <a:cs typeface="Inter Medium"/>
                <a:sym typeface="Inter Medium"/>
              </a:defRPr>
            </a:lvl9pPr>
          </a:lstStyle>
          <a:p>
            <a:endParaRPr/>
          </a:p>
        </p:txBody>
      </p:sp>
      <p:sp>
        <p:nvSpPr>
          <p:cNvPr id="621" name="Google Shape;621;p89"/>
          <p:cNvSpPr txBox="1">
            <a:spLocks noGrp="1"/>
          </p:cNvSpPr>
          <p:nvPr>
            <p:ph type="title" idx="3"/>
          </p:nvPr>
        </p:nvSpPr>
        <p:spPr>
          <a:xfrm>
            <a:off x="3180000" y="198100"/>
            <a:ext cx="4275000" cy="4549500"/>
          </a:xfrm>
          <a:prstGeom prst="rect">
            <a:avLst/>
          </a:prstGeom>
          <a:noFill/>
          <a:ln>
            <a:noFill/>
          </a:ln>
        </p:spPr>
        <p:txBody>
          <a:bodyPr spcFirstLastPara="1" wrap="square" lIns="0" tIns="0" rIns="0" bIns="0" anchor="ctr" anchorCtr="0">
            <a:noAutofit/>
          </a:bodyPr>
          <a:lstStyle>
            <a:lvl1pPr marR="0" lvl="0" algn="l">
              <a:lnSpc>
                <a:spcPct val="200000"/>
              </a:lnSpc>
              <a:spcBef>
                <a:spcPts val="0"/>
              </a:spcBef>
              <a:spcAft>
                <a:spcPts val="0"/>
              </a:spcAft>
              <a:buClr>
                <a:srgbClr val="1A1A33"/>
              </a:buClr>
              <a:buSzPts val="1200"/>
              <a:buFont typeface="Inter Medium"/>
              <a:buChar char="●"/>
              <a:defRPr sz="1200" b="0" i="0" u="none" strike="noStrike" cap="none">
                <a:solidFill>
                  <a:srgbClr val="1A1A33"/>
                </a:solidFill>
                <a:latin typeface="Inter Medium"/>
                <a:ea typeface="Inter Medium"/>
                <a:cs typeface="Inter Medium"/>
                <a:sym typeface="Inter Medium"/>
              </a:defRPr>
            </a:lvl1pPr>
            <a:lvl2pPr marR="0" lvl="1"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2pPr>
            <a:lvl3pPr marR="0" lvl="2"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3pPr>
            <a:lvl4pPr marR="0" lvl="3"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4pPr>
            <a:lvl5pPr marR="0" lvl="4"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5pPr>
            <a:lvl6pPr marR="0" lvl="5"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6pPr>
            <a:lvl7pPr marR="0" lvl="6"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7pPr>
            <a:lvl8pPr marR="0" lvl="7"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8pPr>
            <a:lvl9pPr marR="0" lvl="8" algn="l">
              <a:lnSpc>
                <a:spcPct val="200000"/>
              </a:lnSpc>
              <a:spcBef>
                <a:spcPts val="0"/>
              </a:spcBef>
              <a:spcAft>
                <a:spcPts val="0"/>
              </a:spcAft>
              <a:buClr>
                <a:schemeClr val="lt1"/>
              </a:buClr>
              <a:buSzPts val="1200"/>
              <a:buFont typeface="Inter Medium"/>
              <a:buChar char="■"/>
              <a:defRPr sz="1200" b="0" i="0" u="none" strike="noStrike" cap="none">
                <a:solidFill>
                  <a:schemeClr val="lt1"/>
                </a:solidFill>
                <a:latin typeface="Inter Medium"/>
                <a:ea typeface="Inter Medium"/>
                <a:cs typeface="Inter Medium"/>
                <a:sym typeface="Inter Medium"/>
              </a:defRPr>
            </a:lvl9pPr>
          </a:lstStyle>
          <a:p>
            <a:endParaRPr/>
          </a:p>
        </p:txBody>
      </p:sp>
      <p:pic>
        <p:nvPicPr>
          <p:cNvPr id="622" name="Google Shape;622;p89" title="Fichier 17.png"/>
          <p:cNvPicPr preferRelativeResize="0"/>
          <p:nvPr/>
        </p:nvPicPr>
        <p:blipFill rotWithShape="1">
          <a:blip r:embed="rId3">
            <a:alphaModFix/>
          </a:blip>
          <a:srcRect/>
          <a:stretch/>
        </p:blipFill>
        <p:spPr>
          <a:xfrm>
            <a:off x="6709501" y="2571740"/>
            <a:ext cx="4892924" cy="24047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6" r:id="rId16"/>
    <p:sldLayoutId id="2147483677" r:id="rId17"/>
    <p:sldLayoutId id="2147483678" r:id="rId18"/>
    <p:sldLayoutId id="2147483679" r:id="rId19"/>
    <p:sldLayoutId id="2147483680" r:id="rId20"/>
    <p:sldLayoutId id="2147483681" r:id="rId21"/>
    <p:sldLayoutId id="2147483682" r:id="rId22"/>
    <p:sldLayoutId id="2147483737"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4" r:id="rId7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5">
          <p15:clr>
            <a:srgbClr val="E46962"/>
          </p15:clr>
        </p15:guide>
        <p15:guide id="2" pos="470">
          <p15:clr>
            <a:srgbClr val="E46962"/>
          </p15:clr>
        </p15:guide>
        <p15:guide id="3" pos="594">
          <p15:clr>
            <a:srgbClr val="E46962"/>
          </p15:clr>
        </p15:guide>
        <p15:guide id="4" pos="939">
          <p15:clr>
            <a:srgbClr val="E46962"/>
          </p15:clr>
        </p15:guide>
        <p15:guide id="5" pos="1064">
          <p15:clr>
            <a:srgbClr val="E46962"/>
          </p15:clr>
        </p15:guide>
        <p15:guide id="6" pos="1409">
          <p15:clr>
            <a:srgbClr val="E46962"/>
          </p15:clr>
        </p15:guide>
        <p15:guide id="7" pos="1534">
          <p15:clr>
            <a:srgbClr val="E46962"/>
          </p15:clr>
        </p15:guide>
        <p15:guide id="8" pos="1878">
          <p15:clr>
            <a:srgbClr val="E46962"/>
          </p15:clr>
        </p15:guide>
        <p15:guide id="9" pos="2003">
          <p15:clr>
            <a:srgbClr val="E46962"/>
          </p15:clr>
        </p15:guide>
        <p15:guide id="10" pos="2348">
          <p15:clr>
            <a:srgbClr val="E46962"/>
          </p15:clr>
        </p15:guide>
        <p15:guide id="11" pos="2473">
          <p15:clr>
            <a:srgbClr val="E46962"/>
          </p15:clr>
        </p15:guide>
        <p15:guide id="12" pos="2818">
          <p15:clr>
            <a:srgbClr val="E46962"/>
          </p15:clr>
        </p15:guide>
        <p15:guide id="13" pos="2942">
          <p15:clr>
            <a:srgbClr val="E46962"/>
          </p15:clr>
        </p15:guide>
        <p15:guide id="14" pos="3287">
          <p15:clr>
            <a:srgbClr val="E46962"/>
          </p15:clr>
        </p15:guide>
        <p15:guide id="15" pos="3412">
          <p15:clr>
            <a:srgbClr val="E46962"/>
          </p15:clr>
        </p15:guide>
        <p15:guide id="16" pos="3757">
          <p15:clr>
            <a:srgbClr val="E46962"/>
          </p15:clr>
        </p15:guide>
        <p15:guide id="17" pos="3882">
          <p15:clr>
            <a:srgbClr val="E46962"/>
          </p15:clr>
        </p15:guide>
        <p15:guide id="18" pos="4226">
          <p15:clr>
            <a:srgbClr val="E46962"/>
          </p15:clr>
        </p15:guide>
        <p15:guide id="19" pos="4351">
          <p15:clr>
            <a:srgbClr val="E46962"/>
          </p15:clr>
        </p15:guide>
        <p15:guide id="20" pos="4696">
          <p15:clr>
            <a:srgbClr val="E46962"/>
          </p15:clr>
        </p15:guide>
        <p15:guide id="21" pos="4821">
          <p15:clr>
            <a:srgbClr val="E46962"/>
          </p15:clr>
        </p15:guide>
        <p15:guide id="22" pos="5166">
          <p15:clr>
            <a:srgbClr val="E46962"/>
          </p15:clr>
        </p15:guide>
        <p15:guide id="23" pos="5290">
          <p15:clr>
            <a:srgbClr val="E46962"/>
          </p15:clr>
        </p15:guide>
        <p15:guide id="24" pos="5635">
          <p15:clr>
            <a:srgbClr val="E46962"/>
          </p15:clr>
        </p15:guide>
        <p15:guide id="25" orient="horz" pos="125">
          <p15:clr>
            <a:srgbClr val="E46962"/>
          </p15:clr>
        </p15:guide>
        <p15:guide id="26" orient="horz" pos="2991">
          <p15:clr>
            <a:srgbClr val="E46962"/>
          </p15:clr>
        </p15:guide>
        <p15:guide id="27" orient="horz" pos="1495">
          <p15:clr>
            <a:srgbClr val="E46962"/>
          </p15:clr>
        </p15:guide>
        <p15:guide id="28" orient="horz" pos="162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3" Type="http://schemas.openxmlformats.org/officeDocument/2006/relationships/image" Target="../media/image22.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notesSlide" Target="../notesSlides/notesSlide4.xml"/><Relationship Id="rId16" Type="http://schemas.openxmlformats.org/officeDocument/2006/relationships/image" Target="../media/image41.png"/><Relationship Id="rId1" Type="http://schemas.openxmlformats.org/officeDocument/2006/relationships/slideLayout" Target="../slideLayouts/slideLayout22.xml"/><Relationship Id="rId6" Type="http://schemas.openxmlformats.org/officeDocument/2006/relationships/image" Target="../media/image29.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31.png"/><Relationship Id="rId9" Type="http://schemas.openxmlformats.org/officeDocument/2006/relationships/image" Target="../media/image34.png"/><Relationship Id="rId14"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42.png"/><Relationship Id="rId5" Type="http://schemas.openxmlformats.org/officeDocument/2006/relationships/image" Target="../media/image32.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2.png"/><Relationship Id="rId7"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2.png"/><Relationship Id="rId3" Type="http://schemas.openxmlformats.org/officeDocument/2006/relationships/image" Target="../media/image22.png"/><Relationship Id="rId7" Type="http://schemas.openxmlformats.org/officeDocument/2006/relationships/image" Target="../media/image42.png"/><Relationship Id="rId12"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29.png"/><Relationship Id="rId11" Type="http://schemas.openxmlformats.org/officeDocument/2006/relationships/image" Target="../media/image40.png"/><Relationship Id="rId5" Type="http://schemas.openxmlformats.org/officeDocument/2006/relationships/image" Target="../media/image35.png"/><Relationship Id="rId15" Type="http://schemas.openxmlformats.org/officeDocument/2006/relationships/image" Target="../media/image44.png"/><Relationship Id="rId10" Type="http://schemas.openxmlformats.org/officeDocument/2006/relationships/image" Target="../media/image33.png"/><Relationship Id="rId4" Type="http://schemas.openxmlformats.org/officeDocument/2006/relationships/image" Target="../media/image34.png"/><Relationship Id="rId9" Type="http://schemas.openxmlformats.org/officeDocument/2006/relationships/image" Target="../media/image50.png"/><Relationship Id="rId14" Type="http://schemas.openxmlformats.org/officeDocument/2006/relationships/image" Target="../media/image45.png"/></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2.png"/><Relationship Id="rId7"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2.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image" Target="../media/image34.png"/><Relationship Id="rId5" Type="http://schemas.openxmlformats.org/officeDocument/2006/relationships/image" Target="../media/image52.png"/><Relationship Id="rId10" Type="http://schemas.openxmlformats.org/officeDocument/2006/relationships/image" Target="../media/image60.png"/><Relationship Id="rId4" Type="http://schemas.openxmlformats.org/officeDocument/2006/relationships/image" Target="../media/image51.png"/><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33.png"/><Relationship Id="rId11" Type="http://schemas.openxmlformats.org/officeDocument/2006/relationships/image" Target="../media/image46.png"/><Relationship Id="rId5" Type="http://schemas.openxmlformats.org/officeDocument/2006/relationships/image" Target="../media/image22.png"/><Relationship Id="rId10"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90"/>
          <p:cNvSpPr txBox="1">
            <a:spLocks noGrp="1" noRot="1" noMove="1" noResize="1" noEditPoints="1" noAdjustHandles="1" noChangeArrowheads="1" noChangeShapeType="1"/>
          </p:cNvSpPr>
          <p:nvPr>
            <p:ph type="title"/>
          </p:nvPr>
        </p:nvSpPr>
        <p:spPr>
          <a:xfrm>
            <a:off x="198000" y="1506075"/>
            <a:ext cx="5766000" cy="529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fr" dirty="0">
                <a:highlight>
                  <a:srgbClr val="FF6745"/>
                </a:highlight>
                <a:latin typeface="Inter SemiBold"/>
                <a:ea typeface="Inter SemiBold"/>
                <a:cs typeface="Inter SemiBold"/>
                <a:sym typeface="Inter SemiBold"/>
              </a:rPr>
              <a:t>DATA ENGINEER</a:t>
            </a:r>
            <a:endParaRPr dirty="0">
              <a:latin typeface="Inter SemiBold"/>
              <a:ea typeface="Inter SemiBold"/>
              <a:cs typeface="Inter SemiBold"/>
              <a:sym typeface="Inter SemiBold"/>
            </a:endParaRPr>
          </a:p>
        </p:txBody>
      </p:sp>
      <p:sp>
        <p:nvSpPr>
          <p:cNvPr id="628" name="Google Shape;628;p90"/>
          <p:cNvSpPr txBox="1">
            <a:spLocks noGrp="1" noRot="1" noMove="1" noResize="1" noEditPoints="1" noAdjustHandles="1" noChangeArrowheads="1" noChangeShapeType="1"/>
          </p:cNvSpPr>
          <p:nvPr>
            <p:ph type="title" idx="2"/>
          </p:nvPr>
        </p:nvSpPr>
        <p:spPr>
          <a:xfrm>
            <a:off x="198000" y="198000"/>
            <a:ext cx="5918400" cy="1242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a:t>
            </a:r>
            <a:r>
              <a:rPr lang="en-US" b="1" dirty="0" err="1">
                <a:latin typeface="Work Sans"/>
                <a:ea typeface="Work Sans"/>
                <a:cs typeface="Work Sans"/>
                <a:sym typeface="Work Sans"/>
              </a:rPr>
              <a:t>Defence</a:t>
            </a:r>
            <a:endParaRPr b="1" dirty="0">
              <a:latin typeface="Work Sans"/>
              <a:ea typeface="Work Sans"/>
              <a:cs typeface="Work Sans"/>
              <a:sym typeface="Work Sans"/>
            </a:endParaRPr>
          </a:p>
          <a:p>
            <a:pPr marL="0" lvl="0" indent="0" algn="l" rtl="0">
              <a:spcBef>
                <a:spcPts val="0"/>
              </a:spcBef>
              <a:spcAft>
                <a:spcPts val="0"/>
              </a:spcAft>
              <a:buNone/>
            </a:pPr>
            <a:r>
              <a:rPr lang="fr" b="1" dirty="0">
                <a:solidFill>
                  <a:schemeClr val="lt2"/>
                </a:solidFill>
                <a:latin typeface="Work Sans"/>
                <a:ea typeface="Work Sans"/>
                <a:cs typeface="Work Sans"/>
                <a:sym typeface="Work Sans"/>
              </a:rPr>
              <a:t>Job Market</a:t>
            </a:r>
            <a:endParaRPr b="1" dirty="0">
              <a:solidFill>
                <a:schemeClr val="lt2"/>
              </a:solidFill>
              <a:latin typeface="Work Sans"/>
              <a:ea typeface="Work Sans"/>
              <a:cs typeface="Work Sans"/>
              <a:sym typeface="Work Sans"/>
            </a:endParaRPr>
          </a:p>
        </p:txBody>
      </p:sp>
      <p:sp>
        <p:nvSpPr>
          <p:cNvPr id="2" name="TextBox 1">
            <a:extLst>
              <a:ext uri="{FF2B5EF4-FFF2-40B4-BE49-F238E27FC236}">
                <a16:creationId xmlns:a16="http://schemas.microsoft.com/office/drawing/2014/main" id="{90D4BDE3-9AF6-1ADF-FEA4-63E21C5DED61}"/>
              </a:ext>
            </a:extLst>
          </p:cNvPr>
          <p:cNvSpPr txBox="1">
            <a:spLocks noGrp="1" noRot="1" noMove="1" noResize="1" noEditPoints="1" noAdjustHandles="1" noChangeArrowheads="1" noChangeShapeType="1"/>
          </p:cNvSpPr>
          <p:nvPr/>
        </p:nvSpPr>
        <p:spPr>
          <a:xfrm>
            <a:off x="198000" y="2167813"/>
            <a:ext cx="6173934" cy="307777"/>
          </a:xfrm>
          <a:prstGeom prst="rect">
            <a:avLst/>
          </a:prstGeom>
          <a:noFill/>
        </p:spPr>
        <p:txBody>
          <a:bodyPr wrap="square" rtlCol="0">
            <a:spAutoFit/>
          </a:bodyPr>
          <a:lstStyle/>
          <a:p>
            <a:r>
              <a:rPr lang="en-US" dirty="0">
                <a:solidFill>
                  <a:schemeClr val="bg1"/>
                </a:solidFill>
              </a:rPr>
              <a:t>Sergey Krutikov, François </a:t>
            </a:r>
            <a:r>
              <a:rPr lang="en-US" dirty="0" err="1">
                <a:solidFill>
                  <a:schemeClr val="bg1"/>
                </a:solidFill>
              </a:rPr>
              <a:t>Grygoryan</a:t>
            </a:r>
            <a:r>
              <a:rPr lang="en-US" dirty="0">
                <a:solidFill>
                  <a:schemeClr val="bg1"/>
                </a:solidFill>
              </a:rPr>
              <a:t>-Rolland, Ahmet Günay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67005541-6F1C-9FCE-BEB7-4DE5458A45A1}"/>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CBC4ED8-8269-B0C9-AA1A-898B2A0AE030}"/>
              </a:ext>
            </a:extLst>
          </p:cNvPr>
          <p:cNvSpPr txBox="1">
            <a:spLocks noGrp="1" noRot="1" noMove="1" noResize="1" noEditPoints="1" noAdjustHandles="1" noChangeArrowheads="1" noChangeShapeType="1"/>
          </p:cNvSpPr>
          <p:nvPr>
            <p:ph type="subTitle" idx="1"/>
          </p:nvPr>
        </p:nvSpPr>
        <p:spPr>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Motivation</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98B2FD0-56BF-6F1F-7D81-4B0F4E8AA326}"/>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3DEEAA05-FD8B-B5F6-FA78-1C5C4F129320}"/>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4" name="Rectangle 3">
            <a:extLst>
              <a:ext uri="{FF2B5EF4-FFF2-40B4-BE49-F238E27FC236}">
                <a16:creationId xmlns:a16="http://schemas.microsoft.com/office/drawing/2014/main" id="{1F6AE94D-E308-CD50-33DD-25E3214A3B94}"/>
              </a:ext>
            </a:extLst>
          </p:cNvPr>
          <p:cNvSpPr/>
          <p:nvPr/>
        </p:nvSpPr>
        <p:spPr>
          <a:xfrm>
            <a:off x="1724949" y="1256612"/>
            <a:ext cx="969066"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dirty="0">
                <a:solidFill>
                  <a:schemeClr val="tx1">
                    <a:lumMod val="85000"/>
                    <a:lumOff val="15000"/>
                  </a:schemeClr>
                </a:solidFill>
              </a:rPr>
              <a:t>companies</a:t>
            </a:r>
          </a:p>
        </p:txBody>
      </p:sp>
      <p:sp>
        <p:nvSpPr>
          <p:cNvPr id="5" name="Rectangle 4">
            <a:extLst>
              <a:ext uri="{FF2B5EF4-FFF2-40B4-BE49-F238E27FC236}">
                <a16:creationId xmlns:a16="http://schemas.microsoft.com/office/drawing/2014/main" id="{081C4263-3088-57ED-BF55-014CA3B5720C}"/>
              </a:ext>
            </a:extLst>
          </p:cNvPr>
          <p:cNvSpPr/>
          <p:nvPr/>
        </p:nvSpPr>
        <p:spPr>
          <a:xfrm>
            <a:off x="2841444" y="1256612"/>
            <a:ext cx="969066"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dirty="0">
                <a:solidFill>
                  <a:schemeClr val="tx1">
                    <a:lumMod val="85000"/>
                    <a:lumOff val="15000"/>
                  </a:schemeClr>
                </a:solidFill>
              </a:rPr>
              <a:t>occupations</a:t>
            </a:r>
          </a:p>
        </p:txBody>
      </p:sp>
      <p:sp>
        <p:nvSpPr>
          <p:cNvPr id="6" name="Rectangle 5">
            <a:extLst>
              <a:ext uri="{FF2B5EF4-FFF2-40B4-BE49-F238E27FC236}">
                <a16:creationId xmlns:a16="http://schemas.microsoft.com/office/drawing/2014/main" id="{B95359FA-7597-87CE-4019-8DB11252A579}"/>
              </a:ext>
            </a:extLst>
          </p:cNvPr>
          <p:cNvSpPr/>
          <p:nvPr/>
        </p:nvSpPr>
        <p:spPr>
          <a:xfrm>
            <a:off x="3957939" y="1256612"/>
            <a:ext cx="810926"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dirty="0">
                <a:solidFill>
                  <a:schemeClr val="tx1">
                    <a:lumMod val="85000"/>
                    <a:lumOff val="15000"/>
                  </a:schemeClr>
                </a:solidFill>
              </a:rPr>
              <a:t>locations</a:t>
            </a:r>
          </a:p>
        </p:txBody>
      </p:sp>
      <p:sp>
        <p:nvSpPr>
          <p:cNvPr id="7" name="Rectangle 6">
            <a:extLst>
              <a:ext uri="{FF2B5EF4-FFF2-40B4-BE49-F238E27FC236}">
                <a16:creationId xmlns:a16="http://schemas.microsoft.com/office/drawing/2014/main" id="{7CC29AC9-D5E2-A945-F314-1F3E29FC359A}"/>
              </a:ext>
            </a:extLst>
          </p:cNvPr>
          <p:cNvSpPr/>
          <p:nvPr/>
        </p:nvSpPr>
        <p:spPr>
          <a:xfrm>
            <a:off x="4916294" y="1256612"/>
            <a:ext cx="1375210"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dirty="0">
                <a:solidFill>
                  <a:schemeClr val="tx1">
                    <a:lumMod val="85000"/>
                    <a:lumOff val="15000"/>
                  </a:schemeClr>
                </a:solidFill>
              </a:rPr>
              <a:t>working conditions</a:t>
            </a:r>
          </a:p>
        </p:txBody>
      </p:sp>
      <p:sp>
        <p:nvSpPr>
          <p:cNvPr id="8" name="Rectangle 7">
            <a:extLst>
              <a:ext uri="{FF2B5EF4-FFF2-40B4-BE49-F238E27FC236}">
                <a16:creationId xmlns:a16="http://schemas.microsoft.com/office/drawing/2014/main" id="{99180437-8FA8-8E64-E82F-452AB84519EC}"/>
              </a:ext>
            </a:extLst>
          </p:cNvPr>
          <p:cNvSpPr/>
          <p:nvPr/>
        </p:nvSpPr>
        <p:spPr>
          <a:xfrm>
            <a:off x="6438933" y="1256612"/>
            <a:ext cx="1375210"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dirty="0">
                <a:solidFill>
                  <a:schemeClr val="tx1">
                    <a:lumMod val="85000"/>
                    <a:lumOff val="15000"/>
                  </a:schemeClr>
                </a:solidFill>
              </a:rPr>
              <a:t>publication trends</a:t>
            </a:r>
          </a:p>
        </p:txBody>
      </p:sp>
      <p:sp>
        <p:nvSpPr>
          <p:cNvPr id="10" name="Rectangle 9">
            <a:extLst>
              <a:ext uri="{FF2B5EF4-FFF2-40B4-BE49-F238E27FC236}">
                <a16:creationId xmlns:a16="http://schemas.microsoft.com/office/drawing/2014/main" id="{9209230C-DBDC-BE5C-F73B-408EFFD59FE8}"/>
              </a:ext>
            </a:extLst>
          </p:cNvPr>
          <p:cNvSpPr/>
          <p:nvPr/>
        </p:nvSpPr>
        <p:spPr>
          <a:xfrm>
            <a:off x="3534072" y="857138"/>
            <a:ext cx="1658660" cy="229330"/>
          </a:xfrm>
          <a:prstGeom prst="rect">
            <a:avLst/>
          </a:prstGeom>
          <a:solidFill>
            <a:schemeClr val="accent6">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sz="1000" b="1" dirty="0">
                <a:solidFill>
                  <a:schemeClr val="tx1">
                    <a:lumMod val="85000"/>
                    <a:lumOff val="15000"/>
                  </a:schemeClr>
                </a:solidFill>
              </a:rPr>
              <a:t>Job advertisements</a:t>
            </a:r>
          </a:p>
        </p:txBody>
      </p:sp>
      <p:cxnSp>
        <p:nvCxnSpPr>
          <p:cNvPr id="14" name="Straight Connector 13">
            <a:extLst>
              <a:ext uri="{FF2B5EF4-FFF2-40B4-BE49-F238E27FC236}">
                <a16:creationId xmlns:a16="http://schemas.microsoft.com/office/drawing/2014/main" id="{4CF719C6-D900-93BB-D00B-CCB54458C63A}"/>
              </a:ext>
            </a:extLst>
          </p:cNvPr>
          <p:cNvCxnSpPr>
            <a:cxnSpLocks/>
            <a:stCxn id="10" idx="1"/>
            <a:endCxn id="4" idx="0"/>
          </p:cNvCxnSpPr>
          <p:nvPr/>
        </p:nvCxnSpPr>
        <p:spPr>
          <a:xfrm flipH="1">
            <a:off x="2209482" y="971803"/>
            <a:ext cx="1324590" cy="28480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17FBAA-0BE2-D06C-F6BC-CEC71C05E373}"/>
              </a:ext>
            </a:extLst>
          </p:cNvPr>
          <p:cNvCxnSpPr>
            <a:cxnSpLocks/>
            <a:stCxn id="10" idx="2"/>
            <a:endCxn id="5" idx="0"/>
          </p:cNvCxnSpPr>
          <p:nvPr/>
        </p:nvCxnSpPr>
        <p:spPr>
          <a:xfrm flipH="1">
            <a:off x="3325977" y="1086468"/>
            <a:ext cx="1037425" cy="17014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2014F68-94CA-6C7F-B70D-EB7BE9407E6D}"/>
              </a:ext>
            </a:extLst>
          </p:cNvPr>
          <p:cNvCxnSpPr>
            <a:cxnSpLocks/>
            <a:stCxn id="10" idx="2"/>
            <a:endCxn id="6" idx="0"/>
          </p:cNvCxnSpPr>
          <p:nvPr/>
        </p:nvCxnSpPr>
        <p:spPr>
          <a:xfrm>
            <a:off x="4363402" y="1086468"/>
            <a:ext cx="0" cy="17014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65D4B27-F034-8A3B-443F-4501DD5E2EBD}"/>
              </a:ext>
            </a:extLst>
          </p:cNvPr>
          <p:cNvCxnSpPr>
            <a:cxnSpLocks/>
            <a:stCxn id="10" idx="2"/>
            <a:endCxn id="7" idx="0"/>
          </p:cNvCxnSpPr>
          <p:nvPr/>
        </p:nvCxnSpPr>
        <p:spPr>
          <a:xfrm>
            <a:off x="4363402" y="1086468"/>
            <a:ext cx="1240497" cy="17014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2819B9F-62D6-EB10-220B-C073DFFD5973}"/>
              </a:ext>
            </a:extLst>
          </p:cNvPr>
          <p:cNvCxnSpPr>
            <a:cxnSpLocks/>
            <a:stCxn id="10" idx="3"/>
            <a:endCxn id="8" idx="0"/>
          </p:cNvCxnSpPr>
          <p:nvPr/>
        </p:nvCxnSpPr>
        <p:spPr>
          <a:xfrm>
            <a:off x="5192732" y="971803"/>
            <a:ext cx="1933806" cy="28480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9" name="Rectangle: Folded Corner 28">
            <a:extLst>
              <a:ext uri="{FF2B5EF4-FFF2-40B4-BE49-F238E27FC236}">
                <a16:creationId xmlns:a16="http://schemas.microsoft.com/office/drawing/2014/main" id="{7336AB15-0EE7-CBF4-C795-9FC013D502E2}"/>
              </a:ext>
            </a:extLst>
          </p:cNvPr>
          <p:cNvSpPr/>
          <p:nvPr/>
        </p:nvSpPr>
        <p:spPr>
          <a:xfrm>
            <a:off x="4985206" y="2257048"/>
            <a:ext cx="538842" cy="343509"/>
          </a:xfrm>
          <a:prstGeom prst="foldedCorner">
            <a:avLst/>
          </a:prstGeom>
          <a:solidFill>
            <a:schemeClr val="bg1"/>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tx1">
                    <a:lumMod val="85000"/>
                    <a:lumOff val="15000"/>
                  </a:schemeClr>
                </a:solidFill>
              </a:rPr>
              <a:t>Data Engineer</a:t>
            </a:r>
          </a:p>
        </p:txBody>
      </p:sp>
      <p:sp>
        <p:nvSpPr>
          <p:cNvPr id="31" name="Rectangle: Folded Corner 30">
            <a:extLst>
              <a:ext uri="{FF2B5EF4-FFF2-40B4-BE49-F238E27FC236}">
                <a16:creationId xmlns:a16="http://schemas.microsoft.com/office/drawing/2014/main" id="{E79B6621-FD93-4763-D490-0A82CCE89062}"/>
              </a:ext>
            </a:extLst>
          </p:cNvPr>
          <p:cNvSpPr/>
          <p:nvPr/>
        </p:nvSpPr>
        <p:spPr>
          <a:xfrm>
            <a:off x="4985206" y="3529379"/>
            <a:ext cx="538842" cy="343509"/>
          </a:xfrm>
          <a:prstGeom prst="foldedCorner">
            <a:avLst/>
          </a:prstGeom>
          <a:solidFill>
            <a:schemeClr val="bg1"/>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tx1">
                    <a:lumMod val="85000"/>
                    <a:lumOff val="15000"/>
                  </a:schemeClr>
                </a:solidFill>
              </a:rPr>
              <a:t>Software Engineer</a:t>
            </a:r>
          </a:p>
        </p:txBody>
      </p:sp>
      <p:sp>
        <p:nvSpPr>
          <p:cNvPr id="12" name="Rectangle 11">
            <a:extLst>
              <a:ext uri="{FF2B5EF4-FFF2-40B4-BE49-F238E27FC236}">
                <a16:creationId xmlns:a16="http://schemas.microsoft.com/office/drawing/2014/main" id="{666E6425-2D91-F607-7272-DF1494BA0925}"/>
              </a:ext>
            </a:extLst>
          </p:cNvPr>
          <p:cNvSpPr/>
          <p:nvPr/>
        </p:nvSpPr>
        <p:spPr>
          <a:xfrm>
            <a:off x="4404661" y="1932938"/>
            <a:ext cx="882428" cy="196649"/>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9E63753C-EE26-C339-0859-25C4AE5F92D8}"/>
              </a:ext>
            </a:extLst>
          </p:cNvPr>
          <p:cNvPicPr>
            <a:picLocks noChangeAspect="1"/>
          </p:cNvPicPr>
          <p:nvPr/>
        </p:nvPicPr>
        <p:blipFill>
          <a:blip r:embed="rId4"/>
          <a:stretch>
            <a:fillRect/>
          </a:stretch>
        </p:blipFill>
        <p:spPr>
          <a:xfrm>
            <a:off x="4674084" y="3988883"/>
            <a:ext cx="353110" cy="353110"/>
          </a:xfrm>
          <a:prstGeom prst="rect">
            <a:avLst/>
          </a:prstGeom>
        </p:spPr>
      </p:pic>
      <p:cxnSp>
        <p:nvCxnSpPr>
          <p:cNvPr id="46" name="Straight Arrow Connector 45">
            <a:extLst>
              <a:ext uri="{FF2B5EF4-FFF2-40B4-BE49-F238E27FC236}">
                <a16:creationId xmlns:a16="http://schemas.microsoft.com/office/drawing/2014/main" id="{8EFED4A2-2775-903A-26E5-9F6FCEC1F66A}"/>
              </a:ext>
            </a:extLst>
          </p:cNvPr>
          <p:cNvCxnSpPr>
            <a:cxnSpLocks/>
            <a:stCxn id="9" idx="3"/>
            <a:endCxn id="44" idx="0"/>
          </p:cNvCxnSpPr>
          <p:nvPr/>
        </p:nvCxnSpPr>
        <p:spPr>
          <a:xfrm>
            <a:off x="4850639" y="3413386"/>
            <a:ext cx="0" cy="575497"/>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88" name="Connector: Elbow 587">
            <a:extLst>
              <a:ext uri="{FF2B5EF4-FFF2-40B4-BE49-F238E27FC236}">
                <a16:creationId xmlns:a16="http://schemas.microsoft.com/office/drawing/2014/main" id="{94C7B60F-D801-3DC3-788E-AA631FB7CC14}"/>
              </a:ext>
            </a:extLst>
          </p:cNvPr>
          <p:cNvCxnSpPr>
            <a:cxnSpLocks/>
            <a:stCxn id="586" idx="3"/>
            <a:endCxn id="584" idx="3"/>
          </p:cNvCxnSpPr>
          <p:nvPr/>
        </p:nvCxnSpPr>
        <p:spPr>
          <a:xfrm flipH="1" flipV="1">
            <a:off x="5977648" y="2903401"/>
            <a:ext cx="8280" cy="325671"/>
          </a:xfrm>
          <a:prstGeom prst="bentConnector3">
            <a:avLst>
              <a:gd name="adj1" fmla="val -2760870"/>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727" name="Group 726">
            <a:extLst>
              <a:ext uri="{FF2B5EF4-FFF2-40B4-BE49-F238E27FC236}">
                <a16:creationId xmlns:a16="http://schemas.microsoft.com/office/drawing/2014/main" id="{780297FA-262C-FF5F-5081-797D297EC48A}"/>
              </a:ext>
            </a:extLst>
          </p:cNvPr>
          <p:cNvGrpSpPr/>
          <p:nvPr/>
        </p:nvGrpSpPr>
        <p:grpSpPr>
          <a:xfrm>
            <a:off x="3714103" y="2705084"/>
            <a:ext cx="2271825" cy="708302"/>
            <a:chOff x="3518160" y="2398145"/>
            <a:chExt cx="2271825" cy="708302"/>
          </a:xfrm>
        </p:grpSpPr>
        <p:sp>
          <p:nvSpPr>
            <p:cNvPr id="9" name="Cylinder 8">
              <a:extLst>
                <a:ext uri="{FF2B5EF4-FFF2-40B4-BE49-F238E27FC236}">
                  <a16:creationId xmlns:a16="http://schemas.microsoft.com/office/drawing/2014/main" id="{5959438A-7CCF-61AB-9EE9-7F25AF98C09B}"/>
                </a:ext>
              </a:extLst>
            </p:cNvPr>
            <p:cNvSpPr/>
            <p:nvPr/>
          </p:nvSpPr>
          <p:spPr>
            <a:xfrm>
              <a:off x="3522924" y="2398145"/>
              <a:ext cx="2263544" cy="708302"/>
            </a:xfrm>
            <a:prstGeom prst="can">
              <a:avLst>
                <a:gd name="adj" fmla="val 28132"/>
              </a:avLst>
            </a:prstGeom>
            <a:solidFill>
              <a:schemeClr val="accent6">
                <a:lumMod val="95000"/>
              </a:schemeClr>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E4FF3FEB-C522-F15E-6E8D-60607F0D8700}"/>
                </a:ext>
              </a:extLst>
            </p:cNvPr>
            <p:cNvSpPr txBox="1"/>
            <p:nvPr/>
          </p:nvSpPr>
          <p:spPr>
            <a:xfrm>
              <a:off x="3522924" y="2691058"/>
              <a:ext cx="2263544" cy="307777"/>
            </a:xfrm>
            <a:prstGeom prst="rect">
              <a:avLst/>
            </a:prstGeom>
            <a:noFill/>
          </p:spPr>
          <p:txBody>
            <a:bodyPr wrap="square" rtlCol="0">
              <a:spAutoFit/>
            </a:bodyPr>
            <a:lstStyle/>
            <a:p>
              <a:pPr algn="ctr"/>
              <a:r>
                <a:rPr lang="en-US" dirty="0"/>
                <a:t>Job market</a:t>
              </a:r>
            </a:p>
          </p:txBody>
        </p:sp>
        <p:sp>
          <p:nvSpPr>
            <p:cNvPr id="56" name="Rectangle 55">
              <a:extLst>
                <a:ext uri="{FF2B5EF4-FFF2-40B4-BE49-F238E27FC236}">
                  <a16:creationId xmlns:a16="http://schemas.microsoft.com/office/drawing/2014/main" id="{024124D9-8BF7-77E0-42EC-D89A5B5BF4CD}"/>
                </a:ext>
              </a:extLst>
            </p:cNvPr>
            <p:cNvSpPr/>
            <p:nvPr/>
          </p:nvSpPr>
          <p:spPr>
            <a:xfrm>
              <a:off x="4420994" y="2525606"/>
              <a:ext cx="457877" cy="345768"/>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5160DF86-C45E-D49E-C63A-30108782107C}"/>
                </a:ext>
              </a:extLst>
            </p:cNvPr>
            <p:cNvSpPr/>
            <p:nvPr/>
          </p:nvSpPr>
          <p:spPr>
            <a:xfrm>
              <a:off x="5332108" y="2525606"/>
              <a:ext cx="449597" cy="141712"/>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1837C3BD-E446-FC5F-C4B5-B08436C127A3}"/>
                </a:ext>
              </a:extLst>
            </p:cNvPr>
            <p:cNvSpPr/>
            <p:nvPr/>
          </p:nvSpPr>
          <p:spPr>
            <a:xfrm>
              <a:off x="5332108" y="2845430"/>
              <a:ext cx="457877" cy="15340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Rectangle 603">
              <a:extLst>
                <a:ext uri="{FF2B5EF4-FFF2-40B4-BE49-F238E27FC236}">
                  <a16:creationId xmlns:a16="http://schemas.microsoft.com/office/drawing/2014/main" id="{64BB2D68-06D7-F505-C027-A8263D6AF6BE}"/>
                </a:ext>
              </a:extLst>
            </p:cNvPr>
            <p:cNvSpPr/>
            <p:nvPr/>
          </p:nvSpPr>
          <p:spPr>
            <a:xfrm>
              <a:off x="3527700" y="2525606"/>
              <a:ext cx="462641" cy="141712"/>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Rectangle 605">
              <a:extLst>
                <a:ext uri="{FF2B5EF4-FFF2-40B4-BE49-F238E27FC236}">
                  <a16:creationId xmlns:a16="http://schemas.microsoft.com/office/drawing/2014/main" id="{585DBEC1-D2B8-2485-141D-FCA3910C093E}"/>
                </a:ext>
              </a:extLst>
            </p:cNvPr>
            <p:cNvSpPr/>
            <p:nvPr/>
          </p:nvSpPr>
          <p:spPr>
            <a:xfrm>
              <a:off x="3518160" y="2845430"/>
              <a:ext cx="472181" cy="15340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16" name="Connector: Elbow 615">
            <a:extLst>
              <a:ext uri="{FF2B5EF4-FFF2-40B4-BE49-F238E27FC236}">
                <a16:creationId xmlns:a16="http://schemas.microsoft.com/office/drawing/2014/main" id="{17CEA8BB-93C4-9F72-0BB8-86A4C49CAE5C}"/>
              </a:ext>
            </a:extLst>
          </p:cNvPr>
          <p:cNvCxnSpPr>
            <a:cxnSpLocks/>
            <a:stCxn id="606" idx="1"/>
            <a:endCxn id="604" idx="1"/>
          </p:cNvCxnSpPr>
          <p:nvPr/>
        </p:nvCxnSpPr>
        <p:spPr>
          <a:xfrm rot="10800000" flipH="1">
            <a:off x="3714103" y="2903402"/>
            <a:ext cx="9540" cy="325671"/>
          </a:xfrm>
          <a:prstGeom prst="bentConnector3">
            <a:avLst>
              <a:gd name="adj1" fmla="val -2396226"/>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34" name="Rectangle: Folded Corner 633">
            <a:extLst>
              <a:ext uri="{FF2B5EF4-FFF2-40B4-BE49-F238E27FC236}">
                <a16:creationId xmlns:a16="http://schemas.microsoft.com/office/drawing/2014/main" id="{2F066217-1B28-39E8-B429-F87DA30E1376}"/>
              </a:ext>
            </a:extLst>
          </p:cNvPr>
          <p:cNvSpPr/>
          <p:nvPr/>
        </p:nvSpPr>
        <p:spPr>
          <a:xfrm>
            <a:off x="6346403" y="2903401"/>
            <a:ext cx="538842" cy="343509"/>
          </a:xfrm>
          <a:prstGeom prst="foldedCorner">
            <a:avLst/>
          </a:prstGeom>
          <a:solidFill>
            <a:schemeClr val="bg1"/>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tx1">
                    <a:lumMod val="85000"/>
                    <a:lumOff val="15000"/>
                  </a:schemeClr>
                </a:solidFill>
              </a:rPr>
              <a:t>Cloud Engineer</a:t>
            </a:r>
          </a:p>
        </p:txBody>
      </p:sp>
      <p:grpSp>
        <p:nvGrpSpPr>
          <p:cNvPr id="647" name="Group 646">
            <a:extLst>
              <a:ext uri="{FF2B5EF4-FFF2-40B4-BE49-F238E27FC236}">
                <a16:creationId xmlns:a16="http://schemas.microsoft.com/office/drawing/2014/main" id="{94EE153C-5DAC-A1AA-C2DE-00F1D0C46106}"/>
              </a:ext>
            </a:extLst>
          </p:cNvPr>
          <p:cNvGrpSpPr/>
          <p:nvPr/>
        </p:nvGrpSpPr>
        <p:grpSpPr>
          <a:xfrm>
            <a:off x="2852992" y="2903401"/>
            <a:ext cx="538843" cy="343509"/>
            <a:chOff x="1664258" y="2847073"/>
            <a:chExt cx="538843" cy="343509"/>
          </a:xfrm>
        </p:grpSpPr>
        <p:sp>
          <p:nvSpPr>
            <p:cNvPr id="637" name="Rectangle: Folded Corner 636">
              <a:extLst>
                <a:ext uri="{FF2B5EF4-FFF2-40B4-BE49-F238E27FC236}">
                  <a16:creationId xmlns:a16="http://schemas.microsoft.com/office/drawing/2014/main" id="{F6F1952D-26F0-D6CE-0490-1EE715705B91}"/>
                </a:ext>
              </a:extLst>
            </p:cNvPr>
            <p:cNvSpPr/>
            <p:nvPr/>
          </p:nvSpPr>
          <p:spPr>
            <a:xfrm>
              <a:off x="1664258" y="2847073"/>
              <a:ext cx="538842" cy="343509"/>
            </a:xfrm>
            <a:prstGeom prst="foldedCorner">
              <a:avLst/>
            </a:prstGeom>
            <a:solidFill>
              <a:schemeClr val="bg1"/>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tx1">
                      <a:lumMod val="85000"/>
                      <a:lumOff val="15000"/>
                    </a:schemeClr>
                  </a:solidFill>
                </a:rPr>
                <a:t>AI Engineer</a:t>
              </a:r>
            </a:p>
          </p:txBody>
        </p:sp>
        <p:pic>
          <p:nvPicPr>
            <p:cNvPr id="42" name="Picture 41">
              <a:extLst>
                <a:ext uri="{FF2B5EF4-FFF2-40B4-BE49-F238E27FC236}">
                  <a16:creationId xmlns:a16="http://schemas.microsoft.com/office/drawing/2014/main" id="{5C87DFD8-C232-B182-80EA-23F9A78F368D}"/>
                </a:ext>
              </a:extLst>
            </p:cNvPr>
            <p:cNvPicPr>
              <a:picLocks noChangeAspect="1"/>
            </p:cNvPicPr>
            <p:nvPr/>
          </p:nvPicPr>
          <p:blipFill>
            <a:blip r:embed="rId5"/>
            <a:stretch>
              <a:fillRect/>
            </a:stretch>
          </p:blipFill>
          <p:spPr>
            <a:xfrm>
              <a:off x="2014107" y="2983749"/>
              <a:ext cx="188994" cy="188994"/>
            </a:xfrm>
            <a:prstGeom prst="rect">
              <a:avLst/>
            </a:prstGeom>
          </p:spPr>
        </p:pic>
      </p:grpSp>
      <p:pic>
        <p:nvPicPr>
          <p:cNvPr id="662" name="Picture 661">
            <a:extLst>
              <a:ext uri="{FF2B5EF4-FFF2-40B4-BE49-F238E27FC236}">
                <a16:creationId xmlns:a16="http://schemas.microsoft.com/office/drawing/2014/main" id="{1EF31ED6-86B7-7677-19C8-AAAF07ABBE77}"/>
              </a:ext>
            </a:extLst>
          </p:cNvPr>
          <p:cNvPicPr>
            <a:picLocks noChangeAspect="1"/>
          </p:cNvPicPr>
          <p:nvPr/>
        </p:nvPicPr>
        <p:blipFill>
          <a:blip r:embed="rId6"/>
          <a:stretch>
            <a:fillRect/>
          </a:stretch>
        </p:blipFill>
        <p:spPr>
          <a:xfrm>
            <a:off x="1721220" y="3031799"/>
            <a:ext cx="367104" cy="367104"/>
          </a:xfrm>
          <a:prstGeom prst="rect">
            <a:avLst/>
          </a:prstGeom>
        </p:spPr>
      </p:pic>
      <p:cxnSp>
        <p:nvCxnSpPr>
          <p:cNvPr id="663" name="Straight Connector 662">
            <a:extLst>
              <a:ext uri="{FF2B5EF4-FFF2-40B4-BE49-F238E27FC236}">
                <a16:creationId xmlns:a16="http://schemas.microsoft.com/office/drawing/2014/main" id="{6EB63352-8DD1-A67A-7F2A-10F316442A68}"/>
              </a:ext>
            </a:extLst>
          </p:cNvPr>
          <p:cNvCxnSpPr>
            <a:cxnSpLocks/>
            <a:stCxn id="662" idx="0"/>
          </p:cNvCxnSpPr>
          <p:nvPr/>
        </p:nvCxnSpPr>
        <p:spPr>
          <a:xfrm flipV="1">
            <a:off x="1904772" y="1905788"/>
            <a:ext cx="761792" cy="1126011"/>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64" name="Straight Connector 663">
            <a:extLst>
              <a:ext uri="{FF2B5EF4-FFF2-40B4-BE49-F238E27FC236}">
                <a16:creationId xmlns:a16="http://schemas.microsoft.com/office/drawing/2014/main" id="{EF2A1928-3CA5-C74E-F4A8-B0E4EBAE53B7}"/>
              </a:ext>
            </a:extLst>
          </p:cNvPr>
          <p:cNvCxnSpPr>
            <a:cxnSpLocks/>
            <a:stCxn id="662" idx="2"/>
          </p:cNvCxnSpPr>
          <p:nvPr/>
        </p:nvCxnSpPr>
        <p:spPr>
          <a:xfrm>
            <a:off x="1904772" y="3398903"/>
            <a:ext cx="761792" cy="1126011"/>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65" name="Rectangle 664">
            <a:extLst>
              <a:ext uri="{FF2B5EF4-FFF2-40B4-BE49-F238E27FC236}">
                <a16:creationId xmlns:a16="http://schemas.microsoft.com/office/drawing/2014/main" id="{02724701-8C8D-A96B-4D4D-47DFB4ED4F4A}"/>
              </a:ext>
            </a:extLst>
          </p:cNvPr>
          <p:cNvSpPr/>
          <p:nvPr/>
        </p:nvSpPr>
        <p:spPr>
          <a:xfrm>
            <a:off x="2666564" y="1905788"/>
            <a:ext cx="4408714" cy="261912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7" name="Straight Connector 666">
            <a:extLst>
              <a:ext uri="{FF2B5EF4-FFF2-40B4-BE49-F238E27FC236}">
                <a16:creationId xmlns:a16="http://schemas.microsoft.com/office/drawing/2014/main" id="{5C132AAC-7069-C5D3-852E-355CE1848953}"/>
              </a:ext>
            </a:extLst>
          </p:cNvPr>
          <p:cNvCxnSpPr/>
          <p:nvPr/>
        </p:nvCxnSpPr>
        <p:spPr>
          <a:xfrm flipH="1">
            <a:off x="1604715" y="2943550"/>
            <a:ext cx="527957" cy="5710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669" name="Graphic 668">
            <a:extLst>
              <a:ext uri="{FF2B5EF4-FFF2-40B4-BE49-F238E27FC236}">
                <a16:creationId xmlns:a16="http://schemas.microsoft.com/office/drawing/2014/main" id="{5FD60D60-6969-0D4C-D50A-FEE6F420658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79344" y="3766244"/>
            <a:ext cx="403482" cy="413568"/>
          </a:xfrm>
          <a:prstGeom prst="rect">
            <a:avLst/>
          </a:prstGeom>
        </p:spPr>
      </p:pic>
      <p:pic>
        <p:nvPicPr>
          <p:cNvPr id="671" name="Graphic 670">
            <a:extLst>
              <a:ext uri="{FF2B5EF4-FFF2-40B4-BE49-F238E27FC236}">
                <a16:creationId xmlns:a16="http://schemas.microsoft.com/office/drawing/2014/main" id="{E938C37D-2707-9C7B-ABFE-0634932FBB9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79344" y="2297480"/>
            <a:ext cx="403482" cy="347716"/>
          </a:xfrm>
          <a:prstGeom prst="rect">
            <a:avLst/>
          </a:prstGeom>
        </p:spPr>
      </p:pic>
      <p:cxnSp>
        <p:nvCxnSpPr>
          <p:cNvPr id="719" name="Straight Connector 718">
            <a:extLst>
              <a:ext uri="{FF2B5EF4-FFF2-40B4-BE49-F238E27FC236}">
                <a16:creationId xmlns:a16="http://schemas.microsoft.com/office/drawing/2014/main" id="{403CF756-6256-A573-2968-DDA215AED3FF}"/>
              </a:ext>
            </a:extLst>
          </p:cNvPr>
          <p:cNvCxnSpPr>
            <a:cxnSpLocks/>
            <a:stCxn id="2" idx="0"/>
            <a:endCxn id="671" idx="2"/>
          </p:cNvCxnSpPr>
          <p:nvPr/>
        </p:nvCxnSpPr>
        <p:spPr>
          <a:xfrm flipH="1" flipV="1">
            <a:off x="7781085" y="2645196"/>
            <a:ext cx="1" cy="351490"/>
          </a:xfrm>
          <a:prstGeom prst="line">
            <a:avLst/>
          </a:prstGeom>
          <a:ln w="15875">
            <a:solidFill>
              <a:srgbClr val="7151FD"/>
            </a:solidFill>
            <a:prstDash val="dash"/>
          </a:ln>
        </p:spPr>
        <p:style>
          <a:lnRef idx="1">
            <a:schemeClr val="accent1"/>
          </a:lnRef>
          <a:fillRef idx="0">
            <a:schemeClr val="accent1"/>
          </a:fillRef>
          <a:effectRef idx="0">
            <a:schemeClr val="accent1"/>
          </a:effectRef>
          <a:fontRef idx="minor">
            <a:schemeClr val="tx1"/>
          </a:fontRef>
        </p:style>
      </p:cxnSp>
      <p:cxnSp>
        <p:nvCxnSpPr>
          <p:cNvPr id="722" name="Straight Connector 721">
            <a:extLst>
              <a:ext uri="{FF2B5EF4-FFF2-40B4-BE49-F238E27FC236}">
                <a16:creationId xmlns:a16="http://schemas.microsoft.com/office/drawing/2014/main" id="{F991CA72-B74F-947C-47E5-DF72ABC94F23}"/>
              </a:ext>
            </a:extLst>
          </p:cNvPr>
          <p:cNvCxnSpPr>
            <a:cxnSpLocks/>
            <a:stCxn id="2" idx="2"/>
            <a:endCxn id="669" idx="0"/>
          </p:cNvCxnSpPr>
          <p:nvPr/>
        </p:nvCxnSpPr>
        <p:spPr>
          <a:xfrm flipH="1">
            <a:off x="7781085" y="3419839"/>
            <a:ext cx="1" cy="346405"/>
          </a:xfrm>
          <a:prstGeom prst="line">
            <a:avLst/>
          </a:prstGeom>
          <a:ln w="15875">
            <a:solidFill>
              <a:srgbClr val="7151FD"/>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54EEC52-CB63-57E7-BA67-303520E0ACF8}"/>
              </a:ext>
            </a:extLst>
          </p:cNvPr>
          <p:cNvCxnSpPr>
            <a:cxnSpLocks/>
            <a:stCxn id="12" idx="2"/>
            <a:endCxn id="56" idx="0"/>
          </p:cNvCxnSpPr>
          <p:nvPr/>
        </p:nvCxnSpPr>
        <p:spPr>
          <a:xfrm>
            <a:off x="4845875" y="2129587"/>
            <a:ext cx="1" cy="702958"/>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731" name="Picture 730">
            <a:extLst>
              <a:ext uri="{FF2B5EF4-FFF2-40B4-BE49-F238E27FC236}">
                <a16:creationId xmlns:a16="http://schemas.microsoft.com/office/drawing/2014/main" id="{322A5940-7618-2255-E3CC-C64E27FF6FF6}"/>
              </a:ext>
            </a:extLst>
          </p:cNvPr>
          <p:cNvPicPr>
            <a:picLocks noChangeAspect="1"/>
          </p:cNvPicPr>
          <p:nvPr/>
        </p:nvPicPr>
        <p:blipFill>
          <a:blip r:embed="rId9"/>
          <a:stretch>
            <a:fillRect/>
          </a:stretch>
        </p:blipFill>
        <p:spPr>
          <a:xfrm>
            <a:off x="1294166" y="3031549"/>
            <a:ext cx="367104" cy="367104"/>
          </a:xfrm>
          <a:prstGeom prst="rect">
            <a:avLst/>
          </a:prstGeom>
        </p:spPr>
      </p:pic>
      <p:pic>
        <p:nvPicPr>
          <p:cNvPr id="2" name="Picture 1">
            <a:extLst>
              <a:ext uri="{FF2B5EF4-FFF2-40B4-BE49-F238E27FC236}">
                <a16:creationId xmlns:a16="http://schemas.microsoft.com/office/drawing/2014/main" id="{87EEC51E-2436-A7A9-AC7F-60AE0AC30E5A}"/>
              </a:ext>
            </a:extLst>
          </p:cNvPr>
          <p:cNvPicPr>
            <a:picLocks noChangeAspect="1"/>
          </p:cNvPicPr>
          <p:nvPr/>
        </p:nvPicPr>
        <p:blipFill>
          <a:blip r:embed="rId10"/>
          <a:stretch>
            <a:fillRect/>
          </a:stretch>
        </p:blipFill>
        <p:spPr>
          <a:xfrm>
            <a:off x="7544420" y="2996686"/>
            <a:ext cx="473331" cy="423153"/>
          </a:xfrm>
          <a:prstGeom prst="rect">
            <a:avLst/>
          </a:prstGeom>
        </p:spPr>
      </p:pic>
      <p:cxnSp>
        <p:nvCxnSpPr>
          <p:cNvPr id="3" name="Straight Arrow Connector 2">
            <a:extLst>
              <a:ext uri="{FF2B5EF4-FFF2-40B4-BE49-F238E27FC236}">
                <a16:creationId xmlns:a16="http://schemas.microsoft.com/office/drawing/2014/main" id="{F5CA7BFF-76CF-C4CB-501F-045538F4095F}"/>
              </a:ext>
            </a:extLst>
          </p:cNvPr>
          <p:cNvCxnSpPr>
            <a:cxnSpLocks/>
            <a:stCxn id="665" idx="3"/>
            <a:endCxn id="2" idx="1"/>
          </p:cNvCxnSpPr>
          <p:nvPr/>
        </p:nvCxnSpPr>
        <p:spPr>
          <a:xfrm flipV="1">
            <a:off x="7075278" y="3208263"/>
            <a:ext cx="469142" cy="7088"/>
          </a:xfrm>
          <a:prstGeom prst="straightConnector1">
            <a:avLst/>
          </a:prstGeom>
          <a:ln w="158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09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4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8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6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6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6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6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6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3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2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6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7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29" grpId="0" animBg="1"/>
      <p:bldP spid="31" grpId="0" animBg="1"/>
      <p:bldP spid="634" grpId="0" animBg="1"/>
      <p:bldP spid="66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0E490BF-88B9-A419-DD8C-36815D018E3E}"/>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3FDAC067-FE7F-244B-6ABB-084E732D2B8C}"/>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lvl="0"/>
            <a:r>
              <a:rPr lang="en-US" b="1" dirty="0">
                <a:latin typeface="Work Sans"/>
                <a:ea typeface="Work Sans"/>
                <a:cs typeface="Work Sans"/>
                <a:sym typeface="Work Sans"/>
              </a:rPr>
              <a:t>Data Source:      </a:t>
            </a:r>
            <a:r>
              <a:rPr lang="en-US" dirty="0">
                <a:latin typeface="Work Sans"/>
                <a:ea typeface="Work Sans"/>
                <a:cs typeface="Work Sans"/>
                <a:sym typeface="Work Sans"/>
              </a:rPr>
              <a:t>German Federal Employment Agency API</a:t>
            </a:r>
          </a:p>
        </p:txBody>
      </p:sp>
      <p:pic>
        <p:nvPicPr>
          <p:cNvPr id="640" name="Google Shape;640;p91" title="Fichier 20.png">
            <a:extLst>
              <a:ext uri="{FF2B5EF4-FFF2-40B4-BE49-F238E27FC236}">
                <a16:creationId xmlns:a16="http://schemas.microsoft.com/office/drawing/2014/main" id="{D16916BC-1913-9E16-C388-C93680CC1DD7}"/>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8EB040F8-C50E-2B9E-FE6E-2B8311BF2544}"/>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7" name="Picture 6">
            <a:extLst>
              <a:ext uri="{FF2B5EF4-FFF2-40B4-BE49-F238E27FC236}">
                <a16:creationId xmlns:a16="http://schemas.microsoft.com/office/drawing/2014/main" id="{BE043243-9A47-B9BB-0256-DF603A9C3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7582" y="1503040"/>
            <a:ext cx="456800" cy="456798"/>
          </a:xfrm>
          <a:prstGeom prst="rect">
            <a:avLst/>
          </a:prstGeom>
          <a:noFill/>
          <a:ln>
            <a:noFill/>
          </a:ln>
        </p:spPr>
      </p:pic>
      <p:sp>
        <p:nvSpPr>
          <p:cNvPr id="8" name="Rectangle 7">
            <a:extLst>
              <a:ext uri="{FF2B5EF4-FFF2-40B4-BE49-F238E27FC236}">
                <a16:creationId xmlns:a16="http://schemas.microsoft.com/office/drawing/2014/main" id="{33E83199-6A1D-D6AD-31FD-3B50BF4D648F}"/>
              </a:ext>
            </a:extLst>
          </p:cNvPr>
          <p:cNvSpPr/>
          <p:nvPr/>
        </p:nvSpPr>
        <p:spPr>
          <a:xfrm>
            <a:off x="750404" y="1577859"/>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Analyst</a:t>
            </a:r>
          </a:p>
        </p:txBody>
      </p:sp>
      <p:sp>
        <p:nvSpPr>
          <p:cNvPr id="41" name="Rectangle 40">
            <a:extLst>
              <a:ext uri="{FF2B5EF4-FFF2-40B4-BE49-F238E27FC236}">
                <a16:creationId xmlns:a16="http://schemas.microsoft.com/office/drawing/2014/main" id="{09E4E6C5-3D7E-36FA-8AD8-08555BE7FF43}"/>
              </a:ext>
            </a:extLst>
          </p:cNvPr>
          <p:cNvSpPr/>
          <p:nvPr/>
        </p:nvSpPr>
        <p:spPr>
          <a:xfrm>
            <a:off x="3499675" y="1588570"/>
            <a:ext cx="1332417" cy="299508"/>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 summary</a:t>
            </a:r>
          </a:p>
        </p:txBody>
      </p:sp>
      <p:sp>
        <p:nvSpPr>
          <p:cNvPr id="46" name="Rectangle 45">
            <a:extLst>
              <a:ext uri="{FF2B5EF4-FFF2-40B4-BE49-F238E27FC236}">
                <a16:creationId xmlns:a16="http://schemas.microsoft.com/office/drawing/2014/main" id="{B58A120E-955F-AEE4-CB78-16E44FD3B0B6}"/>
              </a:ext>
            </a:extLst>
          </p:cNvPr>
          <p:cNvSpPr/>
          <p:nvPr/>
        </p:nvSpPr>
        <p:spPr>
          <a:xfrm>
            <a:off x="3499674" y="2181836"/>
            <a:ext cx="1332417" cy="305532"/>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 summary</a:t>
            </a:r>
          </a:p>
        </p:txBody>
      </p:sp>
      <p:sp>
        <p:nvSpPr>
          <p:cNvPr id="49" name="Rectangle 48">
            <a:extLst>
              <a:ext uri="{FF2B5EF4-FFF2-40B4-BE49-F238E27FC236}">
                <a16:creationId xmlns:a16="http://schemas.microsoft.com/office/drawing/2014/main" id="{71E435B9-FD8B-239B-7931-CBF905ED7B59}"/>
              </a:ext>
            </a:extLst>
          </p:cNvPr>
          <p:cNvSpPr/>
          <p:nvPr/>
        </p:nvSpPr>
        <p:spPr>
          <a:xfrm>
            <a:off x="3499676" y="2781127"/>
            <a:ext cx="1332415" cy="286809"/>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a:t>
            </a:r>
          </a:p>
        </p:txBody>
      </p:sp>
      <p:sp>
        <p:nvSpPr>
          <p:cNvPr id="58" name="Rectangle 57">
            <a:extLst>
              <a:ext uri="{FF2B5EF4-FFF2-40B4-BE49-F238E27FC236}">
                <a16:creationId xmlns:a16="http://schemas.microsoft.com/office/drawing/2014/main" id="{F6958F62-A446-FC73-FC9C-7681723C7699}"/>
              </a:ext>
            </a:extLst>
          </p:cNvPr>
          <p:cNvSpPr/>
          <p:nvPr/>
        </p:nvSpPr>
        <p:spPr>
          <a:xfrm>
            <a:off x="6870608" y="1597143"/>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1 details</a:t>
            </a:r>
          </a:p>
        </p:txBody>
      </p:sp>
      <p:sp>
        <p:nvSpPr>
          <p:cNvPr id="10" name="Rectangle 9">
            <a:extLst>
              <a:ext uri="{FF2B5EF4-FFF2-40B4-BE49-F238E27FC236}">
                <a16:creationId xmlns:a16="http://schemas.microsoft.com/office/drawing/2014/main" id="{CE20FC42-A05A-447A-22DD-7E32BB983503}"/>
              </a:ext>
            </a:extLst>
          </p:cNvPr>
          <p:cNvSpPr/>
          <p:nvPr/>
        </p:nvSpPr>
        <p:spPr>
          <a:xfrm>
            <a:off x="750403" y="1934693"/>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AI Engineer</a:t>
            </a:r>
          </a:p>
        </p:txBody>
      </p:sp>
      <p:sp>
        <p:nvSpPr>
          <p:cNvPr id="584" name="Left Brace 583">
            <a:extLst>
              <a:ext uri="{FF2B5EF4-FFF2-40B4-BE49-F238E27FC236}">
                <a16:creationId xmlns:a16="http://schemas.microsoft.com/office/drawing/2014/main" id="{F66B0442-9892-E7AF-42F2-14B636FA1D74}"/>
              </a:ext>
            </a:extLst>
          </p:cNvPr>
          <p:cNvSpPr/>
          <p:nvPr/>
        </p:nvSpPr>
        <p:spPr>
          <a:xfrm rot="16200000">
            <a:off x="1266728" y="1753902"/>
            <a:ext cx="175942" cy="1208594"/>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5" name="TextBox 584">
            <a:extLst>
              <a:ext uri="{FF2B5EF4-FFF2-40B4-BE49-F238E27FC236}">
                <a16:creationId xmlns:a16="http://schemas.microsoft.com/office/drawing/2014/main" id="{B0D16EC0-E034-864D-3E93-4F28AEC141A1}"/>
              </a:ext>
            </a:extLst>
          </p:cNvPr>
          <p:cNvSpPr txBox="1"/>
          <p:nvPr/>
        </p:nvSpPr>
        <p:spPr>
          <a:xfrm>
            <a:off x="750400" y="2399476"/>
            <a:ext cx="1208595" cy="276999"/>
          </a:xfrm>
          <a:prstGeom prst="rect">
            <a:avLst/>
          </a:prstGeom>
          <a:noFill/>
        </p:spPr>
        <p:txBody>
          <a:bodyPr wrap="square" rtlCol="0">
            <a:spAutoFit/>
          </a:bodyPr>
          <a:lstStyle/>
          <a:p>
            <a:pPr algn="ctr"/>
            <a:r>
              <a:rPr lang="en-US" sz="1200" dirty="0"/>
              <a:t>keywords</a:t>
            </a:r>
          </a:p>
        </p:txBody>
      </p:sp>
      <p:sp>
        <p:nvSpPr>
          <p:cNvPr id="589" name="Rectangle 588">
            <a:extLst>
              <a:ext uri="{FF2B5EF4-FFF2-40B4-BE49-F238E27FC236}">
                <a16:creationId xmlns:a16="http://schemas.microsoft.com/office/drawing/2014/main" id="{F98FA149-6752-9958-52ED-9FA6E7FCF16F}"/>
              </a:ext>
            </a:extLst>
          </p:cNvPr>
          <p:cNvSpPr/>
          <p:nvPr/>
        </p:nvSpPr>
        <p:spPr>
          <a:xfrm>
            <a:off x="3510398" y="3361695"/>
            <a:ext cx="1330025" cy="2942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r>
              <a:rPr lang="en-US" sz="1200" dirty="0">
                <a:solidFill>
                  <a:schemeClr val="tx1">
                    <a:lumMod val="85000"/>
                    <a:lumOff val="15000"/>
                  </a:schemeClr>
                </a:solidFill>
              </a:rPr>
              <a:t> summary</a:t>
            </a:r>
          </a:p>
        </p:txBody>
      </p:sp>
      <p:cxnSp>
        <p:nvCxnSpPr>
          <p:cNvPr id="592" name="Straight Arrow Connector 591">
            <a:extLst>
              <a:ext uri="{FF2B5EF4-FFF2-40B4-BE49-F238E27FC236}">
                <a16:creationId xmlns:a16="http://schemas.microsoft.com/office/drawing/2014/main" id="{71D72AA6-1641-D4EC-B009-71D4F7267838}"/>
              </a:ext>
            </a:extLst>
          </p:cNvPr>
          <p:cNvCxnSpPr>
            <a:cxnSpLocks/>
            <a:stCxn id="7" idx="3"/>
            <a:endCxn id="41" idx="1"/>
          </p:cNvCxnSpPr>
          <p:nvPr/>
        </p:nvCxnSpPr>
        <p:spPr>
          <a:xfrm>
            <a:off x="2884382" y="1731439"/>
            <a:ext cx="615293" cy="6885"/>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5" name="Straight Arrow Connector 594">
            <a:extLst>
              <a:ext uri="{FF2B5EF4-FFF2-40B4-BE49-F238E27FC236}">
                <a16:creationId xmlns:a16="http://schemas.microsoft.com/office/drawing/2014/main" id="{56995CC4-0EB5-2C69-50F9-231945279161}"/>
              </a:ext>
            </a:extLst>
          </p:cNvPr>
          <p:cNvCxnSpPr>
            <a:cxnSpLocks/>
            <a:stCxn id="41" idx="3"/>
            <a:endCxn id="54" idx="1"/>
          </p:cNvCxnSpPr>
          <p:nvPr/>
        </p:nvCxnSpPr>
        <p:spPr>
          <a:xfrm>
            <a:off x="4832092" y="1738324"/>
            <a:ext cx="1013461" cy="7998"/>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Straight Arrow Connector 597">
            <a:extLst>
              <a:ext uri="{FF2B5EF4-FFF2-40B4-BE49-F238E27FC236}">
                <a16:creationId xmlns:a16="http://schemas.microsoft.com/office/drawing/2014/main" id="{15138234-6E44-51BC-92FD-31C4E520360C}"/>
              </a:ext>
            </a:extLst>
          </p:cNvPr>
          <p:cNvCxnSpPr>
            <a:cxnSpLocks/>
            <a:stCxn id="54" idx="3"/>
            <a:endCxn id="58" idx="1"/>
          </p:cNvCxnSpPr>
          <p:nvPr/>
        </p:nvCxnSpPr>
        <p:spPr>
          <a:xfrm>
            <a:off x="6290281" y="1746322"/>
            <a:ext cx="580327" cy="3221"/>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515AD38B-552A-5825-3FC7-5C11158D27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1523959"/>
            <a:ext cx="444728" cy="444726"/>
          </a:xfrm>
          <a:prstGeom prst="rect">
            <a:avLst/>
          </a:prstGeom>
          <a:noFill/>
          <a:ln>
            <a:noFill/>
          </a:ln>
        </p:spPr>
      </p:pic>
      <p:sp>
        <p:nvSpPr>
          <p:cNvPr id="615" name="TextBox 614">
            <a:extLst>
              <a:ext uri="{FF2B5EF4-FFF2-40B4-BE49-F238E27FC236}">
                <a16:creationId xmlns:a16="http://schemas.microsoft.com/office/drawing/2014/main" id="{D6870E41-0300-36B0-615C-9D7238419388}"/>
              </a:ext>
            </a:extLst>
          </p:cNvPr>
          <p:cNvSpPr txBox="1"/>
          <p:nvPr/>
        </p:nvSpPr>
        <p:spPr>
          <a:xfrm>
            <a:off x="4840424" y="1471441"/>
            <a:ext cx="937441" cy="276999"/>
          </a:xfrm>
          <a:prstGeom prst="rect">
            <a:avLst/>
          </a:prstGeom>
          <a:noFill/>
        </p:spPr>
        <p:txBody>
          <a:bodyPr wrap="square" rtlCol="0">
            <a:spAutoFit/>
          </a:bodyPr>
          <a:lstStyle/>
          <a:p>
            <a:pPr algn="ctr"/>
            <a:r>
              <a:rPr lang="en-US" sz="1200" dirty="0"/>
              <a:t>ID 1</a:t>
            </a:r>
          </a:p>
        </p:txBody>
      </p:sp>
      <p:cxnSp>
        <p:nvCxnSpPr>
          <p:cNvPr id="623" name="Connector: Elbow 622">
            <a:extLst>
              <a:ext uri="{FF2B5EF4-FFF2-40B4-BE49-F238E27FC236}">
                <a16:creationId xmlns:a16="http://schemas.microsoft.com/office/drawing/2014/main" id="{906B7A1B-45CC-6604-78D9-BFE1CD87BFF9}"/>
              </a:ext>
            </a:extLst>
          </p:cNvPr>
          <p:cNvCxnSpPr>
            <a:cxnSpLocks/>
            <a:stCxn id="7" idx="2"/>
            <a:endCxn id="46" idx="1"/>
          </p:cNvCxnSpPr>
          <p:nvPr/>
        </p:nvCxnSpPr>
        <p:spPr>
          <a:xfrm rot="16200000" flipH="1">
            <a:off x="2890446" y="1725374"/>
            <a:ext cx="374764" cy="843692"/>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24" name="Connector: Elbow 623">
            <a:extLst>
              <a:ext uri="{FF2B5EF4-FFF2-40B4-BE49-F238E27FC236}">
                <a16:creationId xmlns:a16="http://schemas.microsoft.com/office/drawing/2014/main" id="{36CE5DE0-37D7-52D0-CE2E-AF5E65D56E38}"/>
              </a:ext>
            </a:extLst>
          </p:cNvPr>
          <p:cNvCxnSpPr>
            <a:cxnSpLocks/>
            <a:stCxn id="7" idx="2"/>
            <a:endCxn id="589" idx="1"/>
          </p:cNvCxnSpPr>
          <p:nvPr/>
        </p:nvCxnSpPr>
        <p:spPr>
          <a:xfrm rot="16200000" flipH="1">
            <a:off x="2308712" y="2307108"/>
            <a:ext cx="1548957" cy="854416"/>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634" name="Rectangle 633">
            <a:extLst>
              <a:ext uri="{FF2B5EF4-FFF2-40B4-BE49-F238E27FC236}">
                <a16:creationId xmlns:a16="http://schemas.microsoft.com/office/drawing/2014/main" id="{70925A01-DB99-A641-1B63-B6966253C641}"/>
              </a:ext>
            </a:extLst>
          </p:cNvPr>
          <p:cNvSpPr/>
          <p:nvPr/>
        </p:nvSpPr>
        <p:spPr>
          <a:xfrm>
            <a:off x="6870607" y="2189566"/>
            <a:ext cx="1144897" cy="304800"/>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2 details</a:t>
            </a:r>
          </a:p>
        </p:txBody>
      </p:sp>
      <p:cxnSp>
        <p:nvCxnSpPr>
          <p:cNvPr id="635" name="Straight Arrow Connector 634">
            <a:extLst>
              <a:ext uri="{FF2B5EF4-FFF2-40B4-BE49-F238E27FC236}">
                <a16:creationId xmlns:a16="http://schemas.microsoft.com/office/drawing/2014/main" id="{4EDEC558-26C9-57CD-7509-2F47D571D526}"/>
              </a:ext>
            </a:extLst>
          </p:cNvPr>
          <p:cNvCxnSpPr>
            <a:cxnSpLocks/>
            <a:stCxn id="46" idx="3"/>
            <a:endCxn id="637" idx="1"/>
          </p:cNvCxnSpPr>
          <p:nvPr/>
        </p:nvCxnSpPr>
        <p:spPr>
          <a:xfrm>
            <a:off x="4832091" y="2334602"/>
            <a:ext cx="1013462" cy="631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36" name="Straight Arrow Connector 635">
            <a:extLst>
              <a:ext uri="{FF2B5EF4-FFF2-40B4-BE49-F238E27FC236}">
                <a16:creationId xmlns:a16="http://schemas.microsoft.com/office/drawing/2014/main" id="{A4784266-FC74-82C0-948F-CFA24E2C5895}"/>
              </a:ext>
            </a:extLst>
          </p:cNvPr>
          <p:cNvCxnSpPr>
            <a:cxnSpLocks/>
            <a:stCxn id="637" idx="3"/>
            <a:endCxn id="634" idx="1"/>
          </p:cNvCxnSpPr>
          <p:nvPr/>
        </p:nvCxnSpPr>
        <p:spPr>
          <a:xfrm>
            <a:off x="6290281" y="2340919"/>
            <a:ext cx="580326" cy="1047"/>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37" name="Picture 636">
            <a:extLst>
              <a:ext uri="{FF2B5EF4-FFF2-40B4-BE49-F238E27FC236}">
                <a16:creationId xmlns:a16="http://schemas.microsoft.com/office/drawing/2014/main" id="{1E076C9B-92FE-200C-806B-711FE92086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2118556"/>
            <a:ext cx="444728" cy="444726"/>
          </a:xfrm>
          <a:prstGeom prst="rect">
            <a:avLst/>
          </a:prstGeom>
          <a:noFill/>
          <a:ln>
            <a:noFill/>
          </a:ln>
        </p:spPr>
      </p:pic>
      <p:sp>
        <p:nvSpPr>
          <p:cNvPr id="638" name="TextBox 637">
            <a:extLst>
              <a:ext uri="{FF2B5EF4-FFF2-40B4-BE49-F238E27FC236}">
                <a16:creationId xmlns:a16="http://schemas.microsoft.com/office/drawing/2014/main" id="{B1EECF01-56C8-DDB4-93A3-4D78D7A5831E}"/>
              </a:ext>
            </a:extLst>
          </p:cNvPr>
          <p:cNvSpPr txBox="1"/>
          <p:nvPr/>
        </p:nvSpPr>
        <p:spPr>
          <a:xfrm>
            <a:off x="4840423" y="2074236"/>
            <a:ext cx="937442" cy="276999"/>
          </a:xfrm>
          <a:prstGeom prst="rect">
            <a:avLst/>
          </a:prstGeom>
          <a:noFill/>
        </p:spPr>
        <p:txBody>
          <a:bodyPr wrap="square" rtlCol="0">
            <a:spAutoFit/>
          </a:bodyPr>
          <a:lstStyle/>
          <a:p>
            <a:pPr algn="ctr"/>
            <a:r>
              <a:rPr lang="en-US" sz="1200" dirty="0"/>
              <a:t>ID 2</a:t>
            </a:r>
          </a:p>
        </p:txBody>
      </p:sp>
      <p:sp>
        <p:nvSpPr>
          <p:cNvPr id="645" name="Rectangle 644">
            <a:extLst>
              <a:ext uri="{FF2B5EF4-FFF2-40B4-BE49-F238E27FC236}">
                <a16:creationId xmlns:a16="http://schemas.microsoft.com/office/drawing/2014/main" id="{13D1585E-C127-DE77-D2E3-AD73E25094EA}"/>
              </a:ext>
            </a:extLst>
          </p:cNvPr>
          <p:cNvSpPr/>
          <p:nvPr/>
        </p:nvSpPr>
        <p:spPr>
          <a:xfrm>
            <a:off x="6804209" y="3358367"/>
            <a:ext cx="1144897" cy="297528"/>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85000"/>
                    <a:lumOff val="15000"/>
                  </a:schemeClr>
                </a:solidFill>
              </a:rPr>
              <a:t>Job </a:t>
            </a:r>
            <a:r>
              <a:rPr lang="en-US" sz="1200" i="1" dirty="0">
                <a:solidFill>
                  <a:schemeClr val="tx1">
                    <a:lumMod val="85000"/>
                    <a:lumOff val="15000"/>
                  </a:schemeClr>
                </a:solidFill>
              </a:rPr>
              <a:t>n</a:t>
            </a:r>
            <a:r>
              <a:rPr lang="en-US" sz="1200" dirty="0">
                <a:solidFill>
                  <a:schemeClr val="tx1">
                    <a:lumMod val="85000"/>
                    <a:lumOff val="15000"/>
                  </a:schemeClr>
                </a:solidFill>
              </a:rPr>
              <a:t> details</a:t>
            </a:r>
          </a:p>
        </p:txBody>
      </p:sp>
      <p:cxnSp>
        <p:nvCxnSpPr>
          <p:cNvPr id="646" name="Straight Arrow Connector 645">
            <a:extLst>
              <a:ext uri="{FF2B5EF4-FFF2-40B4-BE49-F238E27FC236}">
                <a16:creationId xmlns:a16="http://schemas.microsoft.com/office/drawing/2014/main" id="{7CE68FAF-6211-A773-72E7-F312494BC434}"/>
              </a:ext>
            </a:extLst>
          </p:cNvPr>
          <p:cNvCxnSpPr>
            <a:cxnSpLocks/>
            <a:stCxn id="589" idx="3"/>
            <a:endCxn id="648" idx="1"/>
          </p:cNvCxnSpPr>
          <p:nvPr/>
        </p:nvCxnSpPr>
        <p:spPr>
          <a:xfrm flipV="1">
            <a:off x="4840423" y="3507131"/>
            <a:ext cx="1005130" cy="1664"/>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47" name="Straight Arrow Connector 646">
            <a:extLst>
              <a:ext uri="{FF2B5EF4-FFF2-40B4-BE49-F238E27FC236}">
                <a16:creationId xmlns:a16="http://schemas.microsoft.com/office/drawing/2014/main" id="{5AA8C00B-53BF-E303-6561-03DD19EF13F1}"/>
              </a:ext>
            </a:extLst>
          </p:cNvPr>
          <p:cNvCxnSpPr>
            <a:cxnSpLocks/>
            <a:stCxn id="648" idx="3"/>
            <a:endCxn id="645" idx="1"/>
          </p:cNvCxnSpPr>
          <p:nvPr/>
        </p:nvCxnSpPr>
        <p:spPr>
          <a:xfrm>
            <a:off x="6290281" y="3507131"/>
            <a:ext cx="513928" cy="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pic>
        <p:nvPicPr>
          <p:cNvPr id="648" name="Picture 647">
            <a:extLst>
              <a:ext uri="{FF2B5EF4-FFF2-40B4-BE49-F238E27FC236}">
                <a16:creationId xmlns:a16="http://schemas.microsoft.com/office/drawing/2014/main" id="{E9B80EA8-C0F6-A83D-C114-D73C7D5025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53" y="3284768"/>
            <a:ext cx="444728" cy="444726"/>
          </a:xfrm>
          <a:prstGeom prst="rect">
            <a:avLst/>
          </a:prstGeom>
          <a:noFill/>
          <a:ln>
            <a:noFill/>
          </a:ln>
        </p:spPr>
      </p:pic>
      <p:sp>
        <p:nvSpPr>
          <p:cNvPr id="651" name="TextBox 650">
            <a:extLst>
              <a:ext uri="{FF2B5EF4-FFF2-40B4-BE49-F238E27FC236}">
                <a16:creationId xmlns:a16="http://schemas.microsoft.com/office/drawing/2014/main" id="{1A2F4AD3-1779-A4DA-E19F-E5A77B99D85E}"/>
              </a:ext>
            </a:extLst>
          </p:cNvPr>
          <p:cNvSpPr txBox="1"/>
          <p:nvPr/>
        </p:nvSpPr>
        <p:spPr>
          <a:xfrm>
            <a:off x="4840423" y="3240448"/>
            <a:ext cx="937442" cy="276999"/>
          </a:xfrm>
          <a:prstGeom prst="rect">
            <a:avLst/>
          </a:prstGeom>
          <a:noFill/>
        </p:spPr>
        <p:txBody>
          <a:bodyPr wrap="square" rtlCol="0">
            <a:spAutoFit/>
          </a:bodyPr>
          <a:lstStyle/>
          <a:p>
            <a:pPr algn="ctr"/>
            <a:r>
              <a:rPr lang="en-US" sz="1200" dirty="0"/>
              <a:t>ID </a:t>
            </a:r>
            <a:r>
              <a:rPr lang="en-US" sz="1200" i="1" dirty="0"/>
              <a:t>n</a:t>
            </a:r>
          </a:p>
        </p:txBody>
      </p:sp>
      <p:cxnSp>
        <p:nvCxnSpPr>
          <p:cNvPr id="653" name="Connector: Elbow 652">
            <a:extLst>
              <a:ext uri="{FF2B5EF4-FFF2-40B4-BE49-F238E27FC236}">
                <a16:creationId xmlns:a16="http://schemas.microsoft.com/office/drawing/2014/main" id="{7D531AE7-EBA9-87B5-3E65-BDD9D25D56C2}"/>
              </a:ext>
            </a:extLst>
          </p:cNvPr>
          <p:cNvCxnSpPr>
            <a:cxnSpLocks/>
            <a:stCxn id="7" idx="2"/>
            <a:endCxn id="49" idx="1"/>
          </p:cNvCxnSpPr>
          <p:nvPr/>
        </p:nvCxnSpPr>
        <p:spPr>
          <a:xfrm rot="16200000" flipH="1">
            <a:off x="2595482" y="2020338"/>
            <a:ext cx="964694" cy="843694"/>
          </a:xfrm>
          <a:prstGeom prst="bentConnector2">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5" name="Connector: Elbow 664">
            <a:extLst>
              <a:ext uri="{FF2B5EF4-FFF2-40B4-BE49-F238E27FC236}">
                <a16:creationId xmlns:a16="http://schemas.microsoft.com/office/drawing/2014/main" id="{98039151-42CF-4332-0DD8-CDF3CA8DC53F}"/>
              </a:ext>
            </a:extLst>
          </p:cNvPr>
          <p:cNvCxnSpPr>
            <a:cxnSpLocks/>
            <a:stCxn id="5" idx="3"/>
            <a:endCxn id="7" idx="1"/>
          </p:cNvCxnSpPr>
          <p:nvPr/>
        </p:nvCxnSpPr>
        <p:spPr>
          <a:xfrm>
            <a:off x="1958995" y="1379329"/>
            <a:ext cx="468587" cy="352110"/>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8" name="Connector: Elbow 667">
            <a:extLst>
              <a:ext uri="{FF2B5EF4-FFF2-40B4-BE49-F238E27FC236}">
                <a16:creationId xmlns:a16="http://schemas.microsoft.com/office/drawing/2014/main" id="{9339A5C1-F157-8023-AD72-228FE733A92D}"/>
              </a:ext>
            </a:extLst>
          </p:cNvPr>
          <p:cNvCxnSpPr>
            <a:cxnSpLocks/>
            <a:stCxn id="10" idx="3"/>
            <a:endCxn id="7" idx="1"/>
          </p:cNvCxnSpPr>
          <p:nvPr/>
        </p:nvCxnSpPr>
        <p:spPr>
          <a:xfrm flipV="1">
            <a:off x="1958996" y="1731439"/>
            <a:ext cx="468586" cy="355654"/>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16" name="Rectangle 715">
            <a:extLst>
              <a:ext uri="{FF2B5EF4-FFF2-40B4-BE49-F238E27FC236}">
                <a16:creationId xmlns:a16="http://schemas.microsoft.com/office/drawing/2014/main" id="{D6967E82-4C29-9106-10F3-024EFB9459EA}"/>
              </a:ext>
            </a:extLst>
          </p:cNvPr>
          <p:cNvSpPr/>
          <p:nvPr/>
        </p:nvSpPr>
        <p:spPr>
          <a:xfrm>
            <a:off x="2656959" y="4095637"/>
            <a:ext cx="4668765" cy="355654"/>
          </a:xfrm>
          <a:prstGeom prst="rect">
            <a:avLst/>
          </a:prstGeom>
          <a:solidFill>
            <a:schemeClr val="tx1">
              <a:lumMod val="75000"/>
              <a:lumOff val="25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6">
                  <a:lumMod val="95000"/>
                </a:schemeClr>
              </a:buClr>
            </a:pPr>
            <a:r>
              <a:rPr lang="en-US" sz="1200" b="1" dirty="0">
                <a:solidFill>
                  <a:schemeClr val="accent6">
                    <a:lumMod val="95000"/>
                  </a:schemeClr>
                </a:solidFill>
              </a:rPr>
              <a:t>Job Details:  </a:t>
            </a:r>
            <a:r>
              <a:rPr lang="en-US" sz="1200" dirty="0">
                <a:solidFill>
                  <a:schemeClr val="accent6">
                    <a:lumMod val="95000"/>
                  </a:schemeClr>
                </a:solidFill>
              </a:rPr>
              <a:t>title | occupation | … | publication date | location(s)</a:t>
            </a:r>
          </a:p>
        </p:txBody>
      </p:sp>
      <p:sp>
        <p:nvSpPr>
          <p:cNvPr id="5" name="Rectangle 4">
            <a:extLst>
              <a:ext uri="{FF2B5EF4-FFF2-40B4-BE49-F238E27FC236}">
                <a16:creationId xmlns:a16="http://schemas.microsoft.com/office/drawing/2014/main" id="{2D8ADBA4-F383-BFFD-3BFE-E2C852FCBA2F}"/>
              </a:ext>
            </a:extLst>
          </p:cNvPr>
          <p:cNvSpPr/>
          <p:nvPr/>
        </p:nvSpPr>
        <p:spPr>
          <a:xfrm>
            <a:off x="750402" y="1226929"/>
            <a:ext cx="1208593" cy="304800"/>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dirty="0">
                <a:solidFill>
                  <a:schemeClr val="tx1">
                    <a:lumMod val="85000"/>
                    <a:lumOff val="15000"/>
                  </a:schemeClr>
                </a:solidFill>
              </a:rPr>
              <a:t>Data Engineer</a:t>
            </a:r>
          </a:p>
        </p:txBody>
      </p:sp>
      <p:cxnSp>
        <p:nvCxnSpPr>
          <p:cNvPr id="6" name="Straight Arrow Connector 5">
            <a:extLst>
              <a:ext uri="{FF2B5EF4-FFF2-40B4-BE49-F238E27FC236}">
                <a16:creationId xmlns:a16="http://schemas.microsoft.com/office/drawing/2014/main" id="{59C75C2F-93DE-6853-4563-C1DE4D6B8421}"/>
              </a:ext>
            </a:extLst>
          </p:cNvPr>
          <p:cNvCxnSpPr>
            <a:cxnSpLocks/>
            <a:stCxn id="8" idx="3"/>
            <a:endCxn id="7" idx="1"/>
          </p:cNvCxnSpPr>
          <p:nvPr/>
        </p:nvCxnSpPr>
        <p:spPr>
          <a:xfrm>
            <a:off x="1958997" y="1730259"/>
            <a:ext cx="468585" cy="1180"/>
          </a:xfrm>
          <a:prstGeom prst="straightConnector1">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2665A6-FF3D-4C60-A3FB-F66E63068E9D}"/>
              </a:ext>
            </a:extLst>
          </p:cNvPr>
          <p:cNvSpPr txBox="1"/>
          <p:nvPr/>
        </p:nvSpPr>
        <p:spPr>
          <a:xfrm>
            <a:off x="2427582" y="1234710"/>
            <a:ext cx="811736" cy="246221"/>
          </a:xfrm>
          <a:prstGeom prst="rect">
            <a:avLst/>
          </a:prstGeom>
          <a:noFill/>
        </p:spPr>
        <p:txBody>
          <a:bodyPr wrap="square" rtlCol="0">
            <a:spAutoFit/>
          </a:bodyPr>
          <a:lstStyle/>
          <a:p>
            <a:pPr algn="ctr"/>
            <a:r>
              <a:rPr lang="en-US" sz="1000" b="1" dirty="0"/>
              <a:t>GET /jobs</a:t>
            </a:r>
          </a:p>
        </p:txBody>
      </p:sp>
      <p:sp>
        <p:nvSpPr>
          <p:cNvPr id="21" name="TextBox 20">
            <a:extLst>
              <a:ext uri="{FF2B5EF4-FFF2-40B4-BE49-F238E27FC236}">
                <a16:creationId xmlns:a16="http://schemas.microsoft.com/office/drawing/2014/main" id="{D3BD625A-D9FD-8C53-4073-AD945DFB616C}"/>
              </a:ext>
            </a:extLst>
          </p:cNvPr>
          <p:cNvSpPr txBox="1"/>
          <p:nvPr/>
        </p:nvSpPr>
        <p:spPr>
          <a:xfrm>
            <a:off x="5777865" y="1240308"/>
            <a:ext cx="1360896" cy="246221"/>
          </a:xfrm>
          <a:prstGeom prst="rect">
            <a:avLst/>
          </a:prstGeom>
          <a:noFill/>
        </p:spPr>
        <p:txBody>
          <a:bodyPr wrap="square" rtlCol="0">
            <a:spAutoFit/>
          </a:bodyPr>
          <a:lstStyle/>
          <a:p>
            <a:pPr algn="ctr"/>
            <a:r>
              <a:rPr lang="en-US" sz="1000" b="1" dirty="0"/>
              <a:t>GET /</a:t>
            </a:r>
            <a:r>
              <a:rPr lang="en-US" sz="1000" b="1" dirty="0" err="1"/>
              <a:t>jobdetails</a:t>
            </a:r>
            <a:r>
              <a:rPr lang="en-US" sz="1000" b="1" dirty="0"/>
              <a:t>{ID}</a:t>
            </a:r>
          </a:p>
        </p:txBody>
      </p:sp>
      <p:grpSp>
        <p:nvGrpSpPr>
          <p:cNvPr id="14" name="Group 13">
            <a:extLst>
              <a:ext uri="{FF2B5EF4-FFF2-40B4-BE49-F238E27FC236}">
                <a16:creationId xmlns:a16="http://schemas.microsoft.com/office/drawing/2014/main" id="{5D8CC33A-E28C-5194-F2E9-969C48650233}"/>
              </a:ext>
            </a:extLst>
          </p:cNvPr>
          <p:cNvGrpSpPr/>
          <p:nvPr/>
        </p:nvGrpSpPr>
        <p:grpSpPr>
          <a:xfrm>
            <a:off x="2280476" y="747600"/>
            <a:ext cx="2710868" cy="3124729"/>
            <a:chOff x="756203" y="620303"/>
            <a:chExt cx="2710868" cy="3124729"/>
          </a:xfrm>
        </p:grpSpPr>
        <p:sp>
          <p:nvSpPr>
            <p:cNvPr id="15" name="Rectangle 14">
              <a:extLst>
                <a:ext uri="{FF2B5EF4-FFF2-40B4-BE49-F238E27FC236}">
                  <a16:creationId xmlns:a16="http://schemas.microsoft.com/office/drawing/2014/main" id="{BC82264C-29E4-B5EC-5173-9EB51365314A}"/>
                </a:ext>
              </a:extLst>
            </p:cNvPr>
            <p:cNvSpPr/>
            <p:nvPr/>
          </p:nvSpPr>
          <p:spPr>
            <a:xfrm>
              <a:off x="756205" y="620303"/>
              <a:ext cx="2710866" cy="3124729"/>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93EB2D5B-90B7-7E78-B8F1-6B1282EF2AF8}"/>
                </a:ext>
              </a:extLst>
            </p:cNvPr>
            <p:cNvSpPr txBox="1"/>
            <p:nvPr/>
          </p:nvSpPr>
          <p:spPr>
            <a:xfrm>
              <a:off x="756203" y="620303"/>
              <a:ext cx="2710866"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1) Get a list of job summaries </a:t>
              </a:r>
            </a:p>
          </p:txBody>
        </p:sp>
      </p:grpSp>
      <p:grpSp>
        <p:nvGrpSpPr>
          <p:cNvPr id="17" name="Group 16">
            <a:extLst>
              <a:ext uri="{FF2B5EF4-FFF2-40B4-BE49-F238E27FC236}">
                <a16:creationId xmlns:a16="http://schemas.microsoft.com/office/drawing/2014/main" id="{5AD0B565-EABA-F13C-FD46-F0EDD71980BF}"/>
              </a:ext>
            </a:extLst>
          </p:cNvPr>
          <p:cNvGrpSpPr/>
          <p:nvPr/>
        </p:nvGrpSpPr>
        <p:grpSpPr>
          <a:xfrm>
            <a:off x="5606636" y="751260"/>
            <a:ext cx="2710869" cy="3124729"/>
            <a:chOff x="756202" y="620302"/>
            <a:chExt cx="2710869" cy="3124729"/>
          </a:xfrm>
        </p:grpSpPr>
        <p:sp>
          <p:nvSpPr>
            <p:cNvPr id="18" name="Rectangle 17">
              <a:extLst>
                <a:ext uri="{FF2B5EF4-FFF2-40B4-BE49-F238E27FC236}">
                  <a16:creationId xmlns:a16="http://schemas.microsoft.com/office/drawing/2014/main" id="{18A72EC9-9FE2-DD9D-2D68-6FA9E177AA3E}"/>
                </a:ext>
              </a:extLst>
            </p:cNvPr>
            <p:cNvSpPr/>
            <p:nvPr/>
          </p:nvSpPr>
          <p:spPr>
            <a:xfrm>
              <a:off x="756205" y="620302"/>
              <a:ext cx="2710866" cy="3124729"/>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F1B5E146-593D-4E6A-2F92-AD205E63A440}"/>
                </a:ext>
              </a:extLst>
            </p:cNvPr>
            <p:cNvSpPr txBox="1"/>
            <p:nvPr/>
          </p:nvSpPr>
          <p:spPr>
            <a:xfrm>
              <a:off x="756202" y="620303"/>
              <a:ext cx="2710865"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2) Get job details for each ID</a:t>
              </a:r>
            </a:p>
          </p:txBody>
        </p:sp>
      </p:grpSp>
      <p:pic>
        <p:nvPicPr>
          <p:cNvPr id="3" name="Picture 2">
            <a:extLst>
              <a:ext uri="{FF2B5EF4-FFF2-40B4-BE49-F238E27FC236}">
                <a16:creationId xmlns:a16="http://schemas.microsoft.com/office/drawing/2014/main" id="{C4343470-68ED-FCBE-A095-F32A74CC02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5786" y="209576"/>
            <a:ext cx="263225" cy="263224"/>
          </a:xfrm>
          <a:prstGeom prst="rect">
            <a:avLst/>
          </a:prstGeom>
          <a:noFill/>
          <a:ln>
            <a:noFill/>
          </a:ln>
        </p:spPr>
      </p:pic>
    </p:spTree>
    <p:extLst>
      <p:ext uri="{BB962C8B-B14F-4D97-AF65-F5344CB8AC3E}">
        <p14:creationId xmlns:p14="http://schemas.microsoft.com/office/powerpoint/2010/main" val="652692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E1EAE5B8-303D-1298-4E33-2B8F241EDA6B}"/>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61A1BC26-6E05-5C6A-2A20-BAF1F6E79BA5}"/>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Project Overview: </a:t>
            </a:r>
            <a:r>
              <a:rPr lang="en-US" dirty="0">
                <a:latin typeface="Work Sans"/>
                <a:ea typeface="Work Sans"/>
                <a:cs typeface="Work Sans"/>
                <a:sym typeface="Work Sans"/>
              </a:rPr>
              <a:t>Ingestion Pipeline and User Application</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585419DE-FA0A-85F6-B347-8981B5DB121F}"/>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A93534E7-FC14-DB92-9A46-F73AC9755CFD}"/>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grpSp>
        <p:nvGrpSpPr>
          <p:cNvPr id="625" name="Group 624">
            <a:extLst>
              <a:ext uri="{FF2B5EF4-FFF2-40B4-BE49-F238E27FC236}">
                <a16:creationId xmlns:a16="http://schemas.microsoft.com/office/drawing/2014/main" id="{14DAE253-7465-90A5-AC34-913CB3C17248}"/>
              </a:ext>
            </a:extLst>
          </p:cNvPr>
          <p:cNvGrpSpPr/>
          <p:nvPr/>
        </p:nvGrpSpPr>
        <p:grpSpPr>
          <a:xfrm>
            <a:off x="3438876" y="1748938"/>
            <a:ext cx="858424" cy="423153"/>
            <a:chOff x="4142788" y="2171346"/>
            <a:chExt cx="858424" cy="423153"/>
          </a:xfrm>
          <a:solidFill>
            <a:schemeClr val="bg2">
              <a:lumMod val="50000"/>
              <a:lumOff val="50000"/>
            </a:schemeClr>
          </a:solidFill>
        </p:grpSpPr>
        <p:sp>
          <p:nvSpPr>
            <p:cNvPr id="11" name="Rectangle 10">
              <a:extLst>
                <a:ext uri="{FF2B5EF4-FFF2-40B4-BE49-F238E27FC236}">
                  <a16:creationId xmlns:a16="http://schemas.microsoft.com/office/drawing/2014/main" id="{E30B2F4E-92E4-4E0D-F22D-310D2F80226A}"/>
                </a:ext>
              </a:extLst>
            </p:cNvPr>
            <p:cNvSpPr/>
            <p:nvPr/>
          </p:nvSpPr>
          <p:spPr>
            <a:xfrm>
              <a:off x="4142788" y="2171346"/>
              <a:ext cx="858424"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ETL</a:t>
              </a:r>
            </a:p>
          </p:txBody>
        </p:sp>
        <p:pic>
          <p:nvPicPr>
            <p:cNvPr id="5" name="Picture 4" descr="Python (programming language) - Wikipedia">
              <a:extLst>
                <a:ext uri="{FF2B5EF4-FFF2-40B4-BE49-F238E27FC236}">
                  <a16:creationId xmlns:a16="http://schemas.microsoft.com/office/drawing/2014/main" id="{327FF3FB-5378-D148-8504-945568143D74}"/>
                </a:ext>
              </a:extLst>
            </p:cNvPr>
            <p:cNvPicPr>
              <a:picLocks noChangeAspect="1"/>
            </p:cNvPicPr>
            <p:nvPr/>
          </p:nvPicPr>
          <p:blipFill>
            <a:blip r:embed="rId4"/>
            <a:stretch>
              <a:fillRect/>
            </a:stretch>
          </p:blipFill>
          <p:spPr>
            <a:xfrm>
              <a:off x="4237121" y="2231011"/>
              <a:ext cx="299163" cy="299163"/>
            </a:xfrm>
            <a:prstGeom prst="rect">
              <a:avLst/>
            </a:prstGeom>
            <a:grpFill/>
            <a:ln>
              <a:noFill/>
            </a:ln>
          </p:spPr>
        </p:pic>
      </p:grpSp>
      <p:grpSp>
        <p:nvGrpSpPr>
          <p:cNvPr id="624" name="Group 623">
            <a:extLst>
              <a:ext uri="{FF2B5EF4-FFF2-40B4-BE49-F238E27FC236}">
                <a16:creationId xmlns:a16="http://schemas.microsoft.com/office/drawing/2014/main" id="{0B463696-4E26-934D-48E4-61AE595DF748}"/>
              </a:ext>
            </a:extLst>
          </p:cNvPr>
          <p:cNvGrpSpPr/>
          <p:nvPr/>
        </p:nvGrpSpPr>
        <p:grpSpPr>
          <a:xfrm>
            <a:off x="3436362" y="756895"/>
            <a:ext cx="863446" cy="423153"/>
            <a:chOff x="1457875" y="2258330"/>
            <a:chExt cx="863446" cy="423153"/>
          </a:xfrm>
          <a:solidFill>
            <a:schemeClr val="bg2">
              <a:lumMod val="50000"/>
              <a:lumOff val="50000"/>
            </a:schemeClr>
          </a:solidFill>
        </p:grpSpPr>
        <p:sp>
          <p:nvSpPr>
            <p:cNvPr id="35" name="Rectangle 34">
              <a:extLst>
                <a:ext uri="{FF2B5EF4-FFF2-40B4-BE49-F238E27FC236}">
                  <a16:creationId xmlns:a16="http://schemas.microsoft.com/office/drawing/2014/main" id="{53C6E216-E262-706F-3102-64F2BC1C0820}"/>
                </a:ext>
              </a:extLst>
            </p:cNvPr>
            <p:cNvSpPr/>
            <p:nvPr/>
          </p:nvSpPr>
          <p:spPr>
            <a:xfrm>
              <a:off x="1457875" y="2258330"/>
              <a:ext cx="863446" cy="42315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API</a:t>
              </a:r>
            </a:p>
          </p:txBody>
        </p:sp>
        <p:pic>
          <p:nvPicPr>
            <p:cNvPr id="3" name="Picture 2">
              <a:extLst>
                <a:ext uri="{FF2B5EF4-FFF2-40B4-BE49-F238E27FC236}">
                  <a16:creationId xmlns:a16="http://schemas.microsoft.com/office/drawing/2014/main" id="{CC23C87E-017F-A2C2-44A2-2196366D25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1416" y="2310153"/>
              <a:ext cx="326543" cy="326543"/>
            </a:xfrm>
            <a:prstGeom prst="rect">
              <a:avLst/>
            </a:prstGeom>
            <a:grpFill/>
            <a:ln>
              <a:noFill/>
            </a:ln>
          </p:spPr>
        </p:pic>
      </p:grpSp>
      <p:pic>
        <p:nvPicPr>
          <p:cNvPr id="44" name="Picture 43">
            <a:extLst>
              <a:ext uri="{FF2B5EF4-FFF2-40B4-BE49-F238E27FC236}">
                <a16:creationId xmlns:a16="http://schemas.microsoft.com/office/drawing/2014/main" id="{EBF5DEB3-23D5-F52A-B7AD-74E9B3056A2B}"/>
              </a:ext>
            </a:extLst>
          </p:cNvPr>
          <p:cNvPicPr>
            <a:picLocks noChangeAspect="1"/>
          </p:cNvPicPr>
          <p:nvPr/>
        </p:nvPicPr>
        <p:blipFill>
          <a:blip r:embed="rId6"/>
          <a:stretch>
            <a:fillRect/>
          </a:stretch>
        </p:blipFill>
        <p:spPr>
          <a:xfrm>
            <a:off x="6556879" y="1750129"/>
            <a:ext cx="473331" cy="423153"/>
          </a:xfrm>
          <a:prstGeom prst="rect">
            <a:avLst/>
          </a:prstGeom>
        </p:spPr>
      </p:pic>
      <p:pic>
        <p:nvPicPr>
          <p:cNvPr id="46" name="Picture 45">
            <a:extLst>
              <a:ext uri="{FF2B5EF4-FFF2-40B4-BE49-F238E27FC236}">
                <a16:creationId xmlns:a16="http://schemas.microsoft.com/office/drawing/2014/main" id="{E22BF4A8-BEB5-4997-BD0B-BD85D9A1DE67}"/>
              </a:ext>
            </a:extLst>
          </p:cNvPr>
          <p:cNvPicPr>
            <a:picLocks noChangeAspect="1"/>
          </p:cNvPicPr>
          <p:nvPr/>
        </p:nvPicPr>
        <p:blipFill>
          <a:blip r:embed="rId7"/>
          <a:stretch>
            <a:fillRect/>
          </a:stretch>
        </p:blipFill>
        <p:spPr>
          <a:xfrm>
            <a:off x="1115768" y="1731813"/>
            <a:ext cx="393496" cy="452741"/>
          </a:xfrm>
          <a:prstGeom prst="rect">
            <a:avLst/>
          </a:prstGeom>
        </p:spPr>
      </p:pic>
      <p:sp>
        <p:nvSpPr>
          <p:cNvPr id="630" name="TextBox 629">
            <a:extLst>
              <a:ext uri="{FF2B5EF4-FFF2-40B4-BE49-F238E27FC236}">
                <a16:creationId xmlns:a16="http://schemas.microsoft.com/office/drawing/2014/main" id="{A38710E4-3778-16C8-B141-BF79360A950A}"/>
              </a:ext>
            </a:extLst>
          </p:cNvPr>
          <p:cNvSpPr txBox="1"/>
          <p:nvPr/>
        </p:nvSpPr>
        <p:spPr>
          <a:xfrm>
            <a:off x="3851910" y="1257177"/>
            <a:ext cx="1580100" cy="276999"/>
          </a:xfrm>
          <a:prstGeom prst="rect">
            <a:avLst/>
          </a:prstGeom>
          <a:noFill/>
        </p:spPr>
        <p:txBody>
          <a:bodyPr wrap="square" rtlCol="0">
            <a:spAutoFit/>
          </a:bodyPr>
          <a:lstStyle/>
          <a:p>
            <a:r>
              <a:rPr lang="en-US" sz="1200" dirty="0">
                <a:solidFill>
                  <a:schemeClr val="tx1">
                    <a:lumMod val="75000"/>
                    <a:lumOff val="25000"/>
                  </a:schemeClr>
                </a:solidFill>
              </a:rPr>
              <a:t>raw data (JSON)</a:t>
            </a:r>
          </a:p>
        </p:txBody>
      </p:sp>
      <p:pic>
        <p:nvPicPr>
          <p:cNvPr id="661" name="Picture 660">
            <a:extLst>
              <a:ext uri="{FF2B5EF4-FFF2-40B4-BE49-F238E27FC236}">
                <a16:creationId xmlns:a16="http://schemas.microsoft.com/office/drawing/2014/main" id="{D3A61941-2F9C-AE34-FE72-E0F9AC3D345A}"/>
              </a:ext>
            </a:extLst>
          </p:cNvPr>
          <p:cNvPicPr>
            <a:picLocks noChangeAspect="1"/>
          </p:cNvPicPr>
          <p:nvPr/>
        </p:nvPicPr>
        <p:blipFill>
          <a:blip r:embed="rId8"/>
          <a:stretch>
            <a:fillRect/>
          </a:stretch>
        </p:blipFill>
        <p:spPr>
          <a:xfrm>
            <a:off x="2795073" y="3439301"/>
            <a:ext cx="641289" cy="509775"/>
          </a:xfrm>
          <a:prstGeom prst="rect">
            <a:avLst/>
          </a:prstGeom>
        </p:spPr>
      </p:pic>
      <p:cxnSp>
        <p:nvCxnSpPr>
          <p:cNvPr id="664" name="Straight Arrow Connector 663">
            <a:extLst>
              <a:ext uri="{FF2B5EF4-FFF2-40B4-BE49-F238E27FC236}">
                <a16:creationId xmlns:a16="http://schemas.microsoft.com/office/drawing/2014/main" id="{D1CA6FCA-F42B-7415-A413-0E3307F298EF}"/>
              </a:ext>
            </a:extLst>
          </p:cNvPr>
          <p:cNvCxnSpPr>
            <a:cxnSpLocks/>
            <a:stCxn id="35" idx="2"/>
            <a:endCxn id="11" idx="0"/>
          </p:cNvCxnSpPr>
          <p:nvPr/>
        </p:nvCxnSpPr>
        <p:spPr>
          <a:xfrm>
            <a:off x="3868085" y="1180048"/>
            <a:ext cx="3" cy="56889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0A1E5BA3-8DA0-4A79-5EDD-9ED4ECA8F8ED}"/>
              </a:ext>
            </a:extLst>
          </p:cNvPr>
          <p:cNvSpPr txBox="1"/>
          <p:nvPr/>
        </p:nvSpPr>
        <p:spPr>
          <a:xfrm>
            <a:off x="1573271" y="1724195"/>
            <a:ext cx="1856287" cy="276999"/>
          </a:xfrm>
          <a:prstGeom prst="rect">
            <a:avLst/>
          </a:prstGeom>
          <a:noFill/>
        </p:spPr>
        <p:txBody>
          <a:bodyPr wrap="square" rtlCol="0">
            <a:spAutoFit/>
          </a:bodyPr>
          <a:lstStyle/>
          <a:p>
            <a:pPr algn="ctr"/>
            <a:r>
              <a:rPr lang="en-US" sz="1200" dirty="0">
                <a:solidFill>
                  <a:schemeClr val="tx1">
                    <a:lumMod val="75000"/>
                    <a:lumOff val="25000"/>
                  </a:schemeClr>
                </a:solidFill>
              </a:rPr>
              <a:t>raw + cleaned data</a:t>
            </a:r>
          </a:p>
        </p:txBody>
      </p:sp>
      <p:sp>
        <p:nvSpPr>
          <p:cNvPr id="681" name="TextBox 680">
            <a:extLst>
              <a:ext uri="{FF2B5EF4-FFF2-40B4-BE49-F238E27FC236}">
                <a16:creationId xmlns:a16="http://schemas.microsoft.com/office/drawing/2014/main" id="{42F77EB2-BCD3-C1D9-5243-DA5D55B156C3}"/>
              </a:ext>
            </a:extLst>
          </p:cNvPr>
          <p:cNvSpPr txBox="1"/>
          <p:nvPr/>
        </p:nvSpPr>
        <p:spPr>
          <a:xfrm>
            <a:off x="756203" y="2164981"/>
            <a:ext cx="1077370" cy="276999"/>
          </a:xfrm>
          <a:prstGeom prst="rect">
            <a:avLst/>
          </a:prstGeom>
          <a:noFill/>
        </p:spPr>
        <p:txBody>
          <a:bodyPr wrap="square" rtlCol="0">
            <a:spAutoFit/>
          </a:bodyPr>
          <a:lstStyle/>
          <a:p>
            <a:pPr algn="ctr"/>
            <a:r>
              <a:rPr lang="en-US" sz="1200" dirty="0">
                <a:solidFill>
                  <a:schemeClr val="bg2">
                    <a:lumMod val="50000"/>
                    <a:lumOff val="50000"/>
                  </a:schemeClr>
                </a:solidFill>
              </a:rPr>
              <a:t>Data Archive</a:t>
            </a:r>
          </a:p>
        </p:txBody>
      </p:sp>
      <p:pic>
        <p:nvPicPr>
          <p:cNvPr id="713" name="Picture 712">
            <a:extLst>
              <a:ext uri="{FF2B5EF4-FFF2-40B4-BE49-F238E27FC236}">
                <a16:creationId xmlns:a16="http://schemas.microsoft.com/office/drawing/2014/main" id="{636146DA-665B-D601-C716-F0FBD5DE912D}"/>
              </a:ext>
            </a:extLst>
          </p:cNvPr>
          <p:cNvPicPr>
            <a:picLocks noChangeAspect="1"/>
          </p:cNvPicPr>
          <p:nvPr/>
        </p:nvPicPr>
        <p:blipFill>
          <a:blip r:embed="rId9"/>
          <a:stretch>
            <a:fillRect/>
          </a:stretch>
        </p:blipFill>
        <p:spPr>
          <a:xfrm>
            <a:off x="4730160" y="3980795"/>
            <a:ext cx="701850" cy="129515"/>
          </a:xfrm>
          <a:prstGeom prst="rect">
            <a:avLst/>
          </a:prstGeom>
        </p:spPr>
      </p:pic>
      <p:pic>
        <p:nvPicPr>
          <p:cNvPr id="715" name="Picture 714">
            <a:extLst>
              <a:ext uri="{FF2B5EF4-FFF2-40B4-BE49-F238E27FC236}">
                <a16:creationId xmlns:a16="http://schemas.microsoft.com/office/drawing/2014/main" id="{2FC24F0A-662F-E051-F1C9-AA7F1328A790}"/>
              </a:ext>
            </a:extLst>
          </p:cNvPr>
          <p:cNvPicPr>
            <a:picLocks noChangeAspect="1"/>
          </p:cNvPicPr>
          <p:nvPr/>
        </p:nvPicPr>
        <p:blipFill>
          <a:blip r:embed="rId10"/>
          <a:stretch>
            <a:fillRect/>
          </a:stretch>
        </p:blipFill>
        <p:spPr>
          <a:xfrm>
            <a:off x="4741521" y="3442311"/>
            <a:ext cx="690489" cy="509775"/>
          </a:xfrm>
          <a:prstGeom prst="rect">
            <a:avLst/>
          </a:prstGeom>
        </p:spPr>
      </p:pic>
      <p:pic>
        <p:nvPicPr>
          <p:cNvPr id="721" name="Picture 720">
            <a:extLst>
              <a:ext uri="{FF2B5EF4-FFF2-40B4-BE49-F238E27FC236}">
                <a16:creationId xmlns:a16="http://schemas.microsoft.com/office/drawing/2014/main" id="{DC3CF0A3-4679-3420-1F86-C5597748D98F}"/>
              </a:ext>
            </a:extLst>
          </p:cNvPr>
          <p:cNvPicPr>
            <a:picLocks noChangeAspect="1"/>
          </p:cNvPicPr>
          <p:nvPr/>
        </p:nvPicPr>
        <p:blipFill>
          <a:blip r:embed="rId11"/>
          <a:stretch>
            <a:fillRect/>
          </a:stretch>
        </p:blipFill>
        <p:spPr>
          <a:xfrm>
            <a:off x="1925551" y="3993350"/>
            <a:ext cx="268468" cy="299468"/>
          </a:xfrm>
          <a:prstGeom prst="rect">
            <a:avLst/>
          </a:prstGeom>
        </p:spPr>
      </p:pic>
      <p:pic>
        <p:nvPicPr>
          <p:cNvPr id="723" name="Picture 722">
            <a:extLst>
              <a:ext uri="{FF2B5EF4-FFF2-40B4-BE49-F238E27FC236}">
                <a16:creationId xmlns:a16="http://schemas.microsoft.com/office/drawing/2014/main" id="{87E703C0-E4FB-0185-4987-519BBC96B551}"/>
              </a:ext>
            </a:extLst>
          </p:cNvPr>
          <p:cNvPicPr>
            <a:picLocks noChangeAspect="1"/>
          </p:cNvPicPr>
          <p:nvPr/>
        </p:nvPicPr>
        <p:blipFill>
          <a:blip r:embed="rId12"/>
          <a:stretch>
            <a:fillRect/>
          </a:stretch>
        </p:blipFill>
        <p:spPr>
          <a:xfrm>
            <a:off x="1923592" y="3123955"/>
            <a:ext cx="300157" cy="307778"/>
          </a:xfrm>
          <a:prstGeom prst="rect">
            <a:avLst/>
          </a:prstGeom>
        </p:spPr>
      </p:pic>
      <p:pic>
        <p:nvPicPr>
          <p:cNvPr id="725" name="Picture 724">
            <a:extLst>
              <a:ext uri="{FF2B5EF4-FFF2-40B4-BE49-F238E27FC236}">
                <a16:creationId xmlns:a16="http://schemas.microsoft.com/office/drawing/2014/main" id="{057ADC65-E996-04A1-E6F0-88816A35FB08}"/>
              </a:ext>
            </a:extLst>
          </p:cNvPr>
          <p:cNvPicPr>
            <a:picLocks noChangeAspect="1"/>
          </p:cNvPicPr>
          <p:nvPr/>
        </p:nvPicPr>
        <p:blipFill>
          <a:blip r:embed="rId13"/>
          <a:stretch>
            <a:fillRect/>
          </a:stretch>
        </p:blipFill>
        <p:spPr>
          <a:xfrm>
            <a:off x="1920761" y="3578758"/>
            <a:ext cx="305821" cy="263412"/>
          </a:xfrm>
          <a:prstGeom prst="rect">
            <a:avLst/>
          </a:prstGeom>
        </p:spPr>
      </p:pic>
      <p:cxnSp>
        <p:nvCxnSpPr>
          <p:cNvPr id="727" name="Straight Arrow Connector 726">
            <a:extLst>
              <a:ext uri="{FF2B5EF4-FFF2-40B4-BE49-F238E27FC236}">
                <a16:creationId xmlns:a16="http://schemas.microsoft.com/office/drawing/2014/main" id="{376E0B26-0477-FB9B-94B4-E05281569776}"/>
              </a:ext>
            </a:extLst>
          </p:cNvPr>
          <p:cNvCxnSpPr>
            <a:cxnSpLocks/>
            <a:stCxn id="661" idx="1"/>
            <a:endCxn id="723" idx="3"/>
          </p:cNvCxnSpPr>
          <p:nvPr/>
        </p:nvCxnSpPr>
        <p:spPr>
          <a:xfrm flipH="1" flipV="1">
            <a:off x="2223749" y="3277844"/>
            <a:ext cx="571324" cy="41634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8" name="Straight Arrow Connector 727">
            <a:extLst>
              <a:ext uri="{FF2B5EF4-FFF2-40B4-BE49-F238E27FC236}">
                <a16:creationId xmlns:a16="http://schemas.microsoft.com/office/drawing/2014/main" id="{4A6E8BA2-148A-26B6-6A2E-10B619CEB40B}"/>
              </a:ext>
            </a:extLst>
          </p:cNvPr>
          <p:cNvCxnSpPr>
            <a:cxnSpLocks/>
            <a:stCxn id="661" idx="1"/>
            <a:endCxn id="725" idx="3"/>
          </p:cNvCxnSpPr>
          <p:nvPr/>
        </p:nvCxnSpPr>
        <p:spPr>
          <a:xfrm flipH="1">
            <a:off x="2226582" y="3694189"/>
            <a:ext cx="568491" cy="1627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300DA765-7C0B-D302-37F5-BD5F0C69F9DE}"/>
              </a:ext>
            </a:extLst>
          </p:cNvPr>
          <p:cNvCxnSpPr>
            <a:cxnSpLocks/>
            <a:stCxn id="661" idx="1"/>
            <a:endCxn id="721" idx="3"/>
          </p:cNvCxnSpPr>
          <p:nvPr/>
        </p:nvCxnSpPr>
        <p:spPr>
          <a:xfrm flipH="1">
            <a:off x="2194019" y="3694189"/>
            <a:ext cx="601054" cy="448895"/>
          </a:xfrm>
          <a:prstGeom prst="straightConnector1">
            <a:avLst/>
          </a:prstGeom>
          <a:ln>
            <a:solidFill>
              <a:schemeClr val="bg2">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7" name="Straight Arrow Connector 756">
            <a:extLst>
              <a:ext uri="{FF2B5EF4-FFF2-40B4-BE49-F238E27FC236}">
                <a16:creationId xmlns:a16="http://schemas.microsoft.com/office/drawing/2014/main" id="{802810FD-50E6-9A50-8E3A-6542EF8790F5}"/>
              </a:ext>
            </a:extLst>
          </p:cNvPr>
          <p:cNvCxnSpPr>
            <a:cxnSpLocks/>
            <a:stCxn id="11" idx="3"/>
            <a:endCxn id="44" idx="1"/>
          </p:cNvCxnSpPr>
          <p:nvPr/>
        </p:nvCxnSpPr>
        <p:spPr>
          <a:xfrm>
            <a:off x="4297300" y="1960515"/>
            <a:ext cx="2259579" cy="119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4" name="TextBox 3">
            <a:extLst>
              <a:ext uri="{FF2B5EF4-FFF2-40B4-BE49-F238E27FC236}">
                <a16:creationId xmlns:a16="http://schemas.microsoft.com/office/drawing/2014/main" id="{EEB4A253-3780-59E3-4D9B-E4522364CA6B}"/>
              </a:ext>
            </a:extLst>
          </p:cNvPr>
          <p:cNvSpPr txBox="1"/>
          <p:nvPr/>
        </p:nvSpPr>
        <p:spPr>
          <a:xfrm>
            <a:off x="3513132" y="3234168"/>
            <a:ext cx="1267884" cy="461665"/>
          </a:xfrm>
          <a:prstGeom prst="rect">
            <a:avLst/>
          </a:prstGeom>
          <a:noFill/>
        </p:spPr>
        <p:txBody>
          <a:bodyPr wrap="square" rtlCol="0">
            <a:spAutoFit/>
          </a:bodyPr>
          <a:lstStyle/>
          <a:p>
            <a:pPr algn="ctr"/>
            <a:r>
              <a:rPr lang="en-US" sz="1200" dirty="0">
                <a:solidFill>
                  <a:schemeClr val="tx1">
                    <a:lumMod val="75000"/>
                    <a:lumOff val="25000"/>
                  </a:schemeClr>
                </a:solidFill>
              </a:rPr>
              <a:t>(ordered) jobs</a:t>
            </a:r>
          </a:p>
          <a:p>
            <a:pPr algn="ctr"/>
            <a:r>
              <a:rPr lang="en-US" sz="1200" dirty="0">
                <a:solidFill>
                  <a:schemeClr val="tx1">
                    <a:lumMod val="75000"/>
                    <a:lumOff val="25000"/>
                  </a:schemeClr>
                </a:solidFill>
              </a:rPr>
              <a:t>/ statistics</a:t>
            </a:r>
          </a:p>
        </p:txBody>
      </p:sp>
      <p:pic>
        <p:nvPicPr>
          <p:cNvPr id="13" name="Picture 12">
            <a:extLst>
              <a:ext uri="{FF2B5EF4-FFF2-40B4-BE49-F238E27FC236}">
                <a16:creationId xmlns:a16="http://schemas.microsoft.com/office/drawing/2014/main" id="{2559F5E5-76FB-8477-544C-9149EDFDFD1F}"/>
              </a:ext>
            </a:extLst>
          </p:cNvPr>
          <p:cNvPicPr>
            <a:picLocks noChangeAspect="1"/>
          </p:cNvPicPr>
          <p:nvPr/>
        </p:nvPicPr>
        <p:blipFill>
          <a:blip r:embed="rId14"/>
          <a:stretch>
            <a:fillRect/>
          </a:stretch>
        </p:blipFill>
        <p:spPr>
          <a:xfrm>
            <a:off x="1080290" y="3411669"/>
            <a:ext cx="437687" cy="597589"/>
          </a:xfrm>
          <a:prstGeom prst="rect">
            <a:avLst/>
          </a:prstGeom>
        </p:spPr>
      </p:pic>
      <p:sp>
        <p:nvSpPr>
          <p:cNvPr id="37" name="Left Brace 36">
            <a:extLst>
              <a:ext uri="{FF2B5EF4-FFF2-40B4-BE49-F238E27FC236}">
                <a16:creationId xmlns:a16="http://schemas.microsoft.com/office/drawing/2014/main" id="{631AF80A-EF7C-60D5-FCA9-2C1A0D4285E0}"/>
              </a:ext>
            </a:extLst>
          </p:cNvPr>
          <p:cNvSpPr/>
          <p:nvPr/>
        </p:nvSpPr>
        <p:spPr>
          <a:xfrm>
            <a:off x="1517977" y="3119061"/>
            <a:ext cx="307907" cy="1173757"/>
          </a:xfrm>
          <a:prstGeom prst="leftBrace">
            <a:avLst>
              <a:gd name="adj1" fmla="val 33555"/>
              <a:gd name="adj2" fmla="val 50000"/>
            </a:avLst>
          </a:prstGeom>
          <a:ln>
            <a:solidFill>
              <a:schemeClr val="bg2">
                <a:lumMod val="25000"/>
                <a:lumOff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E7F1C9EB-F46D-53C7-4868-95628482017D}"/>
              </a:ext>
            </a:extLst>
          </p:cNvPr>
          <p:cNvCxnSpPr>
            <a:cxnSpLocks/>
            <a:stCxn id="11" idx="1"/>
            <a:endCxn id="46" idx="3"/>
          </p:cNvCxnSpPr>
          <p:nvPr/>
        </p:nvCxnSpPr>
        <p:spPr>
          <a:xfrm flipH="1" flipV="1">
            <a:off x="1509264" y="1958184"/>
            <a:ext cx="1929612" cy="2331"/>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6" name="Group 5">
            <a:extLst>
              <a:ext uri="{FF2B5EF4-FFF2-40B4-BE49-F238E27FC236}">
                <a16:creationId xmlns:a16="http://schemas.microsoft.com/office/drawing/2014/main" id="{7B976F51-FB89-285A-3077-9FDC93C06708}"/>
              </a:ext>
            </a:extLst>
          </p:cNvPr>
          <p:cNvGrpSpPr/>
          <p:nvPr/>
        </p:nvGrpSpPr>
        <p:grpSpPr>
          <a:xfrm>
            <a:off x="756201" y="620303"/>
            <a:ext cx="5483450" cy="1883507"/>
            <a:chOff x="756202" y="620303"/>
            <a:chExt cx="5119895" cy="1883507"/>
          </a:xfrm>
        </p:grpSpPr>
        <p:sp>
          <p:nvSpPr>
            <p:cNvPr id="29" name="Rectangle 28">
              <a:extLst>
                <a:ext uri="{FF2B5EF4-FFF2-40B4-BE49-F238E27FC236}">
                  <a16:creationId xmlns:a16="http://schemas.microsoft.com/office/drawing/2014/main" id="{CA2FD163-7C5A-613E-35B1-7C541EACEA08}"/>
                </a:ext>
              </a:extLst>
            </p:cNvPr>
            <p:cNvSpPr/>
            <p:nvPr/>
          </p:nvSpPr>
          <p:spPr>
            <a:xfrm>
              <a:off x="756204" y="620303"/>
              <a:ext cx="5119893" cy="1883507"/>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C4B52172-F7DD-C64A-B9BC-9AE57D9927E5}"/>
                </a:ext>
              </a:extLst>
            </p:cNvPr>
            <p:cNvSpPr txBox="1"/>
            <p:nvPr/>
          </p:nvSpPr>
          <p:spPr>
            <a:xfrm>
              <a:off x="756202" y="620303"/>
              <a:ext cx="1492406"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Ingestion Pipeline </a:t>
              </a:r>
            </a:p>
          </p:txBody>
        </p:sp>
      </p:grpSp>
      <p:grpSp>
        <p:nvGrpSpPr>
          <p:cNvPr id="12" name="Group 11">
            <a:extLst>
              <a:ext uri="{FF2B5EF4-FFF2-40B4-BE49-F238E27FC236}">
                <a16:creationId xmlns:a16="http://schemas.microsoft.com/office/drawing/2014/main" id="{F0DE7B8A-B6E6-F9BB-869A-6617D0CD3CA7}"/>
              </a:ext>
            </a:extLst>
          </p:cNvPr>
          <p:cNvGrpSpPr/>
          <p:nvPr/>
        </p:nvGrpSpPr>
        <p:grpSpPr>
          <a:xfrm>
            <a:off x="756203" y="2740982"/>
            <a:ext cx="5483448" cy="1782826"/>
            <a:chOff x="756203" y="2740982"/>
            <a:chExt cx="5119894" cy="1782826"/>
          </a:xfrm>
        </p:grpSpPr>
        <p:sp>
          <p:nvSpPr>
            <p:cNvPr id="31" name="Rectangle 30">
              <a:extLst>
                <a:ext uri="{FF2B5EF4-FFF2-40B4-BE49-F238E27FC236}">
                  <a16:creationId xmlns:a16="http://schemas.microsoft.com/office/drawing/2014/main" id="{ADBAEA6E-7FFD-D67E-CAA0-C82184E47991}"/>
                </a:ext>
              </a:extLst>
            </p:cNvPr>
            <p:cNvSpPr/>
            <p:nvPr/>
          </p:nvSpPr>
          <p:spPr>
            <a:xfrm>
              <a:off x="756203" y="2740982"/>
              <a:ext cx="5119894" cy="1782826"/>
            </a:xfrm>
            <a:prstGeom prst="rect">
              <a:avLst/>
            </a:prstGeom>
            <a:no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E03FA98-5C09-B126-E3A9-4239B47DBE17}"/>
                </a:ext>
              </a:extLst>
            </p:cNvPr>
            <p:cNvSpPr txBox="1"/>
            <p:nvPr/>
          </p:nvSpPr>
          <p:spPr>
            <a:xfrm>
              <a:off x="766079" y="2754037"/>
              <a:ext cx="1482528" cy="307777"/>
            </a:xfrm>
            <a:prstGeom prst="rect">
              <a:avLst/>
            </a:prstGeom>
            <a:solidFill>
              <a:schemeClr val="bg2">
                <a:lumMod val="75000"/>
                <a:lumOff val="25000"/>
              </a:schemeClr>
            </a:solidFill>
          </p:spPr>
          <p:txBody>
            <a:bodyPr wrap="square" rtlCol="0">
              <a:spAutoFit/>
            </a:bodyPr>
            <a:lstStyle/>
            <a:p>
              <a:r>
                <a:rPr lang="en-US" dirty="0">
                  <a:solidFill>
                    <a:schemeClr val="bg1"/>
                  </a:solidFill>
                </a:rPr>
                <a:t>User Application</a:t>
              </a:r>
            </a:p>
          </p:txBody>
        </p:sp>
      </p:grpSp>
      <p:pic>
        <p:nvPicPr>
          <p:cNvPr id="7" name="Picture 6">
            <a:extLst>
              <a:ext uri="{FF2B5EF4-FFF2-40B4-BE49-F238E27FC236}">
                <a16:creationId xmlns:a16="http://schemas.microsoft.com/office/drawing/2014/main" id="{41ED3C5F-4A1D-5AAB-AA88-C72516AA5CB6}"/>
              </a:ext>
            </a:extLst>
          </p:cNvPr>
          <p:cNvPicPr>
            <a:picLocks noChangeAspect="1"/>
          </p:cNvPicPr>
          <p:nvPr/>
        </p:nvPicPr>
        <p:blipFill>
          <a:blip r:embed="rId15"/>
          <a:stretch>
            <a:fillRect/>
          </a:stretch>
        </p:blipFill>
        <p:spPr>
          <a:xfrm>
            <a:off x="2687069" y="3965352"/>
            <a:ext cx="857296" cy="157394"/>
          </a:xfrm>
          <a:prstGeom prst="rect">
            <a:avLst/>
          </a:prstGeom>
        </p:spPr>
      </p:pic>
      <p:pic>
        <p:nvPicPr>
          <p:cNvPr id="10" name="Picture 9">
            <a:extLst>
              <a:ext uri="{FF2B5EF4-FFF2-40B4-BE49-F238E27FC236}">
                <a16:creationId xmlns:a16="http://schemas.microsoft.com/office/drawing/2014/main" id="{FB83EBFB-6E5B-C7BF-10D4-E8B394483159}"/>
              </a:ext>
            </a:extLst>
          </p:cNvPr>
          <p:cNvPicPr>
            <a:picLocks noChangeAspect="1"/>
          </p:cNvPicPr>
          <p:nvPr/>
        </p:nvPicPr>
        <p:blipFill>
          <a:blip r:embed="rId16"/>
          <a:stretch>
            <a:fillRect/>
          </a:stretch>
        </p:blipFill>
        <p:spPr>
          <a:xfrm>
            <a:off x="1185663" y="1422081"/>
            <a:ext cx="253705" cy="279950"/>
          </a:xfrm>
          <a:prstGeom prst="rect">
            <a:avLst/>
          </a:prstGeom>
        </p:spPr>
      </p:pic>
      <p:pic>
        <p:nvPicPr>
          <p:cNvPr id="2" name="Picture 1" descr="File:PostgreSQL logo.3colors.540x557.png">
            <a:extLst>
              <a:ext uri="{FF2B5EF4-FFF2-40B4-BE49-F238E27FC236}">
                <a16:creationId xmlns:a16="http://schemas.microsoft.com/office/drawing/2014/main" id="{7371D8AF-A9F3-3E5B-653E-0B2F09C8A3A6}"/>
              </a:ext>
            </a:extLst>
          </p:cNvPr>
          <p:cNvPicPr>
            <a:picLocks noChangeAspect="1"/>
          </p:cNvPicPr>
          <p:nvPr/>
        </p:nvPicPr>
        <p:blipFill>
          <a:blip r:embed="rId17"/>
          <a:stretch>
            <a:fillRect/>
          </a:stretch>
        </p:blipFill>
        <p:spPr>
          <a:xfrm>
            <a:off x="6668860" y="1450594"/>
            <a:ext cx="274086" cy="282715"/>
          </a:xfrm>
          <a:prstGeom prst="rect">
            <a:avLst/>
          </a:prstGeom>
        </p:spPr>
      </p:pic>
      <p:cxnSp>
        <p:nvCxnSpPr>
          <p:cNvPr id="588" name="Straight Arrow Connector 587">
            <a:extLst>
              <a:ext uri="{FF2B5EF4-FFF2-40B4-BE49-F238E27FC236}">
                <a16:creationId xmlns:a16="http://schemas.microsoft.com/office/drawing/2014/main" id="{B8C70AFD-D74A-DB2E-4D93-8C1CBB45CF6A}"/>
              </a:ext>
            </a:extLst>
          </p:cNvPr>
          <p:cNvCxnSpPr>
            <a:cxnSpLocks/>
            <a:stCxn id="715" idx="1"/>
            <a:endCxn id="661" idx="3"/>
          </p:cNvCxnSpPr>
          <p:nvPr/>
        </p:nvCxnSpPr>
        <p:spPr>
          <a:xfrm flipH="1" flipV="1">
            <a:off x="3436362" y="3694189"/>
            <a:ext cx="1305159" cy="301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11" name="Connector: Elbow 610">
            <a:extLst>
              <a:ext uri="{FF2B5EF4-FFF2-40B4-BE49-F238E27FC236}">
                <a16:creationId xmlns:a16="http://schemas.microsoft.com/office/drawing/2014/main" id="{8B2D85B5-18F8-60D2-722A-560001019AFB}"/>
              </a:ext>
            </a:extLst>
          </p:cNvPr>
          <p:cNvCxnSpPr>
            <a:cxnSpLocks/>
            <a:stCxn id="44" idx="2"/>
            <a:endCxn id="715" idx="3"/>
          </p:cNvCxnSpPr>
          <p:nvPr/>
        </p:nvCxnSpPr>
        <p:spPr>
          <a:xfrm rot="5400000">
            <a:off x="5350820" y="2254473"/>
            <a:ext cx="1523917" cy="1361535"/>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84C93B2C-1E6E-DF15-C397-5C3DC6D0F32C}"/>
              </a:ext>
            </a:extLst>
          </p:cNvPr>
          <p:cNvSpPr txBox="1"/>
          <p:nvPr/>
        </p:nvSpPr>
        <p:spPr>
          <a:xfrm>
            <a:off x="4313475" y="1693939"/>
            <a:ext cx="1913434" cy="276999"/>
          </a:xfrm>
          <a:prstGeom prst="rect">
            <a:avLst/>
          </a:prstGeom>
          <a:noFill/>
        </p:spPr>
        <p:txBody>
          <a:bodyPr wrap="square" rtlCol="0">
            <a:spAutoFit/>
          </a:bodyPr>
          <a:lstStyle/>
          <a:p>
            <a:pPr algn="ctr"/>
            <a:r>
              <a:rPr lang="en-US" sz="1200" dirty="0">
                <a:solidFill>
                  <a:schemeClr val="tx1">
                    <a:lumMod val="75000"/>
                    <a:lumOff val="25000"/>
                  </a:schemeClr>
                </a:solidFill>
              </a:rPr>
              <a:t>cleaned &amp; enriched data</a:t>
            </a:r>
          </a:p>
        </p:txBody>
      </p:sp>
      <p:sp>
        <p:nvSpPr>
          <p:cNvPr id="677" name="TextBox 676">
            <a:extLst>
              <a:ext uri="{FF2B5EF4-FFF2-40B4-BE49-F238E27FC236}">
                <a16:creationId xmlns:a16="http://schemas.microsoft.com/office/drawing/2014/main" id="{32EDD3CD-C71D-620C-198E-B4DD1A1B607A}"/>
              </a:ext>
            </a:extLst>
          </p:cNvPr>
          <p:cNvSpPr txBox="1"/>
          <p:nvPr/>
        </p:nvSpPr>
        <p:spPr>
          <a:xfrm rot="16200000">
            <a:off x="5964964" y="2730322"/>
            <a:ext cx="1393462" cy="276999"/>
          </a:xfrm>
          <a:prstGeom prst="rect">
            <a:avLst/>
          </a:prstGeom>
          <a:noFill/>
        </p:spPr>
        <p:txBody>
          <a:bodyPr wrap="square" rtlCol="0">
            <a:spAutoFit/>
          </a:bodyPr>
          <a:lstStyle/>
          <a:p>
            <a:pPr algn="ctr"/>
            <a:r>
              <a:rPr lang="en-US" sz="1200" dirty="0">
                <a:solidFill>
                  <a:schemeClr val="tx1">
                    <a:lumMod val="75000"/>
                    <a:lumOff val="25000"/>
                  </a:schemeClr>
                </a:solidFill>
              </a:rPr>
              <a:t>jobs / statistics</a:t>
            </a:r>
          </a:p>
        </p:txBody>
      </p:sp>
      <p:pic>
        <p:nvPicPr>
          <p:cNvPr id="14" name="Picture 13">
            <a:extLst>
              <a:ext uri="{FF2B5EF4-FFF2-40B4-BE49-F238E27FC236}">
                <a16:creationId xmlns:a16="http://schemas.microsoft.com/office/drawing/2014/main" id="{5E11DD78-C0E6-1329-7A2A-A9A388564486}"/>
              </a:ext>
            </a:extLst>
          </p:cNvPr>
          <p:cNvPicPr>
            <a:picLocks noChangeAspect="1"/>
          </p:cNvPicPr>
          <p:nvPr/>
        </p:nvPicPr>
        <p:blipFill>
          <a:blip r:embed="rId18"/>
          <a:stretch>
            <a:fillRect/>
          </a:stretch>
        </p:blipFill>
        <p:spPr>
          <a:xfrm>
            <a:off x="3499903" y="2182628"/>
            <a:ext cx="736364" cy="285709"/>
          </a:xfrm>
          <a:prstGeom prst="rect">
            <a:avLst/>
          </a:prstGeom>
        </p:spPr>
      </p:pic>
      <p:pic>
        <p:nvPicPr>
          <p:cNvPr id="17" name="Picture 16">
            <a:extLst>
              <a:ext uri="{FF2B5EF4-FFF2-40B4-BE49-F238E27FC236}">
                <a16:creationId xmlns:a16="http://schemas.microsoft.com/office/drawing/2014/main" id="{872F5CFF-FB68-9533-F951-80B9F938132A}"/>
              </a:ext>
            </a:extLst>
          </p:cNvPr>
          <p:cNvPicPr>
            <a:picLocks noChangeAspect="1"/>
          </p:cNvPicPr>
          <p:nvPr/>
        </p:nvPicPr>
        <p:blipFill>
          <a:blip r:embed="rId19"/>
          <a:srcRect/>
          <a:stretch/>
        </p:blipFill>
        <p:spPr>
          <a:xfrm>
            <a:off x="4297300" y="2230080"/>
            <a:ext cx="490256" cy="190142"/>
          </a:xfrm>
          <a:prstGeom prst="rect">
            <a:avLst/>
          </a:prstGeom>
        </p:spPr>
      </p:pic>
    </p:spTree>
    <p:extLst>
      <p:ext uri="{BB962C8B-B14F-4D97-AF65-F5344CB8AC3E}">
        <p14:creationId xmlns:p14="http://schemas.microsoft.com/office/powerpoint/2010/main" val="260299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8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1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2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72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 grpId="0"/>
      <p:bldP spid="670" grpId="0"/>
      <p:bldP spid="681" grpId="0"/>
      <p:bldP spid="4" grpId="0"/>
      <p:bldP spid="37" grpId="0" animBg="1"/>
      <p:bldP spid="647" grpId="0"/>
      <p:bldP spid="67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EC19C66-44B2-A0A6-17A2-02250407AF29}"/>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F507A431-3C08-473B-C965-5E29A3EFE230}"/>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ETL Pipeline: </a:t>
            </a:r>
            <a:r>
              <a:rPr lang="en-US" dirty="0">
                <a:latin typeface="Work Sans"/>
                <a:ea typeface="Work Sans"/>
                <a:cs typeface="Work Sans"/>
                <a:sym typeface="Work Sans"/>
              </a:rPr>
              <a:t>From Raw Job Data to PostgreSQL</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48E9993E-0C9C-AD83-8F48-BDED9E912DC6}"/>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ED5E245-59AD-8853-F54D-F34696F0C44F}"/>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pic>
        <p:nvPicPr>
          <p:cNvPr id="44" name="Picture 43">
            <a:extLst>
              <a:ext uri="{FF2B5EF4-FFF2-40B4-BE49-F238E27FC236}">
                <a16:creationId xmlns:a16="http://schemas.microsoft.com/office/drawing/2014/main" id="{047E348C-E630-4A57-F157-481CD280B0CE}"/>
              </a:ext>
            </a:extLst>
          </p:cNvPr>
          <p:cNvPicPr>
            <a:picLocks noChangeAspect="1"/>
          </p:cNvPicPr>
          <p:nvPr/>
        </p:nvPicPr>
        <p:blipFill>
          <a:blip r:embed="rId4"/>
          <a:stretch>
            <a:fillRect/>
          </a:stretch>
        </p:blipFill>
        <p:spPr>
          <a:xfrm>
            <a:off x="5835549" y="3602766"/>
            <a:ext cx="473331" cy="423153"/>
          </a:xfrm>
          <a:prstGeom prst="rect">
            <a:avLst/>
          </a:prstGeom>
        </p:spPr>
      </p:pic>
      <p:pic>
        <p:nvPicPr>
          <p:cNvPr id="46" name="Picture 45">
            <a:extLst>
              <a:ext uri="{FF2B5EF4-FFF2-40B4-BE49-F238E27FC236}">
                <a16:creationId xmlns:a16="http://schemas.microsoft.com/office/drawing/2014/main" id="{E971FE9C-9C52-62DA-37C3-7A393C645105}"/>
              </a:ext>
            </a:extLst>
          </p:cNvPr>
          <p:cNvPicPr>
            <a:picLocks noChangeAspect="1"/>
          </p:cNvPicPr>
          <p:nvPr/>
        </p:nvPicPr>
        <p:blipFill>
          <a:blip r:embed="rId5"/>
          <a:stretch>
            <a:fillRect/>
          </a:stretch>
        </p:blipFill>
        <p:spPr>
          <a:xfrm>
            <a:off x="5906080" y="1140363"/>
            <a:ext cx="393496" cy="452741"/>
          </a:xfrm>
          <a:prstGeom prst="rect">
            <a:avLst/>
          </a:prstGeom>
        </p:spPr>
      </p:pic>
      <p:cxnSp>
        <p:nvCxnSpPr>
          <p:cNvPr id="664" name="Straight Arrow Connector 663">
            <a:extLst>
              <a:ext uri="{FF2B5EF4-FFF2-40B4-BE49-F238E27FC236}">
                <a16:creationId xmlns:a16="http://schemas.microsoft.com/office/drawing/2014/main" id="{B55CA858-D422-DD00-058F-6D5062AE8A07}"/>
              </a:ext>
            </a:extLst>
          </p:cNvPr>
          <p:cNvCxnSpPr>
            <a:cxnSpLocks/>
            <a:stCxn id="58" idx="3"/>
            <a:endCxn id="584" idx="1"/>
          </p:cNvCxnSpPr>
          <p:nvPr/>
        </p:nvCxnSpPr>
        <p:spPr>
          <a:xfrm flipH="1">
            <a:off x="1269202" y="991515"/>
            <a:ext cx="283304" cy="371896"/>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21" name="Connector: Elbow 20">
            <a:extLst>
              <a:ext uri="{FF2B5EF4-FFF2-40B4-BE49-F238E27FC236}">
                <a16:creationId xmlns:a16="http://schemas.microsoft.com/office/drawing/2014/main" id="{A448E902-E18B-7259-446C-1044F482FCC6}"/>
              </a:ext>
            </a:extLst>
          </p:cNvPr>
          <p:cNvCxnSpPr>
            <a:cxnSpLocks/>
            <a:stCxn id="46" idx="2"/>
            <a:endCxn id="615" idx="3"/>
          </p:cNvCxnSpPr>
          <p:nvPr/>
        </p:nvCxnSpPr>
        <p:spPr>
          <a:xfrm rot="5400000">
            <a:off x="5369310" y="1868690"/>
            <a:ext cx="1009104" cy="457932"/>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3E73B30B-30AC-9627-4CBB-5190ADF9A0D2}"/>
              </a:ext>
            </a:extLst>
          </p:cNvPr>
          <p:cNvPicPr>
            <a:picLocks noChangeAspect="1"/>
          </p:cNvPicPr>
          <p:nvPr/>
        </p:nvPicPr>
        <p:blipFill>
          <a:blip r:embed="rId5"/>
          <a:stretch>
            <a:fillRect/>
          </a:stretch>
        </p:blipFill>
        <p:spPr>
          <a:xfrm>
            <a:off x="1269202" y="2377742"/>
            <a:ext cx="393496" cy="452741"/>
          </a:xfrm>
          <a:prstGeom prst="rect">
            <a:avLst/>
          </a:prstGeom>
        </p:spPr>
      </p:pic>
      <p:grpSp>
        <p:nvGrpSpPr>
          <p:cNvPr id="2" name="Group 1">
            <a:extLst>
              <a:ext uri="{FF2B5EF4-FFF2-40B4-BE49-F238E27FC236}">
                <a16:creationId xmlns:a16="http://schemas.microsoft.com/office/drawing/2014/main" id="{92B72449-3739-5134-4E4C-A039C63F515B}"/>
              </a:ext>
            </a:extLst>
          </p:cNvPr>
          <p:cNvGrpSpPr/>
          <p:nvPr/>
        </p:nvGrpSpPr>
        <p:grpSpPr>
          <a:xfrm>
            <a:off x="761427" y="825866"/>
            <a:ext cx="7561865" cy="1047037"/>
            <a:chOff x="761429" y="664298"/>
            <a:chExt cx="7561865" cy="1047037"/>
          </a:xfrm>
        </p:grpSpPr>
        <p:sp>
          <p:nvSpPr>
            <p:cNvPr id="5" name="Rectangle 4">
              <a:extLst>
                <a:ext uri="{FF2B5EF4-FFF2-40B4-BE49-F238E27FC236}">
                  <a16:creationId xmlns:a16="http://schemas.microsoft.com/office/drawing/2014/main" id="{A7D99FF4-8212-DAB9-2372-6F7EDCEF3727}"/>
                </a:ext>
              </a:extLst>
            </p:cNvPr>
            <p:cNvSpPr/>
            <p:nvPr/>
          </p:nvSpPr>
          <p:spPr>
            <a:xfrm>
              <a:off x="968338" y="664298"/>
              <a:ext cx="7354956" cy="1037904"/>
            </a:xfrm>
            <a:prstGeom prst="rect">
              <a:avLst/>
            </a:prstGeom>
            <a:solidFill>
              <a:schemeClr val="tx2">
                <a:lumMod val="75000"/>
                <a:alpha val="6000"/>
              </a:scheme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A20F836C-3BAC-F8B6-9D77-22266462D29D}"/>
                </a:ext>
              </a:extLst>
            </p:cNvPr>
            <p:cNvSpPr txBox="1"/>
            <p:nvPr/>
          </p:nvSpPr>
          <p:spPr>
            <a:xfrm rot="16200000">
              <a:off x="392193" y="1034322"/>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Extract</a:t>
              </a:r>
            </a:p>
          </p:txBody>
        </p:sp>
      </p:grpSp>
      <p:grpSp>
        <p:nvGrpSpPr>
          <p:cNvPr id="4" name="Group 3">
            <a:extLst>
              <a:ext uri="{FF2B5EF4-FFF2-40B4-BE49-F238E27FC236}">
                <a16:creationId xmlns:a16="http://schemas.microsoft.com/office/drawing/2014/main" id="{919E18D2-172F-92E8-6C6E-646451872968}"/>
              </a:ext>
            </a:extLst>
          </p:cNvPr>
          <p:cNvGrpSpPr/>
          <p:nvPr/>
        </p:nvGrpSpPr>
        <p:grpSpPr>
          <a:xfrm>
            <a:off x="768342" y="2050839"/>
            <a:ext cx="7553118" cy="1046249"/>
            <a:chOff x="768342" y="1874383"/>
            <a:chExt cx="7553118" cy="1046249"/>
          </a:xfrm>
        </p:grpSpPr>
        <p:sp>
          <p:nvSpPr>
            <p:cNvPr id="7" name="Rectangle 6">
              <a:extLst>
                <a:ext uri="{FF2B5EF4-FFF2-40B4-BE49-F238E27FC236}">
                  <a16:creationId xmlns:a16="http://schemas.microsoft.com/office/drawing/2014/main" id="{363DB2E5-F5AD-9248-7AD3-DA6F418696E4}"/>
                </a:ext>
              </a:extLst>
            </p:cNvPr>
            <p:cNvSpPr/>
            <p:nvPr/>
          </p:nvSpPr>
          <p:spPr>
            <a:xfrm>
              <a:off x="968336" y="1874384"/>
              <a:ext cx="7353124" cy="1037904"/>
            </a:xfrm>
            <a:prstGeom prst="rect">
              <a:avLst/>
            </a:prstGeom>
            <a:solidFill>
              <a:srgbClr val="FFFF0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019352-08BE-F2D2-EDDA-CC8575E806EB}"/>
                </a:ext>
              </a:extLst>
            </p:cNvPr>
            <p:cNvSpPr txBox="1"/>
            <p:nvPr/>
          </p:nvSpPr>
          <p:spPr>
            <a:xfrm rot="16200000">
              <a:off x="399106" y="2243619"/>
              <a:ext cx="1046249"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Transform</a:t>
              </a:r>
            </a:p>
          </p:txBody>
        </p:sp>
      </p:grpSp>
      <p:grpSp>
        <p:nvGrpSpPr>
          <p:cNvPr id="9" name="Group 8">
            <a:extLst>
              <a:ext uri="{FF2B5EF4-FFF2-40B4-BE49-F238E27FC236}">
                <a16:creationId xmlns:a16="http://schemas.microsoft.com/office/drawing/2014/main" id="{D7EDE7CE-4890-5626-BF22-B6AE53D277F5}"/>
              </a:ext>
            </a:extLst>
          </p:cNvPr>
          <p:cNvGrpSpPr/>
          <p:nvPr/>
        </p:nvGrpSpPr>
        <p:grpSpPr>
          <a:xfrm>
            <a:off x="761428" y="3260133"/>
            <a:ext cx="7560032" cy="1042731"/>
            <a:chOff x="761428" y="3083677"/>
            <a:chExt cx="7560032" cy="1042731"/>
          </a:xfrm>
        </p:grpSpPr>
        <p:sp>
          <p:nvSpPr>
            <p:cNvPr id="14" name="Rectangle 13">
              <a:extLst>
                <a:ext uri="{FF2B5EF4-FFF2-40B4-BE49-F238E27FC236}">
                  <a16:creationId xmlns:a16="http://schemas.microsoft.com/office/drawing/2014/main" id="{2487AABF-7BDD-3D5B-9915-9B3131A35293}"/>
                </a:ext>
              </a:extLst>
            </p:cNvPr>
            <p:cNvSpPr/>
            <p:nvPr/>
          </p:nvSpPr>
          <p:spPr>
            <a:xfrm>
              <a:off x="968336" y="3083680"/>
              <a:ext cx="7353124" cy="1037904"/>
            </a:xfrm>
            <a:prstGeom prst="rect">
              <a:avLst/>
            </a:prstGeom>
            <a:solidFill>
              <a:srgbClr val="00B050">
                <a:alpha val="6000"/>
              </a:srgbClr>
            </a:solidFill>
            <a:ln w="1270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D437FD0-9C11-A30E-2E3F-BFE788934BAD}"/>
                </a:ext>
              </a:extLst>
            </p:cNvPr>
            <p:cNvSpPr txBox="1"/>
            <p:nvPr/>
          </p:nvSpPr>
          <p:spPr>
            <a:xfrm rot="16200000">
              <a:off x="393951" y="3451154"/>
              <a:ext cx="1042731" cy="307777"/>
            </a:xfrm>
            <a:prstGeom prst="rect">
              <a:avLst/>
            </a:prstGeom>
            <a:solidFill>
              <a:schemeClr val="bg2">
                <a:lumMod val="75000"/>
                <a:lumOff val="25000"/>
              </a:schemeClr>
            </a:solidFill>
          </p:spPr>
          <p:txBody>
            <a:bodyPr wrap="square" rtlCol="0">
              <a:spAutoFit/>
            </a:bodyPr>
            <a:lstStyle/>
            <a:p>
              <a:pPr algn="ctr"/>
              <a:r>
                <a:rPr lang="en-US" dirty="0">
                  <a:solidFill>
                    <a:schemeClr val="bg1"/>
                  </a:solidFill>
                </a:rPr>
                <a:t>Load</a:t>
              </a:r>
            </a:p>
          </p:txBody>
        </p:sp>
      </p:grpSp>
      <p:pic>
        <p:nvPicPr>
          <p:cNvPr id="25" name="Picture 24" descr="File:PostgreSQL logo.3colors.540x557.png">
            <a:extLst>
              <a:ext uri="{FF2B5EF4-FFF2-40B4-BE49-F238E27FC236}">
                <a16:creationId xmlns:a16="http://schemas.microsoft.com/office/drawing/2014/main" id="{C1BAF5E8-F08F-4DC6-F6D0-652EC26F9223}"/>
              </a:ext>
            </a:extLst>
          </p:cNvPr>
          <p:cNvPicPr>
            <a:picLocks noChangeAspect="1"/>
          </p:cNvPicPr>
          <p:nvPr/>
        </p:nvPicPr>
        <p:blipFill>
          <a:blip r:embed="rId6"/>
          <a:stretch>
            <a:fillRect/>
          </a:stretch>
        </p:blipFill>
        <p:spPr>
          <a:xfrm>
            <a:off x="5956694" y="3331645"/>
            <a:ext cx="231040" cy="238314"/>
          </a:xfrm>
          <a:prstGeom prst="rect">
            <a:avLst/>
          </a:prstGeom>
        </p:spPr>
      </p:pic>
      <p:cxnSp>
        <p:nvCxnSpPr>
          <p:cNvPr id="30" name="Connector: Elbow 29">
            <a:extLst>
              <a:ext uri="{FF2B5EF4-FFF2-40B4-BE49-F238E27FC236}">
                <a16:creationId xmlns:a16="http://schemas.microsoft.com/office/drawing/2014/main" id="{5A1544F6-58E8-7006-27B2-97E819A5EED7}"/>
              </a:ext>
            </a:extLst>
          </p:cNvPr>
          <p:cNvCxnSpPr>
            <a:cxnSpLocks/>
            <a:stCxn id="24" idx="2"/>
            <a:endCxn id="646" idx="1"/>
          </p:cNvCxnSpPr>
          <p:nvPr/>
        </p:nvCxnSpPr>
        <p:spPr>
          <a:xfrm rot="16200000" flipH="1">
            <a:off x="1863153" y="2433280"/>
            <a:ext cx="983860" cy="1778266"/>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584" name="Rectangle: Rounded Corners 583">
            <a:extLst>
              <a:ext uri="{FF2B5EF4-FFF2-40B4-BE49-F238E27FC236}">
                <a16:creationId xmlns:a16="http://schemas.microsoft.com/office/drawing/2014/main" id="{BE78CD90-E400-E30D-5DA2-1D6E568B3A6B}"/>
              </a:ext>
            </a:extLst>
          </p:cNvPr>
          <p:cNvSpPr/>
          <p:nvPr/>
        </p:nvSpPr>
        <p:spPr>
          <a:xfrm>
            <a:off x="1269202" y="986441"/>
            <a:ext cx="1074401" cy="75394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&amp; save pages</a:t>
            </a:r>
          </a:p>
        </p:txBody>
      </p:sp>
      <p:sp>
        <p:nvSpPr>
          <p:cNvPr id="586" name="Rectangle: Rounded Corners 585">
            <a:extLst>
              <a:ext uri="{FF2B5EF4-FFF2-40B4-BE49-F238E27FC236}">
                <a16:creationId xmlns:a16="http://schemas.microsoft.com/office/drawing/2014/main" id="{B0759ABA-32FB-787A-3BB7-5D5F72605966}"/>
              </a:ext>
            </a:extLst>
          </p:cNvPr>
          <p:cNvSpPr/>
          <p:nvPr/>
        </p:nvSpPr>
        <p:spPr>
          <a:xfrm>
            <a:off x="3234912" y="978308"/>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Deduplicate by job ID </a:t>
            </a:r>
          </a:p>
        </p:txBody>
      </p:sp>
      <p:cxnSp>
        <p:nvCxnSpPr>
          <p:cNvPr id="589" name="Straight Arrow Connector 588">
            <a:extLst>
              <a:ext uri="{FF2B5EF4-FFF2-40B4-BE49-F238E27FC236}">
                <a16:creationId xmlns:a16="http://schemas.microsoft.com/office/drawing/2014/main" id="{3E5399C2-9116-5725-12F8-314ECC68B921}"/>
              </a:ext>
            </a:extLst>
          </p:cNvPr>
          <p:cNvCxnSpPr>
            <a:cxnSpLocks/>
            <a:stCxn id="584" idx="3"/>
            <a:endCxn id="580" idx="1"/>
          </p:cNvCxnSpPr>
          <p:nvPr/>
        </p:nvCxnSpPr>
        <p:spPr>
          <a:xfrm>
            <a:off x="2343603" y="1363411"/>
            <a:ext cx="266899"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596" name="Rectangle: Rounded Corners 595">
            <a:extLst>
              <a:ext uri="{FF2B5EF4-FFF2-40B4-BE49-F238E27FC236}">
                <a16:creationId xmlns:a16="http://schemas.microsoft.com/office/drawing/2014/main" id="{32688380-D69F-5BCA-A6B4-A1EC9374DEB9}"/>
              </a:ext>
            </a:extLst>
          </p:cNvPr>
          <p:cNvSpPr/>
          <p:nvPr/>
        </p:nvSpPr>
        <p:spPr>
          <a:xfrm>
            <a:off x="4570496" y="978308"/>
            <a:ext cx="1074401" cy="770206"/>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Get &amp; save</a:t>
            </a:r>
          </a:p>
          <a:p>
            <a:pPr algn="ctr"/>
            <a:r>
              <a:rPr lang="en-US" sz="1200" dirty="0"/>
              <a:t>job details </a:t>
            </a:r>
          </a:p>
        </p:txBody>
      </p:sp>
      <p:cxnSp>
        <p:nvCxnSpPr>
          <p:cNvPr id="597" name="Straight Arrow Connector 596">
            <a:extLst>
              <a:ext uri="{FF2B5EF4-FFF2-40B4-BE49-F238E27FC236}">
                <a16:creationId xmlns:a16="http://schemas.microsoft.com/office/drawing/2014/main" id="{DD76276A-2DDC-4284-3A04-5C5DA8C40FDF}"/>
              </a:ext>
            </a:extLst>
          </p:cNvPr>
          <p:cNvCxnSpPr>
            <a:cxnSpLocks/>
            <a:stCxn id="586" idx="3"/>
            <a:endCxn id="596" idx="1"/>
          </p:cNvCxnSpPr>
          <p:nvPr/>
        </p:nvCxnSpPr>
        <p:spPr>
          <a:xfrm>
            <a:off x="4309313" y="1363411"/>
            <a:ext cx="261183"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2" name="Straight Arrow Connector 601">
            <a:extLst>
              <a:ext uri="{FF2B5EF4-FFF2-40B4-BE49-F238E27FC236}">
                <a16:creationId xmlns:a16="http://schemas.microsoft.com/office/drawing/2014/main" id="{D802E682-B53F-8E4E-E917-337C3359B7F8}"/>
              </a:ext>
            </a:extLst>
          </p:cNvPr>
          <p:cNvCxnSpPr>
            <a:cxnSpLocks/>
            <a:stCxn id="596" idx="3"/>
            <a:endCxn id="46" idx="1"/>
          </p:cNvCxnSpPr>
          <p:nvPr/>
        </p:nvCxnSpPr>
        <p:spPr>
          <a:xfrm>
            <a:off x="5644897" y="1363411"/>
            <a:ext cx="261183" cy="3323"/>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13" name="Rectangle: Rounded Corners 612">
            <a:extLst>
              <a:ext uri="{FF2B5EF4-FFF2-40B4-BE49-F238E27FC236}">
                <a16:creationId xmlns:a16="http://schemas.microsoft.com/office/drawing/2014/main" id="{D32BFF97-8A79-87EE-716F-28D14EC69828}"/>
              </a:ext>
            </a:extLst>
          </p:cNvPr>
          <p:cNvSpPr/>
          <p:nvPr/>
        </p:nvSpPr>
        <p:spPr>
          <a:xfrm>
            <a:off x="1895157" y="2231358"/>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Geocode </a:t>
            </a:r>
            <a:r>
              <a:rPr lang="en-US" sz="1200" i="1" dirty="0"/>
              <a:t>missing</a:t>
            </a:r>
            <a:r>
              <a:rPr lang="en-US" sz="1200" dirty="0"/>
              <a:t> coordinates </a:t>
            </a:r>
          </a:p>
        </p:txBody>
      </p:sp>
      <p:sp>
        <p:nvSpPr>
          <p:cNvPr id="615" name="Rectangle: Rounded Corners 614">
            <a:extLst>
              <a:ext uri="{FF2B5EF4-FFF2-40B4-BE49-F238E27FC236}">
                <a16:creationId xmlns:a16="http://schemas.microsoft.com/office/drawing/2014/main" id="{7DFE8153-B517-60EF-9FC9-DE43EFCB6005}"/>
              </a:ext>
            </a:extLst>
          </p:cNvPr>
          <p:cNvSpPr/>
          <p:nvPr/>
        </p:nvSpPr>
        <p:spPr>
          <a:xfrm>
            <a:off x="4570495" y="2231358"/>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Normalize, restructure &amp; classify</a:t>
            </a:r>
          </a:p>
        </p:txBody>
      </p:sp>
      <p:cxnSp>
        <p:nvCxnSpPr>
          <p:cNvPr id="623" name="Straight Arrow Connector 622">
            <a:extLst>
              <a:ext uri="{FF2B5EF4-FFF2-40B4-BE49-F238E27FC236}">
                <a16:creationId xmlns:a16="http://schemas.microsoft.com/office/drawing/2014/main" id="{5D395E18-4581-9793-4CDF-62B6621BE0CE}"/>
              </a:ext>
            </a:extLst>
          </p:cNvPr>
          <p:cNvCxnSpPr>
            <a:cxnSpLocks/>
            <a:stCxn id="615" idx="1"/>
            <a:endCxn id="33" idx="3"/>
          </p:cNvCxnSpPr>
          <p:nvPr/>
        </p:nvCxnSpPr>
        <p:spPr>
          <a:xfrm flipH="1" flipV="1">
            <a:off x="4307226" y="2601350"/>
            <a:ext cx="263269" cy="85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27" name="Straight Arrow Connector 626">
            <a:extLst>
              <a:ext uri="{FF2B5EF4-FFF2-40B4-BE49-F238E27FC236}">
                <a16:creationId xmlns:a16="http://schemas.microsoft.com/office/drawing/2014/main" id="{6C55DF61-3240-4D37-F1C1-C496222FA367}"/>
              </a:ext>
            </a:extLst>
          </p:cNvPr>
          <p:cNvCxnSpPr>
            <a:cxnSpLocks/>
            <a:stCxn id="613" idx="1"/>
            <a:endCxn id="24" idx="3"/>
          </p:cNvCxnSpPr>
          <p:nvPr/>
        </p:nvCxnSpPr>
        <p:spPr>
          <a:xfrm flipH="1">
            <a:off x="1662698" y="2602208"/>
            <a:ext cx="232459" cy="1905"/>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46" name="Rectangle: Rounded Corners 645">
            <a:extLst>
              <a:ext uri="{FF2B5EF4-FFF2-40B4-BE49-F238E27FC236}">
                <a16:creationId xmlns:a16="http://schemas.microsoft.com/office/drawing/2014/main" id="{FAC9641B-898E-685A-51E9-A1BF9DD6284F}"/>
              </a:ext>
            </a:extLst>
          </p:cNvPr>
          <p:cNvSpPr/>
          <p:nvPr/>
        </p:nvSpPr>
        <p:spPr>
          <a:xfrm>
            <a:off x="3244216" y="3443493"/>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or update DB  records</a:t>
            </a:r>
          </a:p>
        </p:txBody>
      </p:sp>
      <p:sp>
        <p:nvSpPr>
          <p:cNvPr id="681" name="Rectangle 680">
            <a:extLst>
              <a:ext uri="{FF2B5EF4-FFF2-40B4-BE49-F238E27FC236}">
                <a16:creationId xmlns:a16="http://schemas.microsoft.com/office/drawing/2014/main" id="{6F6B7538-04AE-7A7E-4B93-029BE0A67469}"/>
              </a:ext>
            </a:extLst>
          </p:cNvPr>
          <p:cNvSpPr/>
          <p:nvPr/>
        </p:nvSpPr>
        <p:spPr>
          <a:xfrm>
            <a:off x="6503185" y="2052798"/>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processed</a:t>
            </a: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a:t>
            </a:r>
            <a:r>
              <a:rPr lang="en-US" sz="800" dirty="0">
                <a:solidFill>
                  <a:schemeClr val="bg1">
                    <a:lumMod val="95000"/>
                  </a:schemeClr>
                </a:solidFill>
              </a:rPr>
              <a:t>clean-</a:t>
            </a:r>
            <a:r>
              <a:rPr lang="en-US" sz="800" dirty="0" err="1">
                <a:solidFill>
                  <a:schemeClr val="bg1">
                    <a:lumMod val="95000"/>
                  </a:schemeClr>
                </a:solidFill>
              </a:rPr>
              <a:t>jobs.json</a:t>
            </a:r>
            <a:endParaRPr lang="en-US" sz="800" dirty="0">
              <a:solidFill>
                <a:schemeClr val="bg1">
                  <a:lumMod val="95000"/>
                </a:schemeClr>
              </a:solidFill>
              <a:latin typeface="Consolas" panose="020B0609020204030204" pitchFamily="49" charset="0"/>
            </a:endParaRPr>
          </a:p>
        </p:txBody>
      </p:sp>
      <p:cxnSp>
        <p:nvCxnSpPr>
          <p:cNvPr id="693" name="Straight Arrow Connector 692">
            <a:extLst>
              <a:ext uri="{FF2B5EF4-FFF2-40B4-BE49-F238E27FC236}">
                <a16:creationId xmlns:a16="http://schemas.microsoft.com/office/drawing/2014/main" id="{0EF52BA8-C289-7336-A68A-33F03BDB8964}"/>
              </a:ext>
            </a:extLst>
          </p:cNvPr>
          <p:cNvCxnSpPr>
            <a:cxnSpLocks/>
            <a:stCxn id="646" idx="3"/>
            <a:endCxn id="44" idx="1"/>
          </p:cNvCxnSpPr>
          <p:nvPr/>
        </p:nvCxnSpPr>
        <p:spPr>
          <a:xfrm>
            <a:off x="4318617" y="3814343"/>
            <a:ext cx="1516932"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3" name="Picture 2">
            <a:extLst>
              <a:ext uri="{FF2B5EF4-FFF2-40B4-BE49-F238E27FC236}">
                <a16:creationId xmlns:a16="http://schemas.microsoft.com/office/drawing/2014/main" id="{7975EE54-85E5-3D7E-6B24-B886D2DB4AA1}"/>
              </a:ext>
            </a:extLst>
          </p:cNvPr>
          <p:cNvPicPr>
            <a:picLocks noChangeAspect="1"/>
          </p:cNvPicPr>
          <p:nvPr/>
        </p:nvPicPr>
        <p:blipFill>
          <a:blip r:embed="rId7"/>
          <a:stretch>
            <a:fillRect/>
          </a:stretch>
        </p:blipFill>
        <p:spPr>
          <a:xfrm>
            <a:off x="6008646" y="868242"/>
            <a:ext cx="207645" cy="229125"/>
          </a:xfrm>
          <a:prstGeom prst="rect">
            <a:avLst/>
          </a:prstGeom>
        </p:spPr>
      </p:pic>
      <p:pic>
        <p:nvPicPr>
          <p:cNvPr id="6" name="Picture 5">
            <a:extLst>
              <a:ext uri="{FF2B5EF4-FFF2-40B4-BE49-F238E27FC236}">
                <a16:creationId xmlns:a16="http://schemas.microsoft.com/office/drawing/2014/main" id="{4295C1F3-4ABB-3509-9B36-3EC51D91049C}"/>
              </a:ext>
            </a:extLst>
          </p:cNvPr>
          <p:cNvPicPr>
            <a:picLocks noChangeAspect="1"/>
          </p:cNvPicPr>
          <p:nvPr/>
        </p:nvPicPr>
        <p:blipFill>
          <a:blip r:embed="rId7"/>
          <a:stretch>
            <a:fillRect/>
          </a:stretch>
        </p:blipFill>
        <p:spPr>
          <a:xfrm>
            <a:off x="1374476" y="2100065"/>
            <a:ext cx="207645" cy="229125"/>
          </a:xfrm>
          <a:prstGeom prst="rect">
            <a:avLst/>
          </a:prstGeom>
        </p:spPr>
      </p:pic>
      <p:sp>
        <p:nvSpPr>
          <p:cNvPr id="33" name="Rectangle: Rounded Corners 32">
            <a:extLst>
              <a:ext uri="{FF2B5EF4-FFF2-40B4-BE49-F238E27FC236}">
                <a16:creationId xmlns:a16="http://schemas.microsoft.com/office/drawing/2014/main" id="{F6F70656-97FF-9183-F453-3747DA27C3D1}"/>
              </a:ext>
            </a:extLst>
          </p:cNvPr>
          <p:cNvSpPr/>
          <p:nvPr/>
        </p:nvSpPr>
        <p:spPr>
          <a:xfrm>
            <a:off x="3232825" y="2230500"/>
            <a:ext cx="1074401" cy="741700"/>
          </a:xfrm>
          <a:prstGeom prst="roundRect">
            <a:avLst/>
          </a:prstGeom>
          <a:solidFill>
            <a:srgbClr val="7151FD"/>
          </a:solidFill>
          <a:ln w="12700">
            <a:solidFill>
              <a:schemeClr val="bg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Filter for Germany</a:t>
            </a:r>
          </a:p>
        </p:txBody>
      </p:sp>
      <p:cxnSp>
        <p:nvCxnSpPr>
          <p:cNvPr id="13" name="Straight Arrow Connector 12">
            <a:extLst>
              <a:ext uri="{FF2B5EF4-FFF2-40B4-BE49-F238E27FC236}">
                <a16:creationId xmlns:a16="http://schemas.microsoft.com/office/drawing/2014/main" id="{09E88688-1505-AFCE-F3E3-AA407DFE0788}"/>
              </a:ext>
            </a:extLst>
          </p:cNvPr>
          <p:cNvCxnSpPr>
            <a:cxnSpLocks/>
            <a:stCxn id="33" idx="1"/>
            <a:endCxn id="613" idx="3"/>
          </p:cNvCxnSpPr>
          <p:nvPr/>
        </p:nvCxnSpPr>
        <p:spPr>
          <a:xfrm flipH="1">
            <a:off x="2969558" y="2601350"/>
            <a:ext cx="263267" cy="858"/>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8" name="TextBox 7">
            <a:extLst>
              <a:ext uri="{FF2B5EF4-FFF2-40B4-BE49-F238E27FC236}">
                <a16:creationId xmlns:a16="http://schemas.microsoft.com/office/drawing/2014/main" id="{21610CE4-8D87-08C5-3F57-013345B9054F}"/>
              </a:ext>
            </a:extLst>
          </p:cNvPr>
          <p:cNvSpPr txBox="1"/>
          <p:nvPr/>
        </p:nvSpPr>
        <p:spPr>
          <a:xfrm>
            <a:off x="2669136" y="2186983"/>
            <a:ext cx="440682" cy="400110"/>
          </a:xfrm>
          <a:prstGeom prst="rect">
            <a:avLst/>
          </a:prstGeom>
          <a:noFill/>
        </p:spPr>
        <p:txBody>
          <a:bodyPr wrap="square" rtlCol="0">
            <a:spAutoFit/>
          </a:bodyPr>
          <a:lstStyle/>
          <a:p>
            <a:r>
              <a:rPr lang="en-US" sz="2000" b="1" dirty="0">
                <a:solidFill>
                  <a:srgbClr val="FF0000"/>
                </a:solidFill>
              </a:rPr>
              <a:t>?</a:t>
            </a:r>
          </a:p>
        </p:txBody>
      </p:sp>
      <p:sp>
        <p:nvSpPr>
          <p:cNvPr id="17" name="TextBox 16">
            <a:extLst>
              <a:ext uri="{FF2B5EF4-FFF2-40B4-BE49-F238E27FC236}">
                <a16:creationId xmlns:a16="http://schemas.microsoft.com/office/drawing/2014/main" id="{60249AE2-9F30-38D9-EE7C-B60D0F157222}"/>
              </a:ext>
            </a:extLst>
          </p:cNvPr>
          <p:cNvSpPr txBox="1"/>
          <p:nvPr/>
        </p:nvSpPr>
        <p:spPr>
          <a:xfrm>
            <a:off x="5381627" y="2589223"/>
            <a:ext cx="440682" cy="400110"/>
          </a:xfrm>
          <a:prstGeom prst="rect">
            <a:avLst/>
          </a:prstGeom>
          <a:noFill/>
        </p:spPr>
        <p:txBody>
          <a:bodyPr wrap="square" rtlCol="0">
            <a:spAutoFit/>
          </a:bodyPr>
          <a:lstStyle/>
          <a:p>
            <a:r>
              <a:rPr lang="en-US" sz="2000" b="1" dirty="0">
                <a:solidFill>
                  <a:srgbClr val="FF0000"/>
                </a:solidFill>
              </a:rPr>
              <a:t>?</a:t>
            </a:r>
          </a:p>
        </p:txBody>
      </p:sp>
      <p:sp>
        <p:nvSpPr>
          <p:cNvPr id="18" name="Rectangle 17">
            <a:extLst>
              <a:ext uri="{FF2B5EF4-FFF2-40B4-BE49-F238E27FC236}">
                <a16:creationId xmlns:a16="http://schemas.microsoft.com/office/drawing/2014/main" id="{CD8874F2-AA73-9F4F-97ED-97C00B6A7030}"/>
              </a:ext>
            </a:extLst>
          </p:cNvPr>
          <p:cNvSpPr/>
          <p:nvPr/>
        </p:nvSpPr>
        <p:spPr>
          <a:xfrm>
            <a:off x="957071" y="710069"/>
            <a:ext cx="1074402" cy="192043"/>
          </a:xfrm>
          <a:prstGeom prst="rect">
            <a:avLst/>
          </a:prstGeom>
          <a:solidFill>
            <a:schemeClr val="accent6">
              <a:lumMod val="8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i="1" dirty="0">
                <a:solidFill>
                  <a:schemeClr val="tx1">
                    <a:lumMod val="85000"/>
                    <a:lumOff val="15000"/>
                  </a:schemeClr>
                </a:solidFill>
              </a:rPr>
              <a:t>Data Engineer</a:t>
            </a:r>
          </a:p>
        </p:txBody>
      </p:sp>
      <p:sp>
        <p:nvSpPr>
          <p:cNvPr id="15" name="Rectangle 14">
            <a:extLst>
              <a:ext uri="{FF2B5EF4-FFF2-40B4-BE49-F238E27FC236}">
                <a16:creationId xmlns:a16="http://schemas.microsoft.com/office/drawing/2014/main" id="{43952FF3-7D50-5E98-C549-4494794967CA}"/>
              </a:ext>
            </a:extLst>
          </p:cNvPr>
          <p:cNvSpPr/>
          <p:nvPr/>
        </p:nvSpPr>
        <p:spPr>
          <a:xfrm>
            <a:off x="6503185" y="823357"/>
            <a:ext cx="1818275" cy="103790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dirty="0">
                <a:solidFill>
                  <a:schemeClr val="bg1">
                    <a:lumMod val="95000"/>
                  </a:schemeClr>
                </a:solidFill>
                <a:latin typeface="Consolas" panose="020B0609020204030204" pitchFamily="49" charset="0"/>
              </a:rPr>
              <a:t>raw</a:t>
            </a:r>
          </a:p>
          <a:p>
            <a:r>
              <a:rPr lang="en-US" sz="800" dirty="0">
                <a:solidFill>
                  <a:schemeClr val="bg1">
                    <a:lumMod val="95000"/>
                  </a:schemeClr>
                </a:solidFill>
                <a:latin typeface="Consolas" panose="020B0609020204030204" pitchFamily="49" charset="0"/>
              </a:rPr>
              <a:t>└───2026-08-03T11-14-18Z</a:t>
            </a:r>
          </a:p>
          <a:p>
            <a:r>
              <a:rPr lang="en-US" sz="800" dirty="0">
                <a:solidFill>
                  <a:schemeClr val="bg1">
                    <a:lumMod val="95000"/>
                  </a:schemeClr>
                </a:solidFill>
                <a:latin typeface="Consolas" panose="020B0609020204030204" pitchFamily="49" charset="0"/>
              </a:rPr>
              <a:t>    │   job-</a:t>
            </a:r>
            <a:r>
              <a:rPr lang="en-US" sz="800" dirty="0" err="1">
                <a:solidFill>
                  <a:schemeClr val="bg1">
                    <a:lumMod val="95000"/>
                  </a:schemeClr>
                </a:solidFill>
                <a:latin typeface="Consolas" panose="020B0609020204030204" pitchFamily="49" charset="0"/>
              </a:rPr>
              <a:t>details.json</a:t>
            </a:r>
            <a:endParaRPr lang="en-US" sz="800" dirty="0">
              <a:solidFill>
                <a:schemeClr val="bg1">
                  <a:lumMod val="95000"/>
                </a:schemeClr>
              </a:solidFill>
              <a:latin typeface="Consolas" panose="020B0609020204030204" pitchFamily="49" charset="0"/>
            </a:endParaRPr>
          </a:p>
          <a:p>
            <a:r>
              <a:rPr lang="en-US" sz="800" dirty="0">
                <a:solidFill>
                  <a:schemeClr val="bg1">
                    <a:lumMod val="95000"/>
                  </a:schemeClr>
                </a:solidFill>
                <a:latin typeface="Consolas" panose="020B0609020204030204" pitchFamily="49" charset="0"/>
              </a:rPr>
              <a:t>    └───search-results</a:t>
            </a:r>
          </a:p>
          <a:p>
            <a:r>
              <a:rPr lang="en-US" sz="800" dirty="0">
                <a:solidFill>
                  <a:schemeClr val="bg1">
                    <a:lumMod val="95000"/>
                  </a:schemeClr>
                </a:solidFill>
                <a:latin typeface="Consolas" panose="020B0609020204030204" pitchFamily="49" charset="0"/>
              </a:rPr>
              <a:t>        └───data-engineer</a:t>
            </a:r>
          </a:p>
          <a:p>
            <a:r>
              <a:rPr lang="en-US" sz="800" dirty="0">
                <a:solidFill>
                  <a:schemeClr val="bg1">
                    <a:lumMod val="95000"/>
                  </a:schemeClr>
                </a:solidFill>
                <a:latin typeface="Consolas" panose="020B0609020204030204" pitchFamily="49" charset="0"/>
              </a:rPr>
              <a:t>                page-001.json</a:t>
            </a:r>
          </a:p>
          <a:p>
            <a:r>
              <a:rPr lang="en-US" sz="800" dirty="0">
                <a:solidFill>
                  <a:schemeClr val="bg1">
                    <a:lumMod val="95000"/>
                  </a:schemeClr>
                </a:solidFill>
                <a:latin typeface="Consolas" panose="020B0609020204030204" pitchFamily="49" charset="0"/>
              </a:rPr>
              <a:t>                page-002.json</a:t>
            </a:r>
          </a:p>
          <a:p>
            <a:r>
              <a:rPr lang="en-US" sz="800" dirty="0">
                <a:solidFill>
                  <a:schemeClr val="bg1">
                    <a:lumMod val="95000"/>
                  </a:schemeClr>
                </a:solidFill>
                <a:latin typeface="Consolas" panose="020B0609020204030204" pitchFamily="49" charset="0"/>
              </a:rPr>
              <a:t>                …</a:t>
            </a:r>
            <a:endParaRPr lang="en-US" sz="800" dirty="0"/>
          </a:p>
        </p:txBody>
      </p:sp>
      <p:sp>
        <p:nvSpPr>
          <p:cNvPr id="31" name="TextBox 30">
            <a:extLst>
              <a:ext uri="{FF2B5EF4-FFF2-40B4-BE49-F238E27FC236}">
                <a16:creationId xmlns:a16="http://schemas.microsoft.com/office/drawing/2014/main" id="{7654D89E-0973-D21C-E6E0-4EE44A302FEA}"/>
              </a:ext>
            </a:extLst>
          </p:cNvPr>
          <p:cNvSpPr txBox="1"/>
          <p:nvPr/>
        </p:nvSpPr>
        <p:spPr>
          <a:xfrm rot="16200000">
            <a:off x="5450191" y="1963707"/>
            <a:ext cx="1035861" cy="246221"/>
          </a:xfrm>
          <a:prstGeom prst="rect">
            <a:avLst/>
          </a:prstGeom>
          <a:noFill/>
        </p:spPr>
        <p:txBody>
          <a:bodyPr wrap="none" rtlCol="0">
            <a:spAutoFit/>
          </a:bodyPr>
          <a:lstStyle/>
          <a:p>
            <a:r>
              <a:rPr lang="en-US" sz="1000" dirty="0"/>
              <a:t>job-</a:t>
            </a:r>
            <a:r>
              <a:rPr lang="en-US" sz="1000" dirty="0" err="1"/>
              <a:t>details.json</a:t>
            </a:r>
            <a:endParaRPr lang="en-US" sz="1000" dirty="0"/>
          </a:p>
        </p:txBody>
      </p:sp>
      <p:sp>
        <p:nvSpPr>
          <p:cNvPr id="34" name="TextBox 33">
            <a:extLst>
              <a:ext uri="{FF2B5EF4-FFF2-40B4-BE49-F238E27FC236}">
                <a16:creationId xmlns:a16="http://schemas.microsoft.com/office/drawing/2014/main" id="{5597AE61-4F4E-AE7B-4DD1-CEEE7F067E1D}"/>
              </a:ext>
            </a:extLst>
          </p:cNvPr>
          <p:cNvSpPr txBox="1"/>
          <p:nvPr/>
        </p:nvSpPr>
        <p:spPr>
          <a:xfrm rot="16200000">
            <a:off x="1063519" y="3187559"/>
            <a:ext cx="1035861" cy="246221"/>
          </a:xfrm>
          <a:prstGeom prst="rect">
            <a:avLst/>
          </a:prstGeom>
          <a:noFill/>
        </p:spPr>
        <p:txBody>
          <a:bodyPr wrap="none" rtlCol="0">
            <a:spAutoFit/>
          </a:bodyPr>
          <a:lstStyle/>
          <a:p>
            <a:r>
              <a:rPr lang="en-US" sz="1000" dirty="0"/>
              <a:t>clean-</a:t>
            </a:r>
            <a:r>
              <a:rPr lang="en-US" sz="1000" dirty="0" err="1"/>
              <a:t>jobs.json</a:t>
            </a:r>
            <a:endParaRPr lang="en-US" sz="1000" dirty="0"/>
          </a:p>
        </p:txBody>
      </p:sp>
      <p:pic>
        <p:nvPicPr>
          <p:cNvPr id="58" name="Picture 57">
            <a:extLst>
              <a:ext uri="{FF2B5EF4-FFF2-40B4-BE49-F238E27FC236}">
                <a16:creationId xmlns:a16="http://schemas.microsoft.com/office/drawing/2014/main" id="{CC821966-7098-1CCC-5471-E9F4E64779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6060" y="873292"/>
            <a:ext cx="236446" cy="236446"/>
          </a:xfrm>
          <a:prstGeom prst="rect">
            <a:avLst/>
          </a:prstGeom>
          <a:noFill/>
          <a:ln>
            <a:noFill/>
          </a:ln>
        </p:spPr>
      </p:pic>
      <p:pic>
        <p:nvPicPr>
          <p:cNvPr id="576" name="Picture 575">
            <a:extLst>
              <a:ext uri="{FF2B5EF4-FFF2-40B4-BE49-F238E27FC236}">
                <a16:creationId xmlns:a16="http://schemas.microsoft.com/office/drawing/2014/main" id="{24198CED-B92D-CD27-CD1A-0934578E9B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8582" y="873292"/>
            <a:ext cx="236446" cy="236446"/>
          </a:xfrm>
          <a:prstGeom prst="rect">
            <a:avLst/>
          </a:prstGeom>
          <a:noFill/>
          <a:ln>
            <a:noFill/>
          </a:ln>
        </p:spPr>
      </p:pic>
      <p:pic>
        <p:nvPicPr>
          <p:cNvPr id="580" name="Picture 579">
            <a:extLst>
              <a:ext uri="{FF2B5EF4-FFF2-40B4-BE49-F238E27FC236}">
                <a16:creationId xmlns:a16="http://schemas.microsoft.com/office/drawing/2014/main" id="{1AD12BAD-02CF-FF5B-C2C9-D2A6B430C869}"/>
              </a:ext>
            </a:extLst>
          </p:cNvPr>
          <p:cNvPicPr>
            <a:picLocks noChangeAspect="1"/>
          </p:cNvPicPr>
          <p:nvPr/>
        </p:nvPicPr>
        <p:blipFill>
          <a:blip r:embed="rId5"/>
          <a:stretch>
            <a:fillRect/>
          </a:stretch>
        </p:blipFill>
        <p:spPr>
          <a:xfrm>
            <a:off x="2610502" y="1137040"/>
            <a:ext cx="393496" cy="452741"/>
          </a:xfrm>
          <a:prstGeom prst="rect">
            <a:avLst/>
          </a:prstGeom>
        </p:spPr>
      </p:pic>
      <p:pic>
        <p:nvPicPr>
          <p:cNvPr id="581" name="Picture 580">
            <a:extLst>
              <a:ext uri="{FF2B5EF4-FFF2-40B4-BE49-F238E27FC236}">
                <a16:creationId xmlns:a16="http://schemas.microsoft.com/office/drawing/2014/main" id="{D5E29193-0F38-9A6F-64C5-3040708034EA}"/>
              </a:ext>
            </a:extLst>
          </p:cNvPr>
          <p:cNvPicPr>
            <a:picLocks noChangeAspect="1"/>
          </p:cNvPicPr>
          <p:nvPr/>
        </p:nvPicPr>
        <p:blipFill>
          <a:blip r:embed="rId7"/>
          <a:stretch>
            <a:fillRect/>
          </a:stretch>
        </p:blipFill>
        <p:spPr>
          <a:xfrm>
            <a:off x="2708197" y="873292"/>
            <a:ext cx="207645" cy="229125"/>
          </a:xfrm>
          <a:prstGeom prst="rect">
            <a:avLst/>
          </a:prstGeom>
        </p:spPr>
      </p:pic>
      <p:cxnSp>
        <p:nvCxnSpPr>
          <p:cNvPr id="583" name="Straight Arrow Connector 582">
            <a:extLst>
              <a:ext uri="{FF2B5EF4-FFF2-40B4-BE49-F238E27FC236}">
                <a16:creationId xmlns:a16="http://schemas.microsoft.com/office/drawing/2014/main" id="{93E5D6DA-0F5C-1511-0B69-E24C50D36795}"/>
              </a:ext>
            </a:extLst>
          </p:cNvPr>
          <p:cNvCxnSpPr>
            <a:cxnSpLocks/>
            <a:stCxn id="580" idx="3"/>
            <a:endCxn id="586" idx="1"/>
          </p:cNvCxnSpPr>
          <p:nvPr/>
        </p:nvCxnSpPr>
        <p:spPr>
          <a:xfrm>
            <a:off x="3003998" y="1363411"/>
            <a:ext cx="230914" cy="0"/>
          </a:xfrm>
          <a:prstGeom prst="straightConnector1">
            <a:avLst/>
          </a:prstGeom>
          <a:ln w="1905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95686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9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7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2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2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8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4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9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 grpId="0" animBg="1"/>
      <p:bldP spid="586" grpId="0" animBg="1"/>
      <p:bldP spid="596" grpId="0" animBg="1"/>
      <p:bldP spid="613" grpId="0" animBg="1"/>
      <p:bldP spid="615" grpId="0" animBg="1"/>
      <p:bldP spid="646" grpId="0" animBg="1"/>
      <p:bldP spid="681" grpId="0" animBg="1"/>
      <p:bldP spid="33" grpId="0" animBg="1"/>
      <p:bldP spid="8" grpId="0"/>
      <p:bldP spid="17" grpId="0"/>
      <p:bldP spid="18" grpId="0" animBg="1"/>
      <p:bldP spid="15" grpId="0" animBg="1"/>
      <p:bldP spid="31"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B1FAE6A0-51A5-DC4B-6948-77D378DD9E5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972D8162-C66D-ED2D-08E7-2F0D377B6B7B}"/>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lvl="0"/>
            <a:r>
              <a:rPr lang="en-US" b="1" dirty="0">
                <a:latin typeface="Work Sans"/>
                <a:ea typeface="Work Sans"/>
                <a:cs typeface="Work Sans"/>
                <a:sym typeface="Work Sans"/>
              </a:rPr>
              <a:t>Job Data Enrichment: </a:t>
            </a:r>
            <a:r>
              <a:rPr lang="en-US" dirty="0">
                <a:latin typeface="Work Sans"/>
                <a:ea typeface="Work Sans"/>
                <a:cs typeface="Work Sans"/>
                <a:sym typeface="Work Sans"/>
              </a:rPr>
              <a:t>Geocoding and Classification</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F4DFA2C3-2055-74F2-E79B-81D5C71EA312}"/>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50AAA7DA-E26D-34E8-FA55-17ED6D611285}"/>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5" name="TextBox 4">
            <a:extLst>
              <a:ext uri="{FF2B5EF4-FFF2-40B4-BE49-F238E27FC236}">
                <a16:creationId xmlns:a16="http://schemas.microsoft.com/office/drawing/2014/main" id="{DE00A5D5-F740-A6FB-C694-F36F173307A0}"/>
              </a:ext>
            </a:extLst>
          </p:cNvPr>
          <p:cNvSpPr txBox="1"/>
          <p:nvPr/>
        </p:nvSpPr>
        <p:spPr>
          <a:xfrm>
            <a:off x="1552575" y="663535"/>
            <a:ext cx="6038850" cy="3754874"/>
          </a:xfrm>
          <a:prstGeom prst="rect">
            <a:avLst/>
          </a:prstGeom>
          <a:noFill/>
        </p:spPr>
        <p:txBody>
          <a:bodyPr wrap="square">
            <a:spAutoFit/>
          </a:bodyPr>
          <a:lstStyle/>
          <a:p>
            <a:r>
              <a:rPr lang="en-US" b="1" dirty="0"/>
              <a:t>Location enrichment</a:t>
            </a:r>
            <a:endParaRPr lang="en-US" dirty="0"/>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Jobs with existing coordinates keep those coordinates unchanged.</a:t>
            </a:r>
          </a:p>
          <a:p>
            <a:pPr lvl="0"/>
            <a:endParaRPr lang="en-US" sz="1000" dirty="0"/>
          </a:p>
          <a:p>
            <a:pPr marL="285750" lvl="0" indent="-285750">
              <a:buFont typeface="Arial" panose="020B0604020202020204" pitchFamily="34" charset="0"/>
              <a:buChar char="•"/>
            </a:pPr>
            <a:r>
              <a:rPr lang="en-US" dirty="0"/>
              <a:t>If coordinates are missing, we use </a:t>
            </a:r>
            <a:r>
              <a:rPr lang="en-US" b="1" dirty="0"/>
              <a:t>city, postal code </a:t>
            </a:r>
            <a:r>
              <a:rPr lang="en-US" dirty="0"/>
              <a:t>and</a:t>
            </a:r>
            <a:r>
              <a:rPr lang="en-US" b="1" dirty="0"/>
              <a:t> country</a:t>
            </a:r>
            <a:r>
              <a:rPr lang="en-US" dirty="0"/>
              <a:t> with </a:t>
            </a:r>
            <a:r>
              <a:rPr lang="en-US" b="1" dirty="0" err="1"/>
              <a:t>Nominatim</a:t>
            </a:r>
            <a:r>
              <a:rPr lang="en-US" b="1" dirty="0"/>
              <a:t> </a:t>
            </a:r>
            <a:r>
              <a:rPr lang="en-US" dirty="0"/>
              <a:t>via</a:t>
            </a:r>
            <a:r>
              <a:rPr lang="en-US" b="1" dirty="0"/>
              <a:t> </a:t>
            </a:r>
            <a:r>
              <a:rPr lang="en-US" b="1" dirty="0" err="1"/>
              <a:t>geopy</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This provides latitude and longitude for the map where possible. </a:t>
            </a:r>
          </a:p>
          <a:p>
            <a:endParaRPr lang="en-US" b="1" dirty="0"/>
          </a:p>
          <a:p>
            <a:r>
              <a:rPr lang="en-US" b="1" dirty="0"/>
              <a:t>Job classification</a:t>
            </a:r>
            <a:endParaRPr lang="en-US" dirty="0"/>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Raw job titles are too </a:t>
            </a:r>
            <a:r>
              <a:rPr lang="en-US" b="1" dirty="0"/>
              <a:t>heterogeneous</a:t>
            </a:r>
            <a:r>
              <a:rPr lang="en-US" dirty="0"/>
              <a:t> for consistent analysis.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We therefore apply a </a:t>
            </a:r>
            <a:r>
              <a:rPr lang="en-US" b="1" dirty="0"/>
              <a:t>rule-based </a:t>
            </a:r>
            <a:r>
              <a:rPr lang="en-US" dirty="0"/>
              <a:t>classifier to </a:t>
            </a:r>
            <a:r>
              <a:rPr lang="en-US" b="1" dirty="0"/>
              <a:t>title + occupation</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Jobs are mapped to broad categories such as </a:t>
            </a:r>
            <a:r>
              <a:rPr lang="en-US" b="1" dirty="0"/>
              <a:t>Data Engineering</a:t>
            </a:r>
            <a:r>
              <a:rPr lang="en-US" dirty="0"/>
              <a:t>,</a:t>
            </a:r>
            <a:r>
              <a:rPr lang="en-US" b="1" dirty="0"/>
              <a:t> Data Analysis </a:t>
            </a:r>
            <a:r>
              <a:rPr lang="en-US" dirty="0"/>
              <a:t>or</a:t>
            </a:r>
            <a:r>
              <a:rPr lang="en-US" b="1" dirty="0"/>
              <a:t> Backend Development</a:t>
            </a:r>
            <a:r>
              <a:rPr lang="en-US" dirty="0"/>
              <a:t>. </a:t>
            </a:r>
          </a:p>
          <a:p>
            <a:pPr marL="285750" lvl="0" indent="-285750">
              <a:buFont typeface="Arial" panose="020B0604020202020204" pitchFamily="34" charset="0"/>
              <a:buChar char="•"/>
            </a:pPr>
            <a:endParaRPr lang="en-US" sz="1000" dirty="0"/>
          </a:p>
          <a:p>
            <a:pPr marL="285750" lvl="0" indent="-285750">
              <a:buFont typeface="Arial" panose="020B0604020202020204" pitchFamily="34" charset="0"/>
              <a:buChar char="•"/>
            </a:pPr>
            <a:r>
              <a:rPr lang="en-US" dirty="0"/>
              <a:t>If no rule matches, the category is </a:t>
            </a:r>
            <a:r>
              <a:rPr lang="en-US" b="1" dirty="0"/>
              <a:t>Other</a:t>
            </a:r>
            <a:r>
              <a:rPr lang="en-US" dirty="0"/>
              <a:t>.</a:t>
            </a:r>
          </a:p>
        </p:txBody>
      </p:sp>
    </p:spTree>
    <p:extLst>
      <p:ext uri="{BB962C8B-B14F-4D97-AF65-F5344CB8AC3E}">
        <p14:creationId xmlns:p14="http://schemas.microsoft.com/office/powerpoint/2010/main" val="2141222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52997488-2C12-DDBC-DB44-0D8980A2D0FE}"/>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A290BDE-2C9F-46D6-5D95-8F86A5CC646B}"/>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Job Freshness: </a:t>
            </a:r>
            <a:r>
              <a:rPr lang="en-US" dirty="0">
                <a:latin typeface="Work Sans"/>
                <a:ea typeface="Work Sans"/>
                <a:cs typeface="Work Sans"/>
                <a:sym typeface="Work Sans"/>
              </a:rPr>
              <a:t>Actual Updates vs. Republications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64DCCE95-1452-4925-4FA7-D103926B3664}"/>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97F795AE-4770-9ADD-6FD6-49CC0B47EBC5}"/>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5" name="TextBox 4">
            <a:extLst>
              <a:ext uri="{FF2B5EF4-FFF2-40B4-BE49-F238E27FC236}">
                <a16:creationId xmlns:a16="http://schemas.microsoft.com/office/drawing/2014/main" id="{40089255-2033-5307-E307-A9E0899A7E63}"/>
              </a:ext>
            </a:extLst>
          </p:cNvPr>
          <p:cNvSpPr txBox="1"/>
          <p:nvPr/>
        </p:nvSpPr>
        <p:spPr>
          <a:xfrm>
            <a:off x="1552575" y="1415605"/>
            <a:ext cx="6038850" cy="2031325"/>
          </a:xfrm>
          <a:prstGeom prst="rect">
            <a:avLst/>
          </a:prstGeom>
          <a:noFill/>
        </p:spPr>
        <p:txBody>
          <a:bodyPr wrap="square">
            <a:spAutoFit/>
          </a:bodyPr>
          <a:lstStyle/>
          <a:p>
            <a:pPr marL="285750" lvl="0" indent="-285750">
              <a:buFont typeface="Arial" panose="020B0604020202020204" pitchFamily="34" charset="0"/>
              <a:buChar char="•"/>
            </a:pPr>
            <a:r>
              <a:rPr lang="en-US" dirty="0"/>
              <a:t>A </a:t>
            </a:r>
            <a:r>
              <a:rPr lang="en-US" b="1" dirty="0"/>
              <a:t>recent </a:t>
            </a:r>
            <a:r>
              <a:rPr lang="en-US" dirty="0"/>
              <a:t>publication date does</a:t>
            </a:r>
            <a:r>
              <a:rPr lang="en-US" b="1" dirty="0"/>
              <a:t> not </a:t>
            </a:r>
            <a:r>
              <a:rPr lang="en-US" dirty="0"/>
              <a:t>necessarily mean a </a:t>
            </a:r>
            <a:r>
              <a:rPr lang="en-US" b="1" dirty="0"/>
              <a:t>new </a:t>
            </a:r>
            <a:r>
              <a:rPr lang="en-US" dirty="0"/>
              <a:t>advertisement; jobs can be republished without changes.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We compare the current API data with PostgreSQL: a changed </a:t>
            </a:r>
            <a:r>
              <a:rPr lang="en-US" b="1" dirty="0" err="1"/>
              <a:t>modified_at</a:t>
            </a:r>
            <a:r>
              <a:rPr lang="en-US" b="1" dirty="0"/>
              <a:t> </a:t>
            </a:r>
            <a:r>
              <a:rPr lang="en-US" dirty="0"/>
              <a:t>means an </a:t>
            </a:r>
            <a:r>
              <a:rPr lang="en-US" b="1" dirty="0"/>
              <a:t>actual update</a:t>
            </a:r>
            <a:r>
              <a:rPr lang="en-US" dirty="0"/>
              <a:t>, while only a changed </a:t>
            </a:r>
            <a:r>
              <a:rPr lang="en-US" b="1" dirty="0"/>
              <a:t>publication date </a:t>
            </a:r>
            <a:r>
              <a:rPr lang="en-US" dirty="0"/>
              <a:t>means an </a:t>
            </a:r>
            <a:r>
              <a:rPr lang="en-US" b="1" dirty="0"/>
              <a:t>unchanged republication</a:t>
            </a:r>
            <a:r>
              <a:rPr lang="en-US" dirty="0"/>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This lets us show a more meaningful </a:t>
            </a:r>
            <a:r>
              <a:rPr lang="en-US" b="1" dirty="0"/>
              <a:t>freshness summary</a:t>
            </a:r>
            <a:r>
              <a:rPr lang="en-US" dirty="0"/>
              <a:t> in the frontend.</a:t>
            </a:r>
          </a:p>
        </p:txBody>
      </p:sp>
    </p:spTree>
    <p:extLst>
      <p:ext uri="{BB962C8B-B14F-4D97-AF65-F5344CB8AC3E}">
        <p14:creationId xmlns:p14="http://schemas.microsoft.com/office/powerpoint/2010/main" val="327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7BF3A4B-4FD4-17A3-4F5D-5E54755B72B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9444DA0-BFF9-97F9-09FE-D2F5A270EE64}"/>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Job Search: </a:t>
            </a:r>
            <a:r>
              <a:rPr lang="en-US" dirty="0">
                <a:latin typeface="Work Sans"/>
                <a:ea typeface="Work Sans"/>
                <a:cs typeface="Work Sans"/>
                <a:sym typeface="Work Sans"/>
              </a:rPr>
              <a:t>Structured Filtering vs. Full-Text Search</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F974A1D-7C6D-BE98-B8E4-C10923CCBE5D}"/>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A533CFA-D806-6168-BDD7-872536BFE2D2}"/>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659" name="Rectangle 658">
            <a:extLst>
              <a:ext uri="{FF2B5EF4-FFF2-40B4-BE49-F238E27FC236}">
                <a16:creationId xmlns:a16="http://schemas.microsoft.com/office/drawing/2014/main" id="{BC9C1D7B-62FD-0EBA-83D3-2D8F6F584FF2}"/>
              </a:ext>
            </a:extLst>
          </p:cNvPr>
          <p:cNvSpPr/>
          <p:nvPr/>
        </p:nvSpPr>
        <p:spPr>
          <a:xfrm>
            <a:off x="6449251" y="2686938"/>
            <a:ext cx="1278838" cy="982783"/>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lumMod val="85000"/>
                    <a:lumOff val="15000"/>
                  </a:schemeClr>
                </a:solidFill>
              </a:rPr>
              <a:t>Search relevance:</a:t>
            </a:r>
          </a:p>
          <a:p>
            <a:r>
              <a:rPr lang="en-US" sz="1000" dirty="0">
                <a:solidFill>
                  <a:schemeClr val="tx1">
                    <a:lumMod val="85000"/>
                    <a:lumOff val="15000"/>
                  </a:schemeClr>
                </a:solidFill>
              </a:rPr>
              <a:t>Title ×4</a:t>
            </a:r>
            <a:br>
              <a:rPr lang="en-US" sz="1000" dirty="0">
                <a:solidFill>
                  <a:schemeClr val="tx1">
                    <a:lumMod val="85000"/>
                    <a:lumOff val="15000"/>
                  </a:schemeClr>
                </a:solidFill>
              </a:rPr>
            </a:br>
            <a:r>
              <a:rPr lang="en-US" sz="1000" dirty="0">
                <a:solidFill>
                  <a:schemeClr val="tx1">
                    <a:lumMod val="85000"/>
                    <a:lumOff val="15000"/>
                  </a:schemeClr>
                </a:solidFill>
              </a:rPr>
              <a:t>Occupation ×3</a:t>
            </a:r>
            <a:br>
              <a:rPr lang="en-US" sz="1000" dirty="0">
                <a:solidFill>
                  <a:schemeClr val="tx1">
                    <a:lumMod val="85000"/>
                    <a:lumOff val="15000"/>
                  </a:schemeClr>
                </a:solidFill>
              </a:rPr>
            </a:br>
            <a:r>
              <a:rPr lang="en-US" sz="1000" dirty="0">
                <a:solidFill>
                  <a:schemeClr val="tx1">
                    <a:lumMod val="85000"/>
                    <a:lumOff val="15000"/>
                  </a:schemeClr>
                </a:solidFill>
              </a:rPr>
              <a:t>Company ×2</a:t>
            </a:r>
            <a:br>
              <a:rPr lang="en-US" sz="1000" dirty="0">
                <a:solidFill>
                  <a:schemeClr val="tx1">
                    <a:lumMod val="85000"/>
                    <a:lumOff val="15000"/>
                  </a:schemeClr>
                </a:solidFill>
              </a:rPr>
            </a:br>
            <a:r>
              <a:rPr lang="en-US" sz="1000" dirty="0">
                <a:solidFill>
                  <a:schemeClr val="tx1">
                    <a:lumMod val="85000"/>
                    <a:lumOff val="15000"/>
                  </a:schemeClr>
                </a:solidFill>
              </a:rPr>
              <a:t>Category ×2</a:t>
            </a:r>
            <a:br>
              <a:rPr lang="en-US" sz="1000" dirty="0">
                <a:solidFill>
                  <a:schemeClr val="tx1">
                    <a:lumMod val="85000"/>
                    <a:lumOff val="15000"/>
                  </a:schemeClr>
                </a:solidFill>
              </a:rPr>
            </a:br>
            <a:r>
              <a:rPr lang="en-US" sz="1000" dirty="0">
                <a:solidFill>
                  <a:schemeClr val="tx1">
                    <a:lumMod val="85000"/>
                    <a:lumOff val="15000"/>
                  </a:schemeClr>
                </a:solidFill>
              </a:rPr>
              <a:t>Description ×1</a:t>
            </a:r>
          </a:p>
        </p:txBody>
      </p:sp>
      <p:sp>
        <p:nvSpPr>
          <p:cNvPr id="724" name="TextBox 723">
            <a:extLst>
              <a:ext uri="{FF2B5EF4-FFF2-40B4-BE49-F238E27FC236}">
                <a16:creationId xmlns:a16="http://schemas.microsoft.com/office/drawing/2014/main" id="{E30231C9-5DEE-0150-5636-ECE41C1571F7}"/>
              </a:ext>
            </a:extLst>
          </p:cNvPr>
          <p:cNvSpPr txBox="1"/>
          <p:nvPr/>
        </p:nvSpPr>
        <p:spPr>
          <a:xfrm>
            <a:off x="3489969" y="1888377"/>
            <a:ext cx="418289" cy="246221"/>
          </a:xfrm>
          <a:prstGeom prst="rect">
            <a:avLst/>
          </a:prstGeom>
          <a:noFill/>
        </p:spPr>
        <p:txBody>
          <a:bodyPr wrap="square" rtlCol="0">
            <a:spAutoFit/>
          </a:bodyPr>
          <a:lstStyle/>
          <a:p>
            <a:r>
              <a:rPr lang="en-US" sz="1000" dirty="0"/>
              <a:t>no</a:t>
            </a:r>
          </a:p>
        </p:txBody>
      </p:sp>
      <p:sp>
        <p:nvSpPr>
          <p:cNvPr id="725" name="Diamond 724">
            <a:extLst>
              <a:ext uri="{FF2B5EF4-FFF2-40B4-BE49-F238E27FC236}">
                <a16:creationId xmlns:a16="http://schemas.microsoft.com/office/drawing/2014/main" id="{B3A5A0BC-7DE4-F064-1A9E-090F4F5BABF0}"/>
              </a:ext>
            </a:extLst>
          </p:cNvPr>
          <p:cNvSpPr/>
          <p:nvPr/>
        </p:nvSpPr>
        <p:spPr>
          <a:xfrm>
            <a:off x="3793707" y="1620016"/>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Free-text query provided?</a:t>
            </a:r>
          </a:p>
        </p:txBody>
      </p:sp>
      <p:sp>
        <p:nvSpPr>
          <p:cNvPr id="726" name="TextBox 725">
            <a:extLst>
              <a:ext uri="{FF2B5EF4-FFF2-40B4-BE49-F238E27FC236}">
                <a16:creationId xmlns:a16="http://schemas.microsoft.com/office/drawing/2014/main" id="{D27BA92E-8FCE-482C-A3B4-B4905ED5032F}"/>
              </a:ext>
            </a:extLst>
          </p:cNvPr>
          <p:cNvSpPr txBox="1"/>
          <p:nvPr/>
        </p:nvSpPr>
        <p:spPr>
          <a:xfrm>
            <a:off x="4903984" y="1888999"/>
            <a:ext cx="418289" cy="246221"/>
          </a:xfrm>
          <a:prstGeom prst="rect">
            <a:avLst/>
          </a:prstGeom>
          <a:noFill/>
        </p:spPr>
        <p:txBody>
          <a:bodyPr wrap="square" rtlCol="0">
            <a:spAutoFit/>
          </a:bodyPr>
          <a:lstStyle/>
          <a:p>
            <a:r>
              <a:rPr lang="en-US" sz="1000" dirty="0"/>
              <a:t>yes</a:t>
            </a:r>
          </a:p>
        </p:txBody>
      </p:sp>
      <p:grpSp>
        <p:nvGrpSpPr>
          <p:cNvPr id="727" name="Group 726">
            <a:extLst>
              <a:ext uri="{FF2B5EF4-FFF2-40B4-BE49-F238E27FC236}">
                <a16:creationId xmlns:a16="http://schemas.microsoft.com/office/drawing/2014/main" id="{DBCDB624-8F1A-2E4E-05DF-1A81980CFE97}"/>
              </a:ext>
            </a:extLst>
          </p:cNvPr>
          <p:cNvGrpSpPr/>
          <p:nvPr/>
        </p:nvGrpSpPr>
        <p:grpSpPr>
          <a:xfrm>
            <a:off x="2812432" y="2686253"/>
            <a:ext cx="1443854" cy="838350"/>
            <a:chOff x="5626961" y="2978068"/>
            <a:chExt cx="1443854" cy="838350"/>
          </a:xfrm>
        </p:grpSpPr>
        <p:sp>
          <p:nvSpPr>
            <p:cNvPr id="728" name="Rectangle: Rounded Corners 727">
              <a:extLst>
                <a:ext uri="{FF2B5EF4-FFF2-40B4-BE49-F238E27FC236}">
                  <a16:creationId xmlns:a16="http://schemas.microsoft.com/office/drawing/2014/main" id="{FE16D183-21A0-DA9E-2EEB-7E98FD6F0825}"/>
                </a:ext>
              </a:extLst>
            </p:cNvPr>
            <p:cNvSpPr/>
            <p:nvPr/>
          </p:nvSpPr>
          <p:spPr>
            <a:xfrm>
              <a:off x="5626961"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structured filters. Order by publication date, newest first.</a:t>
              </a:r>
            </a:p>
          </p:txBody>
        </p:sp>
        <p:pic>
          <p:nvPicPr>
            <p:cNvPr id="729" name="Picture 728" descr="File:PostgreSQL logo.3colors.540x557.png">
              <a:extLst>
                <a:ext uri="{FF2B5EF4-FFF2-40B4-BE49-F238E27FC236}">
                  <a16:creationId xmlns:a16="http://schemas.microsoft.com/office/drawing/2014/main" id="{E22F6A8B-D417-F57D-DB72-B130057B8677}"/>
                </a:ext>
              </a:extLst>
            </p:cNvPr>
            <p:cNvPicPr>
              <a:picLocks noChangeAspect="1"/>
            </p:cNvPicPr>
            <p:nvPr/>
          </p:nvPicPr>
          <p:blipFill>
            <a:blip r:embed="rId4"/>
            <a:stretch>
              <a:fillRect/>
            </a:stretch>
          </p:blipFill>
          <p:spPr>
            <a:xfrm>
              <a:off x="5755192" y="3044384"/>
              <a:ext cx="181196" cy="186901"/>
            </a:xfrm>
            <a:prstGeom prst="rect">
              <a:avLst/>
            </a:prstGeom>
          </p:spPr>
        </p:pic>
      </p:grpSp>
      <p:cxnSp>
        <p:nvCxnSpPr>
          <p:cNvPr id="730" name="Connector: Elbow 729">
            <a:extLst>
              <a:ext uri="{FF2B5EF4-FFF2-40B4-BE49-F238E27FC236}">
                <a16:creationId xmlns:a16="http://schemas.microsoft.com/office/drawing/2014/main" id="{DCAA579F-7B0A-13F2-0018-8281E09919DD}"/>
              </a:ext>
            </a:extLst>
          </p:cNvPr>
          <p:cNvCxnSpPr>
            <a:cxnSpLocks/>
            <a:stCxn id="725" idx="1"/>
            <a:endCxn id="728" idx="0"/>
          </p:cNvCxnSpPr>
          <p:nvPr/>
        </p:nvCxnSpPr>
        <p:spPr>
          <a:xfrm rot="10800000" flipV="1">
            <a:off x="3534359" y="2142271"/>
            <a:ext cx="259348" cy="54398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1" name="Connector: Elbow 730">
            <a:extLst>
              <a:ext uri="{FF2B5EF4-FFF2-40B4-BE49-F238E27FC236}">
                <a16:creationId xmlns:a16="http://schemas.microsoft.com/office/drawing/2014/main" id="{1876835A-A93B-2E64-D7DB-61D807172805}"/>
              </a:ext>
            </a:extLst>
          </p:cNvPr>
          <p:cNvCxnSpPr>
            <a:cxnSpLocks/>
            <a:stCxn id="725" idx="3"/>
            <a:endCxn id="733" idx="0"/>
          </p:cNvCxnSpPr>
          <p:nvPr/>
        </p:nvCxnSpPr>
        <p:spPr>
          <a:xfrm>
            <a:off x="4922985" y="2142271"/>
            <a:ext cx="258786" cy="541698"/>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ED6EC862-5E29-09F1-BD19-07385893C25E}"/>
              </a:ext>
            </a:extLst>
          </p:cNvPr>
          <p:cNvGrpSpPr/>
          <p:nvPr/>
        </p:nvGrpSpPr>
        <p:grpSpPr>
          <a:xfrm>
            <a:off x="4459844" y="2683969"/>
            <a:ext cx="1443854" cy="838352"/>
            <a:chOff x="7371477" y="2971818"/>
            <a:chExt cx="1443854" cy="838352"/>
          </a:xfrm>
        </p:grpSpPr>
        <p:sp>
          <p:nvSpPr>
            <p:cNvPr id="733" name="Rectangle: Rounded Corners 732">
              <a:extLst>
                <a:ext uri="{FF2B5EF4-FFF2-40B4-BE49-F238E27FC236}">
                  <a16:creationId xmlns:a16="http://schemas.microsoft.com/office/drawing/2014/main" id="{F647C8D1-D4A4-9227-CB74-00F21A33EFC7}"/>
                </a:ext>
              </a:extLst>
            </p:cNvPr>
            <p:cNvSpPr/>
            <p:nvPr/>
          </p:nvSpPr>
          <p:spPr>
            <a:xfrm>
              <a:off x="7371477" y="2971818"/>
              <a:ext cx="144385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free-text search + structured filters.</a:t>
              </a:r>
            </a:p>
            <a:p>
              <a:r>
                <a:rPr lang="en-US" sz="1000" dirty="0">
                  <a:solidFill>
                    <a:schemeClr val="tx1">
                      <a:lumMod val="85000"/>
                      <a:lumOff val="15000"/>
                    </a:schemeClr>
                  </a:solidFill>
                </a:rPr>
                <a:t>Rank by relevance.</a:t>
              </a:r>
            </a:p>
          </p:txBody>
        </p:sp>
        <p:pic>
          <p:nvPicPr>
            <p:cNvPr id="734" name="Picture 733">
              <a:extLst>
                <a:ext uri="{FF2B5EF4-FFF2-40B4-BE49-F238E27FC236}">
                  <a16:creationId xmlns:a16="http://schemas.microsoft.com/office/drawing/2014/main" id="{70BF3CFB-0853-5F34-9BAF-7BEA1CE9A465}"/>
                </a:ext>
              </a:extLst>
            </p:cNvPr>
            <p:cNvPicPr>
              <a:picLocks noChangeAspect="1"/>
            </p:cNvPicPr>
            <p:nvPr/>
          </p:nvPicPr>
          <p:blipFill>
            <a:blip r:embed="rId5"/>
            <a:stretch>
              <a:fillRect/>
            </a:stretch>
          </p:blipFill>
          <p:spPr>
            <a:xfrm>
              <a:off x="7490842" y="3037630"/>
              <a:ext cx="189689" cy="189689"/>
            </a:xfrm>
            <a:prstGeom prst="rect">
              <a:avLst/>
            </a:prstGeom>
          </p:spPr>
        </p:pic>
      </p:grpSp>
      <p:cxnSp>
        <p:nvCxnSpPr>
          <p:cNvPr id="736" name="Straight Arrow Connector 735">
            <a:extLst>
              <a:ext uri="{FF2B5EF4-FFF2-40B4-BE49-F238E27FC236}">
                <a16:creationId xmlns:a16="http://schemas.microsoft.com/office/drawing/2014/main" id="{47998689-CC99-028C-26A4-CCFE61FB34F5}"/>
              </a:ext>
            </a:extLst>
          </p:cNvPr>
          <p:cNvCxnSpPr>
            <a:cxnSpLocks/>
            <a:stCxn id="9" idx="4"/>
            <a:endCxn id="725" idx="0"/>
          </p:cNvCxnSpPr>
          <p:nvPr/>
        </p:nvCxnSpPr>
        <p:spPr>
          <a:xfrm flipH="1">
            <a:off x="4358346" y="1390133"/>
            <a:ext cx="3515" cy="2298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 name="TextBox 736">
            <a:extLst>
              <a:ext uri="{FF2B5EF4-FFF2-40B4-BE49-F238E27FC236}">
                <a16:creationId xmlns:a16="http://schemas.microsoft.com/office/drawing/2014/main" id="{A636A6E1-A76A-7EB0-6C0F-3240D0452105}"/>
              </a:ext>
            </a:extLst>
          </p:cNvPr>
          <p:cNvSpPr txBox="1"/>
          <p:nvPr/>
        </p:nvSpPr>
        <p:spPr>
          <a:xfrm>
            <a:off x="4484894" y="1147589"/>
            <a:ext cx="1127232" cy="246221"/>
          </a:xfrm>
          <a:prstGeom prst="rect">
            <a:avLst/>
          </a:prstGeom>
          <a:noFill/>
        </p:spPr>
        <p:txBody>
          <a:bodyPr wrap="none" rtlCol="0">
            <a:spAutoFit/>
          </a:bodyPr>
          <a:lstStyle/>
          <a:p>
            <a:r>
              <a:rPr lang="en-US" sz="1000" dirty="0"/>
              <a:t>Search triggered</a:t>
            </a:r>
          </a:p>
        </p:txBody>
      </p:sp>
      <p:cxnSp>
        <p:nvCxnSpPr>
          <p:cNvPr id="744" name="Straight Arrow Connector 743">
            <a:extLst>
              <a:ext uri="{FF2B5EF4-FFF2-40B4-BE49-F238E27FC236}">
                <a16:creationId xmlns:a16="http://schemas.microsoft.com/office/drawing/2014/main" id="{D4E922EC-3467-9297-C6E5-8A99F758B705}"/>
              </a:ext>
            </a:extLst>
          </p:cNvPr>
          <p:cNvCxnSpPr>
            <a:cxnSpLocks/>
            <a:stCxn id="733" idx="2"/>
            <a:endCxn id="749" idx="0"/>
          </p:cNvCxnSpPr>
          <p:nvPr/>
        </p:nvCxnSpPr>
        <p:spPr>
          <a:xfrm>
            <a:off x="5181771" y="3522321"/>
            <a:ext cx="0" cy="20844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48" name="Group 747">
            <a:extLst>
              <a:ext uri="{FF2B5EF4-FFF2-40B4-BE49-F238E27FC236}">
                <a16:creationId xmlns:a16="http://schemas.microsoft.com/office/drawing/2014/main" id="{01B619E9-29AC-CA33-92AA-E38B26F58CED}"/>
              </a:ext>
            </a:extLst>
          </p:cNvPr>
          <p:cNvGrpSpPr/>
          <p:nvPr/>
        </p:nvGrpSpPr>
        <p:grpSpPr>
          <a:xfrm>
            <a:off x="4459844" y="3730763"/>
            <a:ext cx="1443854" cy="838350"/>
            <a:chOff x="5661388" y="2891695"/>
            <a:chExt cx="1443854" cy="838350"/>
          </a:xfrm>
        </p:grpSpPr>
        <p:sp>
          <p:nvSpPr>
            <p:cNvPr id="749" name="Rectangle: Rounded Corners 748">
              <a:extLst>
                <a:ext uri="{FF2B5EF4-FFF2-40B4-BE49-F238E27FC236}">
                  <a16:creationId xmlns:a16="http://schemas.microsoft.com/office/drawing/2014/main" id="{A252A059-F40A-10CA-34F7-450689BB4327}"/>
                </a:ext>
              </a:extLst>
            </p:cNvPr>
            <p:cNvSpPr/>
            <p:nvPr/>
          </p:nvSpPr>
          <p:spPr>
            <a:xfrm>
              <a:off x="5661388" y="2891695"/>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Retrieve job records in ranked order.</a:t>
              </a:r>
            </a:p>
          </p:txBody>
        </p:sp>
        <p:pic>
          <p:nvPicPr>
            <p:cNvPr id="750" name="Picture 749" descr="File:PostgreSQL logo.3colors.540x557.png">
              <a:extLst>
                <a:ext uri="{FF2B5EF4-FFF2-40B4-BE49-F238E27FC236}">
                  <a16:creationId xmlns:a16="http://schemas.microsoft.com/office/drawing/2014/main" id="{4CDF3100-64C8-A095-832F-108DED7919A0}"/>
                </a:ext>
              </a:extLst>
            </p:cNvPr>
            <p:cNvPicPr>
              <a:picLocks noChangeAspect="1"/>
            </p:cNvPicPr>
            <p:nvPr/>
          </p:nvPicPr>
          <p:blipFill>
            <a:blip r:embed="rId4"/>
            <a:stretch>
              <a:fillRect/>
            </a:stretch>
          </p:blipFill>
          <p:spPr>
            <a:xfrm>
              <a:off x="5773544" y="2955463"/>
              <a:ext cx="174948" cy="180456"/>
            </a:xfrm>
            <a:prstGeom prst="rect">
              <a:avLst/>
            </a:prstGeom>
          </p:spPr>
        </p:pic>
      </p:grpSp>
      <p:sp>
        <p:nvSpPr>
          <p:cNvPr id="9" name="Oval 8">
            <a:extLst>
              <a:ext uri="{FF2B5EF4-FFF2-40B4-BE49-F238E27FC236}">
                <a16:creationId xmlns:a16="http://schemas.microsoft.com/office/drawing/2014/main" id="{43F299F7-A4CB-B46F-4F96-481661DAA388}"/>
              </a:ext>
            </a:extLst>
          </p:cNvPr>
          <p:cNvSpPr/>
          <p:nvPr/>
        </p:nvSpPr>
        <p:spPr>
          <a:xfrm>
            <a:off x="4256286" y="1178983"/>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0A8F18E5-5CDE-FF36-24F1-48CFFD84EFD6}"/>
              </a:ext>
            </a:extLst>
          </p:cNvPr>
          <p:cNvPicPr>
            <a:picLocks noChangeAspect="1"/>
          </p:cNvPicPr>
          <p:nvPr/>
        </p:nvPicPr>
        <p:blipFill>
          <a:blip r:embed="rId6"/>
          <a:stretch>
            <a:fillRect/>
          </a:stretch>
        </p:blipFill>
        <p:spPr>
          <a:xfrm>
            <a:off x="1121940" y="607933"/>
            <a:ext cx="6268691" cy="539656"/>
          </a:xfrm>
          <a:prstGeom prst="rect">
            <a:avLst/>
          </a:prstGeom>
        </p:spPr>
      </p:pic>
      <p:pic>
        <p:nvPicPr>
          <p:cNvPr id="5" name="Picture 4">
            <a:extLst>
              <a:ext uri="{FF2B5EF4-FFF2-40B4-BE49-F238E27FC236}">
                <a16:creationId xmlns:a16="http://schemas.microsoft.com/office/drawing/2014/main" id="{FEE1E63A-69E8-19A9-592A-CFCC8A5FF508}"/>
              </a:ext>
            </a:extLst>
          </p:cNvPr>
          <p:cNvPicPr>
            <a:picLocks noChangeAspect="1"/>
          </p:cNvPicPr>
          <p:nvPr/>
        </p:nvPicPr>
        <p:blipFill>
          <a:blip r:embed="rId7"/>
          <a:stretch>
            <a:fillRect/>
          </a:stretch>
        </p:blipFill>
        <p:spPr>
          <a:xfrm>
            <a:off x="1767714" y="1692903"/>
            <a:ext cx="1568008" cy="586076"/>
          </a:xfrm>
          <a:prstGeom prst="rect">
            <a:avLst/>
          </a:prstGeom>
        </p:spPr>
      </p:pic>
      <p:pic>
        <p:nvPicPr>
          <p:cNvPr id="14" name="Picture 13">
            <a:extLst>
              <a:ext uri="{FF2B5EF4-FFF2-40B4-BE49-F238E27FC236}">
                <a16:creationId xmlns:a16="http://schemas.microsoft.com/office/drawing/2014/main" id="{C9957690-6354-B4D2-C4E1-3852BDE5A270}"/>
              </a:ext>
            </a:extLst>
          </p:cNvPr>
          <p:cNvPicPr>
            <a:picLocks noChangeAspect="1"/>
          </p:cNvPicPr>
          <p:nvPr/>
        </p:nvPicPr>
        <p:blipFill>
          <a:blip r:embed="rId8"/>
          <a:stretch>
            <a:fillRect/>
          </a:stretch>
        </p:blipFill>
        <p:spPr>
          <a:xfrm>
            <a:off x="5345023" y="1665203"/>
            <a:ext cx="1620628" cy="586076"/>
          </a:xfrm>
          <a:prstGeom prst="rect">
            <a:avLst/>
          </a:prstGeom>
        </p:spPr>
      </p:pic>
      <p:pic>
        <p:nvPicPr>
          <p:cNvPr id="3" name="Picture 2">
            <a:extLst>
              <a:ext uri="{FF2B5EF4-FFF2-40B4-BE49-F238E27FC236}">
                <a16:creationId xmlns:a16="http://schemas.microsoft.com/office/drawing/2014/main" id="{8A6FA7FD-FB5A-80D0-5F84-AFA3DE93E965}"/>
              </a:ext>
            </a:extLst>
          </p:cNvPr>
          <p:cNvPicPr>
            <a:picLocks noChangeAspect="1"/>
          </p:cNvPicPr>
          <p:nvPr/>
        </p:nvPicPr>
        <p:blipFill>
          <a:blip r:embed="rId9"/>
          <a:stretch>
            <a:fillRect/>
          </a:stretch>
        </p:blipFill>
        <p:spPr>
          <a:xfrm>
            <a:off x="2937810" y="2571750"/>
            <a:ext cx="186901" cy="186901"/>
          </a:xfrm>
          <a:prstGeom prst="rect">
            <a:avLst/>
          </a:prstGeom>
          <a:effectLst>
            <a:glow rad="228600">
              <a:schemeClr val="accent2">
                <a:satMod val="175000"/>
                <a:alpha val="40000"/>
              </a:schemeClr>
            </a:glow>
          </a:effectLst>
        </p:spPr>
      </p:pic>
      <p:pic>
        <p:nvPicPr>
          <p:cNvPr id="7" name="Picture 6">
            <a:extLst>
              <a:ext uri="{FF2B5EF4-FFF2-40B4-BE49-F238E27FC236}">
                <a16:creationId xmlns:a16="http://schemas.microsoft.com/office/drawing/2014/main" id="{A43F4166-668C-6BEA-08CB-05910AC60A35}"/>
              </a:ext>
            </a:extLst>
          </p:cNvPr>
          <p:cNvPicPr>
            <a:picLocks noChangeAspect="1"/>
          </p:cNvPicPr>
          <p:nvPr/>
        </p:nvPicPr>
        <p:blipFill>
          <a:blip r:embed="rId9"/>
          <a:stretch>
            <a:fillRect/>
          </a:stretch>
        </p:blipFill>
        <p:spPr>
          <a:xfrm>
            <a:off x="4566023" y="3618742"/>
            <a:ext cx="186901" cy="186901"/>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28643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5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 grpId="0" animBg="1"/>
      <p:bldP spid="724" grpId="0"/>
      <p:bldP spid="725" grpId="0" animBg="1"/>
      <p:bldP spid="726" grpId="0"/>
      <p:bldP spid="737"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C3F06FF1-9335-468A-8DC9-1BB93412AC60}"/>
            </a:ext>
          </a:extLst>
        </p:cNvPr>
        <p:cNvGrpSpPr/>
        <p:nvPr/>
      </p:nvGrpSpPr>
      <p:grpSpPr>
        <a:xfrm>
          <a:off x="0" y="0"/>
          <a:ext cx="0" cy="0"/>
          <a:chOff x="0" y="0"/>
          <a:chExt cx="0" cy="0"/>
        </a:xfrm>
      </p:grpSpPr>
      <p:sp>
        <p:nvSpPr>
          <p:cNvPr id="624" name="TextBox 623">
            <a:extLst>
              <a:ext uri="{FF2B5EF4-FFF2-40B4-BE49-F238E27FC236}">
                <a16:creationId xmlns:a16="http://schemas.microsoft.com/office/drawing/2014/main" id="{68B56A9A-9D78-9898-6DC1-F2F1390C3A52}"/>
              </a:ext>
            </a:extLst>
          </p:cNvPr>
          <p:cNvSpPr txBox="1"/>
          <p:nvPr/>
        </p:nvSpPr>
        <p:spPr>
          <a:xfrm>
            <a:off x="4460287" y="1256034"/>
            <a:ext cx="908453" cy="276999"/>
          </a:xfrm>
          <a:prstGeom prst="rect">
            <a:avLst/>
          </a:prstGeom>
          <a:noFill/>
        </p:spPr>
        <p:txBody>
          <a:bodyPr wrap="square" rtlCol="0">
            <a:spAutoFit/>
          </a:bodyPr>
          <a:lstStyle/>
          <a:p>
            <a:pPr algn="ctr"/>
            <a:r>
              <a:rPr lang="en-US" sz="1200" dirty="0">
                <a:solidFill>
                  <a:schemeClr val="tx1">
                    <a:lumMod val="75000"/>
                    <a:lumOff val="25000"/>
                  </a:schemeClr>
                </a:solidFill>
              </a:rPr>
              <a:t>read</a:t>
            </a:r>
          </a:p>
        </p:txBody>
      </p:sp>
      <p:sp>
        <p:nvSpPr>
          <p:cNvPr id="633" name="Google Shape;633;p91">
            <a:extLst>
              <a:ext uri="{FF2B5EF4-FFF2-40B4-BE49-F238E27FC236}">
                <a16:creationId xmlns:a16="http://schemas.microsoft.com/office/drawing/2014/main" id="{1FF0F72C-42EA-89B7-6496-D13A3CF51C76}"/>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Deployment: </a:t>
            </a:r>
            <a:r>
              <a:rPr lang="en-US" dirty="0">
                <a:latin typeface="Work Sans"/>
                <a:ea typeface="Work Sans"/>
                <a:cs typeface="Work Sans"/>
                <a:sym typeface="Work Sans"/>
              </a:rPr>
              <a:t>Multi-Service Architecture with Docker Compose</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74C666D9-CE60-B65C-0A76-4855F59F3AE3}"/>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B68D65FD-5CC9-5972-29F5-93C8AE5B5CAC}"/>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cxnSp>
        <p:nvCxnSpPr>
          <p:cNvPr id="666" name="Connector: Elbow 665">
            <a:extLst>
              <a:ext uri="{FF2B5EF4-FFF2-40B4-BE49-F238E27FC236}">
                <a16:creationId xmlns:a16="http://schemas.microsoft.com/office/drawing/2014/main" id="{A1A69FD4-93A3-D7D5-B457-DAE78C272D39}"/>
              </a:ext>
            </a:extLst>
          </p:cNvPr>
          <p:cNvCxnSpPr>
            <a:cxnSpLocks/>
            <a:stCxn id="616" idx="0"/>
            <a:endCxn id="57" idx="2"/>
          </p:cNvCxnSpPr>
          <p:nvPr/>
        </p:nvCxnSpPr>
        <p:spPr>
          <a:xfrm rot="16200000" flipV="1">
            <a:off x="2232545" y="1621262"/>
            <a:ext cx="573987" cy="1036145"/>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70" name="TextBox 669">
            <a:extLst>
              <a:ext uri="{FF2B5EF4-FFF2-40B4-BE49-F238E27FC236}">
                <a16:creationId xmlns:a16="http://schemas.microsoft.com/office/drawing/2014/main" id="{750FBAB4-F377-148C-C8ED-F4EFC72429E5}"/>
              </a:ext>
            </a:extLst>
          </p:cNvPr>
          <p:cNvSpPr txBox="1"/>
          <p:nvPr/>
        </p:nvSpPr>
        <p:spPr>
          <a:xfrm>
            <a:off x="2743812" y="2429073"/>
            <a:ext cx="2003550" cy="307777"/>
          </a:xfrm>
          <a:prstGeom prst="rect">
            <a:avLst/>
          </a:prstGeom>
          <a:solidFill>
            <a:schemeClr val="tx1">
              <a:lumMod val="95000"/>
              <a:lumOff val="5000"/>
            </a:schemeClr>
          </a:solidFill>
        </p:spPr>
        <p:txBody>
          <a:bodyPr wrap="square" rtlCol="0">
            <a:spAutoFit/>
          </a:bodyPr>
          <a:lstStyle/>
          <a:p>
            <a:pPr algn="ctr"/>
            <a:r>
              <a:rPr lang="en-US" dirty="0">
                <a:solidFill>
                  <a:schemeClr val="bg1">
                    <a:lumMod val="85000"/>
                  </a:schemeClr>
                </a:solidFill>
              </a:rPr>
              <a:t>~# docker compose up</a:t>
            </a:r>
          </a:p>
        </p:txBody>
      </p:sp>
      <p:cxnSp>
        <p:nvCxnSpPr>
          <p:cNvPr id="762" name="Straight Arrow Connector 761">
            <a:extLst>
              <a:ext uri="{FF2B5EF4-FFF2-40B4-BE49-F238E27FC236}">
                <a16:creationId xmlns:a16="http://schemas.microsoft.com/office/drawing/2014/main" id="{4EBDB629-1BDF-4AC1-A071-93B3FBAA22FA}"/>
              </a:ext>
            </a:extLst>
          </p:cNvPr>
          <p:cNvCxnSpPr>
            <a:cxnSpLocks/>
            <a:stCxn id="744" idx="3"/>
            <a:endCxn id="750" idx="1"/>
          </p:cNvCxnSpPr>
          <p:nvPr/>
        </p:nvCxnSpPr>
        <p:spPr>
          <a:xfrm flipV="1">
            <a:off x="3965333" y="1487654"/>
            <a:ext cx="1479020" cy="1685"/>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31" name="Straight Arrow Connector 30">
            <a:extLst>
              <a:ext uri="{FF2B5EF4-FFF2-40B4-BE49-F238E27FC236}">
                <a16:creationId xmlns:a16="http://schemas.microsoft.com/office/drawing/2014/main" id="{65A434ED-2CB1-45C4-D6B1-109A31533D38}"/>
              </a:ext>
            </a:extLst>
          </p:cNvPr>
          <p:cNvCxnSpPr>
            <a:cxnSpLocks/>
            <a:stCxn id="670" idx="0"/>
            <a:endCxn id="52" idx="2"/>
          </p:cNvCxnSpPr>
          <p:nvPr/>
        </p:nvCxnSpPr>
        <p:spPr>
          <a:xfrm flipV="1">
            <a:off x="3745587" y="1847423"/>
            <a:ext cx="2767" cy="581650"/>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grpSp>
        <p:nvGrpSpPr>
          <p:cNvPr id="2" name="Group 1">
            <a:extLst>
              <a:ext uri="{FF2B5EF4-FFF2-40B4-BE49-F238E27FC236}">
                <a16:creationId xmlns:a16="http://schemas.microsoft.com/office/drawing/2014/main" id="{7CA7404D-1CDD-E9BE-4600-C0FF6281445F}"/>
              </a:ext>
            </a:extLst>
          </p:cNvPr>
          <p:cNvGrpSpPr/>
          <p:nvPr/>
        </p:nvGrpSpPr>
        <p:grpSpPr>
          <a:xfrm>
            <a:off x="3100083" y="1101202"/>
            <a:ext cx="1296542" cy="746221"/>
            <a:chOff x="3325773" y="784324"/>
            <a:chExt cx="1296542" cy="746221"/>
          </a:xfrm>
        </p:grpSpPr>
        <p:pic>
          <p:nvPicPr>
            <p:cNvPr id="713" name="Picture 712">
              <a:extLst>
                <a:ext uri="{FF2B5EF4-FFF2-40B4-BE49-F238E27FC236}">
                  <a16:creationId xmlns:a16="http://schemas.microsoft.com/office/drawing/2014/main" id="{E2C8CE04-7F46-7854-8DD2-9E2F4FDE6ABC}"/>
                </a:ext>
              </a:extLst>
            </p:cNvPr>
            <p:cNvPicPr>
              <a:picLocks noChangeAspect="1"/>
            </p:cNvPicPr>
            <p:nvPr/>
          </p:nvPicPr>
          <p:blipFill>
            <a:blip r:embed="rId4"/>
            <a:stretch>
              <a:fillRect/>
            </a:stretch>
          </p:blipFill>
          <p:spPr>
            <a:xfrm>
              <a:off x="3700433" y="784324"/>
              <a:ext cx="575868" cy="106267"/>
            </a:xfrm>
            <a:prstGeom prst="rect">
              <a:avLst/>
            </a:prstGeom>
          </p:spPr>
        </p:pic>
        <p:sp>
          <p:nvSpPr>
            <p:cNvPr id="52" name="TextBox 51">
              <a:extLst>
                <a:ext uri="{FF2B5EF4-FFF2-40B4-BE49-F238E27FC236}">
                  <a16:creationId xmlns:a16="http://schemas.microsoft.com/office/drawing/2014/main" id="{C4B3D84A-4293-8209-129A-80B3E91C77E5}"/>
                </a:ext>
              </a:extLst>
            </p:cNvPr>
            <p:cNvSpPr txBox="1"/>
            <p:nvPr/>
          </p:nvSpPr>
          <p:spPr>
            <a:xfrm>
              <a:off x="3325773" y="1253546"/>
              <a:ext cx="1296542" cy="276999"/>
            </a:xfrm>
            <a:prstGeom prst="rect">
              <a:avLst/>
            </a:prstGeom>
            <a:noFill/>
          </p:spPr>
          <p:txBody>
            <a:bodyPr wrap="square" rtlCol="0">
              <a:spAutoFit/>
            </a:bodyPr>
            <a:lstStyle/>
            <a:p>
              <a:pPr algn="ctr"/>
              <a:r>
                <a:rPr lang="en-US" sz="1200" b="1" dirty="0">
                  <a:solidFill>
                    <a:schemeClr val="tx1">
                      <a:lumMod val="85000"/>
                      <a:lumOff val="15000"/>
                    </a:schemeClr>
                  </a:solidFill>
                </a:rPr>
                <a:t>backend</a:t>
              </a:r>
              <a:r>
                <a:rPr lang="en-US" sz="1200" dirty="0"/>
                <a:t> </a:t>
              </a:r>
              <a:r>
                <a:rPr lang="en-US" sz="1000" dirty="0">
                  <a:solidFill>
                    <a:srgbClr val="0000EE"/>
                  </a:solidFill>
                </a:rPr>
                <a:t>:8000</a:t>
              </a:r>
            </a:p>
          </p:txBody>
        </p:sp>
        <p:pic>
          <p:nvPicPr>
            <p:cNvPr id="715" name="Picture 714">
              <a:extLst>
                <a:ext uri="{FF2B5EF4-FFF2-40B4-BE49-F238E27FC236}">
                  <a16:creationId xmlns:a16="http://schemas.microsoft.com/office/drawing/2014/main" id="{4FBDB149-06FD-1AD3-88B9-D3C5FE3E2C8F}"/>
                </a:ext>
              </a:extLst>
            </p:cNvPr>
            <p:cNvPicPr>
              <a:picLocks noChangeAspect="1"/>
            </p:cNvPicPr>
            <p:nvPr/>
          </p:nvPicPr>
          <p:blipFill>
            <a:blip r:embed="rId5"/>
            <a:stretch>
              <a:fillRect/>
            </a:stretch>
          </p:blipFill>
          <p:spPr>
            <a:xfrm>
              <a:off x="3761387" y="945097"/>
              <a:ext cx="429637" cy="317193"/>
            </a:xfrm>
            <a:prstGeom prst="rect">
              <a:avLst/>
            </a:prstGeom>
          </p:spPr>
        </p:pic>
      </p:grpSp>
      <p:sp>
        <p:nvSpPr>
          <p:cNvPr id="4" name="TextBox 3">
            <a:extLst>
              <a:ext uri="{FF2B5EF4-FFF2-40B4-BE49-F238E27FC236}">
                <a16:creationId xmlns:a16="http://schemas.microsoft.com/office/drawing/2014/main" id="{476B9BFE-EEDA-540F-C48E-13A34C225DF0}"/>
              </a:ext>
            </a:extLst>
          </p:cNvPr>
          <p:cNvSpPr txBox="1"/>
          <p:nvPr/>
        </p:nvSpPr>
        <p:spPr>
          <a:xfrm>
            <a:off x="2341112" y="1142904"/>
            <a:ext cx="1121456" cy="276999"/>
          </a:xfrm>
          <a:prstGeom prst="rect">
            <a:avLst/>
          </a:prstGeom>
          <a:noFill/>
        </p:spPr>
        <p:txBody>
          <a:bodyPr wrap="square" rtlCol="0">
            <a:spAutoFit/>
          </a:bodyPr>
          <a:lstStyle/>
          <a:p>
            <a:pPr algn="ctr"/>
            <a:r>
              <a:rPr lang="en-US" sz="1200" dirty="0">
                <a:solidFill>
                  <a:schemeClr val="tx1">
                    <a:lumMod val="75000"/>
                    <a:lumOff val="25000"/>
                  </a:schemeClr>
                </a:solidFill>
              </a:rPr>
              <a:t>HTTP</a:t>
            </a:r>
          </a:p>
        </p:txBody>
      </p:sp>
      <p:cxnSp>
        <p:nvCxnSpPr>
          <p:cNvPr id="719" name="Straight Arrow Connector 718">
            <a:extLst>
              <a:ext uri="{FF2B5EF4-FFF2-40B4-BE49-F238E27FC236}">
                <a16:creationId xmlns:a16="http://schemas.microsoft.com/office/drawing/2014/main" id="{7C3EA80D-BAFC-45EB-DD68-0ABB35C1B486}"/>
              </a:ext>
            </a:extLst>
          </p:cNvPr>
          <p:cNvCxnSpPr>
            <a:cxnSpLocks/>
            <a:stCxn id="661" idx="3"/>
            <a:endCxn id="715" idx="1"/>
          </p:cNvCxnSpPr>
          <p:nvPr/>
        </p:nvCxnSpPr>
        <p:spPr>
          <a:xfrm>
            <a:off x="2229825" y="1419899"/>
            <a:ext cx="1305872" cy="673"/>
          </a:xfrm>
          <a:prstGeom prst="straightConnector1">
            <a:avLst/>
          </a:prstGeom>
          <a:ln w="19050">
            <a:prstDash val="dash"/>
            <a:headEnd type="triangle"/>
            <a:tailEnd type="triangle"/>
          </a:ln>
        </p:spPr>
        <p:style>
          <a:lnRef idx="1">
            <a:schemeClr val="accent5"/>
          </a:lnRef>
          <a:fillRef idx="0">
            <a:schemeClr val="accent5"/>
          </a:fillRef>
          <a:effectRef idx="0">
            <a:schemeClr val="accent5"/>
          </a:effectRef>
          <a:fontRef idx="minor">
            <a:schemeClr val="tx1"/>
          </a:fontRef>
        </p:style>
      </p:cxnSp>
      <p:grpSp>
        <p:nvGrpSpPr>
          <p:cNvPr id="17" name="Group 16">
            <a:extLst>
              <a:ext uri="{FF2B5EF4-FFF2-40B4-BE49-F238E27FC236}">
                <a16:creationId xmlns:a16="http://schemas.microsoft.com/office/drawing/2014/main" id="{D6D7D48C-6305-8932-A479-6E770CF58BF3}"/>
              </a:ext>
            </a:extLst>
          </p:cNvPr>
          <p:cNvGrpSpPr/>
          <p:nvPr/>
        </p:nvGrpSpPr>
        <p:grpSpPr>
          <a:xfrm>
            <a:off x="4951499" y="1261301"/>
            <a:ext cx="1318444" cy="594193"/>
            <a:chOff x="6171289" y="944423"/>
            <a:chExt cx="1318444" cy="594193"/>
          </a:xfrm>
        </p:grpSpPr>
        <p:pic>
          <p:nvPicPr>
            <p:cNvPr id="44" name="Picture 43">
              <a:extLst>
                <a:ext uri="{FF2B5EF4-FFF2-40B4-BE49-F238E27FC236}">
                  <a16:creationId xmlns:a16="http://schemas.microsoft.com/office/drawing/2014/main" id="{DB8E40B2-7EB3-9C26-FD10-E109D6FA6A89}"/>
                </a:ext>
              </a:extLst>
            </p:cNvPr>
            <p:cNvPicPr>
              <a:picLocks noChangeAspect="1"/>
            </p:cNvPicPr>
            <p:nvPr/>
          </p:nvPicPr>
          <p:blipFill>
            <a:blip r:embed="rId6"/>
            <a:stretch>
              <a:fillRect/>
            </a:stretch>
          </p:blipFill>
          <p:spPr>
            <a:xfrm>
              <a:off x="6660901" y="944423"/>
              <a:ext cx="345703" cy="309055"/>
            </a:xfrm>
            <a:prstGeom prst="rect">
              <a:avLst/>
            </a:prstGeom>
          </p:spPr>
        </p:pic>
        <p:pic>
          <p:nvPicPr>
            <p:cNvPr id="5" name="Picture 4" descr="File:PostgreSQL logo.3colors.540x557.png">
              <a:extLst>
                <a:ext uri="{FF2B5EF4-FFF2-40B4-BE49-F238E27FC236}">
                  <a16:creationId xmlns:a16="http://schemas.microsoft.com/office/drawing/2014/main" id="{9B9F599F-C7DC-99EF-7460-99502CCFE75C}"/>
                </a:ext>
              </a:extLst>
            </p:cNvPr>
            <p:cNvPicPr>
              <a:picLocks noChangeAspect="1"/>
            </p:cNvPicPr>
            <p:nvPr/>
          </p:nvPicPr>
          <p:blipFill>
            <a:blip r:embed="rId7"/>
            <a:stretch>
              <a:fillRect/>
            </a:stretch>
          </p:blipFill>
          <p:spPr>
            <a:xfrm>
              <a:off x="6730440" y="949172"/>
              <a:ext cx="197063" cy="112154"/>
            </a:xfrm>
            <a:prstGeom prst="rect">
              <a:avLst/>
            </a:prstGeom>
          </p:spPr>
        </p:pic>
        <p:sp>
          <p:nvSpPr>
            <p:cNvPr id="601" name="TextBox 600">
              <a:extLst>
                <a:ext uri="{FF2B5EF4-FFF2-40B4-BE49-F238E27FC236}">
                  <a16:creationId xmlns:a16="http://schemas.microsoft.com/office/drawing/2014/main" id="{4ADA5567-79B8-5396-CF47-ABE36BAED440}"/>
                </a:ext>
              </a:extLst>
            </p:cNvPr>
            <p:cNvSpPr txBox="1"/>
            <p:nvPr/>
          </p:nvSpPr>
          <p:spPr>
            <a:xfrm>
              <a:off x="6171289" y="1261617"/>
              <a:ext cx="1318444" cy="276999"/>
            </a:xfrm>
            <a:prstGeom prst="rect">
              <a:avLst/>
            </a:prstGeom>
            <a:noFill/>
          </p:spPr>
          <p:txBody>
            <a:bodyPr wrap="square" rtlCol="0">
              <a:spAutoFit/>
            </a:bodyPr>
            <a:lstStyle/>
            <a:p>
              <a:pPr algn="ctr"/>
              <a:r>
                <a:rPr lang="en-US" sz="1200" b="1" dirty="0" err="1">
                  <a:solidFill>
                    <a:schemeClr val="tx1">
                      <a:lumMod val="85000"/>
                      <a:lumOff val="15000"/>
                    </a:schemeClr>
                  </a:solidFill>
                </a:rPr>
                <a:t>postgres</a:t>
              </a:r>
              <a:r>
                <a:rPr lang="en-US" sz="1200" dirty="0"/>
                <a:t> </a:t>
              </a:r>
              <a:r>
                <a:rPr lang="en-US" sz="1000" dirty="0">
                  <a:solidFill>
                    <a:srgbClr val="0000EE"/>
                  </a:solidFill>
                </a:rPr>
                <a:t>:5432</a:t>
              </a:r>
            </a:p>
          </p:txBody>
        </p:sp>
      </p:grpSp>
      <p:grpSp>
        <p:nvGrpSpPr>
          <p:cNvPr id="21" name="Group 20">
            <a:extLst>
              <a:ext uri="{FF2B5EF4-FFF2-40B4-BE49-F238E27FC236}">
                <a16:creationId xmlns:a16="http://schemas.microsoft.com/office/drawing/2014/main" id="{D3A2471C-3020-15A9-7774-95928863520E}"/>
              </a:ext>
            </a:extLst>
          </p:cNvPr>
          <p:cNvGrpSpPr/>
          <p:nvPr/>
        </p:nvGrpSpPr>
        <p:grpSpPr>
          <a:xfrm>
            <a:off x="6896022" y="3683798"/>
            <a:ext cx="1082194" cy="564384"/>
            <a:chOff x="4833398" y="3609544"/>
            <a:chExt cx="1082194" cy="564384"/>
          </a:xfrm>
        </p:grpSpPr>
        <p:pic>
          <p:nvPicPr>
            <p:cNvPr id="3" name="Picture 2">
              <a:extLst>
                <a:ext uri="{FF2B5EF4-FFF2-40B4-BE49-F238E27FC236}">
                  <a16:creationId xmlns:a16="http://schemas.microsoft.com/office/drawing/2014/main" id="{5FEA6A4D-8BC0-0F25-F3AB-145D9EE091EF}"/>
                </a:ext>
              </a:extLst>
            </p:cNvPr>
            <p:cNvPicPr>
              <a:picLocks noChangeAspect="1"/>
            </p:cNvPicPr>
            <p:nvPr/>
          </p:nvPicPr>
          <p:blipFill>
            <a:blip r:embed="rId8"/>
            <a:stretch>
              <a:fillRect/>
            </a:stretch>
          </p:blipFill>
          <p:spPr>
            <a:xfrm>
              <a:off x="4993191" y="3878036"/>
              <a:ext cx="762608" cy="295892"/>
            </a:xfrm>
            <a:prstGeom prst="rect">
              <a:avLst/>
            </a:prstGeom>
          </p:spPr>
        </p:pic>
        <p:sp>
          <p:nvSpPr>
            <p:cNvPr id="603" name="TextBox 602">
              <a:extLst>
                <a:ext uri="{FF2B5EF4-FFF2-40B4-BE49-F238E27FC236}">
                  <a16:creationId xmlns:a16="http://schemas.microsoft.com/office/drawing/2014/main" id="{A2C88963-4E5C-BFB4-7FAF-925A3E6AF2B0}"/>
                </a:ext>
              </a:extLst>
            </p:cNvPr>
            <p:cNvSpPr txBox="1"/>
            <p:nvPr/>
          </p:nvSpPr>
          <p:spPr>
            <a:xfrm>
              <a:off x="4833398" y="3609544"/>
              <a:ext cx="1082194" cy="276999"/>
            </a:xfrm>
            <a:prstGeom prst="rect">
              <a:avLst/>
            </a:prstGeom>
            <a:noFill/>
          </p:spPr>
          <p:txBody>
            <a:bodyPr wrap="square" rtlCol="0">
              <a:spAutoFit/>
            </a:bodyPr>
            <a:lstStyle/>
            <a:p>
              <a:pPr algn="ctr"/>
              <a:r>
                <a:rPr lang="en-US" sz="1200" b="1" dirty="0">
                  <a:solidFill>
                    <a:srgbClr val="262626"/>
                  </a:solidFill>
                </a:rPr>
                <a:t>airflow</a:t>
              </a:r>
              <a:r>
                <a:rPr lang="en-US" sz="1200" dirty="0"/>
                <a:t> </a:t>
              </a:r>
              <a:r>
                <a:rPr lang="en-US" sz="1000" dirty="0">
                  <a:solidFill>
                    <a:srgbClr val="0000EE"/>
                  </a:solidFill>
                </a:rPr>
                <a:t>:8080</a:t>
              </a:r>
            </a:p>
          </p:txBody>
        </p:sp>
      </p:grpSp>
      <p:cxnSp>
        <p:nvCxnSpPr>
          <p:cNvPr id="608" name="Connector: Elbow 607">
            <a:extLst>
              <a:ext uri="{FF2B5EF4-FFF2-40B4-BE49-F238E27FC236}">
                <a16:creationId xmlns:a16="http://schemas.microsoft.com/office/drawing/2014/main" id="{8565C8D3-9B03-3EBE-49CA-10FE31FDE57D}"/>
              </a:ext>
            </a:extLst>
          </p:cNvPr>
          <p:cNvCxnSpPr>
            <a:cxnSpLocks/>
            <a:stCxn id="603" idx="3"/>
            <a:endCxn id="36" idx="3"/>
          </p:cNvCxnSpPr>
          <p:nvPr/>
        </p:nvCxnSpPr>
        <p:spPr>
          <a:xfrm flipH="1" flipV="1">
            <a:off x="7164016" y="1420815"/>
            <a:ext cx="814200" cy="2401483"/>
          </a:xfrm>
          <a:prstGeom prst="bentConnector3">
            <a:avLst>
              <a:gd name="adj1" fmla="val -28077"/>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pic>
        <p:nvPicPr>
          <p:cNvPr id="7" name="Picture 6" descr="Docker Icon in SVG, PNG formats">
            <a:extLst>
              <a:ext uri="{FF2B5EF4-FFF2-40B4-BE49-F238E27FC236}">
                <a16:creationId xmlns:a16="http://schemas.microsoft.com/office/drawing/2014/main" id="{E9A1FD7E-3B9E-D2B9-543C-FE37C712E0A2}"/>
              </a:ext>
            </a:extLst>
          </p:cNvPr>
          <p:cNvPicPr>
            <a:picLocks noChangeAspect="1"/>
          </p:cNvPicPr>
          <p:nvPr/>
        </p:nvPicPr>
        <p:blipFill>
          <a:blip r:embed="rId9"/>
          <a:stretch>
            <a:fillRect/>
          </a:stretch>
        </p:blipFill>
        <p:spPr>
          <a:xfrm>
            <a:off x="3780638" y="2131594"/>
            <a:ext cx="247147" cy="247147"/>
          </a:xfrm>
          <a:prstGeom prst="rect">
            <a:avLst/>
          </a:prstGeom>
        </p:spPr>
      </p:pic>
      <p:pic>
        <p:nvPicPr>
          <p:cNvPr id="622" name="Picture 621" descr="Docker Icon in SVG, PNG formats">
            <a:extLst>
              <a:ext uri="{FF2B5EF4-FFF2-40B4-BE49-F238E27FC236}">
                <a16:creationId xmlns:a16="http://schemas.microsoft.com/office/drawing/2014/main" id="{443B7520-6A7C-4CAD-810B-36648AB2DE94}"/>
              </a:ext>
            </a:extLst>
          </p:cNvPr>
          <p:cNvPicPr>
            <a:picLocks noChangeAspect="1"/>
          </p:cNvPicPr>
          <p:nvPr/>
        </p:nvPicPr>
        <p:blipFill>
          <a:blip r:embed="rId9"/>
          <a:stretch>
            <a:fillRect/>
          </a:stretch>
        </p:blipFill>
        <p:spPr>
          <a:xfrm>
            <a:off x="3088437" y="2138348"/>
            <a:ext cx="247147" cy="247147"/>
          </a:xfrm>
          <a:prstGeom prst="rect">
            <a:avLst/>
          </a:prstGeom>
        </p:spPr>
      </p:pic>
      <p:grpSp>
        <p:nvGrpSpPr>
          <p:cNvPr id="15" name="Group 14">
            <a:extLst>
              <a:ext uri="{FF2B5EF4-FFF2-40B4-BE49-F238E27FC236}">
                <a16:creationId xmlns:a16="http://schemas.microsoft.com/office/drawing/2014/main" id="{1B11BCEC-1E16-2FFB-A35B-A2B5445EE3EA}"/>
              </a:ext>
            </a:extLst>
          </p:cNvPr>
          <p:cNvGrpSpPr/>
          <p:nvPr/>
        </p:nvGrpSpPr>
        <p:grpSpPr>
          <a:xfrm>
            <a:off x="1377672" y="1062008"/>
            <a:ext cx="1247586" cy="790333"/>
            <a:chOff x="1139471" y="745130"/>
            <a:chExt cx="1247586" cy="790333"/>
          </a:xfrm>
        </p:grpSpPr>
        <p:pic>
          <p:nvPicPr>
            <p:cNvPr id="661" name="Picture 660">
              <a:extLst>
                <a:ext uri="{FF2B5EF4-FFF2-40B4-BE49-F238E27FC236}">
                  <a16:creationId xmlns:a16="http://schemas.microsoft.com/office/drawing/2014/main" id="{FC8DB018-09C3-8239-F2EC-5B6D13452EAF}"/>
                </a:ext>
              </a:extLst>
            </p:cNvPr>
            <p:cNvPicPr>
              <a:picLocks noChangeAspect="1"/>
            </p:cNvPicPr>
            <p:nvPr/>
          </p:nvPicPr>
          <p:blipFill>
            <a:blip r:embed="rId10"/>
            <a:stretch>
              <a:fillRect/>
            </a:stretch>
          </p:blipFill>
          <p:spPr>
            <a:xfrm>
              <a:off x="1592600" y="944424"/>
              <a:ext cx="399024" cy="317193"/>
            </a:xfrm>
            <a:prstGeom prst="rect">
              <a:avLst/>
            </a:prstGeom>
          </p:spPr>
        </p:pic>
        <p:sp>
          <p:nvSpPr>
            <p:cNvPr id="57" name="TextBox 56">
              <a:extLst>
                <a:ext uri="{FF2B5EF4-FFF2-40B4-BE49-F238E27FC236}">
                  <a16:creationId xmlns:a16="http://schemas.microsoft.com/office/drawing/2014/main" id="{BAAFAC4C-49B1-A0AE-E643-7EF3AEA327D1}"/>
                </a:ext>
              </a:extLst>
            </p:cNvPr>
            <p:cNvSpPr txBox="1"/>
            <p:nvPr/>
          </p:nvSpPr>
          <p:spPr>
            <a:xfrm>
              <a:off x="1139471" y="1258464"/>
              <a:ext cx="1247586" cy="276999"/>
            </a:xfrm>
            <a:prstGeom prst="rect">
              <a:avLst/>
            </a:prstGeom>
            <a:noFill/>
          </p:spPr>
          <p:txBody>
            <a:bodyPr wrap="square" rtlCol="0">
              <a:spAutoFit/>
            </a:bodyPr>
            <a:lstStyle/>
            <a:p>
              <a:pPr algn="ctr"/>
              <a:r>
                <a:rPr lang="en-US" sz="1200" b="1" dirty="0">
                  <a:solidFill>
                    <a:schemeClr val="tx1">
                      <a:lumMod val="85000"/>
                      <a:lumOff val="15000"/>
                    </a:schemeClr>
                  </a:solidFill>
                </a:rPr>
                <a:t>frontend </a:t>
              </a:r>
              <a:r>
                <a:rPr lang="en-US" sz="1000" dirty="0">
                  <a:solidFill>
                    <a:srgbClr val="0000EE"/>
                  </a:solidFill>
                </a:rPr>
                <a:t>:8050</a:t>
              </a:r>
            </a:p>
          </p:txBody>
        </p:sp>
        <p:pic>
          <p:nvPicPr>
            <p:cNvPr id="6" name="Picture 5">
              <a:extLst>
                <a:ext uri="{FF2B5EF4-FFF2-40B4-BE49-F238E27FC236}">
                  <a16:creationId xmlns:a16="http://schemas.microsoft.com/office/drawing/2014/main" id="{3EAD310C-A59A-B0BC-FDB7-DC88DBD26789}"/>
                </a:ext>
              </a:extLst>
            </p:cNvPr>
            <p:cNvPicPr>
              <a:picLocks noChangeAspect="1"/>
            </p:cNvPicPr>
            <p:nvPr/>
          </p:nvPicPr>
          <p:blipFill>
            <a:blip r:embed="rId11"/>
            <a:stretch>
              <a:fillRect/>
            </a:stretch>
          </p:blipFill>
          <p:spPr>
            <a:xfrm>
              <a:off x="1366806" y="745130"/>
              <a:ext cx="857296" cy="157394"/>
            </a:xfrm>
            <a:prstGeom prst="rect">
              <a:avLst/>
            </a:prstGeom>
          </p:spPr>
        </p:pic>
      </p:grpSp>
      <p:cxnSp>
        <p:nvCxnSpPr>
          <p:cNvPr id="12" name="Connector: Elbow 11">
            <a:extLst>
              <a:ext uri="{FF2B5EF4-FFF2-40B4-BE49-F238E27FC236}">
                <a16:creationId xmlns:a16="http://schemas.microsoft.com/office/drawing/2014/main" id="{0C8D7D11-EF5E-9203-1E5A-6C4D3A324783}"/>
              </a:ext>
            </a:extLst>
          </p:cNvPr>
          <p:cNvCxnSpPr>
            <a:cxnSpLocks/>
            <a:stCxn id="618" idx="2"/>
            <a:endCxn id="704" idx="0"/>
          </p:cNvCxnSpPr>
          <p:nvPr/>
        </p:nvCxnSpPr>
        <p:spPr>
          <a:xfrm rot="5400000">
            <a:off x="2091465" y="2728507"/>
            <a:ext cx="954617" cy="971301"/>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13" name="Picture 12" descr="Docker Icon in SVG, PNG formats">
            <a:extLst>
              <a:ext uri="{FF2B5EF4-FFF2-40B4-BE49-F238E27FC236}">
                <a16:creationId xmlns:a16="http://schemas.microsoft.com/office/drawing/2014/main" id="{7ECDF6FC-36EC-479C-0764-7022FBDE3642}"/>
              </a:ext>
            </a:extLst>
          </p:cNvPr>
          <p:cNvPicPr>
            <a:picLocks noChangeAspect="1"/>
          </p:cNvPicPr>
          <p:nvPr/>
        </p:nvPicPr>
        <p:blipFill>
          <a:blip r:embed="rId9"/>
          <a:stretch>
            <a:fillRect/>
          </a:stretch>
        </p:blipFill>
        <p:spPr>
          <a:xfrm>
            <a:off x="2422554" y="2623917"/>
            <a:ext cx="247147" cy="247147"/>
          </a:xfrm>
          <a:prstGeom prst="rect">
            <a:avLst/>
          </a:prstGeom>
        </p:spPr>
      </p:pic>
      <p:grpSp>
        <p:nvGrpSpPr>
          <p:cNvPr id="27" name="Group 26">
            <a:extLst>
              <a:ext uri="{FF2B5EF4-FFF2-40B4-BE49-F238E27FC236}">
                <a16:creationId xmlns:a16="http://schemas.microsoft.com/office/drawing/2014/main" id="{E1B1FC45-10FA-18D3-8D87-1F19DF97A8F9}"/>
              </a:ext>
            </a:extLst>
          </p:cNvPr>
          <p:cNvGrpSpPr/>
          <p:nvPr/>
        </p:nvGrpSpPr>
        <p:grpSpPr>
          <a:xfrm>
            <a:off x="1039787" y="3691468"/>
            <a:ext cx="1433532" cy="646815"/>
            <a:chOff x="1130093" y="3107043"/>
            <a:chExt cx="1433532" cy="646815"/>
          </a:xfrm>
        </p:grpSpPr>
        <p:pic>
          <p:nvPicPr>
            <p:cNvPr id="11" name="Picture 10">
              <a:extLst>
                <a:ext uri="{FF2B5EF4-FFF2-40B4-BE49-F238E27FC236}">
                  <a16:creationId xmlns:a16="http://schemas.microsoft.com/office/drawing/2014/main" id="{008ED6C7-33AE-2038-7516-1C1732411EAC}"/>
                </a:ext>
              </a:extLst>
            </p:cNvPr>
            <p:cNvPicPr>
              <a:picLocks noChangeAspect="1"/>
            </p:cNvPicPr>
            <p:nvPr/>
          </p:nvPicPr>
          <p:blipFill>
            <a:blip r:embed="rId12"/>
            <a:stretch>
              <a:fillRect/>
            </a:stretch>
          </p:blipFill>
          <p:spPr>
            <a:xfrm>
              <a:off x="1682344" y="3424828"/>
              <a:ext cx="329030" cy="329030"/>
            </a:xfrm>
            <a:prstGeom prst="rect">
              <a:avLst/>
            </a:prstGeom>
          </p:spPr>
        </p:pic>
        <p:sp>
          <p:nvSpPr>
            <p:cNvPr id="18" name="TextBox 17">
              <a:extLst>
                <a:ext uri="{FF2B5EF4-FFF2-40B4-BE49-F238E27FC236}">
                  <a16:creationId xmlns:a16="http://schemas.microsoft.com/office/drawing/2014/main" id="{1DD84F0F-C428-658E-C774-54C817E1F72C}"/>
                </a:ext>
              </a:extLst>
            </p:cNvPr>
            <p:cNvSpPr txBox="1"/>
            <p:nvPr/>
          </p:nvSpPr>
          <p:spPr>
            <a:xfrm>
              <a:off x="1130093" y="3107043"/>
              <a:ext cx="1433532" cy="276999"/>
            </a:xfrm>
            <a:prstGeom prst="rect">
              <a:avLst/>
            </a:prstGeom>
            <a:noFill/>
          </p:spPr>
          <p:txBody>
            <a:bodyPr wrap="square" rtlCol="0">
              <a:spAutoFit/>
            </a:bodyPr>
            <a:lstStyle/>
            <a:p>
              <a:pPr algn="ctr"/>
              <a:r>
                <a:rPr lang="en-US" sz="1200" b="1" dirty="0" err="1">
                  <a:solidFill>
                    <a:srgbClr val="262626"/>
                  </a:solidFill>
                </a:rPr>
                <a:t>prometheus</a:t>
              </a:r>
              <a:r>
                <a:rPr lang="en-US" sz="1200" dirty="0"/>
                <a:t> </a:t>
              </a:r>
              <a:r>
                <a:rPr lang="en-US" sz="1000" dirty="0">
                  <a:solidFill>
                    <a:srgbClr val="0000EE"/>
                  </a:solidFill>
                </a:rPr>
                <a:t>:9090</a:t>
              </a:r>
            </a:p>
          </p:txBody>
        </p:sp>
      </p:grpSp>
      <p:grpSp>
        <p:nvGrpSpPr>
          <p:cNvPr id="29" name="Group 28">
            <a:extLst>
              <a:ext uri="{FF2B5EF4-FFF2-40B4-BE49-F238E27FC236}">
                <a16:creationId xmlns:a16="http://schemas.microsoft.com/office/drawing/2014/main" id="{71259EE1-8E97-74AE-55F4-D78D9706AC5C}"/>
              </a:ext>
            </a:extLst>
          </p:cNvPr>
          <p:cNvGrpSpPr/>
          <p:nvPr/>
        </p:nvGrpSpPr>
        <p:grpSpPr>
          <a:xfrm>
            <a:off x="1169063" y="2442754"/>
            <a:ext cx="1159432" cy="638692"/>
            <a:chOff x="1264560" y="4003212"/>
            <a:chExt cx="1159432" cy="638692"/>
          </a:xfrm>
        </p:grpSpPr>
        <p:pic>
          <p:nvPicPr>
            <p:cNvPr id="9" name="Picture 8">
              <a:extLst>
                <a:ext uri="{FF2B5EF4-FFF2-40B4-BE49-F238E27FC236}">
                  <a16:creationId xmlns:a16="http://schemas.microsoft.com/office/drawing/2014/main" id="{9D1E4613-0194-BF9B-9CD5-F7AB8C1D8CA7}"/>
                </a:ext>
              </a:extLst>
            </p:cNvPr>
            <p:cNvPicPr>
              <a:picLocks noChangeAspect="1"/>
            </p:cNvPicPr>
            <p:nvPr/>
          </p:nvPicPr>
          <p:blipFill>
            <a:blip r:embed="rId13"/>
            <a:stretch>
              <a:fillRect/>
            </a:stretch>
          </p:blipFill>
          <p:spPr>
            <a:xfrm>
              <a:off x="1677704" y="4280211"/>
              <a:ext cx="333670" cy="361693"/>
            </a:xfrm>
            <a:prstGeom prst="rect">
              <a:avLst/>
            </a:prstGeom>
          </p:spPr>
        </p:pic>
        <p:sp>
          <p:nvSpPr>
            <p:cNvPr id="23" name="TextBox 22">
              <a:extLst>
                <a:ext uri="{FF2B5EF4-FFF2-40B4-BE49-F238E27FC236}">
                  <a16:creationId xmlns:a16="http://schemas.microsoft.com/office/drawing/2014/main" id="{9F0DE422-0703-0F6C-B669-ED4A241CBA43}"/>
                </a:ext>
              </a:extLst>
            </p:cNvPr>
            <p:cNvSpPr txBox="1"/>
            <p:nvPr/>
          </p:nvSpPr>
          <p:spPr>
            <a:xfrm>
              <a:off x="1264560" y="4003212"/>
              <a:ext cx="1159432" cy="276999"/>
            </a:xfrm>
            <a:prstGeom prst="rect">
              <a:avLst/>
            </a:prstGeom>
            <a:noFill/>
          </p:spPr>
          <p:txBody>
            <a:bodyPr wrap="square" rtlCol="0">
              <a:spAutoFit/>
            </a:bodyPr>
            <a:lstStyle/>
            <a:p>
              <a:pPr algn="ctr"/>
              <a:r>
                <a:rPr lang="en-US" sz="1200" b="1" dirty="0" err="1">
                  <a:solidFill>
                    <a:srgbClr val="262626"/>
                  </a:solidFill>
                </a:rPr>
                <a:t>grafana</a:t>
              </a:r>
              <a:r>
                <a:rPr lang="en-US" sz="1200" dirty="0"/>
                <a:t> </a:t>
              </a:r>
              <a:r>
                <a:rPr lang="en-US" sz="1000" dirty="0">
                  <a:solidFill>
                    <a:srgbClr val="0000EE"/>
                  </a:solidFill>
                </a:rPr>
                <a:t>:3000</a:t>
              </a:r>
            </a:p>
          </p:txBody>
        </p:sp>
      </p:grpSp>
      <p:sp>
        <p:nvSpPr>
          <p:cNvPr id="32" name="Rectangle 31">
            <a:extLst>
              <a:ext uri="{FF2B5EF4-FFF2-40B4-BE49-F238E27FC236}">
                <a16:creationId xmlns:a16="http://schemas.microsoft.com/office/drawing/2014/main" id="{9C92E324-5587-80C9-1884-0DCC975A402F}"/>
              </a:ext>
            </a:extLst>
          </p:cNvPr>
          <p:cNvSpPr/>
          <p:nvPr/>
        </p:nvSpPr>
        <p:spPr>
          <a:xfrm>
            <a:off x="4269317" y="2426328"/>
            <a:ext cx="276793" cy="307777"/>
          </a:xfrm>
          <a:prstGeom prst="rect">
            <a:avLst/>
          </a:prstGeom>
          <a:solidFill>
            <a:schemeClr val="l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8" name="Picture 587" descr="Docker Icon in SVG, PNG formats">
            <a:extLst>
              <a:ext uri="{FF2B5EF4-FFF2-40B4-BE49-F238E27FC236}">
                <a16:creationId xmlns:a16="http://schemas.microsoft.com/office/drawing/2014/main" id="{574B036B-8E45-18A9-867C-8B6F4241BDC8}"/>
              </a:ext>
            </a:extLst>
          </p:cNvPr>
          <p:cNvPicPr>
            <a:picLocks noChangeAspect="1"/>
          </p:cNvPicPr>
          <p:nvPr/>
        </p:nvPicPr>
        <p:blipFill>
          <a:blip r:embed="rId9"/>
          <a:stretch>
            <a:fillRect/>
          </a:stretch>
        </p:blipFill>
        <p:spPr>
          <a:xfrm>
            <a:off x="3116219" y="2747491"/>
            <a:ext cx="247147" cy="247147"/>
          </a:xfrm>
          <a:prstGeom prst="rect">
            <a:avLst/>
          </a:prstGeom>
        </p:spPr>
      </p:pic>
      <p:sp>
        <p:nvSpPr>
          <p:cNvPr id="14" name="Rectangle 13">
            <a:extLst>
              <a:ext uri="{FF2B5EF4-FFF2-40B4-BE49-F238E27FC236}">
                <a16:creationId xmlns:a16="http://schemas.microsoft.com/office/drawing/2014/main" id="{EC9BC564-2EAE-04D3-791A-0508D40CEC20}"/>
              </a:ext>
            </a:extLst>
          </p:cNvPr>
          <p:cNvSpPr/>
          <p:nvPr/>
        </p:nvSpPr>
        <p:spPr>
          <a:xfrm>
            <a:off x="4193590" y="2426328"/>
            <a:ext cx="478046" cy="14499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43C439-615B-6934-474E-09C570C7D391}"/>
              </a:ext>
            </a:extLst>
          </p:cNvPr>
          <p:cNvSpPr/>
          <p:nvPr/>
        </p:nvSpPr>
        <p:spPr>
          <a:xfrm>
            <a:off x="4204032" y="2586965"/>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3" name="Connector: Elbow 582">
            <a:extLst>
              <a:ext uri="{FF2B5EF4-FFF2-40B4-BE49-F238E27FC236}">
                <a16:creationId xmlns:a16="http://schemas.microsoft.com/office/drawing/2014/main" id="{AA65BEAE-F6D5-3100-D350-CD15E2BCCD5F}"/>
              </a:ext>
            </a:extLst>
          </p:cNvPr>
          <p:cNvCxnSpPr>
            <a:cxnSpLocks/>
            <a:stCxn id="14" idx="0"/>
            <a:endCxn id="601" idx="2"/>
          </p:cNvCxnSpPr>
          <p:nvPr/>
        </p:nvCxnSpPr>
        <p:spPr>
          <a:xfrm rot="5400000" flipH="1" flipV="1">
            <a:off x="4736250" y="1551857"/>
            <a:ext cx="570834" cy="1178108"/>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grpSp>
        <p:nvGrpSpPr>
          <p:cNvPr id="30" name="Group 29">
            <a:extLst>
              <a:ext uri="{FF2B5EF4-FFF2-40B4-BE49-F238E27FC236}">
                <a16:creationId xmlns:a16="http://schemas.microsoft.com/office/drawing/2014/main" id="{273BB5E5-4D58-0042-3012-34929A9B6807}"/>
              </a:ext>
            </a:extLst>
          </p:cNvPr>
          <p:cNvGrpSpPr/>
          <p:nvPr/>
        </p:nvGrpSpPr>
        <p:grpSpPr>
          <a:xfrm>
            <a:off x="6141121" y="1266287"/>
            <a:ext cx="1716428" cy="581068"/>
            <a:chOff x="4500828" y="1612050"/>
            <a:chExt cx="1716428" cy="581068"/>
          </a:xfrm>
        </p:grpSpPr>
        <p:pic>
          <p:nvPicPr>
            <p:cNvPr id="36" name="Picture 35">
              <a:extLst>
                <a:ext uri="{FF2B5EF4-FFF2-40B4-BE49-F238E27FC236}">
                  <a16:creationId xmlns:a16="http://schemas.microsoft.com/office/drawing/2014/main" id="{F7A3F31A-1512-400D-B86C-E47916CAE5B4}"/>
                </a:ext>
              </a:extLst>
            </p:cNvPr>
            <p:cNvPicPr>
              <a:picLocks noChangeAspect="1"/>
            </p:cNvPicPr>
            <p:nvPr/>
          </p:nvPicPr>
          <p:blipFill>
            <a:blip r:embed="rId6"/>
            <a:stretch>
              <a:fillRect/>
            </a:stretch>
          </p:blipFill>
          <p:spPr>
            <a:xfrm>
              <a:off x="5178020" y="1612050"/>
              <a:ext cx="345703" cy="309055"/>
            </a:xfrm>
            <a:prstGeom prst="rect">
              <a:avLst/>
            </a:prstGeom>
          </p:spPr>
        </p:pic>
        <p:sp>
          <p:nvSpPr>
            <p:cNvPr id="45" name="TextBox 44">
              <a:extLst>
                <a:ext uri="{FF2B5EF4-FFF2-40B4-BE49-F238E27FC236}">
                  <a16:creationId xmlns:a16="http://schemas.microsoft.com/office/drawing/2014/main" id="{182AC757-98D0-1B32-C6CC-742068547CDA}"/>
                </a:ext>
              </a:extLst>
            </p:cNvPr>
            <p:cNvSpPr txBox="1"/>
            <p:nvPr/>
          </p:nvSpPr>
          <p:spPr>
            <a:xfrm>
              <a:off x="4500828" y="1916119"/>
              <a:ext cx="1716428" cy="276999"/>
            </a:xfrm>
            <a:prstGeom prst="rect">
              <a:avLst/>
            </a:prstGeom>
            <a:noFill/>
          </p:spPr>
          <p:txBody>
            <a:bodyPr wrap="square" rtlCol="0">
              <a:spAutoFit/>
            </a:bodyPr>
            <a:lstStyle/>
            <a:p>
              <a:pPr algn="ctr"/>
              <a:r>
                <a:rPr lang="en-US" sz="1200" b="1" dirty="0" err="1">
                  <a:solidFill>
                    <a:schemeClr val="tx1">
                      <a:lumMod val="85000"/>
                      <a:lumOff val="15000"/>
                    </a:schemeClr>
                  </a:solidFill>
                </a:rPr>
                <a:t>elasticsearch</a:t>
              </a:r>
              <a:r>
                <a:rPr lang="en-US" sz="1200" dirty="0"/>
                <a:t> </a:t>
              </a:r>
              <a:r>
                <a:rPr lang="en-US" sz="1000" dirty="0">
                  <a:solidFill>
                    <a:srgbClr val="0000EE"/>
                  </a:solidFill>
                </a:rPr>
                <a:t>:9200</a:t>
              </a:r>
            </a:p>
          </p:txBody>
        </p:sp>
        <p:pic>
          <p:nvPicPr>
            <p:cNvPr id="10" name="Picture 9">
              <a:extLst>
                <a:ext uri="{FF2B5EF4-FFF2-40B4-BE49-F238E27FC236}">
                  <a16:creationId xmlns:a16="http://schemas.microsoft.com/office/drawing/2014/main" id="{315FDA2A-38E6-790A-16F8-8ADFA35B631C}"/>
                </a:ext>
              </a:extLst>
            </p:cNvPr>
            <p:cNvPicPr>
              <a:picLocks noChangeAspect="1"/>
            </p:cNvPicPr>
            <p:nvPr/>
          </p:nvPicPr>
          <p:blipFill>
            <a:blip r:embed="rId14"/>
            <a:stretch>
              <a:fillRect/>
            </a:stretch>
          </p:blipFill>
          <p:spPr>
            <a:xfrm>
              <a:off x="5245531" y="1614339"/>
              <a:ext cx="205822" cy="102668"/>
            </a:xfrm>
            <a:prstGeom prst="rect">
              <a:avLst/>
            </a:prstGeom>
          </p:spPr>
        </p:pic>
      </p:grpSp>
      <p:cxnSp>
        <p:nvCxnSpPr>
          <p:cNvPr id="58" name="Connector: Elbow 57">
            <a:extLst>
              <a:ext uri="{FF2B5EF4-FFF2-40B4-BE49-F238E27FC236}">
                <a16:creationId xmlns:a16="http://schemas.microsoft.com/office/drawing/2014/main" id="{D83B086B-D46F-B105-4D32-D185B789DBF2}"/>
              </a:ext>
            </a:extLst>
          </p:cNvPr>
          <p:cNvCxnSpPr>
            <a:cxnSpLocks/>
            <a:stCxn id="670" idx="3"/>
            <a:endCxn id="45" idx="2"/>
          </p:cNvCxnSpPr>
          <p:nvPr/>
        </p:nvCxnSpPr>
        <p:spPr>
          <a:xfrm flipV="1">
            <a:off x="4747362" y="1847355"/>
            <a:ext cx="2251973" cy="735607"/>
          </a:xfrm>
          <a:prstGeom prst="bentConnector2">
            <a:avLst/>
          </a:prstGeom>
          <a:ln w="19050">
            <a:tailEnd type="triangle"/>
          </a:ln>
        </p:spPr>
        <p:style>
          <a:lnRef idx="1">
            <a:schemeClr val="accent5"/>
          </a:lnRef>
          <a:fillRef idx="0">
            <a:schemeClr val="accent5"/>
          </a:fillRef>
          <a:effectRef idx="0">
            <a:schemeClr val="accent5"/>
          </a:effectRef>
          <a:fontRef idx="minor">
            <a:schemeClr val="tx1"/>
          </a:fontRef>
        </p:style>
      </p:cxnSp>
      <p:pic>
        <p:nvPicPr>
          <p:cNvPr id="63" name="Picture 62" descr="Docker Icon in SVG, PNG formats">
            <a:extLst>
              <a:ext uri="{FF2B5EF4-FFF2-40B4-BE49-F238E27FC236}">
                <a16:creationId xmlns:a16="http://schemas.microsoft.com/office/drawing/2014/main" id="{B868BBE7-E83D-C8D7-D6F6-9109A97734A0}"/>
              </a:ext>
            </a:extLst>
          </p:cNvPr>
          <p:cNvPicPr>
            <a:picLocks noChangeAspect="1"/>
          </p:cNvPicPr>
          <p:nvPr/>
        </p:nvPicPr>
        <p:blipFill>
          <a:blip r:embed="rId9"/>
          <a:stretch>
            <a:fillRect/>
          </a:stretch>
        </p:blipFill>
        <p:spPr>
          <a:xfrm>
            <a:off x="4498594" y="2164254"/>
            <a:ext cx="247147" cy="247147"/>
          </a:xfrm>
          <a:prstGeom prst="rect">
            <a:avLst/>
          </a:prstGeom>
        </p:spPr>
      </p:pic>
      <p:cxnSp>
        <p:nvCxnSpPr>
          <p:cNvPr id="576" name="Connector: Elbow 575">
            <a:extLst>
              <a:ext uri="{FF2B5EF4-FFF2-40B4-BE49-F238E27FC236}">
                <a16:creationId xmlns:a16="http://schemas.microsoft.com/office/drawing/2014/main" id="{1F7B340B-9CBE-5F90-754F-3B926E26B842}"/>
              </a:ext>
            </a:extLst>
          </p:cNvPr>
          <p:cNvCxnSpPr>
            <a:cxnSpLocks/>
            <a:stCxn id="11" idx="2"/>
            <a:endCxn id="578" idx="2"/>
          </p:cNvCxnSpPr>
          <p:nvPr/>
        </p:nvCxnSpPr>
        <p:spPr>
          <a:xfrm rot="5400000" flipH="1" flipV="1">
            <a:off x="3621415" y="2357760"/>
            <a:ext cx="115660" cy="3845385"/>
          </a:xfrm>
          <a:prstGeom prst="bentConnector3">
            <a:avLst>
              <a:gd name="adj1" fmla="val -197648"/>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46" name="Straight Arrow Connector 45">
            <a:extLst>
              <a:ext uri="{FF2B5EF4-FFF2-40B4-BE49-F238E27FC236}">
                <a16:creationId xmlns:a16="http://schemas.microsoft.com/office/drawing/2014/main" id="{36CAC7D1-4AD5-36D9-3BB6-B747E04DB9F4}"/>
              </a:ext>
            </a:extLst>
          </p:cNvPr>
          <p:cNvCxnSpPr>
            <a:cxnSpLocks/>
            <a:stCxn id="670" idx="1"/>
            <a:endCxn id="23" idx="3"/>
          </p:cNvCxnSpPr>
          <p:nvPr/>
        </p:nvCxnSpPr>
        <p:spPr>
          <a:xfrm flipH="1" flipV="1">
            <a:off x="2328495" y="2581254"/>
            <a:ext cx="415317" cy="1708"/>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61" name="Connector: Elbow 60">
            <a:extLst>
              <a:ext uri="{FF2B5EF4-FFF2-40B4-BE49-F238E27FC236}">
                <a16:creationId xmlns:a16="http://schemas.microsoft.com/office/drawing/2014/main" id="{90F2D6E8-FDD6-5AC5-EB36-442E01E842F2}"/>
              </a:ext>
            </a:extLst>
          </p:cNvPr>
          <p:cNvCxnSpPr>
            <a:cxnSpLocks/>
            <a:stCxn id="603" idx="3"/>
            <a:endCxn id="44" idx="0"/>
          </p:cNvCxnSpPr>
          <p:nvPr/>
        </p:nvCxnSpPr>
        <p:spPr>
          <a:xfrm flipH="1" flipV="1">
            <a:off x="5613963" y="1261301"/>
            <a:ext cx="2364253" cy="2560997"/>
          </a:xfrm>
          <a:prstGeom prst="bentConnector4">
            <a:avLst>
              <a:gd name="adj1" fmla="val -9669"/>
              <a:gd name="adj2" fmla="val 108926"/>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02" name="TextBox 601">
            <a:extLst>
              <a:ext uri="{FF2B5EF4-FFF2-40B4-BE49-F238E27FC236}">
                <a16:creationId xmlns:a16="http://schemas.microsoft.com/office/drawing/2014/main" id="{EC042D39-91E3-18C4-75C3-521CB6F495BA}"/>
              </a:ext>
            </a:extLst>
          </p:cNvPr>
          <p:cNvSpPr txBox="1"/>
          <p:nvPr/>
        </p:nvSpPr>
        <p:spPr>
          <a:xfrm>
            <a:off x="7164016" y="729752"/>
            <a:ext cx="1058884" cy="276999"/>
          </a:xfrm>
          <a:prstGeom prst="rect">
            <a:avLst/>
          </a:prstGeom>
          <a:noFill/>
        </p:spPr>
        <p:txBody>
          <a:bodyPr wrap="square" rtlCol="0">
            <a:spAutoFit/>
          </a:bodyPr>
          <a:lstStyle/>
          <a:p>
            <a:pPr algn="ctr"/>
            <a:r>
              <a:rPr lang="en-US" sz="1200" dirty="0">
                <a:solidFill>
                  <a:schemeClr val="tx1">
                    <a:lumMod val="75000"/>
                    <a:lumOff val="25000"/>
                  </a:schemeClr>
                </a:solidFill>
              </a:rPr>
              <a:t>update</a:t>
            </a:r>
          </a:p>
        </p:txBody>
      </p:sp>
      <p:sp>
        <p:nvSpPr>
          <p:cNvPr id="611" name="TextBox 610">
            <a:extLst>
              <a:ext uri="{FF2B5EF4-FFF2-40B4-BE49-F238E27FC236}">
                <a16:creationId xmlns:a16="http://schemas.microsoft.com/office/drawing/2014/main" id="{3C8C8A28-F684-F05F-ECDA-E100BF1A9381}"/>
              </a:ext>
            </a:extLst>
          </p:cNvPr>
          <p:cNvSpPr txBox="1"/>
          <p:nvPr/>
        </p:nvSpPr>
        <p:spPr>
          <a:xfrm>
            <a:off x="7314447" y="1152311"/>
            <a:ext cx="908453" cy="276999"/>
          </a:xfrm>
          <a:prstGeom prst="rect">
            <a:avLst/>
          </a:prstGeom>
          <a:noFill/>
        </p:spPr>
        <p:txBody>
          <a:bodyPr wrap="square" rtlCol="0">
            <a:spAutoFit/>
          </a:bodyPr>
          <a:lstStyle/>
          <a:p>
            <a:pPr algn="ctr"/>
            <a:r>
              <a:rPr lang="en-US" sz="1200" dirty="0">
                <a:solidFill>
                  <a:schemeClr val="tx1">
                    <a:lumMod val="75000"/>
                    <a:lumOff val="25000"/>
                  </a:schemeClr>
                </a:solidFill>
              </a:rPr>
              <a:t>sync</a:t>
            </a:r>
          </a:p>
        </p:txBody>
      </p:sp>
      <p:pic>
        <p:nvPicPr>
          <p:cNvPr id="612" name="Picture 611">
            <a:extLst>
              <a:ext uri="{FF2B5EF4-FFF2-40B4-BE49-F238E27FC236}">
                <a16:creationId xmlns:a16="http://schemas.microsoft.com/office/drawing/2014/main" id="{9D793979-398E-F0E2-1801-6C83A845C4C5}"/>
              </a:ext>
            </a:extLst>
          </p:cNvPr>
          <p:cNvPicPr>
            <a:picLocks noChangeAspect="1"/>
          </p:cNvPicPr>
          <p:nvPr/>
        </p:nvPicPr>
        <p:blipFill>
          <a:blip r:embed="rId15"/>
          <a:srcRect/>
          <a:stretch/>
        </p:blipFill>
        <p:spPr>
          <a:xfrm>
            <a:off x="7164203" y="4280453"/>
            <a:ext cx="545832" cy="211696"/>
          </a:xfrm>
          <a:prstGeom prst="rect">
            <a:avLst/>
          </a:prstGeom>
        </p:spPr>
      </p:pic>
      <p:pic>
        <p:nvPicPr>
          <p:cNvPr id="43" name="Picture 42" descr="Docker Icon in SVG, PNG formats">
            <a:extLst>
              <a:ext uri="{FF2B5EF4-FFF2-40B4-BE49-F238E27FC236}">
                <a16:creationId xmlns:a16="http://schemas.microsoft.com/office/drawing/2014/main" id="{02BF4F29-3FA0-3D81-9E27-266C051E12FF}"/>
              </a:ext>
            </a:extLst>
          </p:cNvPr>
          <p:cNvPicPr>
            <a:picLocks noChangeAspect="1"/>
          </p:cNvPicPr>
          <p:nvPr/>
        </p:nvPicPr>
        <p:blipFill>
          <a:blip r:embed="rId9"/>
          <a:stretch>
            <a:fillRect/>
          </a:stretch>
        </p:blipFill>
        <p:spPr>
          <a:xfrm>
            <a:off x="4951499" y="2302755"/>
            <a:ext cx="247147" cy="247147"/>
          </a:xfrm>
          <a:prstGeom prst="rect">
            <a:avLst/>
          </a:prstGeom>
        </p:spPr>
      </p:pic>
      <p:grpSp>
        <p:nvGrpSpPr>
          <p:cNvPr id="577" name="Group 576">
            <a:extLst>
              <a:ext uri="{FF2B5EF4-FFF2-40B4-BE49-F238E27FC236}">
                <a16:creationId xmlns:a16="http://schemas.microsoft.com/office/drawing/2014/main" id="{1BEE3F64-79E9-0128-9AA2-21A825C33886}"/>
              </a:ext>
            </a:extLst>
          </p:cNvPr>
          <p:cNvGrpSpPr/>
          <p:nvPr/>
        </p:nvGrpSpPr>
        <p:grpSpPr>
          <a:xfrm>
            <a:off x="4833961" y="3683798"/>
            <a:ext cx="1549390" cy="538825"/>
            <a:chOff x="3699350" y="3918038"/>
            <a:chExt cx="1549390" cy="538825"/>
          </a:xfrm>
        </p:grpSpPr>
        <p:pic>
          <p:nvPicPr>
            <p:cNvPr id="578" name="Picture 577">
              <a:extLst>
                <a:ext uri="{FF2B5EF4-FFF2-40B4-BE49-F238E27FC236}">
                  <a16:creationId xmlns:a16="http://schemas.microsoft.com/office/drawing/2014/main" id="{70EBEC04-5C19-B805-C556-937840546B3A}"/>
                </a:ext>
              </a:extLst>
            </p:cNvPr>
            <p:cNvPicPr>
              <a:picLocks noChangeAspect="1"/>
            </p:cNvPicPr>
            <p:nvPr/>
          </p:nvPicPr>
          <p:blipFill>
            <a:blip r:embed="rId12"/>
            <a:stretch>
              <a:fillRect/>
            </a:stretch>
          </p:blipFill>
          <p:spPr>
            <a:xfrm>
              <a:off x="4362087" y="4246383"/>
              <a:ext cx="210480" cy="210480"/>
            </a:xfrm>
            <a:prstGeom prst="rect">
              <a:avLst/>
            </a:prstGeom>
          </p:spPr>
        </p:pic>
        <p:sp>
          <p:nvSpPr>
            <p:cNvPr id="579" name="TextBox 578">
              <a:extLst>
                <a:ext uri="{FF2B5EF4-FFF2-40B4-BE49-F238E27FC236}">
                  <a16:creationId xmlns:a16="http://schemas.microsoft.com/office/drawing/2014/main" id="{07349DDB-24EF-530B-6C45-8F4C7FC067F4}"/>
                </a:ext>
              </a:extLst>
            </p:cNvPr>
            <p:cNvSpPr txBox="1"/>
            <p:nvPr/>
          </p:nvSpPr>
          <p:spPr>
            <a:xfrm>
              <a:off x="3699350" y="3918038"/>
              <a:ext cx="1549390" cy="276999"/>
            </a:xfrm>
            <a:prstGeom prst="rect">
              <a:avLst/>
            </a:prstGeom>
            <a:noFill/>
          </p:spPr>
          <p:txBody>
            <a:bodyPr wrap="square" rtlCol="0">
              <a:spAutoFit/>
            </a:bodyPr>
            <a:lstStyle/>
            <a:p>
              <a:pPr algn="ctr"/>
              <a:r>
                <a:rPr lang="en-US" sz="1200" b="1" dirty="0" err="1">
                  <a:solidFill>
                    <a:srgbClr val="262626"/>
                  </a:solidFill>
                </a:rPr>
                <a:t>pushgateway</a:t>
              </a:r>
              <a:r>
                <a:rPr lang="en-US" sz="1200" b="1" dirty="0">
                  <a:solidFill>
                    <a:srgbClr val="262626"/>
                  </a:solidFill>
                </a:rPr>
                <a:t> </a:t>
              </a:r>
              <a:r>
                <a:rPr lang="en-US" sz="1000" dirty="0">
                  <a:solidFill>
                    <a:srgbClr val="0000EE"/>
                  </a:solidFill>
                </a:rPr>
                <a:t>:9091</a:t>
              </a:r>
            </a:p>
          </p:txBody>
        </p:sp>
      </p:grpSp>
      <p:grpSp>
        <p:nvGrpSpPr>
          <p:cNvPr id="581" name="Group 580">
            <a:extLst>
              <a:ext uri="{FF2B5EF4-FFF2-40B4-BE49-F238E27FC236}">
                <a16:creationId xmlns:a16="http://schemas.microsoft.com/office/drawing/2014/main" id="{937C7800-0DCC-FE3F-7C02-BE2E02884469}"/>
              </a:ext>
            </a:extLst>
          </p:cNvPr>
          <p:cNvGrpSpPr/>
          <p:nvPr/>
        </p:nvGrpSpPr>
        <p:grpSpPr>
          <a:xfrm>
            <a:off x="3205412" y="3691468"/>
            <a:ext cx="1502296" cy="531155"/>
            <a:chOff x="6163041" y="2436617"/>
            <a:chExt cx="1502296" cy="531155"/>
          </a:xfrm>
        </p:grpSpPr>
        <p:pic>
          <p:nvPicPr>
            <p:cNvPr id="582" name="Picture 581">
              <a:extLst>
                <a:ext uri="{FF2B5EF4-FFF2-40B4-BE49-F238E27FC236}">
                  <a16:creationId xmlns:a16="http://schemas.microsoft.com/office/drawing/2014/main" id="{4E7F6785-9F64-EC53-EC48-501B361AB092}"/>
                </a:ext>
              </a:extLst>
            </p:cNvPr>
            <p:cNvPicPr>
              <a:picLocks noChangeAspect="1"/>
            </p:cNvPicPr>
            <p:nvPr/>
          </p:nvPicPr>
          <p:blipFill>
            <a:blip r:embed="rId12"/>
            <a:stretch>
              <a:fillRect/>
            </a:stretch>
          </p:blipFill>
          <p:spPr>
            <a:xfrm>
              <a:off x="6809093" y="2759078"/>
              <a:ext cx="208694" cy="208694"/>
            </a:xfrm>
            <a:prstGeom prst="rect">
              <a:avLst/>
            </a:prstGeom>
          </p:spPr>
        </p:pic>
        <p:sp>
          <p:nvSpPr>
            <p:cNvPr id="584" name="TextBox 583">
              <a:extLst>
                <a:ext uri="{FF2B5EF4-FFF2-40B4-BE49-F238E27FC236}">
                  <a16:creationId xmlns:a16="http://schemas.microsoft.com/office/drawing/2014/main" id="{BC3071E4-D6C0-69D3-50D6-6928959F8EE1}"/>
                </a:ext>
              </a:extLst>
            </p:cNvPr>
            <p:cNvSpPr txBox="1"/>
            <p:nvPr/>
          </p:nvSpPr>
          <p:spPr>
            <a:xfrm>
              <a:off x="6163041" y="2436617"/>
              <a:ext cx="1502296" cy="276999"/>
            </a:xfrm>
            <a:prstGeom prst="rect">
              <a:avLst/>
            </a:prstGeom>
            <a:noFill/>
          </p:spPr>
          <p:txBody>
            <a:bodyPr wrap="square" rtlCol="0">
              <a:spAutoFit/>
            </a:bodyPr>
            <a:lstStyle/>
            <a:p>
              <a:pPr algn="ctr"/>
              <a:r>
                <a:rPr lang="en-US" sz="1200" b="1" dirty="0" err="1">
                  <a:solidFill>
                    <a:srgbClr val="262626"/>
                  </a:solidFill>
                </a:rPr>
                <a:t>alertmanager</a:t>
              </a:r>
              <a:r>
                <a:rPr lang="en-US" sz="1200" b="1" dirty="0">
                  <a:solidFill>
                    <a:srgbClr val="262626"/>
                  </a:solidFill>
                </a:rPr>
                <a:t> </a:t>
              </a:r>
              <a:r>
                <a:rPr lang="en-US" sz="1000" dirty="0">
                  <a:solidFill>
                    <a:srgbClr val="0000EE"/>
                  </a:solidFill>
                </a:rPr>
                <a:t>:9093</a:t>
              </a:r>
            </a:p>
          </p:txBody>
        </p:sp>
      </p:grpSp>
      <p:cxnSp>
        <p:nvCxnSpPr>
          <p:cNvPr id="598" name="Connector: Elbow 597">
            <a:extLst>
              <a:ext uri="{FF2B5EF4-FFF2-40B4-BE49-F238E27FC236}">
                <a16:creationId xmlns:a16="http://schemas.microsoft.com/office/drawing/2014/main" id="{00592433-AAB6-EBBA-427C-FDA4956C94B8}"/>
              </a:ext>
            </a:extLst>
          </p:cNvPr>
          <p:cNvCxnSpPr>
            <a:cxnSpLocks/>
            <a:stCxn id="16" idx="2"/>
            <a:endCxn id="603" idx="0"/>
          </p:cNvCxnSpPr>
          <p:nvPr/>
        </p:nvCxnSpPr>
        <p:spPr>
          <a:xfrm rot="16200000" flipH="1">
            <a:off x="5465563" y="1712242"/>
            <a:ext cx="949048" cy="2994064"/>
          </a:xfrm>
          <a:prstGeom prst="bentConnector3">
            <a:avLst>
              <a:gd name="adj1" fmla="val 50000"/>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4" name="Connector: Elbow 603">
            <a:extLst>
              <a:ext uri="{FF2B5EF4-FFF2-40B4-BE49-F238E27FC236}">
                <a16:creationId xmlns:a16="http://schemas.microsoft.com/office/drawing/2014/main" id="{18C0D358-9AEA-419D-50A5-DA7D4D2A8811}"/>
              </a:ext>
            </a:extLst>
          </p:cNvPr>
          <p:cNvCxnSpPr>
            <a:cxnSpLocks/>
            <a:stCxn id="634" idx="2"/>
            <a:endCxn id="579" idx="0"/>
          </p:cNvCxnSpPr>
          <p:nvPr/>
        </p:nvCxnSpPr>
        <p:spPr>
          <a:xfrm rot="16200000" flipH="1">
            <a:off x="4364297" y="2439439"/>
            <a:ext cx="945576" cy="1543142"/>
          </a:xfrm>
          <a:prstGeom prst="bentConnector3">
            <a:avLst>
              <a:gd name="adj1" fmla="val 72833"/>
            </a:avLst>
          </a:prstGeom>
          <a:ln w="19050">
            <a:tailEnd type="triangle"/>
          </a:ln>
        </p:spPr>
        <p:style>
          <a:lnRef idx="1">
            <a:schemeClr val="accent5"/>
          </a:lnRef>
          <a:fillRef idx="0">
            <a:schemeClr val="accent5"/>
          </a:fillRef>
          <a:effectRef idx="0">
            <a:schemeClr val="accent5"/>
          </a:effectRef>
          <a:fontRef idx="minor">
            <a:schemeClr val="tx1"/>
          </a:fontRef>
        </p:style>
      </p:cxnSp>
      <p:cxnSp>
        <p:nvCxnSpPr>
          <p:cNvPr id="607" name="Connector: Elbow 606">
            <a:extLst>
              <a:ext uri="{FF2B5EF4-FFF2-40B4-BE49-F238E27FC236}">
                <a16:creationId xmlns:a16="http://schemas.microsoft.com/office/drawing/2014/main" id="{2CCFBE42-CAE6-50C3-937E-1E156A3C2430}"/>
              </a:ext>
            </a:extLst>
          </p:cNvPr>
          <p:cNvCxnSpPr>
            <a:cxnSpLocks/>
            <a:stCxn id="670" idx="2"/>
            <a:endCxn id="584" idx="0"/>
          </p:cNvCxnSpPr>
          <p:nvPr/>
        </p:nvCxnSpPr>
        <p:spPr>
          <a:xfrm rot="16200000" flipH="1">
            <a:off x="3373764" y="3108672"/>
            <a:ext cx="954618" cy="210973"/>
          </a:xfrm>
          <a:prstGeom prst="bentConnector3">
            <a:avLst>
              <a:gd name="adj1" fmla="val 80599"/>
            </a:avLst>
          </a:prstGeom>
          <a:ln w="19050">
            <a:tailEnd type="triangle"/>
          </a:ln>
        </p:spPr>
        <p:style>
          <a:lnRef idx="1">
            <a:schemeClr val="accent5"/>
          </a:lnRef>
          <a:fillRef idx="0">
            <a:schemeClr val="accent5"/>
          </a:fillRef>
          <a:effectRef idx="0">
            <a:schemeClr val="accent5"/>
          </a:effectRef>
          <a:fontRef idx="minor">
            <a:schemeClr val="tx1"/>
          </a:fontRef>
        </p:style>
      </p:cxnSp>
      <p:sp>
        <p:nvSpPr>
          <p:cNvPr id="616" name="Rectangle 615">
            <a:extLst>
              <a:ext uri="{FF2B5EF4-FFF2-40B4-BE49-F238E27FC236}">
                <a16:creationId xmlns:a16="http://schemas.microsoft.com/office/drawing/2014/main" id="{B79268E1-1FF2-E3F7-83C4-892B534AD046}"/>
              </a:ext>
            </a:extLst>
          </p:cNvPr>
          <p:cNvSpPr/>
          <p:nvPr/>
        </p:nvSpPr>
        <p:spPr>
          <a:xfrm>
            <a:off x="2798587" y="2426328"/>
            <a:ext cx="478046" cy="14499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6A879483-F847-70AB-D6F6-8DB6192989F2}"/>
              </a:ext>
            </a:extLst>
          </p:cNvPr>
          <p:cNvSpPr/>
          <p:nvPr/>
        </p:nvSpPr>
        <p:spPr>
          <a:xfrm>
            <a:off x="2815400" y="2589064"/>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E45319CC-60ED-A6EB-B129-B32EAD07A434}"/>
              </a:ext>
            </a:extLst>
          </p:cNvPr>
          <p:cNvSpPr/>
          <p:nvPr/>
        </p:nvSpPr>
        <p:spPr>
          <a:xfrm>
            <a:off x="3826491" y="2590437"/>
            <a:ext cx="478046" cy="147785"/>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9" name="Picture 638" descr="Docker Icon in SVG, PNG formats">
            <a:extLst>
              <a:ext uri="{FF2B5EF4-FFF2-40B4-BE49-F238E27FC236}">
                <a16:creationId xmlns:a16="http://schemas.microsoft.com/office/drawing/2014/main" id="{E5A945B1-3F34-99BC-1F39-58D5B7CC0C47}"/>
              </a:ext>
            </a:extLst>
          </p:cNvPr>
          <p:cNvPicPr>
            <a:picLocks noChangeAspect="1"/>
          </p:cNvPicPr>
          <p:nvPr/>
        </p:nvPicPr>
        <p:blipFill>
          <a:blip r:embed="rId9"/>
          <a:stretch>
            <a:fillRect/>
          </a:stretch>
        </p:blipFill>
        <p:spPr>
          <a:xfrm>
            <a:off x="4531769" y="2763306"/>
            <a:ext cx="247147" cy="247147"/>
          </a:xfrm>
          <a:prstGeom prst="rect">
            <a:avLst/>
          </a:prstGeom>
        </p:spPr>
      </p:pic>
      <p:pic>
        <p:nvPicPr>
          <p:cNvPr id="642" name="Picture 641" descr="Docker Icon in SVG, PNG formats">
            <a:extLst>
              <a:ext uri="{FF2B5EF4-FFF2-40B4-BE49-F238E27FC236}">
                <a16:creationId xmlns:a16="http://schemas.microsoft.com/office/drawing/2014/main" id="{C0DD4458-A889-CD6E-4B04-0306FE962967}"/>
              </a:ext>
            </a:extLst>
          </p:cNvPr>
          <p:cNvPicPr>
            <a:picLocks noChangeAspect="1"/>
          </p:cNvPicPr>
          <p:nvPr/>
        </p:nvPicPr>
        <p:blipFill>
          <a:blip r:embed="rId9"/>
          <a:stretch>
            <a:fillRect/>
          </a:stretch>
        </p:blipFill>
        <p:spPr>
          <a:xfrm>
            <a:off x="4133708" y="2760667"/>
            <a:ext cx="247147" cy="247147"/>
          </a:xfrm>
          <a:prstGeom prst="rect">
            <a:avLst/>
          </a:prstGeom>
        </p:spPr>
      </p:pic>
      <p:pic>
        <p:nvPicPr>
          <p:cNvPr id="643" name="Picture 642" descr="Docker Icon in SVG, PNG formats">
            <a:extLst>
              <a:ext uri="{FF2B5EF4-FFF2-40B4-BE49-F238E27FC236}">
                <a16:creationId xmlns:a16="http://schemas.microsoft.com/office/drawing/2014/main" id="{75167DDE-E160-93D8-99D0-057A836EE44C}"/>
              </a:ext>
            </a:extLst>
          </p:cNvPr>
          <p:cNvPicPr>
            <a:picLocks noChangeAspect="1"/>
          </p:cNvPicPr>
          <p:nvPr/>
        </p:nvPicPr>
        <p:blipFill>
          <a:blip r:embed="rId9"/>
          <a:stretch>
            <a:fillRect/>
          </a:stretch>
        </p:blipFill>
        <p:spPr>
          <a:xfrm>
            <a:off x="3803464" y="2763305"/>
            <a:ext cx="247147" cy="247147"/>
          </a:xfrm>
          <a:prstGeom prst="rect">
            <a:avLst/>
          </a:prstGeom>
        </p:spPr>
      </p:pic>
      <p:cxnSp>
        <p:nvCxnSpPr>
          <p:cNvPr id="662" name="Straight Arrow Connector 661">
            <a:extLst>
              <a:ext uri="{FF2B5EF4-FFF2-40B4-BE49-F238E27FC236}">
                <a16:creationId xmlns:a16="http://schemas.microsoft.com/office/drawing/2014/main" id="{38A6E58C-57E3-AE74-D6CF-A3782CBB906B}"/>
              </a:ext>
            </a:extLst>
          </p:cNvPr>
          <p:cNvCxnSpPr>
            <a:cxnSpLocks/>
            <a:stCxn id="603" idx="1"/>
            <a:endCxn id="579" idx="3"/>
          </p:cNvCxnSpPr>
          <p:nvPr/>
        </p:nvCxnSpPr>
        <p:spPr>
          <a:xfrm flipH="1">
            <a:off x="6383351" y="3822298"/>
            <a:ext cx="512671" cy="0"/>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74" name="TextBox 673">
            <a:extLst>
              <a:ext uri="{FF2B5EF4-FFF2-40B4-BE49-F238E27FC236}">
                <a16:creationId xmlns:a16="http://schemas.microsoft.com/office/drawing/2014/main" id="{D892161A-D96B-8D63-1B9B-9133C504EAA1}"/>
              </a:ext>
            </a:extLst>
          </p:cNvPr>
          <p:cNvSpPr txBox="1"/>
          <p:nvPr/>
        </p:nvSpPr>
        <p:spPr>
          <a:xfrm>
            <a:off x="6386592" y="3537953"/>
            <a:ext cx="612743" cy="276999"/>
          </a:xfrm>
          <a:prstGeom prst="rect">
            <a:avLst/>
          </a:prstGeom>
          <a:noFill/>
        </p:spPr>
        <p:txBody>
          <a:bodyPr wrap="square" rtlCol="0">
            <a:spAutoFit/>
          </a:bodyPr>
          <a:lstStyle/>
          <a:p>
            <a:pPr algn="ctr"/>
            <a:r>
              <a:rPr lang="en-US" sz="1200" dirty="0">
                <a:solidFill>
                  <a:schemeClr val="tx1">
                    <a:lumMod val="75000"/>
                    <a:lumOff val="25000"/>
                  </a:schemeClr>
                </a:solidFill>
              </a:rPr>
              <a:t>push</a:t>
            </a:r>
          </a:p>
        </p:txBody>
      </p:sp>
      <p:sp>
        <p:nvSpPr>
          <p:cNvPr id="679" name="TextBox 678">
            <a:extLst>
              <a:ext uri="{FF2B5EF4-FFF2-40B4-BE49-F238E27FC236}">
                <a16:creationId xmlns:a16="http://schemas.microsoft.com/office/drawing/2014/main" id="{A7C092EA-DD48-C62A-EA0F-6407E3AB9805}"/>
              </a:ext>
            </a:extLst>
          </p:cNvPr>
          <p:cNvSpPr txBox="1"/>
          <p:nvPr/>
        </p:nvSpPr>
        <p:spPr>
          <a:xfrm>
            <a:off x="1921067" y="4321241"/>
            <a:ext cx="3447675" cy="276999"/>
          </a:xfrm>
          <a:prstGeom prst="rect">
            <a:avLst/>
          </a:prstGeom>
          <a:noFill/>
        </p:spPr>
        <p:txBody>
          <a:bodyPr wrap="square" rtlCol="0">
            <a:spAutoFit/>
          </a:bodyPr>
          <a:lstStyle/>
          <a:p>
            <a:pPr algn="ctr"/>
            <a:r>
              <a:rPr lang="en-US" sz="1200" dirty="0">
                <a:solidFill>
                  <a:schemeClr val="tx1">
                    <a:lumMod val="75000"/>
                    <a:lumOff val="25000"/>
                  </a:schemeClr>
                </a:solidFill>
              </a:rPr>
              <a:t>scrape ↻15s</a:t>
            </a:r>
          </a:p>
        </p:txBody>
      </p:sp>
      <p:sp>
        <p:nvSpPr>
          <p:cNvPr id="680" name="TextBox 679">
            <a:extLst>
              <a:ext uri="{FF2B5EF4-FFF2-40B4-BE49-F238E27FC236}">
                <a16:creationId xmlns:a16="http://schemas.microsoft.com/office/drawing/2014/main" id="{4E3C30D1-6F4C-10EF-6C6A-90F28B779B28}"/>
              </a:ext>
            </a:extLst>
          </p:cNvPr>
          <p:cNvSpPr txBox="1"/>
          <p:nvPr/>
        </p:nvSpPr>
        <p:spPr>
          <a:xfrm>
            <a:off x="2488222" y="3559934"/>
            <a:ext cx="647561" cy="276999"/>
          </a:xfrm>
          <a:prstGeom prst="rect">
            <a:avLst/>
          </a:prstGeom>
          <a:noFill/>
        </p:spPr>
        <p:txBody>
          <a:bodyPr wrap="square" rtlCol="0">
            <a:spAutoFit/>
          </a:bodyPr>
          <a:lstStyle/>
          <a:p>
            <a:pPr algn="ctr"/>
            <a:r>
              <a:rPr lang="en-US" sz="1200" dirty="0">
                <a:solidFill>
                  <a:schemeClr val="tx1">
                    <a:lumMod val="75000"/>
                    <a:lumOff val="25000"/>
                  </a:schemeClr>
                </a:solidFill>
              </a:rPr>
              <a:t>alert</a:t>
            </a:r>
          </a:p>
        </p:txBody>
      </p:sp>
      <p:sp>
        <p:nvSpPr>
          <p:cNvPr id="681" name="TextBox 680">
            <a:extLst>
              <a:ext uri="{FF2B5EF4-FFF2-40B4-BE49-F238E27FC236}">
                <a16:creationId xmlns:a16="http://schemas.microsoft.com/office/drawing/2014/main" id="{B6B50507-72F7-BBF6-6E74-EB5A67B30E57}"/>
              </a:ext>
            </a:extLst>
          </p:cNvPr>
          <p:cNvSpPr txBox="1"/>
          <p:nvPr/>
        </p:nvSpPr>
        <p:spPr>
          <a:xfrm>
            <a:off x="2139094" y="3878302"/>
            <a:ext cx="1376138" cy="246221"/>
          </a:xfrm>
          <a:prstGeom prst="rect">
            <a:avLst/>
          </a:prstGeom>
          <a:noFill/>
        </p:spPr>
        <p:txBody>
          <a:bodyPr wrap="square" rtlCol="0">
            <a:spAutoFit/>
          </a:bodyPr>
          <a:lstStyle/>
          <a:p>
            <a:pPr algn="ctr"/>
            <a:r>
              <a:rPr lang="en-US" sz="1000" dirty="0">
                <a:solidFill>
                  <a:schemeClr val="tx1">
                    <a:lumMod val="75000"/>
                    <a:lumOff val="25000"/>
                  </a:schemeClr>
                </a:solidFill>
              </a:rPr>
              <a:t>[ETL overdue 2h?]</a:t>
            </a:r>
          </a:p>
        </p:txBody>
      </p:sp>
      <p:cxnSp>
        <p:nvCxnSpPr>
          <p:cNvPr id="682" name="Straight Arrow Connector 681">
            <a:extLst>
              <a:ext uri="{FF2B5EF4-FFF2-40B4-BE49-F238E27FC236}">
                <a16:creationId xmlns:a16="http://schemas.microsoft.com/office/drawing/2014/main" id="{0F323F58-7904-EFD6-330F-9BD1E6243611}"/>
              </a:ext>
            </a:extLst>
          </p:cNvPr>
          <p:cNvCxnSpPr>
            <a:cxnSpLocks/>
            <a:stCxn id="18" idx="3"/>
            <a:endCxn id="584" idx="1"/>
          </p:cNvCxnSpPr>
          <p:nvPr/>
        </p:nvCxnSpPr>
        <p:spPr>
          <a:xfrm>
            <a:off x="2473319" y="3829968"/>
            <a:ext cx="732093" cy="0"/>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694" name="Connector: Elbow 693">
            <a:extLst>
              <a:ext uri="{FF2B5EF4-FFF2-40B4-BE49-F238E27FC236}">
                <a16:creationId xmlns:a16="http://schemas.microsoft.com/office/drawing/2014/main" id="{025B8F0E-F385-D4A1-78AC-0E13BC087EF9}"/>
              </a:ext>
            </a:extLst>
          </p:cNvPr>
          <p:cNvCxnSpPr>
            <a:cxnSpLocks/>
            <a:stCxn id="18" idx="1"/>
            <a:endCxn id="713" idx="0"/>
          </p:cNvCxnSpPr>
          <p:nvPr/>
        </p:nvCxnSpPr>
        <p:spPr>
          <a:xfrm rot="10800000" flipH="1">
            <a:off x="1039787" y="1101202"/>
            <a:ext cx="2722890" cy="2728766"/>
          </a:xfrm>
          <a:prstGeom prst="bentConnector4">
            <a:avLst>
              <a:gd name="adj1" fmla="val -8395"/>
              <a:gd name="adj2" fmla="val 108377"/>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695" name="TextBox 694">
            <a:extLst>
              <a:ext uri="{FF2B5EF4-FFF2-40B4-BE49-F238E27FC236}">
                <a16:creationId xmlns:a16="http://schemas.microsoft.com/office/drawing/2014/main" id="{EA7053D9-B52D-9D8E-2BBC-AA4F516E9D36}"/>
              </a:ext>
            </a:extLst>
          </p:cNvPr>
          <p:cNvSpPr txBox="1"/>
          <p:nvPr/>
        </p:nvSpPr>
        <p:spPr>
          <a:xfrm rot="16200000">
            <a:off x="293651" y="2304254"/>
            <a:ext cx="1318130" cy="276999"/>
          </a:xfrm>
          <a:prstGeom prst="rect">
            <a:avLst/>
          </a:prstGeom>
          <a:noFill/>
        </p:spPr>
        <p:txBody>
          <a:bodyPr wrap="square" rtlCol="0">
            <a:spAutoFit/>
          </a:bodyPr>
          <a:lstStyle/>
          <a:p>
            <a:pPr algn="ctr"/>
            <a:r>
              <a:rPr lang="en-US" sz="1200" dirty="0">
                <a:solidFill>
                  <a:schemeClr val="tx1">
                    <a:lumMod val="75000"/>
                    <a:lumOff val="25000"/>
                  </a:schemeClr>
                </a:solidFill>
              </a:rPr>
              <a:t>scrape ↻15s</a:t>
            </a:r>
          </a:p>
        </p:txBody>
      </p:sp>
      <p:sp>
        <p:nvSpPr>
          <p:cNvPr id="704" name="Rectangle 703">
            <a:extLst>
              <a:ext uri="{FF2B5EF4-FFF2-40B4-BE49-F238E27FC236}">
                <a16:creationId xmlns:a16="http://schemas.microsoft.com/office/drawing/2014/main" id="{E8533429-8D73-52DA-3466-DCFB2E317C04}"/>
              </a:ext>
            </a:extLst>
          </p:cNvPr>
          <p:cNvSpPr/>
          <p:nvPr/>
        </p:nvSpPr>
        <p:spPr>
          <a:xfrm>
            <a:off x="1844099" y="3691466"/>
            <a:ext cx="478046" cy="173233"/>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TextBox 706">
            <a:extLst>
              <a:ext uri="{FF2B5EF4-FFF2-40B4-BE49-F238E27FC236}">
                <a16:creationId xmlns:a16="http://schemas.microsoft.com/office/drawing/2014/main" id="{50AD4687-5C4E-C403-4E9D-5404D3AE9A97}"/>
              </a:ext>
            </a:extLst>
          </p:cNvPr>
          <p:cNvSpPr txBox="1"/>
          <p:nvPr/>
        </p:nvSpPr>
        <p:spPr>
          <a:xfrm rot="16200000">
            <a:off x="1245315" y="3278648"/>
            <a:ext cx="671404" cy="276999"/>
          </a:xfrm>
          <a:prstGeom prst="rect">
            <a:avLst/>
          </a:prstGeom>
          <a:noFill/>
        </p:spPr>
        <p:txBody>
          <a:bodyPr wrap="square" rtlCol="0">
            <a:spAutoFit/>
          </a:bodyPr>
          <a:lstStyle/>
          <a:p>
            <a:pPr algn="ctr"/>
            <a:r>
              <a:rPr lang="en-US" sz="1200" dirty="0">
                <a:solidFill>
                  <a:schemeClr val="tx1">
                    <a:lumMod val="75000"/>
                    <a:lumOff val="25000"/>
                  </a:schemeClr>
                </a:solidFill>
              </a:rPr>
              <a:t>use</a:t>
            </a:r>
          </a:p>
        </p:txBody>
      </p:sp>
      <p:cxnSp>
        <p:nvCxnSpPr>
          <p:cNvPr id="708" name="Straight Arrow Connector 707">
            <a:extLst>
              <a:ext uri="{FF2B5EF4-FFF2-40B4-BE49-F238E27FC236}">
                <a16:creationId xmlns:a16="http://schemas.microsoft.com/office/drawing/2014/main" id="{B1AB7FB5-9332-8A45-87FF-4F0B61E999F1}"/>
              </a:ext>
            </a:extLst>
          </p:cNvPr>
          <p:cNvCxnSpPr>
            <a:cxnSpLocks/>
            <a:stCxn id="9" idx="2"/>
            <a:endCxn id="18" idx="0"/>
          </p:cNvCxnSpPr>
          <p:nvPr/>
        </p:nvCxnSpPr>
        <p:spPr>
          <a:xfrm>
            <a:off x="1749042" y="3081446"/>
            <a:ext cx="7511" cy="610022"/>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cxnSp>
        <p:nvCxnSpPr>
          <p:cNvPr id="717" name="Connector: Elbow 716">
            <a:extLst>
              <a:ext uri="{FF2B5EF4-FFF2-40B4-BE49-F238E27FC236}">
                <a16:creationId xmlns:a16="http://schemas.microsoft.com/office/drawing/2014/main" id="{D2D14661-B651-232E-DFD6-E19312F43344}"/>
              </a:ext>
            </a:extLst>
          </p:cNvPr>
          <p:cNvCxnSpPr>
            <a:cxnSpLocks/>
            <a:stCxn id="742" idx="3"/>
            <a:endCxn id="10" idx="0"/>
          </p:cNvCxnSpPr>
          <p:nvPr/>
        </p:nvCxnSpPr>
        <p:spPr>
          <a:xfrm flipV="1">
            <a:off x="3956560" y="1268576"/>
            <a:ext cx="3032175" cy="64543"/>
          </a:xfrm>
          <a:prstGeom prst="bentConnector4">
            <a:avLst>
              <a:gd name="adj1" fmla="val 16105"/>
              <a:gd name="adj2" fmla="val 716219"/>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742" name="Rectangle 741">
            <a:extLst>
              <a:ext uri="{FF2B5EF4-FFF2-40B4-BE49-F238E27FC236}">
                <a16:creationId xmlns:a16="http://schemas.microsoft.com/office/drawing/2014/main" id="{EC7FFF2E-8428-F30C-6EF9-663170A5526E}"/>
              </a:ext>
            </a:extLst>
          </p:cNvPr>
          <p:cNvSpPr/>
          <p:nvPr/>
        </p:nvSpPr>
        <p:spPr>
          <a:xfrm>
            <a:off x="3823425" y="1256612"/>
            <a:ext cx="133135" cy="153013"/>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6E5A40FB-EE86-A180-2384-46025D792821}"/>
              </a:ext>
            </a:extLst>
          </p:cNvPr>
          <p:cNvSpPr/>
          <p:nvPr/>
        </p:nvSpPr>
        <p:spPr>
          <a:xfrm>
            <a:off x="3830496" y="1409625"/>
            <a:ext cx="134837" cy="15942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60B693E4-F85D-40E5-0A61-1AC82BA8C76F}"/>
              </a:ext>
            </a:extLst>
          </p:cNvPr>
          <p:cNvSpPr/>
          <p:nvPr/>
        </p:nvSpPr>
        <p:spPr>
          <a:xfrm>
            <a:off x="5444353" y="1407940"/>
            <a:ext cx="134837" cy="159427"/>
          </a:xfrm>
          <a:prstGeom prst="rect">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TextBox 753">
            <a:extLst>
              <a:ext uri="{FF2B5EF4-FFF2-40B4-BE49-F238E27FC236}">
                <a16:creationId xmlns:a16="http://schemas.microsoft.com/office/drawing/2014/main" id="{66C76BB4-B06D-2CDD-6368-527961DDCF4B}"/>
              </a:ext>
            </a:extLst>
          </p:cNvPr>
          <p:cNvSpPr txBox="1"/>
          <p:nvPr/>
        </p:nvSpPr>
        <p:spPr>
          <a:xfrm>
            <a:off x="4460286" y="860665"/>
            <a:ext cx="857295" cy="276999"/>
          </a:xfrm>
          <a:prstGeom prst="rect">
            <a:avLst/>
          </a:prstGeom>
          <a:noFill/>
        </p:spPr>
        <p:txBody>
          <a:bodyPr wrap="square" rtlCol="0">
            <a:spAutoFit/>
          </a:bodyPr>
          <a:lstStyle/>
          <a:p>
            <a:pPr algn="ctr"/>
            <a:r>
              <a:rPr lang="en-US" sz="1200" dirty="0">
                <a:solidFill>
                  <a:schemeClr val="tx1">
                    <a:lumMod val="75000"/>
                    <a:lumOff val="25000"/>
                  </a:schemeClr>
                </a:solidFill>
              </a:rPr>
              <a:t>use</a:t>
            </a:r>
          </a:p>
        </p:txBody>
      </p:sp>
    </p:spTree>
    <p:extLst>
      <p:ext uri="{BB962C8B-B14F-4D97-AF65-F5344CB8AC3E}">
        <p14:creationId xmlns:p14="http://schemas.microsoft.com/office/powerpoint/2010/main" val="130102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0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1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8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9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9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0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70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0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7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6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7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7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7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0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643"/>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58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8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8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 grpId="0"/>
      <p:bldP spid="670" grpId="0" animBg="1"/>
      <p:bldP spid="4" grpId="0"/>
      <p:bldP spid="602" grpId="0"/>
      <p:bldP spid="611" grpId="0"/>
      <p:bldP spid="674" grpId="0"/>
      <p:bldP spid="679" grpId="0"/>
      <p:bldP spid="680" grpId="0"/>
      <p:bldP spid="681" grpId="0"/>
      <p:bldP spid="695" grpId="0"/>
      <p:bldP spid="707" grpId="0"/>
      <p:bldP spid="7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481022DB-5551-B743-1147-B8B7982DAE04}"/>
            </a:ext>
          </a:extLst>
        </p:cNvPr>
        <p:cNvGrpSpPr/>
        <p:nvPr/>
      </p:nvGrpSpPr>
      <p:grpSpPr>
        <a:xfrm>
          <a:off x="0" y="0"/>
          <a:ext cx="0" cy="0"/>
          <a:chOff x="0" y="0"/>
          <a:chExt cx="0" cy="0"/>
        </a:xfrm>
      </p:grpSpPr>
      <p:sp>
        <p:nvSpPr>
          <p:cNvPr id="662" name="TextBox 661">
            <a:extLst>
              <a:ext uri="{FF2B5EF4-FFF2-40B4-BE49-F238E27FC236}">
                <a16:creationId xmlns:a16="http://schemas.microsoft.com/office/drawing/2014/main" id="{D9E9FF2F-323C-B6E2-0929-9FE56876B622}"/>
              </a:ext>
            </a:extLst>
          </p:cNvPr>
          <p:cNvSpPr txBox="1"/>
          <p:nvPr/>
        </p:nvSpPr>
        <p:spPr>
          <a:xfrm>
            <a:off x="5234960" y="2430061"/>
            <a:ext cx="644015" cy="246221"/>
          </a:xfrm>
          <a:prstGeom prst="rect">
            <a:avLst/>
          </a:prstGeom>
          <a:noFill/>
        </p:spPr>
        <p:txBody>
          <a:bodyPr wrap="square" rtlCol="0">
            <a:spAutoFit/>
          </a:bodyPr>
          <a:lstStyle/>
          <a:p>
            <a:pPr algn="ctr"/>
            <a:r>
              <a:rPr lang="en-US" sz="1000" b="1" dirty="0"/>
              <a:t>merge</a:t>
            </a:r>
          </a:p>
        </p:txBody>
      </p:sp>
      <p:sp>
        <p:nvSpPr>
          <p:cNvPr id="633" name="Google Shape;633;p91">
            <a:extLst>
              <a:ext uri="{FF2B5EF4-FFF2-40B4-BE49-F238E27FC236}">
                <a16:creationId xmlns:a16="http://schemas.microsoft.com/office/drawing/2014/main" id="{99F6F1C5-4FCA-226F-B7D5-DE7394DD994E}"/>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Continuous Integration with GitHub Actions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1EED32FD-EBBC-715E-5801-7AE9E2CA02C3}"/>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1C175177-E5F8-8040-8FEA-BD04CA40EE4F}"/>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AC68D044-7BCA-2620-6CB7-E9CE4CD03D37}"/>
              </a:ext>
            </a:extLst>
          </p:cNvPr>
          <p:cNvSpPr txBox="1"/>
          <p:nvPr/>
        </p:nvSpPr>
        <p:spPr>
          <a:xfrm>
            <a:off x="1671288" y="2366403"/>
            <a:ext cx="418289" cy="246221"/>
          </a:xfrm>
          <a:prstGeom prst="rect">
            <a:avLst/>
          </a:prstGeom>
          <a:noFill/>
        </p:spPr>
        <p:txBody>
          <a:bodyPr wrap="square" rtlCol="0">
            <a:spAutoFit/>
          </a:bodyPr>
          <a:lstStyle/>
          <a:p>
            <a:r>
              <a:rPr lang="en-US" sz="1000" dirty="0"/>
              <a:t>no</a:t>
            </a:r>
          </a:p>
        </p:txBody>
      </p:sp>
      <p:sp>
        <p:nvSpPr>
          <p:cNvPr id="5" name="Diamond 4">
            <a:extLst>
              <a:ext uri="{FF2B5EF4-FFF2-40B4-BE49-F238E27FC236}">
                <a16:creationId xmlns:a16="http://schemas.microsoft.com/office/drawing/2014/main" id="{F5CCFBEF-FB87-3D5D-53BD-C15A74B0E2A1}"/>
              </a:ext>
            </a:extLst>
          </p:cNvPr>
          <p:cNvSpPr/>
          <p:nvPr/>
        </p:nvSpPr>
        <p:spPr>
          <a:xfrm>
            <a:off x="1106649" y="1214697"/>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Push event?</a:t>
            </a:r>
          </a:p>
        </p:txBody>
      </p:sp>
      <p:sp>
        <p:nvSpPr>
          <p:cNvPr id="6" name="TextBox 5">
            <a:extLst>
              <a:ext uri="{FF2B5EF4-FFF2-40B4-BE49-F238E27FC236}">
                <a16:creationId xmlns:a16="http://schemas.microsoft.com/office/drawing/2014/main" id="{43C696E6-FB30-02B4-653B-70DE5F4B05FD}"/>
              </a:ext>
            </a:extLst>
          </p:cNvPr>
          <p:cNvSpPr txBox="1"/>
          <p:nvPr/>
        </p:nvSpPr>
        <p:spPr>
          <a:xfrm>
            <a:off x="1671288" y="962834"/>
            <a:ext cx="418289" cy="246221"/>
          </a:xfrm>
          <a:prstGeom prst="rect">
            <a:avLst/>
          </a:prstGeom>
          <a:noFill/>
        </p:spPr>
        <p:txBody>
          <a:bodyPr wrap="square" rtlCol="0">
            <a:spAutoFit/>
          </a:bodyPr>
          <a:lstStyle/>
          <a:p>
            <a:r>
              <a:rPr lang="en-US" sz="1000" dirty="0"/>
              <a:t>yes</a:t>
            </a:r>
          </a:p>
        </p:txBody>
      </p:sp>
      <p:cxnSp>
        <p:nvCxnSpPr>
          <p:cNvPr id="10" name="Connector: Elbow 9">
            <a:extLst>
              <a:ext uri="{FF2B5EF4-FFF2-40B4-BE49-F238E27FC236}">
                <a16:creationId xmlns:a16="http://schemas.microsoft.com/office/drawing/2014/main" id="{108DBB25-0D5F-69D0-3BE7-E8E531EED91C}"/>
              </a:ext>
            </a:extLst>
          </p:cNvPr>
          <p:cNvCxnSpPr>
            <a:cxnSpLocks/>
            <a:stCxn id="5" idx="0"/>
            <a:endCxn id="13" idx="0"/>
          </p:cNvCxnSpPr>
          <p:nvPr/>
        </p:nvCxnSpPr>
        <p:spPr>
          <a:xfrm rot="16200000" flipH="1">
            <a:off x="2641229" y="244755"/>
            <a:ext cx="28331" cy="1968214"/>
          </a:xfrm>
          <a:prstGeom prst="bentConnector3">
            <a:avLst>
              <a:gd name="adj1" fmla="val -806890"/>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36D478F9-F166-49F8-5F10-44FE33E4B2FA}"/>
              </a:ext>
            </a:extLst>
          </p:cNvPr>
          <p:cNvCxnSpPr>
            <a:cxnSpLocks/>
            <a:stCxn id="26" idx="3"/>
            <a:endCxn id="13" idx="1"/>
          </p:cNvCxnSpPr>
          <p:nvPr/>
        </p:nvCxnSpPr>
        <p:spPr>
          <a:xfrm flipV="1">
            <a:off x="2235927" y="1662204"/>
            <a:ext cx="616863" cy="1713010"/>
          </a:xfrm>
          <a:prstGeom prst="bentConnector3">
            <a:avLst>
              <a:gd name="adj1" fmla="val 50000"/>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C21F40-9276-2978-B905-9C7299C11BB1}"/>
              </a:ext>
            </a:extLst>
          </p:cNvPr>
          <p:cNvCxnSpPr>
            <a:cxnSpLocks/>
            <a:stCxn id="21" idx="6"/>
            <a:endCxn id="5" idx="1"/>
          </p:cNvCxnSpPr>
          <p:nvPr/>
        </p:nvCxnSpPr>
        <p:spPr>
          <a:xfrm>
            <a:off x="821012" y="1736952"/>
            <a:ext cx="285637"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1442CA3-3992-7868-A5D7-0B0523723778}"/>
              </a:ext>
            </a:extLst>
          </p:cNvPr>
          <p:cNvSpPr txBox="1"/>
          <p:nvPr/>
        </p:nvSpPr>
        <p:spPr>
          <a:xfrm rot="16200000">
            <a:off x="-32425" y="2428104"/>
            <a:ext cx="1460656" cy="246221"/>
          </a:xfrm>
          <a:prstGeom prst="rect">
            <a:avLst/>
          </a:prstGeom>
          <a:noFill/>
        </p:spPr>
        <p:txBody>
          <a:bodyPr wrap="none" rtlCol="0">
            <a:spAutoFit/>
          </a:bodyPr>
          <a:lstStyle/>
          <a:p>
            <a:r>
              <a:rPr lang="en-US" sz="1000" dirty="0"/>
              <a:t>GitHub event occurred</a:t>
            </a:r>
          </a:p>
        </p:txBody>
      </p:sp>
      <p:sp>
        <p:nvSpPr>
          <p:cNvPr id="21" name="Oval 20">
            <a:extLst>
              <a:ext uri="{FF2B5EF4-FFF2-40B4-BE49-F238E27FC236}">
                <a16:creationId xmlns:a16="http://schemas.microsoft.com/office/drawing/2014/main" id="{5A6F1E7E-FEC3-7C1D-9142-737848DCD692}"/>
              </a:ext>
            </a:extLst>
          </p:cNvPr>
          <p:cNvSpPr/>
          <p:nvPr/>
        </p:nvSpPr>
        <p:spPr>
          <a:xfrm>
            <a:off x="609862" y="1631377"/>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Diamond 25">
            <a:extLst>
              <a:ext uri="{FF2B5EF4-FFF2-40B4-BE49-F238E27FC236}">
                <a16:creationId xmlns:a16="http://schemas.microsoft.com/office/drawing/2014/main" id="{267BAC69-8630-922A-B4D1-6C56EB598D34}"/>
              </a:ext>
            </a:extLst>
          </p:cNvPr>
          <p:cNvSpPr/>
          <p:nvPr/>
        </p:nvSpPr>
        <p:spPr>
          <a:xfrm>
            <a:off x="1106649" y="2852959"/>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PR targeting</a:t>
            </a:r>
          </a:p>
          <a:p>
            <a:pPr algn="ctr"/>
            <a:r>
              <a:rPr lang="en-US" sz="1000" i="1" dirty="0">
                <a:solidFill>
                  <a:schemeClr val="tx1">
                    <a:lumMod val="85000"/>
                    <a:lumOff val="15000"/>
                  </a:schemeClr>
                </a:solidFill>
              </a:rPr>
              <a:t>main</a:t>
            </a:r>
            <a:r>
              <a:rPr lang="en-US" sz="1000" dirty="0">
                <a:solidFill>
                  <a:schemeClr val="tx1">
                    <a:lumMod val="85000"/>
                    <a:lumOff val="15000"/>
                  </a:schemeClr>
                </a:solidFill>
              </a:rPr>
              <a:t> or </a:t>
            </a:r>
            <a:r>
              <a:rPr lang="en-US" sz="1000" i="1" dirty="0">
                <a:solidFill>
                  <a:schemeClr val="tx1">
                    <a:lumMod val="85000"/>
                    <a:lumOff val="15000"/>
                  </a:schemeClr>
                </a:solidFill>
              </a:rPr>
              <a:t>master</a:t>
            </a:r>
            <a:r>
              <a:rPr lang="en-US" sz="1000" dirty="0">
                <a:solidFill>
                  <a:schemeClr val="tx1">
                    <a:lumMod val="85000"/>
                    <a:lumOff val="15000"/>
                  </a:schemeClr>
                </a:solidFill>
              </a:rPr>
              <a:t>?</a:t>
            </a:r>
          </a:p>
        </p:txBody>
      </p:sp>
      <p:sp>
        <p:nvSpPr>
          <p:cNvPr id="30" name="Rectangle: Rounded Corners 29">
            <a:extLst>
              <a:ext uri="{FF2B5EF4-FFF2-40B4-BE49-F238E27FC236}">
                <a16:creationId xmlns:a16="http://schemas.microsoft.com/office/drawing/2014/main" id="{275BF14B-8BD1-3C66-CBF6-A208C017AFC9}"/>
              </a:ext>
            </a:extLst>
          </p:cNvPr>
          <p:cNvSpPr/>
          <p:nvPr/>
        </p:nvSpPr>
        <p:spPr>
          <a:xfrm>
            <a:off x="4763375" y="124302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Set up Python 3.12</a:t>
            </a:r>
          </a:p>
          <a:p>
            <a:pPr algn="ctr"/>
            <a:r>
              <a:rPr lang="en-US" sz="1000" i="1" dirty="0">
                <a:solidFill>
                  <a:schemeClr val="tx1">
                    <a:lumMod val="50000"/>
                    <a:lumOff val="50000"/>
                  </a:schemeClr>
                </a:solidFill>
              </a:rPr>
              <a:t>actions/setup-python@v5</a:t>
            </a:r>
          </a:p>
        </p:txBody>
      </p:sp>
      <p:pic>
        <p:nvPicPr>
          <p:cNvPr id="41" name="Picture 40">
            <a:extLst>
              <a:ext uri="{FF2B5EF4-FFF2-40B4-BE49-F238E27FC236}">
                <a16:creationId xmlns:a16="http://schemas.microsoft.com/office/drawing/2014/main" id="{30899798-4412-74B0-D669-05E4382BB1B9}"/>
              </a:ext>
            </a:extLst>
          </p:cNvPr>
          <p:cNvPicPr>
            <a:picLocks noChangeAspect="1"/>
          </p:cNvPicPr>
          <p:nvPr/>
        </p:nvPicPr>
        <p:blipFill>
          <a:blip r:embed="rId4"/>
          <a:srcRect/>
          <a:stretch/>
        </p:blipFill>
        <p:spPr>
          <a:xfrm>
            <a:off x="4853127" y="1307996"/>
            <a:ext cx="174948" cy="176673"/>
          </a:xfrm>
          <a:prstGeom prst="rect">
            <a:avLst/>
          </a:prstGeom>
        </p:spPr>
      </p:pic>
      <p:sp>
        <p:nvSpPr>
          <p:cNvPr id="33" name="Rectangle: Rounded Corners 32">
            <a:extLst>
              <a:ext uri="{FF2B5EF4-FFF2-40B4-BE49-F238E27FC236}">
                <a16:creationId xmlns:a16="http://schemas.microsoft.com/office/drawing/2014/main" id="{43542257-E2EB-AE5C-0EAC-3F3DEC22FF5F}"/>
              </a:ext>
            </a:extLst>
          </p:cNvPr>
          <p:cNvSpPr/>
          <p:nvPr/>
        </p:nvSpPr>
        <p:spPr>
          <a:xfrm>
            <a:off x="6673960" y="124302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Install Python dependencies</a:t>
            </a:r>
            <a:endParaRPr lang="en-US" sz="1000" i="1" dirty="0">
              <a:solidFill>
                <a:schemeClr val="tx1">
                  <a:lumMod val="50000"/>
                  <a:lumOff val="50000"/>
                </a:schemeClr>
              </a:solidFill>
            </a:endParaRPr>
          </a:p>
        </p:txBody>
      </p:sp>
      <p:pic>
        <p:nvPicPr>
          <p:cNvPr id="43" name="Picture 42">
            <a:extLst>
              <a:ext uri="{FF2B5EF4-FFF2-40B4-BE49-F238E27FC236}">
                <a16:creationId xmlns:a16="http://schemas.microsoft.com/office/drawing/2014/main" id="{9BEA496E-DFCF-FC71-B1F2-8E76D7E8CB63}"/>
              </a:ext>
            </a:extLst>
          </p:cNvPr>
          <p:cNvPicPr>
            <a:picLocks noChangeAspect="1"/>
          </p:cNvPicPr>
          <p:nvPr/>
        </p:nvPicPr>
        <p:blipFill>
          <a:blip r:embed="rId4"/>
          <a:srcRect/>
          <a:stretch/>
        </p:blipFill>
        <p:spPr>
          <a:xfrm>
            <a:off x="6765407" y="1307996"/>
            <a:ext cx="174948" cy="176673"/>
          </a:xfrm>
          <a:prstGeom prst="rect">
            <a:avLst/>
          </a:prstGeom>
        </p:spPr>
      </p:pic>
      <p:sp>
        <p:nvSpPr>
          <p:cNvPr id="35" name="Rectangle: Rounded Corners 34">
            <a:extLst>
              <a:ext uri="{FF2B5EF4-FFF2-40B4-BE49-F238E27FC236}">
                <a16:creationId xmlns:a16="http://schemas.microsoft.com/office/drawing/2014/main" id="{C494D4D7-30C3-34EF-4DA7-FA1BA45A1015}"/>
              </a:ext>
            </a:extLst>
          </p:cNvPr>
          <p:cNvSpPr/>
          <p:nvPr/>
        </p:nvSpPr>
        <p:spPr>
          <a:xfrm>
            <a:off x="6675659" y="3021860"/>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code formatting</a:t>
            </a:r>
          </a:p>
          <a:p>
            <a:pPr algn="ctr"/>
            <a:r>
              <a:rPr lang="en-US" sz="1000" dirty="0">
                <a:solidFill>
                  <a:schemeClr val="tx1">
                    <a:lumMod val="85000"/>
                    <a:lumOff val="15000"/>
                  </a:schemeClr>
                </a:solidFill>
              </a:rPr>
              <a:t>with Black</a:t>
            </a:r>
            <a:endParaRPr lang="en-US" sz="1000" i="1" dirty="0">
              <a:solidFill>
                <a:schemeClr val="tx1">
                  <a:lumMod val="50000"/>
                  <a:lumOff val="50000"/>
                </a:schemeClr>
              </a:solidFill>
            </a:endParaRPr>
          </a:p>
        </p:txBody>
      </p:sp>
      <p:pic>
        <p:nvPicPr>
          <p:cNvPr id="45" name="Picture 44">
            <a:extLst>
              <a:ext uri="{FF2B5EF4-FFF2-40B4-BE49-F238E27FC236}">
                <a16:creationId xmlns:a16="http://schemas.microsoft.com/office/drawing/2014/main" id="{AE76B202-193A-1054-D060-301E72ABB37B}"/>
              </a:ext>
            </a:extLst>
          </p:cNvPr>
          <p:cNvPicPr>
            <a:picLocks noChangeAspect="1"/>
          </p:cNvPicPr>
          <p:nvPr/>
        </p:nvPicPr>
        <p:blipFill>
          <a:blip r:embed="rId4"/>
          <a:srcRect/>
          <a:stretch/>
        </p:blipFill>
        <p:spPr>
          <a:xfrm>
            <a:off x="6774722" y="3084662"/>
            <a:ext cx="174948" cy="176673"/>
          </a:xfrm>
          <a:prstGeom prst="rect">
            <a:avLst/>
          </a:prstGeom>
        </p:spPr>
      </p:pic>
      <p:sp>
        <p:nvSpPr>
          <p:cNvPr id="37" name="Rectangle: Rounded Corners 36">
            <a:extLst>
              <a:ext uri="{FF2B5EF4-FFF2-40B4-BE49-F238E27FC236}">
                <a16:creationId xmlns:a16="http://schemas.microsoft.com/office/drawing/2014/main" id="{92F6267E-DADA-9189-E027-B7F517C59585}"/>
              </a:ext>
            </a:extLst>
          </p:cNvPr>
          <p:cNvSpPr/>
          <p:nvPr/>
        </p:nvSpPr>
        <p:spPr>
          <a:xfrm>
            <a:off x="4763375" y="301902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Run tests with </a:t>
            </a:r>
            <a:r>
              <a:rPr lang="en-US" sz="1000" dirty="0" err="1">
                <a:solidFill>
                  <a:schemeClr val="tx1">
                    <a:lumMod val="85000"/>
                    <a:lumOff val="15000"/>
                  </a:schemeClr>
                </a:solidFill>
              </a:rPr>
              <a:t>pytest</a:t>
            </a:r>
            <a:endParaRPr lang="en-US" sz="1000" i="1" dirty="0">
              <a:solidFill>
                <a:schemeClr val="tx1">
                  <a:lumMod val="50000"/>
                  <a:lumOff val="50000"/>
                </a:schemeClr>
              </a:solidFill>
            </a:endParaRPr>
          </a:p>
        </p:txBody>
      </p:sp>
      <p:pic>
        <p:nvPicPr>
          <p:cNvPr id="47" name="Picture 46">
            <a:extLst>
              <a:ext uri="{FF2B5EF4-FFF2-40B4-BE49-F238E27FC236}">
                <a16:creationId xmlns:a16="http://schemas.microsoft.com/office/drawing/2014/main" id="{8EF1EEE1-F8D8-0D3C-6C36-41CE2161EFB9}"/>
              </a:ext>
            </a:extLst>
          </p:cNvPr>
          <p:cNvPicPr>
            <a:picLocks noChangeAspect="1"/>
          </p:cNvPicPr>
          <p:nvPr/>
        </p:nvPicPr>
        <p:blipFill>
          <a:blip r:embed="rId4"/>
          <a:srcRect/>
          <a:stretch/>
        </p:blipFill>
        <p:spPr>
          <a:xfrm>
            <a:off x="4853127" y="3075752"/>
            <a:ext cx="174948" cy="176673"/>
          </a:xfrm>
          <a:prstGeom prst="rect">
            <a:avLst/>
          </a:prstGeom>
        </p:spPr>
      </p:pic>
      <p:sp>
        <p:nvSpPr>
          <p:cNvPr id="13" name="Rectangle: Rounded Corners 12">
            <a:extLst>
              <a:ext uri="{FF2B5EF4-FFF2-40B4-BE49-F238E27FC236}">
                <a16:creationId xmlns:a16="http://schemas.microsoft.com/office/drawing/2014/main" id="{F0F5DB92-CBA9-3ECE-F455-8C2041CDC3C6}"/>
              </a:ext>
            </a:extLst>
          </p:cNvPr>
          <p:cNvSpPr/>
          <p:nvPr/>
        </p:nvSpPr>
        <p:spPr>
          <a:xfrm>
            <a:off x="2852790" y="124302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Check out repository</a:t>
            </a:r>
          </a:p>
          <a:p>
            <a:pPr algn="ctr"/>
            <a:r>
              <a:rPr lang="en-US" sz="1000" i="1" dirty="0">
                <a:solidFill>
                  <a:schemeClr val="tx1">
                    <a:lumMod val="50000"/>
                    <a:lumOff val="50000"/>
                  </a:schemeClr>
                </a:solidFill>
              </a:rPr>
              <a:t>actions/checkout@v4</a:t>
            </a:r>
          </a:p>
        </p:txBody>
      </p:sp>
      <p:pic>
        <p:nvPicPr>
          <p:cNvPr id="49" name="Picture 48">
            <a:extLst>
              <a:ext uri="{FF2B5EF4-FFF2-40B4-BE49-F238E27FC236}">
                <a16:creationId xmlns:a16="http://schemas.microsoft.com/office/drawing/2014/main" id="{40E338FC-CC71-3B25-012B-AD5BA156FE8C}"/>
              </a:ext>
            </a:extLst>
          </p:cNvPr>
          <p:cNvPicPr>
            <a:picLocks noChangeAspect="1"/>
          </p:cNvPicPr>
          <p:nvPr/>
        </p:nvPicPr>
        <p:blipFill>
          <a:blip r:embed="rId5"/>
          <a:srcRect/>
          <a:stretch/>
        </p:blipFill>
        <p:spPr>
          <a:xfrm>
            <a:off x="2940320" y="1313292"/>
            <a:ext cx="174948" cy="171377"/>
          </a:xfrm>
          <a:prstGeom prst="rect">
            <a:avLst/>
          </a:prstGeom>
        </p:spPr>
      </p:pic>
      <p:sp>
        <p:nvSpPr>
          <p:cNvPr id="39" name="Rectangle: Rounded Corners 38">
            <a:extLst>
              <a:ext uri="{FF2B5EF4-FFF2-40B4-BE49-F238E27FC236}">
                <a16:creationId xmlns:a16="http://schemas.microsoft.com/office/drawing/2014/main" id="{507F7427-6CC2-CFB3-5EED-A59943EFD09A}"/>
              </a:ext>
            </a:extLst>
          </p:cNvPr>
          <p:cNvSpPr/>
          <p:nvPr/>
        </p:nvSpPr>
        <p:spPr>
          <a:xfrm>
            <a:off x="2852790" y="3019028"/>
            <a:ext cx="157342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tx1">
                    <a:lumMod val="85000"/>
                    <a:lumOff val="15000"/>
                  </a:schemeClr>
                </a:solidFill>
              </a:rPr>
              <a:t>Build Docker image</a:t>
            </a:r>
            <a:endParaRPr lang="en-US" sz="1000" i="1" dirty="0">
              <a:solidFill>
                <a:schemeClr val="tx1">
                  <a:lumMod val="50000"/>
                  <a:lumOff val="50000"/>
                </a:schemeClr>
              </a:solidFill>
            </a:endParaRPr>
          </a:p>
        </p:txBody>
      </p:sp>
      <p:pic>
        <p:nvPicPr>
          <p:cNvPr id="51" name="Picture 50">
            <a:extLst>
              <a:ext uri="{FF2B5EF4-FFF2-40B4-BE49-F238E27FC236}">
                <a16:creationId xmlns:a16="http://schemas.microsoft.com/office/drawing/2014/main" id="{4EBC6562-74C1-5E54-29B7-26469E9BC3B0}"/>
              </a:ext>
            </a:extLst>
          </p:cNvPr>
          <p:cNvPicPr>
            <a:picLocks noChangeAspect="1"/>
          </p:cNvPicPr>
          <p:nvPr/>
        </p:nvPicPr>
        <p:blipFill>
          <a:blip r:embed="rId6"/>
          <a:srcRect/>
          <a:stretch/>
        </p:blipFill>
        <p:spPr>
          <a:xfrm>
            <a:off x="2940320" y="3075752"/>
            <a:ext cx="174948" cy="174948"/>
          </a:xfrm>
          <a:prstGeom prst="rect">
            <a:avLst/>
          </a:prstGeom>
        </p:spPr>
      </p:pic>
      <p:cxnSp>
        <p:nvCxnSpPr>
          <p:cNvPr id="52" name="Straight Arrow Connector 51">
            <a:extLst>
              <a:ext uri="{FF2B5EF4-FFF2-40B4-BE49-F238E27FC236}">
                <a16:creationId xmlns:a16="http://schemas.microsoft.com/office/drawing/2014/main" id="{C46DB732-DB22-C54F-DC51-B82CC8E84832}"/>
              </a:ext>
            </a:extLst>
          </p:cNvPr>
          <p:cNvCxnSpPr>
            <a:cxnSpLocks/>
            <a:stCxn id="5" idx="2"/>
            <a:endCxn id="26" idx="0"/>
          </p:cNvCxnSpPr>
          <p:nvPr/>
        </p:nvCxnSpPr>
        <p:spPr>
          <a:xfrm>
            <a:off x="1671288" y="2259207"/>
            <a:ext cx="0" cy="59375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5" name="Group 594">
            <a:extLst>
              <a:ext uri="{FF2B5EF4-FFF2-40B4-BE49-F238E27FC236}">
                <a16:creationId xmlns:a16="http://schemas.microsoft.com/office/drawing/2014/main" id="{AB665E3B-18FF-AD49-6679-E8091B18D8FB}"/>
              </a:ext>
            </a:extLst>
          </p:cNvPr>
          <p:cNvGrpSpPr/>
          <p:nvPr/>
        </p:nvGrpSpPr>
        <p:grpSpPr>
          <a:xfrm>
            <a:off x="1527239" y="4176828"/>
            <a:ext cx="291356" cy="291356"/>
            <a:chOff x="7069437" y="3218381"/>
            <a:chExt cx="367665" cy="367665"/>
          </a:xfrm>
        </p:grpSpPr>
        <p:sp>
          <p:nvSpPr>
            <p:cNvPr id="596" name="Oval 595">
              <a:extLst>
                <a:ext uri="{FF2B5EF4-FFF2-40B4-BE49-F238E27FC236}">
                  <a16:creationId xmlns:a16="http://schemas.microsoft.com/office/drawing/2014/main" id="{8C7A613A-0B9F-E6E8-00E2-DA4CF5E7BD9A}"/>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7" name="Oval 596">
              <a:extLst>
                <a:ext uri="{FF2B5EF4-FFF2-40B4-BE49-F238E27FC236}">
                  <a16:creationId xmlns:a16="http://schemas.microsoft.com/office/drawing/2014/main" id="{83D7EFCA-5831-4B2C-6CA3-7F52A3B939D5}"/>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98" name="Straight Arrow Connector 597">
            <a:extLst>
              <a:ext uri="{FF2B5EF4-FFF2-40B4-BE49-F238E27FC236}">
                <a16:creationId xmlns:a16="http://schemas.microsoft.com/office/drawing/2014/main" id="{44F356C8-5E38-7FD5-6F09-81C95C03E4BD}"/>
              </a:ext>
            </a:extLst>
          </p:cNvPr>
          <p:cNvCxnSpPr>
            <a:cxnSpLocks/>
            <a:stCxn id="26" idx="2"/>
            <a:endCxn id="596" idx="0"/>
          </p:cNvCxnSpPr>
          <p:nvPr/>
        </p:nvCxnSpPr>
        <p:spPr>
          <a:xfrm>
            <a:off x="1671288" y="3897469"/>
            <a:ext cx="1629" cy="2793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2" name="Straight Arrow Connector 601">
            <a:extLst>
              <a:ext uri="{FF2B5EF4-FFF2-40B4-BE49-F238E27FC236}">
                <a16:creationId xmlns:a16="http://schemas.microsoft.com/office/drawing/2014/main" id="{3BE76B6E-4D75-3EC9-24F4-BFEA25FC001B}"/>
              </a:ext>
            </a:extLst>
          </p:cNvPr>
          <p:cNvCxnSpPr>
            <a:cxnSpLocks/>
            <a:stCxn id="13" idx="3"/>
            <a:endCxn id="30" idx="1"/>
          </p:cNvCxnSpPr>
          <p:nvPr/>
        </p:nvCxnSpPr>
        <p:spPr>
          <a:xfrm>
            <a:off x="4426214" y="166220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5" name="Straight Arrow Connector 604">
            <a:extLst>
              <a:ext uri="{FF2B5EF4-FFF2-40B4-BE49-F238E27FC236}">
                <a16:creationId xmlns:a16="http://schemas.microsoft.com/office/drawing/2014/main" id="{3444F69B-89EE-F078-992C-5748F2137173}"/>
              </a:ext>
            </a:extLst>
          </p:cNvPr>
          <p:cNvCxnSpPr>
            <a:cxnSpLocks/>
            <a:stCxn id="30" idx="3"/>
            <a:endCxn id="33" idx="1"/>
          </p:cNvCxnSpPr>
          <p:nvPr/>
        </p:nvCxnSpPr>
        <p:spPr>
          <a:xfrm>
            <a:off x="6336799" y="166220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8" name="Straight Arrow Connector 607">
            <a:extLst>
              <a:ext uri="{FF2B5EF4-FFF2-40B4-BE49-F238E27FC236}">
                <a16:creationId xmlns:a16="http://schemas.microsoft.com/office/drawing/2014/main" id="{5C58C3CC-5E7F-315D-2C9D-012F9EF4346C}"/>
              </a:ext>
            </a:extLst>
          </p:cNvPr>
          <p:cNvCxnSpPr>
            <a:cxnSpLocks/>
            <a:stCxn id="35" idx="1"/>
            <a:endCxn id="37" idx="3"/>
          </p:cNvCxnSpPr>
          <p:nvPr/>
        </p:nvCxnSpPr>
        <p:spPr>
          <a:xfrm flipH="1" flipV="1">
            <a:off x="6336799" y="3438204"/>
            <a:ext cx="338860" cy="28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1" name="Straight Arrow Connector 610">
            <a:extLst>
              <a:ext uri="{FF2B5EF4-FFF2-40B4-BE49-F238E27FC236}">
                <a16:creationId xmlns:a16="http://schemas.microsoft.com/office/drawing/2014/main" id="{5DAA1182-CD9F-F661-5FC9-C30E03AE5471}"/>
              </a:ext>
            </a:extLst>
          </p:cNvPr>
          <p:cNvCxnSpPr>
            <a:cxnSpLocks/>
            <a:stCxn id="37" idx="1"/>
            <a:endCxn id="39" idx="3"/>
          </p:cNvCxnSpPr>
          <p:nvPr/>
        </p:nvCxnSpPr>
        <p:spPr>
          <a:xfrm flipH="1">
            <a:off x="4426214" y="3438204"/>
            <a:ext cx="337161"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9" name="TextBox 638">
            <a:extLst>
              <a:ext uri="{FF2B5EF4-FFF2-40B4-BE49-F238E27FC236}">
                <a16:creationId xmlns:a16="http://schemas.microsoft.com/office/drawing/2014/main" id="{A5BDE464-33F9-059D-28E5-062FC439AAFC}"/>
              </a:ext>
            </a:extLst>
          </p:cNvPr>
          <p:cNvSpPr txBox="1"/>
          <p:nvPr/>
        </p:nvSpPr>
        <p:spPr>
          <a:xfrm>
            <a:off x="2503588" y="2416490"/>
            <a:ext cx="418289" cy="246221"/>
          </a:xfrm>
          <a:prstGeom prst="rect">
            <a:avLst/>
          </a:prstGeom>
          <a:noFill/>
        </p:spPr>
        <p:txBody>
          <a:bodyPr wrap="square" rtlCol="0">
            <a:spAutoFit/>
          </a:bodyPr>
          <a:lstStyle/>
          <a:p>
            <a:r>
              <a:rPr lang="en-US" sz="1000" dirty="0"/>
              <a:t>yes</a:t>
            </a:r>
          </a:p>
        </p:txBody>
      </p:sp>
      <p:sp>
        <p:nvSpPr>
          <p:cNvPr id="643" name="TextBox 642">
            <a:extLst>
              <a:ext uri="{FF2B5EF4-FFF2-40B4-BE49-F238E27FC236}">
                <a16:creationId xmlns:a16="http://schemas.microsoft.com/office/drawing/2014/main" id="{A649F39E-DF3F-D031-90E1-AFF223C3E2DE}"/>
              </a:ext>
            </a:extLst>
          </p:cNvPr>
          <p:cNvSpPr txBox="1"/>
          <p:nvPr/>
        </p:nvSpPr>
        <p:spPr>
          <a:xfrm>
            <a:off x="1666797" y="3864965"/>
            <a:ext cx="418289" cy="246221"/>
          </a:xfrm>
          <a:prstGeom prst="rect">
            <a:avLst/>
          </a:prstGeom>
          <a:noFill/>
        </p:spPr>
        <p:txBody>
          <a:bodyPr wrap="square" rtlCol="0">
            <a:spAutoFit/>
          </a:bodyPr>
          <a:lstStyle/>
          <a:p>
            <a:r>
              <a:rPr lang="en-US" sz="1000" dirty="0"/>
              <a:t>no</a:t>
            </a:r>
          </a:p>
        </p:txBody>
      </p:sp>
      <p:grpSp>
        <p:nvGrpSpPr>
          <p:cNvPr id="644" name="Group 643">
            <a:extLst>
              <a:ext uri="{FF2B5EF4-FFF2-40B4-BE49-F238E27FC236}">
                <a16:creationId xmlns:a16="http://schemas.microsoft.com/office/drawing/2014/main" id="{51B3612F-7075-EA25-95EF-8EC1D284C400}"/>
              </a:ext>
            </a:extLst>
          </p:cNvPr>
          <p:cNvGrpSpPr/>
          <p:nvPr/>
        </p:nvGrpSpPr>
        <p:grpSpPr>
          <a:xfrm>
            <a:off x="3493824" y="4176828"/>
            <a:ext cx="291356" cy="291356"/>
            <a:chOff x="7069437" y="3218381"/>
            <a:chExt cx="367665" cy="367665"/>
          </a:xfrm>
        </p:grpSpPr>
        <p:sp>
          <p:nvSpPr>
            <p:cNvPr id="645" name="Oval 644">
              <a:extLst>
                <a:ext uri="{FF2B5EF4-FFF2-40B4-BE49-F238E27FC236}">
                  <a16:creationId xmlns:a16="http://schemas.microsoft.com/office/drawing/2014/main" id="{00C0CCC7-65D7-EDDE-6190-F0DAD8A28ADB}"/>
                </a:ext>
              </a:extLst>
            </p:cNvPr>
            <p:cNvSpPr/>
            <p:nvPr/>
          </p:nvSpPr>
          <p:spPr>
            <a:xfrm>
              <a:off x="7069437" y="3218381"/>
              <a:ext cx="367665" cy="36766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6" name="Oval 645">
              <a:extLst>
                <a:ext uri="{FF2B5EF4-FFF2-40B4-BE49-F238E27FC236}">
                  <a16:creationId xmlns:a16="http://schemas.microsoft.com/office/drawing/2014/main" id="{0BAEA12F-32CC-166B-BF3D-31A962D89BCE}"/>
                </a:ext>
              </a:extLst>
            </p:cNvPr>
            <p:cNvSpPr/>
            <p:nvPr/>
          </p:nvSpPr>
          <p:spPr>
            <a:xfrm>
              <a:off x="7130281" y="3279306"/>
              <a:ext cx="246221" cy="246221"/>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47" name="Straight Arrow Connector 646">
            <a:extLst>
              <a:ext uri="{FF2B5EF4-FFF2-40B4-BE49-F238E27FC236}">
                <a16:creationId xmlns:a16="http://schemas.microsoft.com/office/drawing/2014/main" id="{2EAFDB82-C5BB-9209-B57F-ACB53A8B5902}"/>
              </a:ext>
            </a:extLst>
          </p:cNvPr>
          <p:cNvCxnSpPr>
            <a:cxnSpLocks/>
            <a:stCxn id="39" idx="2"/>
          </p:cNvCxnSpPr>
          <p:nvPr/>
        </p:nvCxnSpPr>
        <p:spPr>
          <a:xfrm>
            <a:off x="3639502" y="3857380"/>
            <a:ext cx="0" cy="41308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53" name="TextBox 652">
            <a:extLst>
              <a:ext uri="{FF2B5EF4-FFF2-40B4-BE49-F238E27FC236}">
                <a16:creationId xmlns:a16="http://schemas.microsoft.com/office/drawing/2014/main" id="{F4B761E4-ABC9-4D63-C51A-68F7BF585B1E}"/>
              </a:ext>
            </a:extLst>
          </p:cNvPr>
          <p:cNvSpPr txBox="1"/>
          <p:nvPr/>
        </p:nvSpPr>
        <p:spPr>
          <a:xfrm>
            <a:off x="4426215" y="1384902"/>
            <a:ext cx="324999" cy="307777"/>
          </a:xfrm>
          <a:prstGeom prst="rect">
            <a:avLst/>
          </a:prstGeom>
          <a:noFill/>
        </p:spPr>
        <p:txBody>
          <a:bodyPr wrap="square" rtlCol="0">
            <a:spAutoFit/>
          </a:bodyPr>
          <a:lstStyle/>
          <a:p>
            <a:r>
              <a:rPr lang="en-US" dirty="0">
                <a:solidFill>
                  <a:srgbClr val="00B050"/>
                </a:solidFill>
              </a:rPr>
              <a:t>✔</a:t>
            </a:r>
          </a:p>
        </p:txBody>
      </p:sp>
      <p:sp>
        <p:nvSpPr>
          <p:cNvPr id="655" name="TextBox 654">
            <a:extLst>
              <a:ext uri="{FF2B5EF4-FFF2-40B4-BE49-F238E27FC236}">
                <a16:creationId xmlns:a16="http://schemas.microsoft.com/office/drawing/2014/main" id="{247E97F8-5EC3-E930-BC33-9DC689B3413F}"/>
              </a:ext>
            </a:extLst>
          </p:cNvPr>
          <p:cNvSpPr txBox="1"/>
          <p:nvPr/>
        </p:nvSpPr>
        <p:spPr>
          <a:xfrm>
            <a:off x="6348960" y="1384901"/>
            <a:ext cx="325000" cy="307777"/>
          </a:xfrm>
          <a:prstGeom prst="rect">
            <a:avLst/>
          </a:prstGeom>
          <a:noFill/>
        </p:spPr>
        <p:txBody>
          <a:bodyPr wrap="square" rtlCol="0">
            <a:spAutoFit/>
          </a:bodyPr>
          <a:lstStyle/>
          <a:p>
            <a:r>
              <a:rPr lang="en-US" dirty="0">
                <a:solidFill>
                  <a:srgbClr val="00B050"/>
                </a:solidFill>
              </a:rPr>
              <a:t>✔</a:t>
            </a:r>
          </a:p>
        </p:txBody>
      </p:sp>
      <p:sp>
        <p:nvSpPr>
          <p:cNvPr id="657" name="TextBox 656">
            <a:extLst>
              <a:ext uri="{FF2B5EF4-FFF2-40B4-BE49-F238E27FC236}">
                <a16:creationId xmlns:a16="http://schemas.microsoft.com/office/drawing/2014/main" id="{735854B6-028F-2586-415F-C7C8AD1639D1}"/>
              </a:ext>
            </a:extLst>
          </p:cNvPr>
          <p:cNvSpPr txBox="1"/>
          <p:nvPr/>
        </p:nvSpPr>
        <p:spPr>
          <a:xfrm>
            <a:off x="4423992" y="3168728"/>
            <a:ext cx="337162" cy="307777"/>
          </a:xfrm>
          <a:prstGeom prst="rect">
            <a:avLst/>
          </a:prstGeom>
          <a:noFill/>
        </p:spPr>
        <p:txBody>
          <a:bodyPr wrap="square" rtlCol="0">
            <a:spAutoFit/>
          </a:bodyPr>
          <a:lstStyle/>
          <a:p>
            <a:r>
              <a:rPr lang="en-US" dirty="0">
                <a:solidFill>
                  <a:srgbClr val="00B050"/>
                </a:solidFill>
              </a:rPr>
              <a:t>✔</a:t>
            </a:r>
          </a:p>
        </p:txBody>
      </p:sp>
      <p:sp>
        <p:nvSpPr>
          <p:cNvPr id="659" name="TextBox 658">
            <a:extLst>
              <a:ext uri="{FF2B5EF4-FFF2-40B4-BE49-F238E27FC236}">
                <a16:creationId xmlns:a16="http://schemas.microsoft.com/office/drawing/2014/main" id="{C4CF6664-5523-A8BB-8526-05F6A9D701C5}"/>
              </a:ext>
            </a:extLst>
          </p:cNvPr>
          <p:cNvSpPr txBox="1"/>
          <p:nvPr/>
        </p:nvSpPr>
        <p:spPr>
          <a:xfrm>
            <a:off x="6336799" y="3161076"/>
            <a:ext cx="337161" cy="307777"/>
          </a:xfrm>
          <a:prstGeom prst="rect">
            <a:avLst/>
          </a:prstGeom>
          <a:noFill/>
        </p:spPr>
        <p:txBody>
          <a:bodyPr wrap="square" rtlCol="0">
            <a:spAutoFit/>
          </a:bodyPr>
          <a:lstStyle/>
          <a:p>
            <a:r>
              <a:rPr lang="en-US" dirty="0">
                <a:solidFill>
                  <a:srgbClr val="00B050"/>
                </a:solidFill>
              </a:rPr>
              <a:t>✔</a:t>
            </a:r>
          </a:p>
        </p:txBody>
      </p:sp>
      <p:sp>
        <p:nvSpPr>
          <p:cNvPr id="661" name="TextBox 660">
            <a:extLst>
              <a:ext uri="{FF2B5EF4-FFF2-40B4-BE49-F238E27FC236}">
                <a16:creationId xmlns:a16="http://schemas.microsoft.com/office/drawing/2014/main" id="{0B69F080-C92D-D1A2-5B91-360935CE9CDF}"/>
              </a:ext>
            </a:extLst>
          </p:cNvPr>
          <p:cNvSpPr txBox="1"/>
          <p:nvPr/>
        </p:nvSpPr>
        <p:spPr>
          <a:xfrm>
            <a:off x="8186303" y="2354934"/>
            <a:ext cx="382905" cy="307777"/>
          </a:xfrm>
          <a:prstGeom prst="rect">
            <a:avLst/>
          </a:prstGeom>
          <a:noFill/>
        </p:spPr>
        <p:txBody>
          <a:bodyPr wrap="square" rtlCol="0">
            <a:spAutoFit/>
          </a:bodyPr>
          <a:lstStyle/>
          <a:p>
            <a:r>
              <a:rPr lang="en-US" dirty="0">
                <a:solidFill>
                  <a:srgbClr val="00B050"/>
                </a:solidFill>
              </a:rPr>
              <a:t>✔</a:t>
            </a:r>
          </a:p>
        </p:txBody>
      </p:sp>
      <p:cxnSp>
        <p:nvCxnSpPr>
          <p:cNvPr id="3" name="Straight Arrow Connector 2">
            <a:extLst>
              <a:ext uri="{FF2B5EF4-FFF2-40B4-BE49-F238E27FC236}">
                <a16:creationId xmlns:a16="http://schemas.microsoft.com/office/drawing/2014/main" id="{3B610794-6A73-A019-71A3-66BE5DE95D80}"/>
              </a:ext>
            </a:extLst>
          </p:cNvPr>
          <p:cNvCxnSpPr>
            <a:cxnSpLocks/>
            <a:stCxn id="30" idx="2"/>
            <a:endCxn id="17" idx="0"/>
          </p:cNvCxnSpPr>
          <p:nvPr/>
        </p:nvCxnSpPr>
        <p:spPr>
          <a:xfrm>
            <a:off x="5550087" y="2081380"/>
            <a:ext cx="0" cy="309672"/>
          </a:xfrm>
          <a:prstGeom prst="straightConnector1">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7EE049C-67FF-D051-AECB-73B4CC08D50E}"/>
              </a:ext>
            </a:extLst>
          </p:cNvPr>
          <p:cNvCxnSpPr>
            <a:cxnSpLocks/>
            <a:stCxn id="37" idx="0"/>
            <a:endCxn id="17" idx="2"/>
          </p:cNvCxnSpPr>
          <p:nvPr/>
        </p:nvCxnSpPr>
        <p:spPr>
          <a:xfrm flipV="1">
            <a:off x="5550087" y="2752448"/>
            <a:ext cx="0" cy="266580"/>
          </a:xfrm>
          <a:prstGeom prst="straightConnector1">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01BDFC4C-0E1C-C580-5462-9936B49D82BC}"/>
              </a:ext>
            </a:extLst>
          </p:cNvPr>
          <p:cNvPicPr>
            <a:picLocks noChangeAspect="1"/>
          </p:cNvPicPr>
          <p:nvPr/>
        </p:nvPicPr>
        <p:blipFill>
          <a:blip r:embed="rId7">
            <a:alphaModFix amt="75000"/>
          </a:blip>
          <a:stretch>
            <a:fillRect/>
          </a:stretch>
        </p:blipFill>
        <p:spPr>
          <a:xfrm>
            <a:off x="5369389" y="2391052"/>
            <a:ext cx="361396" cy="361396"/>
          </a:xfrm>
          <a:prstGeom prst="rect">
            <a:avLst/>
          </a:prstGeom>
        </p:spPr>
      </p:pic>
      <p:cxnSp>
        <p:nvCxnSpPr>
          <p:cNvPr id="54" name="Connector: Elbow 53">
            <a:extLst>
              <a:ext uri="{FF2B5EF4-FFF2-40B4-BE49-F238E27FC236}">
                <a16:creationId xmlns:a16="http://schemas.microsoft.com/office/drawing/2014/main" id="{E5DF7DF3-EA6A-E7B4-ACB9-E66B7C48E585}"/>
              </a:ext>
            </a:extLst>
          </p:cNvPr>
          <p:cNvCxnSpPr>
            <a:cxnSpLocks/>
            <a:stCxn id="13" idx="2"/>
            <a:endCxn id="622" idx="1"/>
          </p:cNvCxnSpPr>
          <p:nvPr/>
        </p:nvCxnSpPr>
        <p:spPr>
          <a:xfrm rot="16200000" flipH="1">
            <a:off x="4315749" y="1405133"/>
            <a:ext cx="399154" cy="1751648"/>
          </a:xfrm>
          <a:prstGeom prst="bentConnector2">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1A64DDAE-49B4-5A13-AFC3-9597B2BBB444}"/>
              </a:ext>
            </a:extLst>
          </p:cNvPr>
          <p:cNvCxnSpPr>
            <a:cxnSpLocks/>
            <a:stCxn id="39" idx="0"/>
            <a:endCxn id="624" idx="1"/>
          </p:cNvCxnSpPr>
          <p:nvPr/>
        </p:nvCxnSpPr>
        <p:spPr>
          <a:xfrm rot="5400000" flipH="1" flipV="1">
            <a:off x="4335351" y="1963231"/>
            <a:ext cx="359949" cy="1751647"/>
          </a:xfrm>
          <a:prstGeom prst="bentConnector2">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F72E234F-E078-2CA9-DFED-B5457092EA84}"/>
              </a:ext>
            </a:extLst>
          </p:cNvPr>
          <p:cNvCxnSpPr>
            <a:cxnSpLocks/>
            <a:stCxn id="33" idx="2"/>
            <a:endCxn id="626" idx="3"/>
          </p:cNvCxnSpPr>
          <p:nvPr/>
        </p:nvCxnSpPr>
        <p:spPr>
          <a:xfrm rot="5400000">
            <a:off x="6382545" y="1402267"/>
            <a:ext cx="399015" cy="1757240"/>
          </a:xfrm>
          <a:prstGeom prst="bentConnector2">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576" name="Connector: Elbow 575">
            <a:extLst>
              <a:ext uri="{FF2B5EF4-FFF2-40B4-BE49-F238E27FC236}">
                <a16:creationId xmlns:a16="http://schemas.microsoft.com/office/drawing/2014/main" id="{E4528C27-A4AC-8146-B3B0-6A0FFCBCD5DB}"/>
              </a:ext>
            </a:extLst>
          </p:cNvPr>
          <p:cNvCxnSpPr>
            <a:cxnSpLocks/>
            <a:stCxn id="35" idx="0"/>
            <a:endCxn id="628" idx="3"/>
          </p:cNvCxnSpPr>
          <p:nvPr/>
        </p:nvCxnSpPr>
        <p:spPr>
          <a:xfrm rot="16200000" flipV="1">
            <a:off x="6401700" y="1961188"/>
            <a:ext cx="362403" cy="1758941"/>
          </a:xfrm>
          <a:prstGeom prst="bentConnector2">
            <a:avLst/>
          </a:prstGeom>
          <a:ln w="12700">
            <a:solidFill>
              <a:srgbClr val="FF0000">
                <a:alpha val="40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578" name="Connector: Elbow 577">
            <a:extLst>
              <a:ext uri="{FF2B5EF4-FFF2-40B4-BE49-F238E27FC236}">
                <a16:creationId xmlns:a16="http://schemas.microsoft.com/office/drawing/2014/main" id="{FBE7C6E5-95E3-F4AD-9203-D7F36A16D084}"/>
              </a:ext>
            </a:extLst>
          </p:cNvPr>
          <p:cNvCxnSpPr>
            <a:cxnSpLocks/>
            <a:stCxn id="33" idx="3"/>
            <a:endCxn id="35" idx="3"/>
          </p:cNvCxnSpPr>
          <p:nvPr/>
        </p:nvCxnSpPr>
        <p:spPr>
          <a:xfrm>
            <a:off x="8247384" y="1662204"/>
            <a:ext cx="1699" cy="1778832"/>
          </a:xfrm>
          <a:prstGeom prst="bentConnector3">
            <a:avLst>
              <a:gd name="adj1" fmla="val 13554974"/>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88" name="Picture 587">
            <a:extLst>
              <a:ext uri="{FF2B5EF4-FFF2-40B4-BE49-F238E27FC236}">
                <a16:creationId xmlns:a16="http://schemas.microsoft.com/office/drawing/2014/main" id="{CF9D2404-1361-DE46-EAD9-DCC563345236}"/>
              </a:ext>
            </a:extLst>
          </p:cNvPr>
          <p:cNvPicPr>
            <a:picLocks noChangeAspect="1"/>
          </p:cNvPicPr>
          <p:nvPr/>
        </p:nvPicPr>
        <p:blipFill>
          <a:blip r:embed="rId8">
            <a:alphaModFix amt="75000"/>
          </a:blip>
          <a:stretch>
            <a:fillRect/>
          </a:stretch>
        </p:blipFill>
        <p:spPr>
          <a:xfrm>
            <a:off x="3426806" y="2136355"/>
            <a:ext cx="162022" cy="162022"/>
          </a:xfrm>
          <a:prstGeom prst="rect">
            <a:avLst/>
          </a:prstGeom>
        </p:spPr>
      </p:pic>
      <p:pic>
        <p:nvPicPr>
          <p:cNvPr id="590" name="Picture 589">
            <a:extLst>
              <a:ext uri="{FF2B5EF4-FFF2-40B4-BE49-F238E27FC236}">
                <a16:creationId xmlns:a16="http://schemas.microsoft.com/office/drawing/2014/main" id="{82B51118-01CD-954F-1A5B-23454B51B764}"/>
              </a:ext>
            </a:extLst>
          </p:cNvPr>
          <p:cNvPicPr>
            <a:picLocks noChangeAspect="1"/>
          </p:cNvPicPr>
          <p:nvPr/>
        </p:nvPicPr>
        <p:blipFill>
          <a:blip r:embed="rId8">
            <a:alphaModFix amt="75000"/>
          </a:blip>
          <a:stretch>
            <a:fillRect/>
          </a:stretch>
        </p:blipFill>
        <p:spPr>
          <a:xfrm>
            <a:off x="3426806" y="2809048"/>
            <a:ext cx="162022" cy="162022"/>
          </a:xfrm>
          <a:prstGeom prst="rect">
            <a:avLst/>
          </a:prstGeom>
        </p:spPr>
      </p:pic>
      <p:pic>
        <p:nvPicPr>
          <p:cNvPr id="592" name="Picture 591">
            <a:extLst>
              <a:ext uri="{FF2B5EF4-FFF2-40B4-BE49-F238E27FC236}">
                <a16:creationId xmlns:a16="http://schemas.microsoft.com/office/drawing/2014/main" id="{1475A6C6-76B9-F927-89F9-73ABEF7A29CE}"/>
              </a:ext>
            </a:extLst>
          </p:cNvPr>
          <p:cNvPicPr>
            <a:picLocks noChangeAspect="1"/>
          </p:cNvPicPr>
          <p:nvPr/>
        </p:nvPicPr>
        <p:blipFill>
          <a:blip r:embed="rId8">
            <a:alphaModFix amt="75000"/>
          </a:blip>
          <a:stretch>
            <a:fillRect/>
          </a:stretch>
        </p:blipFill>
        <p:spPr>
          <a:xfrm>
            <a:off x="7517516" y="2142297"/>
            <a:ext cx="162022" cy="162022"/>
          </a:xfrm>
          <a:prstGeom prst="rect">
            <a:avLst/>
          </a:prstGeom>
        </p:spPr>
      </p:pic>
      <p:pic>
        <p:nvPicPr>
          <p:cNvPr id="594" name="Picture 593">
            <a:extLst>
              <a:ext uri="{FF2B5EF4-FFF2-40B4-BE49-F238E27FC236}">
                <a16:creationId xmlns:a16="http://schemas.microsoft.com/office/drawing/2014/main" id="{AC75A4FC-E0AB-7049-4BF3-314EFAB25CEC}"/>
              </a:ext>
            </a:extLst>
          </p:cNvPr>
          <p:cNvPicPr>
            <a:picLocks noChangeAspect="1"/>
          </p:cNvPicPr>
          <p:nvPr/>
        </p:nvPicPr>
        <p:blipFill>
          <a:blip r:embed="rId8">
            <a:alphaModFix amt="75000"/>
          </a:blip>
          <a:stretch>
            <a:fillRect/>
          </a:stretch>
        </p:blipFill>
        <p:spPr>
          <a:xfrm>
            <a:off x="7513704" y="2803618"/>
            <a:ext cx="162022" cy="162022"/>
          </a:xfrm>
          <a:prstGeom prst="rect">
            <a:avLst/>
          </a:prstGeom>
        </p:spPr>
      </p:pic>
      <p:pic>
        <p:nvPicPr>
          <p:cNvPr id="620" name="Picture 619">
            <a:extLst>
              <a:ext uri="{FF2B5EF4-FFF2-40B4-BE49-F238E27FC236}">
                <a16:creationId xmlns:a16="http://schemas.microsoft.com/office/drawing/2014/main" id="{02182CC4-3C2F-B3D9-A329-5355B8703CF2}"/>
              </a:ext>
            </a:extLst>
          </p:cNvPr>
          <p:cNvPicPr>
            <a:picLocks noChangeAspect="1"/>
          </p:cNvPicPr>
          <p:nvPr/>
        </p:nvPicPr>
        <p:blipFill>
          <a:blip r:embed="rId8">
            <a:alphaModFix amt="75000"/>
          </a:blip>
          <a:stretch>
            <a:fillRect/>
          </a:stretch>
        </p:blipFill>
        <p:spPr>
          <a:xfrm>
            <a:off x="5597836" y="2136355"/>
            <a:ext cx="162022" cy="162022"/>
          </a:xfrm>
          <a:prstGeom prst="rect">
            <a:avLst/>
          </a:prstGeom>
        </p:spPr>
      </p:pic>
      <p:pic>
        <p:nvPicPr>
          <p:cNvPr id="621" name="Picture 620">
            <a:extLst>
              <a:ext uri="{FF2B5EF4-FFF2-40B4-BE49-F238E27FC236}">
                <a16:creationId xmlns:a16="http://schemas.microsoft.com/office/drawing/2014/main" id="{FDC6B111-C4A7-B3ED-1FE1-054C62511F4B}"/>
              </a:ext>
            </a:extLst>
          </p:cNvPr>
          <p:cNvPicPr>
            <a:picLocks noChangeAspect="1"/>
          </p:cNvPicPr>
          <p:nvPr/>
        </p:nvPicPr>
        <p:blipFill>
          <a:blip r:embed="rId8">
            <a:alphaModFix amt="75000"/>
          </a:blip>
          <a:stretch>
            <a:fillRect/>
          </a:stretch>
        </p:blipFill>
        <p:spPr>
          <a:xfrm>
            <a:off x="5606516" y="2810228"/>
            <a:ext cx="162022" cy="162022"/>
          </a:xfrm>
          <a:prstGeom prst="rect">
            <a:avLst/>
          </a:prstGeom>
        </p:spPr>
      </p:pic>
      <p:sp>
        <p:nvSpPr>
          <p:cNvPr id="622" name="Rectangle 621">
            <a:extLst>
              <a:ext uri="{FF2B5EF4-FFF2-40B4-BE49-F238E27FC236}">
                <a16:creationId xmlns:a16="http://schemas.microsoft.com/office/drawing/2014/main" id="{790E7259-6A8B-46F0-675A-38F833427BAF}"/>
              </a:ext>
            </a:extLst>
          </p:cNvPr>
          <p:cNvSpPr/>
          <p:nvPr/>
        </p:nvSpPr>
        <p:spPr>
          <a:xfrm>
            <a:off x="5391150" y="2387683"/>
            <a:ext cx="60011" cy="185702"/>
          </a:xfrm>
          <a:prstGeom prst="rect">
            <a:avLst/>
          </a:prstGeom>
          <a:solidFill>
            <a:schemeClr val="bg1">
              <a:lumMod val="9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Rectangle 623">
            <a:extLst>
              <a:ext uri="{FF2B5EF4-FFF2-40B4-BE49-F238E27FC236}">
                <a16:creationId xmlns:a16="http://schemas.microsoft.com/office/drawing/2014/main" id="{7601C4C9-77F7-AB14-5A63-C4CA8D8E2C3A}"/>
              </a:ext>
            </a:extLst>
          </p:cNvPr>
          <p:cNvSpPr/>
          <p:nvPr/>
        </p:nvSpPr>
        <p:spPr>
          <a:xfrm>
            <a:off x="5391149" y="2569737"/>
            <a:ext cx="57824" cy="178684"/>
          </a:xfrm>
          <a:prstGeom prst="rect">
            <a:avLst/>
          </a:prstGeom>
          <a:solidFill>
            <a:schemeClr val="bg1">
              <a:lumMod val="9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2BE167D4-3D9C-DED7-2C8E-7396CDF7AF98}"/>
              </a:ext>
            </a:extLst>
          </p:cNvPr>
          <p:cNvSpPr/>
          <p:nvPr/>
        </p:nvSpPr>
        <p:spPr>
          <a:xfrm>
            <a:off x="5643420" y="2391053"/>
            <a:ext cx="60012" cy="178684"/>
          </a:xfrm>
          <a:prstGeom prst="rect">
            <a:avLst/>
          </a:prstGeom>
          <a:solidFill>
            <a:schemeClr val="bg1">
              <a:lumMod val="9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Rectangle 627">
            <a:extLst>
              <a:ext uri="{FF2B5EF4-FFF2-40B4-BE49-F238E27FC236}">
                <a16:creationId xmlns:a16="http://schemas.microsoft.com/office/drawing/2014/main" id="{BFE0E427-B56C-7495-F727-1ABF8CA6C1EB}"/>
              </a:ext>
            </a:extLst>
          </p:cNvPr>
          <p:cNvSpPr/>
          <p:nvPr/>
        </p:nvSpPr>
        <p:spPr>
          <a:xfrm>
            <a:off x="5645605" y="2570115"/>
            <a:ext cx="57825" cy="178684"/>
          </a:xfrm>
          <a:prstGeom prst="rect">
            <a:avLst/>
          </a:prstGeom>
          <a:solidFill>
            <a:schemeClr val="bg1">
              <a:lumMod val="95000"/>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277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FA05459-0F1A-A82B-C0F8-9B37C834C22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844DB651-2CB8-750C-B4AA-C704C262FDDC}"/>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Conclusion</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57DE8AEB-3003-3C23-2B0C-838967B052B6}"/>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C0AA07C5-4B8A-C864-7C1B-7D39D92C2C43}"/>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4" name="TextBox 3">
            <a:extLst>
              <a:ext uri="{FF2B5EF4-FFF2-40B4-BE49-F238E27FC236}">
                <a16:creationId xmlns:a16="http://schemas.microsoft.com/office/drawing/2014/main" id="{8AEFA910-FC27-51E7-2D39-11C19EDD38D1}"/>
              </a:ext>
            </a:extLst>
          </p:cNvPr>
          <p:cNvSpPr txBox="1"/>
          <p:nvPr/>
        </p:nvSpPr>
        <p:spPr>
          <a:xfrm>
            <a:off x="1193962" y="1159045"/>
            <a:ext cx="6756076" cy="2462213"/>
          </a:xfrm>
          <a:prstGeom prst="rect">
            <a:avLst/>
          </a:prstGeom>
          <a:noFill/>
        </p:spPr>
        <p:txBody>
          <a:bodyPr wrap="square" rtlCol="0">
            <a:spAutoFit/>
          </a:bodyPr>
          <a:lstStyle/>
          <a:p>
            <a:pPr marL="285750" indent="-285750">
              <a:buFont typeface="Arial" panose="020B0604020202020204" pitchFamily="34" charset="0"/>
              <a:buChar char="•"/>
            </a:pPr>
            <a:r>
              <a:rPr lang="en-US" b="1" dirty="0"/>
              <a:t>End-to-end data platform</a:t>
            </a:r>
            <a:br>
              <a:rPr lang="en-US" b="1" dirty="0"/>
            </a:br>
            <a:r>
              <a:rPr lang="en-US" dirty="0"/>
              <a:t>GFEA  API → ETL → PostgreSQL / Elasticsearch → </a:t>
            </a:r>
            <a:r>
              <a:rPr lang="en-US" dirty="0" err="1"/>
              <a:t>FastAPI</a:t>
            </a:r>
            <a:r>
              <a:rPr lang="en-US" dirty="0"/>
              <a:t> → Dash</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Automated</a:t>
            </a:r>
            <a:br>
              <a:rPr lang="en-US" b="1" dirty="0"/>
            </a:br>
            <a:r>
              <a:rPr lang="en-US" dirty="0"/>
              <a:t>Airflow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Reproducible</a:t>
            </a:r>
            <a:br>
              <a:rPr lang="en-US" b="1" dirty="0"/>
            </a:br>
            <a:r>
              <a:rPr lang="en-US" dirty="0"/>
              <a:t>Docker Compose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Observable</a:t>
            </a:r>
            <a:br>
              <a:rPr lang="en-US" b="1" dirty="0"/>
            </a:br>
            <a:r>
              <a:rPr lang="en-US" dirty="0"/>
              <a:t>Prometheus + Grafana</a:t>
            </a:r>
          </a:p>
        </p:txBody>
      </p:sp>
    </p:spTree>
    <p:extLst>
      <p:ext uri="{BB962C8B-B14F-4D97-AF65-F5344CB8AC3E}">
        <p14:creationId xmlns:p14="http://schemas.microsoft.com/office/powerpoint/2010/main" val="30833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CD1EEC0-E421-FCDA-233F-4B7861618822}"/>
              </a:ext>
            </a:extLst>
          </p:cNvPr>
          <p:cNvSpPr>
            <a:spLocks noGrp="1" noRot="1" noMove="1" noResize="1" noEditPoints="1" noAdjustHandles="1" noChangeArrowheads="1" noChangeShapeType="1"/>
          </p:cNvSpPr>
          <p:nvPr>
            <p:ph type="subTitle" idx="1"/>
          </p:nvPr>
        </p:nvSpPr>
        <p:spPr/>
        <p:txBody>
          <a:bodyPr/>
          <a:lstStyle/>
          <a:p>
            <a:r>
              <a:rPr lang="en-US" b="1" dirty="0"/>
              <a:t>ERD</a:t>
            </a:r>
          </a:p>
        </p:txBody>
      </p:sp>
      <p:pic>
        <p:nvPicPr>
          <p:cNvPr id="4" name="Picture 3">
            <a:extLst>
              <a:ext uri="{FF2B5EF4-FFF2-40B4-BE49-F238E27FC236}">
                <a16:creationId xmlns:a16="http://schemas.microsoft.com/office/drawing/2014/main" id="{06AD2C60-0080-F20F-325F-E882E374DD6E}"/>
              </a:ext>
            </a:extLst>
          </p:cNvPr>
          <p:cNvPicPr>
            <a:picLocks noChangeAspect="1"/>
          </p:cNvPicPr>
          <p:nvPr/>
        </p:nvPicPr>
        <p:blipFill>
          <a:blip r:embed="rId3"/>
          <a:stretch>
            <a:fillRect/>
          </a:stretch>
        </p:blipFill>
        <p:spPr>
          <a:xfrm>
            <a:off x="1423987" y="704850"/>
            <a:ext cx="6296025" cy="3733800"/>
          </a:xfrm>
          <a:prstGeom prst="rect">
            <a:avLst/>
          </a:prstGeom>
        </p:spPr>
      </p:pic>
    </p:spTree>
    <p:extLst>
      <p:ext uri="{BB962C8B-B14F-4D97-AF65-F5344CB8AC3E}">
        <p14:creationId xmlns:p14="http://schemas.microsoft.com/office/powerpoint/2010/main" val="308731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98386343-0DE9-111B-DFC1-410BD6ADE182}"/>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7C1EE998-61FE-B24F-B9CD-28C6666AC87E}"/>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Limitations &amp; Improvements</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FC55D9A6-B629-76BB-9517-C0F42D6F1543}"/>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579BE5E8-3A2C-331C-6D2F-8D9BFAE65D93}"/>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graphicFrame>
        <p:nvGraphicFramePr>
          <p:cNvPr id="10" name="Table 9">
            <a:extLst>
              <a:ext uri="{FF2B5EF4-FFF2-40B4-BE49-F238E27FC236}">
                <a16:creationId xmlns:a16="http://schemas.microsoft.com/office/drawing/2014/main" id="{2BF88187-6681-DFA7-2E03-A8782DD0A1A9}"/>
              </a:ext>
            </a:extLst>
          </p:cNvPr>
          <p:cNvGraphicFramePr>
            <a:graphicFrameLocks noGrp="1"/>
          </p:cNvGraphicFramePr>
          <p:nvPr>
            <p:extLst>
              <p:ext uri="{D42A27DB-BD31-4B8C-83A1-F6EECF244321}">
                <p14:modId xmlns:p14="http://schemas.microsoft.com/office/powerpoint/2010/main" val="3641661321"/>
              </p:ext>
            </p:extLst>
          </p:nvPr>
        </p:nvGraphicFramePr>
        <p:xfrm>
          <a:off x="611541" y="1256612"/>
          <a:ext cx="7920917" cy="2569679"/>
        </p:xfrm>
        <a:graphic>
          <a:graphicData uri="http://schemas.openxmlformats.org/drawingml/2006/table">
            <a:tbl>
              <a:tblPr firstRow="1" bandRow="1">
                <a:tableStyleId>{5C22544A-7EE6-4342-B048-85BDC9FD1C3A}</a:tableStyleId>
              </a:tblPr>
              <a:tblGrid>
                <a:gridCol w="4247201">
                  <a:extLst>
                    <a:ext uri="{9D8B030D-6E8A-4147-A177-3AD203B41FA5}">
                      <a16:colId xmlns:a16="http://schemas.microsoft.com/office/drawing/2014/main" val="18623551"/>
                    </a:ext>
                  </a:extLst>
                </a:gridCol>
                <a:gridCol w="3673716">
                  <a:extLst>
                    <a:ext uri="{9D8B030D-6E8A-4147-A177-3AD203B41FA5}">
                      <a16:colId xmlns:a16="http://schemas.microsoft.com/office/drawing/2014/main" val="326753393"/>
                    </a:ext>
                  </a:extLst>
                </a:gridCol>
              </a:tblGrid>
              <a:tr h="472925">
                <a:tc>
                  <a:txBody>
                    <a:bodyPr/>
                    <a:lstStyle/>
                    <a:p>
                      <a:r>
                        <a:rPr lang="en-US" b="1" dirty="0">
                          <a:solidFill>
                            <a:schemeClr val="tx1">
                              <a:lumMod val="95000"/>
                              <a:lumOff val="5000"/>
                            </a:schemeClr>
                          </a:solidFill>
                        </a:rPr>
                        <a:t>Limitations</a:t>
                      </a:r>
                      <a:endParaRPr lang="en-US" dirty="0">
                        <a:solidFill>
                          <a:schemeClr val="tx1">
                            <a:lumMod val="95000"/>
                            <a:lumOff val="5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tx1">
                              <a:lumMod val="95000"/>
                              <a:lumOff val="5000"/>
                            </a:schemeClr>
                          </a:solidFill>
                        </a:rPr>
                        <a:t>Improvements</a:t>
                      </a:r>
                    </a:p>
                  </a:txBody>
                  <a:tcPr/>
                </a:tc>
                <a:extLst>
                  <a:ext uri="{0D108BD9-81ED-4DB2-BD59-A6C34878D82A}">
                    <a16:rowId xmlns:a16="http://schemas.microsoft.com/office/drawing/2014/main" val="3225832151"/>
                  </a:ext>
                </a:extLst>
              </a:tr>
              <a:tr h="63371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Limited market coverage</a:t>
                      </a:r>
                      <a:br>
                        <a:rPr lang="en-US" dirty="0"/>
                      </a:br>
                      <a:r>
                        <a:rPr lang="en-US" dirty="0"/>
                        <a:t>one source + selected search keywords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Add more job-data sources </a:t>
                      </a:r>
                    </a:p>
                    <a:p>
                      <a:endParaRPr lang="en-US" dirty="0"/>
                    </a:p>
                  </a:txBody>
                  <a:tcPr/>
                </a:tc>
                <a:extLst>
                  <a:ext uri="{0D108BD9-81ED-4DB2-BD59-A6C34878D82A}">
                    <a16:rowId xmlns:a16="http://schemas.microsoft.com/office/drawing/2014/main" val="2827301534"/>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Short observation period</a:t>
                      </a:r>
                      <a:br>
                        <a:rPr lang="en-US" dirty="0"/>
                      </a:br>
                      <a:r>
                        <a:rPr lang="en-US" dirty="0"/>
                        <a:t>freshness/history becomes more valuable over time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Run continuously for longer-term analysis </a:t>
                      </a:r>
                    </a:p>
                    <a:p>
                      <a:endParaRPr lang="en-US" b="0" dirty="0"/>
                    </a:p>
                  </a:txBody>
                  <a:tcPr/>
                </a:tc>
                <a:extLst>
                  <a:ext uri="{0D108BD9-81ED-4DB2-BD59-A6C34878D82A}">
                    <a16:rowId xmlns:a16="http://schemas.microsoft.com/office/drawing/2014/main" val="2826665318"/>
                  </a:ext>
                </a:extLst>
              </a:tr>
              <a:tr h="7258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Rule-based classification</a:t>
                      </a:r>
                      <a:br>
                        <a:rPr lang="en-US" dirty="0"/>
                      </a:br>
                      <a:r>
                        <a:rPr lang="en-US" dirty="0"/>
                        <a:t>transparent, but limited semantic understanding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0" dirty="0"/>
                        <a:t>Improve classification with semantic / ML methods </a:t>
                      </a:r>
                    </a:p>
                    <a:p>
                      <a:endParaRPr lang="en-US" b="0" dirty="0"/>
                    </a:p>
                  </a:txBody>
                  <a:tcPr/>
                </a:tc>
                <a:extLst>
                  <a:ext uri="{0D108BD9-81ED-4DB2-BD59-A6C34878D82A}">
                    <a16:rowId xmlns:a16="http://schemas.microsoft.com/office/drawing/2014/main" val="3002744917"/>
                  </a:ext>
                </a:extLst>
              </a:tr>
            </a:tbl>
          </a:graphicData>
        </a:graphic>
      </p:graphicFrame>
    </p:spTree>
    <p:extLst>
      <p:ext uri="{BB962C8B-B14F-4D97-AF65-F5344CB8AC3E}">
        <p14:creationId xmlns:p14="http://schemas.microsoft.com/office/powerpoint/2010/main" val="370890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5D6388D-7F14-3E67-49C1-31C320D975E9}"/>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DF0AAE9E-1295-E879-B412-9C84573A24B0}"/>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Monitoring &amp; Alerting</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6F2F4812-FA30-A89E-C6DC-56E69DDCC0EC}"/>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78182C36-2717-2611-DBA5-962E12F4D655}"/>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cxnSp>
        <p:nvCxnSpPr>
          <p:cNvPr id="31" name="Straight Arrow Connector 30">
            <a:extLst>
              <a:ext uri="{FF2B5EF4-FFF2-40B4-BE49-F238E27FC236}">
                <a16:creationId xmlns:a16="http://schemas.microsoft.com/office/drawing/2014/main" id="{3F0F6E1F-1C79-C899-3E44-16B8A4F4905B}"/>
              </a:ext>
            </a:extLst>
          </p:cNvPr>
          <p:cNvCxnSpPr>
            <a:cxnSpLocks/>
            <a:stCxn id="19" idx="1"/>
            <a:endCxn id="14" idx="3"/>
          </p:cNvCxnSpPr>
          <p:nvPr/>
        </p:nvCxnSpPr>
        <p:spPr>
          <a:xfrm flipH="1">
            <a:off x="5408472" y="3968947"/>
            <a:ext cx="1097306" cy="9923"/>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cxnSp>
        <p:nvCxnSpPr>
          <p:cNvPr id="47" name="Straight Arrow Connector 46">
            <a:extLst>
              <a:ext uri="{FF2B5EF4-FFF2-40B4-BE49-F238E27FC236}">
                <a16:creationId xmlns:a16="http://schemas.microsoft.com/office/drawing/2014/main" id="{0D39A2A2-8CE7-3C28-1E73-CBE2C0968EA2}"/>
              </a:ext>
            </a:extLst>
          </p:cNvPr>
          <p:cNvCxnSpPr>
            <a:cxnSpLocks/>
            <a:stCxn id="23" idx="3"/>
            <a:endCxn id="18" idx="1"/>
          </p:cNvCxnSpPr>
          <p:nvPr/>
        </p:nvCxnSpPr>
        <p:spPr>
          <a:xfrm>
            <a:off x="2224112" y="2523164"/>
            <a:ext cx="1388901"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grpSp>
        <p:nvGrpSpPr>
          <p:cNvPr id="3" name="Group 2">
            <a:extLst>
              <a:ext uri="{FF2B5EF4-FFF2-40B4-BE49-F238E27FC236}">
                <a16:creationId xmlns:a16="http://schemas.microsoft.com/office/drawing/2014/main" id="{C6A71018-B446-67B2-A798-7A1648DE4303}"/>
              </a:ext>
            </a:extLst>
          </p:cNvPr>
          <p:cNvGrpSpPr/>
          <p:nvPr/>
        </p:nvGrpSpPr>
        <p:grpSpPr>
          <a:xfrm>
            <a:off x="3613013" y="2370660"/>
            <a:ext cx="1722064" cy="652280"/>
            <a:chOff x="3613013" y="2463717"/>
            <a:chExt cx="1722064" cy="652280"/>
          </a:xfrm>
        </p:grpSpPr>
        <p:pic>
          <p:nvPicPr>
            <p:cNvPr id="11" name="Picture 10">
              <a:extLst>
                <a:ext uri="{FF2B5EF4-FFF2-40B4-BE49-F238E27FC236}">
                  <a16:creationId xmlns:a16="http://schemas.microsoft.com/office/drawing/2014/main" id="{058D8B95-8869-5497-249B-D24279E7D182}"/>
                </a:ext>
              </a:extLst>
            </p:cNvPr>
            <p:cNvPicPr>
              <a:picLocks noChangeAspect="1"/>
            </p:cNvPicPr>
            <p:nvPr/>
          </p:nvPicPr>
          <p:blipFill>
            <a:blip r:embed="rId4"/>
            <a:stretch>
              <a:fillRect/>
            </a:stretch>
          </p:blipFill>
          <p:spPr>
            <a:xfrm>
              <a:off x="4309530" y="2786967"/>
              <a:ext cx="329030" cy="329030"/>
            </a:xfrm>
            <a:prstGeom prst="rect">
              <a:avLst/>
            </a:prstGeom>
          </p:spPr>
        </p:pic>
        <p:sp>
          <p:nvSpPr>
            <p:cNvPr id="18" name="TextBox 17">
              <a:extLst>
                <a:ext uri="{FF2B5EF4-FFF2-40B4-BE49-F238E27FC236}">
                  <a16:creationId xmlns:a16="http://schemas.microsoft.com/office/drawing/2014/main" id="{3450A45C-3208-78B9-967B-BCC33938943D}"/>
                </a:ext>
              </a:extLst>
            </p:cNvPr>
            <p:cNvSpPr txBox="1"/>
            <p:nvPr/>
          </p:nvSpPr>
          <p:spPr>
            <a:xfrm>
              <a:off x="3613013" y="2463717"/>
              <a:ext cx="1722064" cy="307777"/>
            </a:xfrm>
            <a:prstGeom prst="rect">
              <a:avLst/>
            </a:prstGeom>
            <a:noFill/>
          </p:spPr>
          <p:txBody>
            <a:bodyPr wrap="square" rtlCol="0">
              <a:spAutoFit/>
            </a:bodyPr>
            <a:lstStyle/>
            <a:p>
              <a:pPr algn="ctr"/>
              <a:r>
                <a:rPr lang="en-US" b="1" dirty="0" err="1">
                  <a:solidFill>
                    <a:srgbClr val="262626"/>
                  </a:solidFill>
                </a:rPr>
                <a:t>prometheus</a:t>
              </a:r>
              <a:r>
                <a:rPr lang="en-US" dirty="0"/>
                <a:t> </a:t>
              </a:r>
              <a:r>
                <a:rPr lang="en-US" dirty="0">
                  <a:solidFill>
                    <a:srgbClr val="0000EE"/>
                  </a:solidFill>
                </a:rPr>
                <a:t>:9090</a:t>
              </a:r>
            </a:p>
          </p:txBody>
        </p:sp>
      </p:grpSp>
      <p:grpSp>
        <p:nvGrpSpPr>
          <p:cNvPr id="2" name="Group 1">
            <a:extLst>
              <a:ext uri="{FF2B5EF4-FFF2-40B4-BE49-F238E27FC236}">
                <a16:creationId xmlns:a16="http://schemas.microsoft.com/office/drawing/2014/main" id="{DD389659-626D-FE91-D7DA-8B768CD2125D}"/>
              </a:ext>
            </a:extLst>
          </p:cNvPr>
          <p:cNvGrpSpPr/>
          <p:nvPr/>
        </p:nvGrpSpPr>
        <p:grpSpPr>
          <a:xfrm>
            <a:off x="851790" y="2369275"/>
            <a:ext cx="1372322" cy="651134"/>
            <a:chOff x="851790" y="2462332"/>
            <a:chExt cx="1372322" cy="651134"/>
          </a:xfrm>
        </p:grpSpPr>
        <p:pic>
          <p:nvPicPr>
            <p:cNvPr id="9" name="Picture 8">
              <a:extLst>
                <a:ext uri="{FF2B5EF4-FFF2-40B4-BE49-F238E27FC236}">
                  <a16:creationId xmlns:a16="http://schemas.microsoft.com/office/drawing/2014/main" id="{AFE0CC99-FBB4-00E3-CB59-2C5B36CFACF8}"/>
                </a:ext>
              </a:extLst>
            </p:cNvPr>
            <p:cNvPicPr>
              <a:picLocks noChangeAspect="1"/>
            </p:cNvPicPr>
            <p:nvPr/>
          </p:nvPicPr>
          <p:blipFill>
            <a:blip r:embed="rId5"/>
            <a:stretch>
              <a:fillRect/>
            </a:stretch>
          </p:blipFill>
          <p:spPr>
            <a:xfrm>
              <a:off x="1371379" y="2751773"/>
              <a:ext cx="333670" cy="361693"/>
            </a:xfrm>
            <a:prstGeom prst="rect">
              <a:avLst/>
            </a:prstGeom>
          </p:spPr>
        </p:pic>
        <p:sp>
          <p:nvSpPr>
            <p:cNvPr id="23" name="TextBox 22">
              <a:extLst>
                <a:ext uri="{FF2B5EF4-FFF2-40B4-BE49-F238E27FC236}">
                  <a16:creationId xmlns:a16="http://schemas.microsoft.com/office/drawing/2014/main" id="{E342E218-7ABB-C458-7336-60CA5068A45B}"/>
                </a:ext>
              </a:extLst>
            </p:cNvPr>
            <p:cNvSpPr txBox="1"/>
            <p:nvPr/>
          </p:nvSpPr>
          <p:spPr>
            <a:xfrm>
              <a:off x="851790" y="2462332"/>
              <a:ext cx="1372322" cy="307777"/>
            </a:xfrm>
            <a:prstGeom prst="rect">
              <a:avLst/>
            </a:prstGeom>
            <a:noFill/>
          </p:spPr>
          <p:txBody>
            <a:bodyPr wrap="square" rtlCol="0">
              <a:spAutoFit/>
            </a:bodyPr>
            <a:lstStyle/>
            <a:p>
              <a:pPr algn="ctr"/>
              <a:r>
                <a:rPr lang="en-US" b="1" dirty="0" err="1">
                  <a:solidFill>
                    <a:srgbClr val="262626"/>
                  </a:solidFill>
                </a:rPr>
                <a:t>grafana</a:t>
              </a:r>
              <a:r>
                <a:rPr lang="en-US" dirty="0"/>
                <a:t> </a:t>
              </a:r>
              <a:r>
                <a:rPr lang="en-US" dirty="0">
                  <a:solidFill>
                    <a:srgbClr val="0000EE"/>
                  </a:solidFill>
                </a:rPr>
                <a:t>:3000</a:t>
              </a:r>
            </a:p>
          </p:txBody>
        </p:sp>
      </p:grpSp>
      <p:grpSp>
        <p:nvGrpSpPr>
          <p:cNvPr id="5" name="Group 4">
            <a:extLst>
              <a:ext uri="{FF2B5EF4-FFF2-40B4-BE49-F238E27FC236}">
                <a16:creationId xmlns:a16="http://schemas.microsoft.com/office/drawing/2014/main" id="{C8EABDA6-EC39-04AE-AE88-70D73DF21BFE}"/>
              </a:ext>
            </a:extLst>
          </p:cNvPr>
          <p:cNvGrpSpPr/>
          <p:nvPr/>
        </p:nvGrpSpPr>
        <p:grpSpPr>
          <a:xfrm>
            <a:off x="3539618" y="3824981"/>
            <a:ext cx="1868854" cy="538825"/>
            <a:chOff x="3539618" y="3918038"/>
            <a:chExt cx="1868854" cy="538825"/>
          </a:xfrm>
        </p:grpSpPr>
        <p:pic>
          <p:nvPicPr>
            <p:cNvPr id="8" name="Picture 7">
              <a:extLst>
                <a:ext uri="{FF2B5EF4-FFF2-40B4-BE49-F238E27FC236}">
                  <a16:creationId xmlns:a16="http://schemas.microsoft.com/office/drawing/2014/main" id="{2F03BB34-0766-BB5A-C46A-D800D40BE56B}"/>
                </a:ext>
              </a:extLst>
            </p:cNvPr>
            <p:cNvPicPr>
              <a:picLocks noChangeAspect="1"/>
            </p:cNvPicPr>
            <p:nvPr/>
          </p:nvPicPr>
          <p:blipFill>
            <a:blip r:embed="rId4"/>
            <a:stretch>
              <a:fillRect/>
            </a:stretch>
          </p:blipFill>
          <p:spPr>
            <a:xfrm>
              <a:off x="4362087" y="4246383"/>
              <a:ext cx="210480" cy="210480"/>
            </a:xfrm>
            <a:prstGeom prst="rect">
              <a:avLst/>
            </a:prstGeom>
          </p:spPr>
        </p:pic>
        <p:sp>
          <p:nvSpPr>
            <p:cNvPr id="14" name="TextBox 13">
              <a:extLst>
                <a:ext uri="{FF2B5EF4-FFF2-40B4-BE49-F238E27FC236}">
                  <a16:creationId xmlns:a16="http://schemas.microsoft.com/office/drawing/2014/main" id="{750749A3-6888-0CB6-1756-AE886F5D2494}"/>
                </a:ext>
              </a:extLst>
            </p:cNvPr>
            <p:cNvSpPr txBox="1"/>
            <p:nvPr/>
          </p:nvSpPr>
          <p:spPr>
            <a:xfrm>
              <a:off x="3539618" y="3918038"/>
              <a:ext cx="1868854" cy="307777"/>
            </a:xfrm>
            <a:prstGeom prst="rect">
              <a:avLst/>
            </a:prstGeom>
            <a:noFill/>
          </p:spPr>
          <p:txBody>
            <a:bodyPr wrap="square" rtlCol="0">
              <a:spAutoFit/>
            </a:bodyPr>
            <a:lstStyle/>
            <a:p>
              <a:pPr algn="ctr"/>
              <a:r>
                <a:rPr lang="en-US" b="1" dirty="0" err="1">
                  <a:solidFill>
                    <a:srgbClr val="262626"/>
                  </a:solidFill>
                </a:rPr>
                <a:t>pushgateway</a:t>
              </a:r>
              <a:r>
                <a:rPr lang="en-US" b="1" dirty="0">
                  <a:solidFill>
                    <a:srgbClr val="262626"/>
                  </a:solidFill>
                </a:rPr>
                <a:t> </a:t>
              </a:r>
              <a:r>
                <a:rPr lang="en-US" dirty="0">
                  <a:solidFill>
                    <a:srgbClr val="0000EE"/>
                  </a:solidFill>
                </a:rPr>
                <a:t>:9091</a:t>
              </a:r>
            </a:p>
          </p:txBody>
        </p:sp>
      </p:grpSp>
      <p:grpSp>
        <p:nvGrpSpPr>
          <p:cNvPr id="6" name="Group 5">
            <a:extLst>
              <a:ext uri="{FF2B5EF4-FFF2-40B4-BE49-F238E27FC236}">
                <a16:creationId xmlns:a16="http://schemas.microsoft.com/office/drawing/2014/main" id="{AD2AE589-50A5-E387-B40C-FC8E362F3FE6}"/>
              </a:ext>
            </a:extLst>
          </p:cNvPr>
          <p:cNvGrpSpPr/>
          <p:nvPr/>
        </p:nvGrpSpPr>
        <p:grpSpPr>
          <a:xfrm>
            <a:off x="5987323" y="2369275"/>
            <a:ext cx="1853732" cy="536025"/>
            <a:chOff x="5987323" y="2462332"/>
            <a:chExt cx="1853732" cy="536025"/>
          </a:xfrm>
        </p:grpSpPr>
        <p:pic>
          <p:nvPicPr>
            <p:cNvPr id="16" name="Picture 15">
              <a:extLst>
                <a:ext uri="{FF2B5EF4-FFF2-40B4-BE49-F238E27FC236}">
                  <a16:creationId xmlns:a16="http://schemas.microsoft.com/office/drawing/2014/main" id="{ADA50C08-7B82-E70F-85BB-882789E21DAF}"/>
                </a:ext>
              </a:extLst>
            </p:cNvPr>
            <p:cNvPicPr>
              <a:picLocks noChangeAspect="1"/>
            </p:cNvPicPr>
            <p:nvPr/>
          </p:nvPicPr>
          <p:blipFill>
            <a:blip r:embed="rId4"/>
            <a:stretch>
              <a:fillRect/>
            </a:stretch>
          </p:blipFill>
          <p:spPr>
            <a:xfrm>
              <a:off x="6809093" y="2789663"/>
              <a:ext cx="208694" cy="208694"/>
            </a:xfrm>
            <a:prstGeom prst="rect">
              <a:avLst/>
            </a:prstGeom>
          </p:spPr>
        </p:pic>
        <p:sp>
          <p:nvSpPr>
            <p:cNvPr id="20" name="TextBox 19">
              <a:extLst>
                <a:ext uri="{FF2B5EF4-FFF2-40B4-BE49-F238E27FC236}">
                  <a16:creationId xmlns:a16="http://schemas.microsoft.com/office/drawing/2014/main" id="{4449022C-0587-DE76-015E-ABE806BAB5CE}"/>
                </a:ext>
              </a:extLst>
            </p:cNvPr>
            <p:cNvSpPr txBox="1"/>
            <p:nvPr/>
          </p:nvSpPr>
          <p:spPr>
            <a:xfrm>
              <a:off x="5987323" y="2462332"/>
              <a:ext cx="1853732" cy="307777"/>
            </a:xfrm>
            <a:prstGeom prst="rect">
              <a:avLst/>
            </a:prstGeom>
            <a:noFill/>
          </p:spPr>
          <p:txBody>
            <a:bodyPr wrap="square" rtlCol="0">
              <a:spAutoFit/>
            </a:bodyPr>
            <a:lstStyle/>
            <a:p>
              <a:pPr algn="ctr"/>
              <a:r>
                <a:rPr lang="en-US" b="1" dirty="0" err="1">
                  <a:solidFill>
                    <a:srgbClr val="262626"/>
                  </a:solidFill>
                </a:rPr>
                <a:t>alertmanager</a:t>
              </a:r>
              <a:r>
                <a:rPr lang="en-US" b="1" dirty="0">
                  <a:solidFill>
                    <a:srgbClr val="262626"/>
                  </a:solidFill>
                </a:rPr>
                <a:t> </a:t>
              </a:r>
              <a:r>
                <a:rPr lang="en-US" dirty="0">
                  <a:solidFill>
                    <a:srgbClr val="0000EE"/>
                  </a:solidFill>
                </a:rPr>
                <a:t>:9093</a:t>
              </a:r>
            </a:p>
          </p:txBody>
        </p:sp>
      </p:grpSp>
      <p:cxnSp>
        <p:nvCxnSpPr>
          <p:cNvPr id="37" name="Straight Arrow Connector 36">
            <a:extLst>
              <a:ext uri="{FF2B5EF4-FFF2-40B4-BE49-F238E27FC236}">
                <a16:creationId xmlns:a16="http://schemas.microsoft.com/office/drawing/2014/main" id="{D434235F-2EB5-8C95-CEB3-595C00763BA6}"/>
              </a:ext>
            </a:extLst>
          </p:cNvPr>
          <p:cNvCxnSpPr>
            <a:cxnSpLocks/>
            <a:endCxn id="14" idx="0"/>
          </p:cNvCxnSpPr>
          <p:nvPr/>
        </p:nvCxnSpPr>
        <p:spPr>
          <a:xfrm>
            <a:off x="4474045" y="3099837"/>
            <a:ext cx="0" cy="725144"/>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sp>
        <p:nvSpPr>
          <p:cNvPr id="54" name="TextBox 53">
            <a:extLst>
              <a:ext uri="{FF2B5EF4-FFF2-40B4-BE49-F238E27FC236}">
                <a16:creationId xmlns:a16="http://schemas.microsoft.com/office/drawing/2014/main" id="{582F2ECC-9AE3-BAE2-99AB-EE673C1C414B}"/>
              </a:ext>
            </a:extLst>
          </p:cNvPr>
          <p:cNvSpPr txBox="1"/>
          <p:nvPr/>
        </p:nvSpPr>
        <p:spPr>
          <a:xfrm>
            <a:off x="5576952" y="3701870"/>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push</a:t>
            </a:r>
          </a:p>
        </p:txBody>
      </p:sp>
      <p:cxnSp>
        <p:nvCxnSpPr>
          <p:cNvPr id="55" name="Straight Arrow Connector 54">
            <a:extLst>
              <a:ext uri="{FF2B5EF4-FFF2-40B4-BE49-F238E27FC236}">
                <a16:creationId xmlns:a16="http://schemas.microsoft.com/office/drawing/2014/main" id="{99DA73CB-5265-1EB0-7EC7-7BED2A269803}"/>
              </a:ext>
            </a:extLst>
          </p:cNvPr>
          <p:cNvCxnSpPr>
            <a:cxnSpLocks/>
            <a:stCxn id="18" idx="3"/>
            <a:endCxn id="20" idx="1"/>
          </p:cNvCxnSpPr>
          <p:nvPr/>
        </p:nvCxnSpPr>
        <p:spPr>
          <a:xfrm flipV="1">
            <a:off x="5335077" y="2523164"/>
            <a:ext cx="652246" cy="1385"/>
          </a:xfrm>
          <a:prstGeom prst="straightConnector1">
            <a:avLst/>
          </a:prstGeom>
          <a:ln w="19050">
            <a:prstDash val="solid"/>
            <a:tailEnd type="triangle"/>
          </a:ln>
        </p:spPr>
        <p:style>
          <a:lnRef idx="1">
            <a:schemeClr val="accent5"/>
          </a:lnRef>
          <a:fillRef idx="0">
            <a:schemeClr val="accent5"/>
          </a:fillRef>
          <a:effectRef idx="0">
            <a:schemeClr val="accent5"/>
          </a:effectRef>
          <a:fontRef idx="minor">
            <a:schemeClr val="tx1"/>
          </a:fontRef>
        </p:style>
      </p:cxnSp>
      <p:sp>
        <p:nvSpPr>
          <p:cNvPr id="60" name="TextBox 59">
            <a:extLst>
              <a:ext uri="{FF2B5EF4-FFF2-40B4-BE49-F238E27FC236}">
                <a16:creationId xmlns:a16="http://schemas.microsoft.com/office/drawing/2014/main" id="{F2324F5F-0858-12F5-BBCB-12B6DE9B48BF}"/>
              </a:ext>
            </a:extLst>
          </p:cNvPr>
          <p:cNvSpPr txBox="1"/>
          <p:nvPr/>
        </p:nvSpPr>
        <p:spPr>
          <a:xfrm>
            <a:off x="5232405" y="2239358"/>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alerts</a:t>
            </a:r>
          </a:p>
        </p:txBody>
      </p:sp>
      <p:sp>
        <p:nvSpPr>
          <p:cNvPr id="592" name="TextBox 591">
            <a:extLst>
              <a:ext uri="{FF2B5EF4-FFF2-40B4-BE49-F238E27FC236}">
                <a16:creationId xmlns:a16="http://schemas.microsoft.com/office/drawing/2014/main" id="{6F1FF3A5-25ED-0909-E98D-0D2F2BEB54A9}"/>
              </a:ext>
            </a:extLst>
          </p:cNvPr>
          <p:cNvSpPr txBox="1"/>
          <p:nvPr/>
        </p:nvSpPr>
        <p:spPr>
          <a:xfrm>
            <a:off x="2523071" y="2248129"/>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query</a:t>
            </a:r>
          </a:p>
        </p:txBody>
      </p:sp>
      <p:cxnSp>
        <p:nvCxnSpPr>
          <p:cNvPr id="580" name="Straight Arrow Connector 579">
            <a:extLst>
              <a:ext uri="{FF2B5EF4-FFF2-40B4-BE49-F238E27FC236}">
                <a16:creationId xmlns:a16="http://schemas.microsoft.com/office/drawing/2014/main" id="{E1905950-D315-140C-131A-88DEF5687B08}"/>
              </a:ext>
            </a:extLst>
          </p:cNvPr>
          <p:cNvCxnSpPr>
            <a:cxnSpLocks/>
            <a:stCxn id="18" idx="0"/>
            <a:endCxn id="52" idx="2"/>
          </p:cNvCxnSpPr>
          <p:nvPr/>
        </p:nvCxnSpPr>
        <p:spPr>
          <a:xfrm flipH="1" flipV="1">
            <a:off x="4467327" y="1566121"/>
            <a:ext cx="6718" cy="804539"/>
          </a:xfrm>
          <a:prstGeom prst="straightConnector1">
            <a:avLst/>
          </a:prstGeom>
          <a:ln w="19050">
            <a:prstDash val="dash"/>
            <a:tailEnd type="triangle"/>
          </a:ln>
        </p:spPr>
        <p:style>
          <a:lnRef idx="1">
            <a:schemeClr val="accent5"/>
          </a:lnRef>
          <a:fillRef idx="0">
            <a:schemeClr val="accent5"/>
          </a:fillRef>
          <a:effectRef idx="0">
            <a:schemeClr val="accent5"/>
          </a:effectRef>
          <a:fontRef idx="minor">
            <a:schemeClr val="tx1"/>
          </a:fontRef>
        </p:style>
      </p:cxnSp>
      <p:grpSp>
        <p:nvGrpSpPr>
          <p:cNvPr id="4" name="Group 3">
            <a:extLst>
              <a:ext uri="{FF2B5EF4-FFF2-40B4-BE49-F238E27FC236}">
                <a16:creationId xmlns:a16="http://schemas.microsoft.com/office/drawing/2014/main" id="{A3804CAE-BBBF-207E-C350-1F9B3B7F06FE}"/>
              </a:ext>
            </a:extLst>
          </p:cNvPr>
          <p:cNvGrpSpPr/>
          <p:nvPr/>
        </p:nvGrpSpPr>
        <p:grpSpPr>
          <a:xfrm>
            <a:off x="3638564" y="781215"/>
            <a:ext cx="1657526" cy="784906"/>
            <a:chOff x="3638564" y="874272"/>
            <a:chExt cx="1657526" cy="784906"/>
          </a:xfrm>
        </p:grpSpPr>
        <p:sp>
          <p:nvSpPr>
            <p:cNvPr id="52" name="TextBox 51">
              <a:extLst>
                <a:ext uri="{FF2B5EF4-FFF2-40B4-BE49-F238E27FC236}">
                  <a16:creationId xmlns:a16="http://schemas.microsoft.com/office/drawing/2014/main" id="{5A0673A0-350B-40B5-00AF-9C15BB8093DC}"/>
                </a:ext>
              </a:extLst>
            </p:cNvPr>
            <p:cNvSpPr txBox="1"/>
            <p:nvPr/>
          </p:nvSpPr>
          <p:spPr>
            <a:xfrm>
              <a:off x="3638564" y="1351401"/>
              <a:ext cx="1657526" cy="307777"/>
            </a:xfrm>
            <a:prstGeom prst="rect">
              <a:avLst/>
            </a:prstGeom>
            <a:noFill/>
          </p:spPr>
          <p:txBody>
            <a:bodyPr wrap="square" rtlCol="0">
              <a:spAutoFit/>
            </a:bodyPr>
            <a:lstStyle/>
            <a:p>
              <a:pPr algn="ctr"/>
              <a:r>
                <a:rPr lang="en-US" b="1" dirty="0">
                  <a:solidFill>
                    <a:schemeClr val="tx1">
                      <a:lumMod val="85000"/>
                      <a:lumOff val="15000"/>
                    </a:schemeClr>
                  </a:solidFill>
                </a:rPr>
                <a:t>backend</a:t>
              </a:r>
              <a:r>
                <a:rPr lang="en-US" dirty="0"/>
                <a:t> </a:t>
              </a:r>
              <a:r>
                <a:rPr lang="en-US" dirty="0">
                  <a:solidFill>
                    <a:srgbClr val="0000EE"/>
                  </a:solidFill>
                </a:rPr>
                <a:t>:8000</a:t>
              </a:r>
            </a:p>
          </p:txBody>
        </p:sp>
        <p:pic>
          <p:nvPicPr>
            <p:cNvPr id="22" name="Picture 21">
              <a:extLst>
                <a:ext uri="{FF2B5EF4-FFF2-40B4-BE49-F238E27FC236}">
                  <a16:creationId xmlns:a16="http://schemas.microsoft.com/office/drawing/2014/main" id="{16AE44C0-DC0E-4CE8-43F0-D877C05D84AB}"/>
                </a:ext>
              </a:extLst>
            </p:cNvPr>
            <p:cNvPicPr>
              <a:picLocks noChangeAspect="1"/>
            </p:cNvPicPr>
            <p:nvPr/>
          </p:nvPicPr>
          <p:blipFill>
            <a:blip r:embed="rId6"/>
            <a:stretch>
              <a:fillRect/>
            </a:stretch>
          </p:blipFill>
          <p:spPr>
            <a:xfrm>
              <a:off x="4198260" y="874272"/>
              <a:ext cx="538134" cy="99304"/>
            </a:xfrm>
            <a:prstGeom prst="rect">
              <a:avLst/>
            </a:prstGeom>
          </p:spPr>
        </p:pic>
        <p:pic>
          <p:nvPicPr>
            <p:cNvPr id="27" name="Picture 26">
              <a:extLst>
                <a:ext uri="{FF2B5EF4-FFF2-40B4-BE49-F238E27FC236}">
                  <a16:creationId xmlns:a16="http://schemas.microsoft.com/office/drawing/2014/main" id="{4F143B77-256C-687D-43EE-E04999FECC6B}"/>
                </a:ext>
              </a:extLst>
            </p:cNvPr>
            <p:cNvPicPr>
              <a:picLocks noChangeAspect="1"/>
            </p:cNvPicPr>
            <p:nvPr/>
          </p:nvPicPr>
          <p:blipFill>
            <a:blip r:embed="rId7"/>
            <a:stretch>
              <a:fillRect/>
            </a:stretch>
          </p:blipFill>
          <p:spPr>
            <a:xfrm>
              <a:off x="4239766" y="1034586"/>
              <a:ext cx="455123" cy="336009"/>
            </a:xfrm>
            <a:prstGeom prst="rect">
              <a:avLst/>
            </a:prstGeom>
          </p:spPr>
        </p:pic>
      </p:grpSp>
      <p:grpSp>
        <p:nvGrpSpPr>
          <p:cNvPr id="15" name="Group 14">
            <a:extLst>
              <a:ext uri="{FF2B5EF4-FFF2-40B4-BE49-F238E27FC236}">
                <a16:creationId xmlns:a16="http://schemas.microsoft.com/office/drawing/2014/main" id="{9B1335F4-923A-AEBB-1CFB-3383B0FB65A6}"/>
              </a:ext>
            </a:extLst>
          </p:cNvPr>
          <p:cNvGrpSpPr/>
          <p:nvPr/>
        </p:nvGrpSpPr>
        <p:grpSpPr>
          <a:xfrm>
            <a:off x="4038297" y="1811423"/>
            <a:ext cx="1193685" cy="284969"/>
            <a:chOff x="4038297" y="1904480"/>
            <a:chExt cx="1193685" cy="284969"/>
          </a:xfrm>
        </p:grpSpPr>
        <p:sp>
          <p:nvSpPr>
            <p:cNvPr id="591" name="TextBox 590">
              <a:extLst>
                <a:ext uri="{FF2B5EF4-FFF2-40B4-BE49-F238E27FC236}">
                  <a16:creationId xmlns:a16="http://schemas.microsoft.com/office/drawing/2014/main" id="{81B57F9E-5249-3F65-F037-5C82320F6BBE}"/>
                </a:ext>
              </a:extLst>
            </p:cNvPr>
            <p:cNvSpPr txBox="1"/>
            <p:nvPr/>
          </p:nvSpPr>
          <p:spPr>
            <a:xfrm>
              <a:off x="4440999" y="1904480"/>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grpSp>
          <p:nvGrpSpPr>
            <p:cNvPr id="637" name="Group 636">
              <a:extLst>
                <a:ext uri="{FF2B5EF4-FFF2-40B4-BE49-F238E27FC236}">
                  <a16:creationId xmlns:a16="http://schemas.microsoft.com/office/drawing/2014/main" id="{A8AB6CFD-0D7B-C20F-648C-0FC26FA29E7E}"/>
                </a:ext>
              </a:extLst>
            </p:cNvPr>
            <p:cNvGrpSpPr/>
            <p:nvPr/>
          </p:nvGrpSpPr>
          <p:grpSpPr>
            <a:xfrm>
              <a:off x="4038297" y="1923151"/>
              <a:ext cx="429030" cy="266298"/>
              <a:chOff x="5836602" y="3526478"/>
              <a:chExt cx="429030" cy="266298"/>
            </a:xfrm>
          </p:grpSpPr>
          <p:pic>
            <p:nvPicPr>
              <p:cNvPr id="638" name="Picture 637">
                <a:extLst>
                  <a:ext uri="{FF2B5EF4-FFF2-40B4-BE49-F238E27FC236}">
                    <a16:creationId xmlns:a16="http://schemas.microsoft.com/office/drawing/2014/main" id="{C4AFF481-565D-FA7B-463F-0A1E4E82D0BA}"/>
                  </a:ext>
                </a:extLst>
              </p:cNvPr>
              <p:cNvPicPr>
                <a:picLocks noChangeAspect="1"/>
              </p:cNvPicPr>
              <p:nvPr/>
            </p:nvPicPr>
            <p:blipFill>
              <a:blip r:embed="rId8"/>
              <a:stretch>
                <a:fillRect/>
              </a:stretch>
            </p:blipFill>
            <p:spPr>
              <a:xfrm>
                <a:off x="5909286" y="3526478"/>
                <a:ext cx="266298" cy="266298"/>
              </a:xfrm>
              <a:prstGeom prst="rect">
                <a:avLst/>
              </a:prstGeom>
            </p:spPr>
          </p:pic>
          <p:sp>
            <p:nvSpPr>
              <p:cNvPr id="639" name="TextBox 638">
                <a:extLst>
                  <a:ext uri="{FF2B5EF4-FFF2-40B4-BE49-F238E27FC236}">
                    <a16:creationId xmlns:a16="http://schemas.microsoft.com/office/drawing/2014/main" id="{786F5BB7-182B-3545-18C2-4224F3718DC5}"/>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grpSp>
        <p:nvGrpSpPr>
          <p:cNvPr id="17" name="Group 16">
            <a:extLst>
              <a:ext uri="{FF2B5EF4-FFF2-40B4-BE49-F238E27FC236}">
                <a16:creationId xmlns:a16="http://schemas.microsoft.com/office/drawing/2014/main" id="{BD9B8BC1-CF92-3E86-DE2C-8A315AC9E9BD}"/>
              </a:ext>
            </a:extLst>
          </p:cNvPr>
          <p:cNvGrpSpPr/>
          <p:nvPr/>
        </p:nvGrpSpPr>
        <p:grpSpPr>
          <a:xfrm>
            <a:off x="4024304" y="3334576"/>
            <a:ext cx="1207678" cy="283007"/>
            <a:chOff x="4024304" y="3427633"/>
            <a:chExt cx="1207678" cy="283007"/>
          </a:xfrm>
        </p:grpSpPr>
        <p:sp>
          <p:nvSpPr>
            <p:cNvPr id="38" name="TextBox 37">
              <a:extLst>
                <a:ext uri="{FF2B5EF4-FFF2-40B4-BE49-F238E27FC236}">
                  <a16:creationId xmlns:a16="http://schemas.microsoft.com/office/drawing/2014/main" id="{5D520FAE-5827-8165-9CB3-D90AFA1CB165}"/>
                </a:ext>
              </a:extLst>
            </p:cNvPr>
            <p:cNvSpPr txBox="1"/>
            <p:nvPr/>
          </p:nvSpPr>
          <p:spPr>
            <a:xfrm>
              <a:off x="4440999" y="3427633"/>
              <a:ext cx="790983" cy="276999"/>
            </a:xfrm>
            <a:prstGeom prst="rect">
              <a:avLst/>
            </a:prstGeom>
            <a:noFill/>
          </p:spPr>
          <p:txBody>
            <a:bodyPr wrap="square" rtlCol="0">
              <a:spAutoFit/>
            </a:bodyPr>
            <a:lstStyle/>
            <a:p>
              <a:pPr algn="ctr"/>
              <a:r>
                <a:rPr lang="en-US" sz="1200" dirty="0">
                  <a:solidFill>
                    <a:schemeClr val="tx1">
                      <a:lumMod val="75000"/>
                      <a:lumOff val="25000"/>
                    </a:schemeClr>
                  </a:solidFill>
                </a:rPr>
                <a:t>scrape</a:t>
              </a:r>
            </a:p>
          </p:txBody>
        </p:sp>
        <p:grpSp>
          <p:nvGrpSpPr>
            <p:cNvPr id="642" name="Group 641">
              <a:extLst>
                <a:ext uri="{FF2B5EF4-FFF2-40B4-BE49-F238E27FC236}">
                  <a16:creationId xmlns:a16="http://schemas.microsoft.com/office/drawing/2014/main" id="{1BEE0611-A2BE-4650-73D3-1BC25D19880C}"/>
                </a:ext>
              </a:extLst>
            </p:cNvPr>
            <p:cNvGrpSpPr/>
            <p:nvPr/>
          </p:nvGrpSpPr>
          <p:grpSpPr>
            <a:xfrm>
              <a:off x="4024304" y="3444342"/>
              <a:ext cx="429030" cy="266298"/>
              <a:chOff x="5836602" y="3526478"/>
              <a:chExt cx="429030" cy="266298"/>
            </a:xfrm>
          </p:grpSpPr>
          <p:pic>
            <p:nvPicPr>
              <p:cNvPr id="643" name="Picture 642">
                <a:extLst>
                  <a:ext uri="{FF2B5EF4-FFF2-40B4-BE49-F238E27FC236}">
                    <a16:creationId xmlns:a16="http://schemas.microsoft.com/office/drawing/2014/main" id="{8EF3ED6F-C831-AE11-4788-DE3CD631028F}"/>
                  </a:ext>
                </a:extLst>
              </p:cNvPr>
              <p:cNvPicPr>
                <a:picLocks noChangeAspect="1"/>
              </p:cNvPicPr>
              <p:nvPr/>
            </p:nvPicPr>
            <p:blipFill>
              <a:blip r:embed="rId8"/>
              <a:stretch>
                <a:fillRect/>
              </a:stretch>
            </p:blipFill>
            <p:spPr>
              <a:xfrm>
                <a:off x="5909286" y="3526478"/>
                <a:ext cx="266298" cy="266298"/>
              </a:xfrm>
              <a:prstGeom prst="rect">
                <a:avLst/>
              </a:prstGeom>
            </p:spPr>
          </p:pic>
          <p:sp>
            <p:nvSpPr>
              <p:cNvPr id="644" name="TextBox 643">
                <a:extLst>
                  <a:ext uri="{FF2B5EF4-FFF2-40B4-BE49-F238E27FC236}">
                    <a16:creationId xmlns:a16="http://schemas.microsoft.com/office/drawing/2014/main" id="{4F7C82B6-5884-95DE-B7FA-E5594D81B03B}"/>
                  </a:ext>
                </a:extLst>
              </p:cNvPr>
              <p:cNvSpPr txBox="1"/>
              <p:nvPr/>
            </p:nvSpPr>
            <p:spPr>
              <a:xfrm>
                <a:off x="5836602" y="3570582"/>
                <a:ext cx="429030" cy="184666"/>
              </a:xfrm>
              <a:prstGeom prst="rect">
                <a:avLst/>
              </a:prstGeom>
              <a:noFill/>
            </p:spPr>
            <p:txBody>
              <a:bodyPr wrap="square" rtlCol="0">
                <a:spAutoFit/>
              </a:bodyPr>
              <a:lstStyle/>
              <a:p>
                <a:pPr algn="ctr"/>
                <a:r>
                  <a:rPr lang="en-US" sz="600" b="1" dirty="0">
                    <a:solidFill>
                      <a:schemeClr val="tx1">
                        <a:lumMod val="75000"/>
                        <a:lumOff val="25000"/>
                      </a:schemeClr>
                    </a:solidFill>
                  </a:rPr>
                  <a:t>15 s</a:t>
                </a:r>
              </a:p>
            </p:txBody>
          </p:sp>
        </p:grpSp>
      </p:grpSp>
      <p:sp>
        <p:nvSpPr>
          <p:cNvPr id="649" name="Rectangle 648">
            <a:extLst>
              <a:ext uri="{FF2B5EF4-FFF2-40B4-BE49-F238E27FC236}">
                <a16:creationId xmlns:a16="http://schemas.microsoft.com/office/drawing/2014/main" id="{1332BD09-E8E1-3666-B811-349B98DA9565}"/>
              </a:ext>
            </a:extLst>
          </p:cNvPr>
          <p:cNvSpPr/>
          <p:nvPr/>
        </p:nvSpPr>
        <p:spPr>
          <a:xfrm>
            <a:off x="2348086" y="2830004"/>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Time Since Last Successful ETL</a:t>
            </a:r>
          </a:p>
        </p:txBody>
      </p:sp>
      <p:sp>
        <p:nvSpPr>
          <p:cNvPr id="651" name="Rectangle 650">
            <a:extLst>
              <a:ext uri="{FF2B5EF4-FFF2-40B4-BE49-F238E27FC236}">
                <a16:creationId xmlns:a16="http://schemas.microsoft.com/office/drawing/2014/main" id="{8CAA198F-3520-49A7-5C28-3B3FC81744D2}"/>
              </a:ext>
            </a:extLst>
          </p:cNvPr>
          <p:cNvSpPr/>
          <p:nvPr/>
        </p:nvSpPr>
        <p:spPr>
          <a:xfrm>
            <a:off x="2348086" y="3301475"/>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Last ETL Duration</a:t>
            </a:r>
          </a:p>
        </p:txBody>
      </p:sp>
      <p:sp>
        <p:nvSpPr>
          <p:cNvPr id="653" name="Rectangle 652">
            <a:extLst>
              <a:ext uri="{FF2B5EF4-FFF2-40B4-BE49-F238E27FC236}">
                <a16:creationId xmlns:a16="http://schemas.microsoft.com/office/drawing/2014/main" id="{32F40984-0A08-B9E5-13BE-3CD960D26F0A}"/>
              </a:ext>
            </a:extLst>
          </p:cNvPr>
          <p:cNvSpPr/>
          <p:nvPr/>
        </p:nvSpPr>
        <p:spPr>
          <a:xfrm>
            <a:off x="2348086" y="3776252"/>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Geocoding Failures</a:t>
            </a:r>
          </a:p>
        </p:txBody>
      </p:sp>
      <p:sp>
        <p:nvSpPr>
          <p:cNvPr id="655" name="Rectangle 654">
            <a:extLst>
              <a:ext uri="{FF2B5EF4-FFF2-40B4-BE49-F238E27FC236}">
                <a16:creationId xmlns:a16="http://schemas.microsoft.com/office/drawing/2014/main" id="{21D270ED-EDB8-55E8-EA44-A22CBDFCD29B}"/>
              </a:ext>
            </a:extLst>
          </p:cNvPr>
          <p:cNvSpPr/>
          <p:nvPr/>
        </p:nvSpPr>
        <p:spPr>
          <a:xfrm>
            <a:off x="2397466" y="747600"/>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Requests </a:t>
            </a:r>
          </a:p>
        </p:txBody>
      </p:sp>
      <p:sp>
        <p:nvSpPr>
          <p:cNvPr id="657" name="Rectangle 656">
            <a:extLst>
              <a:ext uri="{FF2B5EF4-FFF2-40B4-BE49-F238E27FC236}">
                <a16:creationId xmlns:a16="http://schemas.microsoft.com/office/drawing/2014/main" id="{D7F02F9D-54BE-C679-CAC0-B6FABCF94A80}"/>
              </a:ext>
            </a:extLst>
          </p:cNvPr>
          <p:cNvSpPr/>
          <p:nvPr/>
        </p:nvSpPr>
        <p:spPr>
          <a:xfrm>
            <a:off x="2397466" y="1222377"/>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Job Search Duration (p95)</a:t>
            </a:r>
          </a:p>
        </p:txBody>
      </p:sp>
      <p:sp>
        <p:nvSpPr>
          <p:cNvPr id="659" name="Rectangle 658">
            <a:extLst>
              <a:ext uri="{FF2B5EF4-FFF2-40B4-BE49-F238E27FC236}">
                <a16:creationId xmlns:a16="http://schemas.microsoft.com/office/drawing/2014/main" id="{1C02109E-EDF0-BC2C-9FF4-90052E0D4356}"/>
              </a:ext>
            </a:extLst>
          </p:cNvPr>
          <p:cNvSpPr/>
          <p:nvPr/>
        </p:nvSpPr>
        <p:spPr>
          <a:xfrm>
            <a:off x="2397466" y="1697154"/>
            <a:ext cx="1146624" cy="456543"/>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Active Database Connections</a:t>
            </a:r>
          </a:p>
        </p:txBody>
      </p:sp>
      <p:grpSp>
        <p:nvGrpSpPr>
          <p:cNvPr id="12" name="Group 11">
            <a:extLst>
              <a:ext uri="{FF2B5EF4-FFF2-40B4-BE49-F238E27FC236}">
                <a16:creationId xmlns:a16="http://schemas.microsoft.com/office/drawing/2014/main" id="{891F6BC1-3A20-C7B8-D834-22A7F97A46A3}"/>
              </a:ext>
            </a:extLst>
          </p:cNvPr>
          <p:cNvGrpSpPr/>
          <p:nvPr/>
        </p:nvGrpSpPr>
        <p:grpSpPr>
          <a:xfrm>
            <a:off x="6505778" y="3830447"/>
            <a:ext cx="1117866" cy="584223"/>
            <a:chOff x="4815562" y="3589705"/>
            <a:chExt cx="1117866" cy="584223"/>
          </a:xfrm>
        </p:grpSpPr>
        <p:pic>
          <p:nvPicPr>
            <p:cNvPr id="13" name="Picture 12">
              <a:extLst>
                <a:ext uri="{FF2B5EF4-FFF2-40B4-BE49-F238E27FC236}">
                  <a16:creationId xmlns:a16="http://schemas.microsoft.com/office/drawing/2014/main" id="{F36D6828-C771-3E9A-F197-54312ABAAED3}"/>
                </a:ext>
              </a:extLst>
            </p:cNvPr>
            <p:cNvPicPr>
              <a:picLocks noChangeAspect="1"/>
            </p:cNvPicPr>
            <p:nvPr/>
          </p:nvPicPr>
          <p:blipFill>
            <a:blip r:embed="rId9"/>
            <a:stretch>
              <a:fillRect/>
            </a:stretch>
          </p:blipFill>
          <p:spPr>
            <a:xfrm>
              <a:off x="4949947" y="3878036"/>
              <a:ext cx="762608" cy="295892"/>
            </a:xfrm>
            <a:prstGeom prst="rect">
              <a:avLst/>
            </a:prstGeom>
          </p:spPr>
        </p:pic>
        <p:sp>
          <p:nvSpPr>
            <p:cNvPr id="19" name="TextBox 18">
              <a:extLst>
                <a:ext uri="{FF2B5EF4-FFF2-40B4-BE49-F238E27FC236}">
                  <a16:creationId xmlns:a16="http://schemas.microsoft.com/office/drawing/2014/main" id="{0017A69D-788F-616D-C35F-5D2AE9C09DEC}"/>
                </a:ext>
              </a:extLst>
            </p:cNvPr>
            <p:cNvSpPr txBox="1"/>
            <p:nvPr/>
          </p:nvSpPr>
          <p:spPr>
            <a:xfrm>
              <a:off x="4815562" y="3589705"/>
              <a:ext cx="1117866" cy="276999"/>
            </a:xfrm>
            <a:prstGeom prst="rect">
              <a:avLst/>
            </a:prstGeom>
            <a:noFill/>
          </p:spPr>
          <p:txBody>
            <a:bodyPr wrap="square" rtlCol="0">
              <a:spAutoFit/>
            </a:bodyPr>
            <a:lstStyle/>
            <a:p>
              <a:pPr algn="ctr"/>
              <a:r>
                <a:rPr lang="en-US" sz="1200" b="1" dirty="0">
                  <a:solidFill>
                    <a:srgbClr val="262626"/>
                  </a:solidFill>
                </a:rPr>
                <a:t>airflow</a:t>
              </a:r>
              <a:r>
                <a:rPr lang="en-US" sz="1200" dirty="0"/>
                <a:t> </a:t>
              </a:r>
              <a:r>
                <a:rPr lang="en-US" sz="1200" dirty="0">
                  <a:solidFill>
                    <a:srgbClr val="0000EE"/>
                  </a:solidFill>
                </a:rPr>
                <a:t>:8080</a:t>
              </a:r>
            </a:p>
          </p:txBody>
        </p:sp>
      </p:grpSp>
      <p:pic>
        <p:nvPicPr>
          <p:cNvPr id="21" name="Picture 20">
            <a:extLst>
              <a:ext uri="{FF2B5EF4-FFF2-40B4-BE49-F238E27FC236}">
                <a16:creationId xmlns:a16="http://schemas.microsoft.com/office/drawing/2014/main" id="{4B714E99-D304-964F-8521-DAFE5FA80388}"/>
              </a:ext>
            </a:extLst>
          </p:cNvPr>
          <p:cNvPicPr>
            <a:picLocks noChangeAspect="1"/>
          </p:cNvPicPr>
          <p:nvPr/>
        </p:nvPicPr>
        <p:blipFill>
          <a:blip r:embed="rId10"/>
          <a:stretch>
            <a:fillRect/>
          </a:stretch>
        </p:blipFill>
        <p:spPr>
          <a:xfrm>
            <a:off x="6744130" y="4450806"/>
            <a:ext cx="545832" cy="211698"/>
          </a:xfrm>
          <a:prstGeom prst="rect">
            <a:avLst/>
          </a:prstGeom>
        </p:spPr>
      </p:pic>
      <p:sp>
        <p:nvSpPr>
          <p:cNvPr id="26" name="TextBox 25">
            <a:extLst>
              <a:ext uri="{FF2B5EF4-FFF2-40B4-BE49-F238E27FC236}">
                <a16:creationId xmlns:a16="http://schemas.microsoft.com/office/drawing/2014/main" id="{6DC4635B-CE5B-9EEF-0F84-8BD3BBE0CBE6}"/>
              </a:ext>
            </a:extLst>
          </p:cNvPr>
          <p:cNvSpPr txBox="1"/>
          <p:nvPr/>
        </p:nvSpPr>
        <p:spPr>
          <a:xfrm>
            <a:off x="5198557" y="2568433"/>
            <a:ext cx="973083" cy="246221"/>
          </a:xfrm>
          <a:prstGeom prst="rect">
            <a:avLst/>
          </a:prstGeom>
          <a:noFill/>
        </p:spPr>
        <p:txBody>
          <a:bodyPr wrap="square" rtlCol="0">
            <a:spAutoFit/>
          </a:bodyPr>
          <a:lstStyle/>
          <a:p>
            <a:pPr algn="ctr"/>
            <a:r>
              <a:rPr lang="en-US" sz="1000" dirty="0">
                <a:solidFill>
                  <a:schemeClr val="tx1">
                    <a:lumMod val="75000"/>
                    <a:lumOff val="25000"/>
                  </a:schemeClr>
                </a:solidFill>
              </a:rPr>
              <a:t>[ETL &gt; 26h ?]</a:t>
            </a:r>
          </a:p>
        </p:txBody>
      </p:sp>
    </p:spTree>
    <p:extLst>
      <p:ext uri="{BB962C8B-B14F-4D97-AF65-F5344CB8AC3E}">
        <p14:creationId xmlns:p14="http://schemas.microsoft.com/office/powerpoint/2010/main" val="657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5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60" grpId="0"/>
      <p:bldP spid="592" grpId="0"/>
      <p:bldP spid="649" grpId="0" animBg="1"/>
      <p:bldP spid="651" grpId="0" animBg="1"/>
      <p:bldP spid="653" grpId="0" animBg="1"/>
      <p:bldP spid="655" grpId="0" animBg="1"/>
      <p:bldP spid="657" grpId="0" animBg="1"/>
      <p:bldP spid="659" grpId="0" animBg="1"/>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2519A1C1-802A-A27A-B9BD-9EF8540CE0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E826EAD-44B4-3C2C-8B5C-775A604B487B}"/>
              </a:ext>
            </a:extLst>
          </p:cNvPr>
          <p:cNvSpPr/>
          <p:nvPr/>
        </p:nvSpPr>
        <p:spPr>
          <a:xfrm>
            <a:off x="752149" y="790160"/>
            <a:ext cx="7639701" cy="3886199"/>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9" name="Group 618">
            <a:extLst>
              <a:ext uri="{FF2B5EF4-FFF2-40B4-BE49-F238E27FC236}">
                <a16:creationId xmlns:a16="http://schemas.microsoft.com/office/drawing/2014/main" id="{B44EB1EB-8BC5-9519-55C8-B24B5A29DFA9}"/>
              </a:ext>
            </a:extLst>
          </p:cNvPr>
          <p:cNvGrpSpPr/>
          <p:nvPr/>
        </p:nvGrpSpPr>
        <p:grpSpPr>
          <a:xfrm>
            <a:off x="7776275" y="1121613"/>
            <a:ext cx="560704" cy="501260"/>
            <a:chOff x="7034107" y="2235929"/>
            <a:chExt cx="720852" cy="644430"/>
          </a:xfrm>
        </p:grpSpPr>
        <p:pic>
          <p:nvPicPr>
            <p:cNvPr id="612" name="Picture 611">
              <a:extLst>
                <a:ext uri="{FF2B5EF4-FFF2-40B4-BE49-F238E27FC236}">
                  <a16:creationId xmlns:a16="http://schemas.microsoft.com/office/drawing/2014/main" id="{9994A49D-4AF5-C44A-0171-7744E5A6B78E}"/>
                </a:ext>
              </a:extLst>
            </p:cNvPr>
            <p:cNvPicPr>
              <a:picLocks noChangeAspect="1"/>
            </p:cNvPicPr>
            <p:nvPr/>
          </p:nvPicPr>
          <p:blipFill>
            <a:blip r:embed="rId3"/>
            <a:stretch>
              <a:fillRect/>
            </a:stretch>
          </p:blipFill>
          <p:spPr>
            <a:xfrm>
              <a:off x="7034107" y="2235929"/>
              <a:ext cx="720852" cy="644430"/>
            </a:xfrm>
            <a:prstGeom prst="rect">
              <a:avLst/>
            </a:prstGeom>
          </p:spPr>
        </p:pic>
        <p:pic>
          <p:nvPicPr>
            <p:cNvPr id="616" name="Picture 615" descr="File:PostgreSQL logo.3colors.540x557.png">
              <a:extLst>
                <a:ext uri="{FF2B5EF4-FFF2-40B4-BE49-F238E27FC236}">
                  <a16:creationId xmlns:a16="http://schemas.microsoft.com/office/drawing/2014/main" id="{49D66E9E-C46E-CEAD-531D-078446270490}"/>
                </a:ext>
              </a:extLst>
            </p:cNvPr>
            <p:cNvPicPr>
              <a:picLocks noChangeAspect="1"/>
            </p:cNvPicPr>
            <p:nvPr/>
          </p:nvPicPr>
          <p:blipFill>
            <a:blip r:embed="rId4"/>
            <a:stretch>
              <a:fillRect/>
            </a:stretch>
          </p:blipFill>
          <p:spPr>
            <a:xfrm>
              <a:off x="7246004" y="2265292"/>
              <a:ext cx="274086" cy="193439"/>
            </a:xfrm>
            <a:prstGeom prst="rect">
              <a:avLst/>
            </a:prstGeom>
          </p:spPr>
        </p:pic>
      </p:grpSp>
      <p:sp>
        <p:nvSpPr>
          <p:cNvPr id="633" name="Google Shape;633;p91">
            <a:extLst>
              <a:ext uri="{FF2B5EF4-FFF2-40B4-BE49-F238E27FC236}">
                <a16:creationId xmlns:a16="http://schemas.microsoft.com/office/drawing/2014/main" id="{5DC60717-660F-16BB-5B8D-07FFE3A251C6}"/>
              </a:ext>
            </a:extLst>
          </p:cNvPr>
          <p:cNvSpPr txBox="1">
            <a:spLocks noGrp="1" noRot="1" noMove="1" noResize="1" noEditPoints="1" noAdjustHandles="1" noChangeArrowheads="1" noChangeShapeType="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Free-Text Search with Elasticsearch (OLD)</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3C526D74-495C-3B1C-06B1-01FB26647F4D}"/>
              </a:ext>
            </a:extLst>
          </p:cNvPr>
          <p:cNvPicPr preferRelativeResize="0">
            <a:picLocks noGrp="1" noRot="1" noMove="1" noResize="1" noEditPoints="1" noAdjustHandles="1" noChangeArrowheads="1" noChangeShapeType="1" noCrop="1"/>
          </p:cNvPicPr>
          <p:nvPr/>
        </p:nvPicPr>
        <p:blipFill>
          <a:blip r:embed="rId5">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F48B629-57F5-36F3-EE71-EE42839673AC}"/>
              </a:ext>
            </a:extLst>
          </p:cNvPr>
          <p:cNvPicPr preferRelativeResize="0">
            <a:picLocks noGrp="1" noRot="1" noMove="1" noResize="1" noEditPoints="1" noAdjustHandles="1" noChangeArrowheads="1" noChangeShapeType="1" noCrop="1"/>
          </p:cNvPicPr>
          <p:nvPr/>
        </p:nvPicPr>
        <p:blipFill rotWithShape="1">
          <a:blip r:embed="rId5">
            <a:alphaModFix/>
          </a:blip>
          <a:srcRect r="55255"/>
          <a:stretch/>
        </p:blipFill>
        <p:spPr>
          <a:xfrm rot="5400000">
            <a:off x="7892662" y="3745888"/>
            <a:ext cx="1916151" cy="2117225"/>
          </a:xfrm>
          <a:prstGeom prst="rect">
            <a:avLst/>
          </a:prstGeom>
          <a:noFill/>
          <a:ln>
            <a:noFill/>
          </a:ln>
        </p:spPr>
      </p:pic>
      <p:sp>
        <p:nvSpPr>
          <p:cNvPr id="27" name="TextBox 26">
            <a:extLst>
              <a:ext uri="{FF2B5EF4-FFF2-40B4-BE49-F238E27FC236}">
                <a16:creationId xmlns:a16="http://schemas.microsoft.com/office/drawing/2014/main" id="{FCD488A4-3DD8-FAAB-9692-30AE9811C2C1}"/>
              </a:ext>
            </a:extLst>
          </p:cNvPr>
          <p:cNvSpPr txBox="1"/>
          <p:nvPr/>
        </p:nvSpPr>
        <p:spPr>
          <a:xfrm rot="16200000">
            <a:off x="3938344" y="2324521"/>
            <a:ext cx="1172880" cy="246221"/>
          </a:xfrm>
          <a:prstGeom prst="rect">
            <a:avLst/>
          </a:prstGeom>
          <a:noFill/>
        </p:spPr>
        <p:txBody>
          <a:bodyPr wrap="square" rtlCol="0">
            <a:spAutoFit/>
          </a:bodyPr>
          <a:lstStyle/>
          <a:p>
            <a:pPr algn="ctr"/>
            <a:r>
              <a:rPr lang="en-US" sz="1000" dirty="0">
                <a:solidFill>
                  <a:schemeClr val="tx1">
                    <a:lumMod val="85000"/>
                    <a:lumOff val="15000"/>
                  </a:schemeClr>
                </a:solidFill>
              </a:rPr>
              <a:t>❺ ordered jobs</a:t>
            </a:r>
          </a:p>
        </p:txBody>
      </p:sp>
      <p:grpSp>
        <p:nvGrpSpPr>
          <p:cNvPr id="683" name="Group 682">
            <a:extLst>
              <a:ext uri="{FF2B5EF4-FFF2-40B4-BE49-F238E27FC236}">
                <a16:creationId xmlns:a16="http://schemas.microsoft.com/office/drawing/2014/main" id="{F006CC68-8C60-9CF7-DC4B-F59EA2DAB5B1}"/>
              </a:ext>
            </a:extLst>
          </p:cNvPr>
          <p:cNvGrpSpPr/>
          <p:nvPr/>
        </p:nvGrpSpPr>
        <p:grpSpPr>
          <a:xfrm>
            <a:off x="4351246" y="3025073"/>
            <a:ext cx="620030" cy="643963"/>
            <a:chOff x="897968" y="2512603"/>
            <a:chExt cx="620030" cy="643963"/>
          </a:xfrm>
        </p:grpSpPr>
        <p:pic>
          <p:nvPicPr>
            <p:cNvPr id="13" name="Picture 12">
              <a:extLst>
                <a:ext uri="{FF2B5EF4-FFF2-40B4-BE49-F238E27FC236}">
                  <a16:creationId xmlns:a16="http://schemas.microsoft.com/office/drawing/2014/main" id="{1F5441EF-A5DC-39D8-2B56-12453F92DD64}"/>
                </a:ext>
              </a:extLst>
            </p:cNvPr>
            <p:cNvPicPr>
              <a:picLocks noChangeAspect="1"/>
            </p:cNvPicPr>
            <p:nvPr/>
          </p:nvPicPr>
          <p:blipFill>
            <a:blip r:embed="rId6"/>
            <a:stretch>
              <a:fillRect/>
            </a:stretch>
          </p:blipFill>
          <p:spPr>
            <a:xfrm>
              <a:off x="897968" y="2512603"/>
              <a:ext cx="620030" cy="492874"/>
            </a:xfrm>
            <a:prstGeom prst="rect">
              <a:avLst/>
            </a:prstGeom>
          </p:spPr>
        </p:pic>
        <p:pic>
          <p:nvPicPr>
            <p:cNvPr id="36" name="Picture 35">
              <a:extLst>
                <a:ext uri="{FF2B5EF4-FFF2-40B4-BE49-F238E27FC236}">
                  <a16:creationId xmlns:a16="http://schemas.microsoft.com/office/drawing/2014/main" id="{3C9E7DB8-62E9-FC00-3F1C-FCEE96942726}"/>
                </a:ext>
              </a:extLst>
            </p:cNvPr>
            <p:cNvPicPr>
              <a:picLocks noChangeAspect="1"/>
            </p:cNvPicPr>
            <p:nvPr/>
          </p:nvPicPr>
          <p:blipFill>
            <a:blip r:embed="rId7"/>
            <a:stretch>
              <a:fillRect/>
            </a:stretch>
          </p:blipFill>
          <p:spPr>
            <a:xfrm>
              <a:off x="897968" y="3042732"/>
              <a:ext cx="620030" cy="113834"/>
            </a:xfrm>
            <a:prstGeom prst="rect">
              <a:avLst/>
            </a:prstGeom>
          </p:spPr>
        </p:pic>
      </p:grpSp>
      <p:grpSp>
        <p:nvGrpSpPr>
          <p:cNvPr id="682" name="Group 681">
            <a:extLst>
              <a:ext uri="{FF2B5EF4-FFF2-40B4-BE49-F238E27FC236}">
                <a16:creationId xmlns:a16="http://schemas.microsoft.com/office/drawing/2014/main" id="{ACAF8A33-D06A-6067-6BF1-C9664CD93B66}"/>
              </a:ext>
            </a:extLst>
          </p:cNvPr>
          <p:cNvGrpSpPr/>
          <p:nvPr/>
        </p:nvGrpSpPr>
        <p:grpSpPr>
          <a:xfrm>
            <a:off x="5106664" y="1936024"/>
            <a:ext cx="698519" cy="652343"/>
            <a:chOff x="3149408" y="2499587"/>
            <a:chExt cx="698519" cy="652343"/>
          </a:xfrm>
        </p:grpSpPr>
        <p:pic>
          <p:nvPicPr>
            <p:cNvPr id="18" name="Picture 17">
              <a:extLst>
                <a:ext uri="{FF2B5EF4-FFF2-40B4-BE49-F238E27FC236}">
                  <a16:creationId xmlns:a16="http://schemas.microsoft.com/office/drawing/2014/main" id="{BC84ADAC-82B5-0015-8B28-EC3D6A437596}"/>
                </a:ext>
              </a:extLst>
            </p:cNvPr>
            <p:cNvPicPr>
              <a:picLocks noChangeAspect="1"/>
            </p:cNvPicPr>
            <p:nvPr/>
          </p:nvPicPr>
          <p:blipFill>
            <a:blip r:embed="rId8"/>
            <a:stretch>
              <a:fillRect/>
            </a:stretch>
          </p:blipFill>
          <p:spPr>
            <a:xfrm>
              <a:off x="3225706" y="3051190"/>
              <a:ext cx="545920" cy="100740"/>
            </a:xfrm>
            <a:prstGeom prst="rect">
              <a:avLst/>
            </a:prstGeom>
          </p:spPr>
        </p:pic>
        <p:pic>
          <p:nvPicPr>
            <p:cNvPr id="19" name="Picture 18">
              <a:extLst>
                <a:ext uri="{FF2B5EF4-FFF2-40B4-BE49-F238E27FC236}">
                  <a16:creationId xmlns:a16="http://schemas.microsoft.com/office/drawing/2014/main" id="{D530A4F8-E0FE-6DF4-F701-76DB13458589}"/>
                </a:ext>
              </a:extLst>
            </p:cNvPr>
            <p:cNvPicPr>
              <a:picLocks noChangeAspect="1"/>
            </p:cNvPicPr>
            <p:nvPr/>
          </p:nvPicPr>
          <p:blipFill>
            <a:blip r:embed="rId9"/>
            <a:stretch>
              <a:fillRect/>
            </a:stretch>
          </p:blipFill>
          <p:spPr>
            <a:xfrm>
              <a:off x="3149408" y="2499587"/>
              <a:ext cx="698518" cy="515700"/>
            </a:xfrm>
            <a:prstGeom prst="rect">
              <a:avLst/>
            </a:prstGeom>
          </p:spPr>
        </p:pic>
        <p:sp>
          <p:nvSpPr>
            <p:cNvPr id="42" name="Rectangle 41">
              <a:extLst>
                <a:ext uri="{FF2B5EF4-FFF2-40B4-BE49-F238E27FC236}">
                  <a16:creationId xmlns:a16="http://schemas.microsoft.com/office/drawing/2014/main" id="{4A418E7E-2F89-779E-A1AB-F853A6DC23AF}"/>
                </a:ext>
              </a:extLst>
            </p:cNvPr>
            <p:cNvSpPr/>
            <p:nvPr/>
          </p:nvSpPr>
          <p:spPr>
            <a:xfrm>
              <a:off x="3695700" y="2499587"/>
              <a:ext cx="128837"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E72C58B7-D43D-124C-CDAF-E34361524BA4}"/>
                </a:ext>
              </a:extLst>
            </p:cNvPr>
            <p:cNvSpPr/>
            <p:nvPr/>
          </p:nvSpPr>
          <p:spPr>
            <a:xfrm>
              <a:off x="3719089" y="2872063"/>
              <a:ext cx="128838" cy="139132"/>
            </a:xfrm>
            <a:prstGeom prst="rect">
              <a:avLst/>
            </a:prstGeom>
            <a:solidFill>
              <a:schemeClr val="bg1">
                <a:alpha val="0"/>
              </a:scheme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4" name="Connector: Elbow 43">
            <a:extLst>
              <a:ext uri="{FF2B5EF4-FFF2-40B4-BE49-F238E27FC236}">
                <a16:creationId xmlns:a16="http://schemas.microsoft.com/office/drawing/2014/main" id="{3237EE0D-F0DC-D5AD-D748-F033DF630782}"/>
              </a:ext>
            </a:extLst>
          </p:cNvPr>
          <p:cNvCxnSpPr>
            <a:cxnSpLocks/>
            <a:stCxn id="612" idx="0"/>
            <a:endCxn id="19" idx="0"/>
          </p:cNvCxnSpPr>
          <p:nvPr/>
        </p:nvCxnSpPr>
        <p:spPr>
          <a:xfrm rot="16200000" flipH="1" flipV="1">
            <a:off x="6349069" y="228466"/>
            <a:ext cx="814411" cy="2600704"/>
          </a:xfrm>
          <a:prstGeom prst="bentConnector3">
            <a:avLst>
              <a:gd name="adj1" fmla="val -28069"/>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DD61D400-A10B-5717-E6F6-EDEF17F9E13D}"/>
              </a:ext>
            </a:extLst>
          </p:cNvPr>
          <p:cNvCxnSpPr>
            <a:cxnSpLocks/>
            <a:stCxn id="595" idx="2"/>
            <a:endCxn id="18" idx="2"/>
          </p:cNvCxnSpPr>
          <p:nvPr/>
        </p:nvCxnSpPr>
        <p:spPr>
          <a:xfrm rot="5400000" flipH="1">
            <a:off x="6395252" y="1649038"/>
            <a:ext cx="722046" cy="2600705"/>
          </a:xfrm>
          <a:prstGeom prst="bentConnector3">
            <a:avLst>
              <a:gd name="adj1" fmla="val -31660"/>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grpSp>
        <p:nvGrpSpPr>
          <p:cNvPr id="631" name="Group 630">
            <a:extLst>
              <a:ext uri="{FF2B5EF4-FFF2-40B4-BE49-F238E27FC236}">
                <a16:creationId xmlns:a16="http://schemas.microsoft.com/office/drawing/2014/main" id="{620B6F15-6ADB-6FEF-3D73-E25C31F70988}"/>
              </a:ext>
            </a:extLst>
          </p:cNvPr>
          <p:cNvGrpSpPr/>
          <p:nvPr/>
        </p:nvGrpSpPr>
        <p:grpSpPr>
          <a:xfrm>
            <a:off x="7776275" y="2809153"/>
            <a:ext cx="560704" cy="501260"/>
            <a:chOff x="7180642" y="3871913"/>
            <a:chExt cx="720852" cy="644430"/>
          </a:xfrm>
        </p:grpSpPr>
        <p:pic>
          <p:nvPicPr>
            <p:cNvPr id="595" name="Picture 594">
              <a:extLst>
                <a:ext uri="{FF2B5EF4-FFF2-40B4-BE49-F238E27FC236}">
                  <a16:creationId xmlns:a16="http://schemas.microsoft.com/office/drawing/2014/main" id="{AA12F0C1-6DCC-193D-ADC3-247A2D17D68F}"/>
                </a:ext>
              </a:extLst>
            </p:cNvPr>
            <p:cNvPicPr>
              <a:picLocks noChangeAspect="1"/>
            </p:cNvPicPr>
            <p:nvPr/>
          </p:nvPicPr>
          <p:blipFill>
            <a:blip r:embed="rId3"/>
            <a:stretch>
              <a:fillRect/>
            </a:stretch>
          </p:blipFill>
          <p:spPr>
            <a:xfrm>
              <a:off x="7180642" y="3871913"/>
              <a:ext cx="720852" cy="644430"/>
            </a:xfrm>
            <a:prstGeom prst="rect">
              <a:avLst/>
            </a:prstGeom>
          </p:spPr>
        </p:pic>
        <p:pic>
          <p:nvPicPr>
            <p:cNvPr id="609" name="Picture 608">
              <a:extLst>
                <a:ext uri="{FF2B5EF4-FFF2-40B4-BE49-F238E27FC236}">
                  <a16:creationId xmlns:a16="http://schemas.microsoft.com/office/drawing/2014/main" id="{38669F74-8A87-F81F-D52E-4017E08CEB32}"/>
                </a:ext>
              </a:extLst>
            </p:cNvPr>
            <p:cNvPicPr>
              <a:picLocks noChangeAspect="1"/>
            </p:cNvPicPr>
            <p:nvPr/>
          </p:nvPicPr>
          <p:blipFill>
            <a:blip r:embed="rId10"/>
            <a:stretch>
              <a:fillRect/>
            </a:stretch>
          </p:blipFill>
          <p:spPr>
            <a:xfrm>
              <a:off x="7398870" y="3901277"/>
              <a:ext cx="282715" cy="193438"/>
            </a:xfrm>
            <a:prstGeom prst="rect">
              <a:avLst/>
            </a:prstGeom>
          </p:spPr>
        </p:pic>
      </p:grpSp>
      <p:cxnSp>
        <p:nvCxnSpPr>
          <p:cNvPr id="637" name="Connector: Elbow 636">
            <a:extLst>
              <a:ext uri="{FF2B5EF4-FFF2-40B4-BE49-F238E27FC236}">
                <a16:creationId xmlns:a16="http://schemas.microsoft.com/office/drawing/2014/main" id="{58B88135-6E76-3F58-109E-52D345802E51}"/>
              </a:ext>
            </a:extLst>
          </p:cNvPr>
          <p:cNvCxnSpPr>
            <a:cxnSpLocks/>
            <a:stCxn id="42" idx="3"/>
            <a:endCxn id="612" idx="2"/>
          </p:cNvCxnSpPr>
          <p:nvPr/>
        </p:nvCxnSpPr>
        <p:spPr>
          <a:xfrm flipV="1">
            <a:off x="5781793" y="1622873"/>
            <a:ext cx="2274834" cy="38271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642" name="Connector: Elbow 641">
            <a:extLst>
              <a:ext uri="{FF2B5EF4-FFF2-40B4-BE49-F238E27FC236}">
                <a16:creationId xmlns:a16="http://schemas.microsoft.com/office/drawing/2014/main" id="{DBC2BF93-0872-E464-1AC5-B0BBC89E4A71}"/>
              </a:ext>
            </a:extLst>
          </p:cNvPr>
          <p:cNvCxnSpPr>
            <a:cxnSpLocks/>
            <a:stCxn id="43" idx="3"/>
            <a:endCxn id="595" idx="0"/>
          </p:cNvCxnSpPr>
          <p:nvPr/>
        </p:nvCxnSpPr>
        <p:spPr>
          <a:xfrm>
            <a:off x="5805183" y="2378066"/>
            <a:ext cx="2251444" cy="431087"/>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8B4640D4-9438-F360-6000-AABF41B358D6}"/>
              </a:ext>
            </a:extLst>
          </p:cNvPr>
          <p:cNvSpPr txBox="1"/>
          <p:nvPr/>
        </p:nvSpPr>
        <p:spPr>
          <a:xfrm>
            <a:off x="5805182" y="2389141"/>
            <a:ext cx="2251445" cy="246221"/>
          </a:xfrm>
          <a:prstGeom prst="rect">
            <a:avLst/>
          </a:prstGeom>
          <a:noFill/>
        </p:spPr>
        <p:txBody>
          <a:bodyPr wrap="square" rtlCol="0">
            <a:spAutoFit/>
          </a:bodyPr>
          <a:lstStyle/>
          <a:p>
            <a:pPr algn="ctr"/>
            <a:r>
              <a:rPr lang="en-US" sz="1000" dirty="0">
                <a:solidFill>
                  <a:schemeClr val="tx1">
                    <a:lumMod val="85000"/>
                    <a:lumOff val="15000"/>
                  </a:schemeClr>
                </a:solidFill>
              </a:rPr>
              <a:t>❶ search with a keyword</a:t>
            </a:r>
          </a:p>
        </p:txBody>
      </p:sp>
      <p:sp>
        <p:nvSpPr>
          <p:cNvPr id="649" name="TextBox 648">
            <a:extLst>
              <a:ext uri="{FF2B5EF4-FFF2-40B4-BE49-F238E27FC236}">
                <a16:creationId xmlns:a16="http://schemas.microsoft.com/office/drawing/2014/main" id="{0A4E9E3D-71F1-2D78-617C-96F4D8A785B4}"/>
              </a:ext>
            </a:extLst>
          </p:cNvPr>
          <p:cNvSpPr txBox="1"/>
          <p:nvPr/>
        </p:nvSpPr>
        <p:spPr>
          <a:xfrm>
            <a:off x="5455921" y="3303139"/>
            <a:ext cx="2600706" cy="246221"/>
          </a:xfrm>
          <a:prstGeom prst="rect">
            <a:avLst/>
          </a:prstGeom>
          <a:noFill/>
        </p:spPr>
        <p:txBody>
          <a:bodyPr wrap="square" rtlCol="0">
            <a:spAutoFit/>
          </a:bodyPr>
          <a:lstStyle/>
          <a:p>
            <a:pPr algn="ctr"/>
            <a:r>
              <a:rPr lang="en-US" sz="1000" dirty="0">
                <a:solidFill>
                  <a:schemeClr val="tx1">
                    <a:lumMod val="85000"/>
                    <a:lumOff val="15000"/>
                  </a:schemeClr>
                </a:solidFill>
              </a:rPr>
              <a:t>❷ ranked job IDs</a:t>
            </a:r>
          </a:p>
        </p:txBody>
      </p:sp>
      <p:sp>
        <p:nvSpPr>
          <p:cNvPr id="651" name="TextBox 650">
            <a:extLst>
              <a:ext uri="{FF2B5EF4-FFF2-40B4-BE49-F238E27FC236}">
                <a16:creationId xmlns:a16="http://schemas.microsoft.com/office/drawing/2014/main" id="{6DC1002C-B912-4057-017C-3BD0D84CC7E4}"/>
              </a:ext>
            </a:extLst>
          </p:cNvPr>
          <p:cNvSpPr txBox="1"/>
          <p:nvPr/>
        </p:nvSpPr>
        <p:spPr>
          <a:xfrm>
            <a:off x="5740763" y="1751521"/>
            <a:ext cx="2315863" cy="246221"/>
          </a:xfrm>
          <a:prstGeom prst="rect">
            <a:avLst/>
          </a:prstGeom>
          <a:noFill/>
        </p:spPr>
        <p:txBody>
          <a:bodyPr wrap="square" rtlCol="0">
            <a:spAutoFit/>
          </a:bodyPr>
          <a:lstStyle/>
          <a:p>
            <a:pPr algn="ctr"/>
            <a:r>
              <a:rPr lang="en-US" sz="1000" dirty="0">
                <a:solidFill>
                  <a:schemeClr val="tx1">
                    <a:lumMod val="85000"/>
                    <a:lumOff val="15000"/>
                  </a:schemeClr>
                </a:solidFill>
              </a:rPr>
              <a:t>❸ fetch jobs by ID</a:t>
            </a:r>
          </a:p>
        </p:txBody>
      </p:sp>
      <p:sp>
        <p:nvSpPr>
          <p:cNvPr id="653" name="TextBox 652">
            <a:extLst>
              <a:ext uri="{FF2B5EF4-FFF2-40B4-BE49-F238E27FC236}">
                <a16:creationId xmlns:a16="http://schemas.microsoft.com/office/drawing/2014/main" id="{543438F1-6CA0-81AA-ED3D-8074F4DF2214}"/>
              </a:ext>
            </a:extLst>
          </p:cNvPr>
          <p:cNvSpPr txBox="1"/>
          <p:nvPr/>
        </p:nvSpPr>
        <p:spPr>
          <a:xfrm>
            <a:off x="5455921" y="902434"/>
            <a:ext cx="2600705" cy="246221"/>
          </a:xfrm>
          <a:prstGeom prst="rect">
            <a:avLst/>
          </a:prstGeom>
          <a:noFill/>
        </p:spPr>
        <p:txBody>
          <a:bodyPr wrap="square" rtlCol="0">
            <a:spAutoFit/>
          </a:bodyPr>
          <a:lstStyle/>
          <a:p>
            <a:pPr algn="ctr"/>
            <a:r>
              <a:rPr lang="en-US" sz="1000" dirty="0">
                <a:solidFill>
                  <a:schemeClr val="tx1">
                    <a:lumMod val="85000"/>
                    <a:lumOff val="15000"/>
                  </a:schemeClr>
                </a:solidFill>
              </a:rPr>
              <a:t>❹ job records</a:t>
            </a:r>
          </a:p>
        </p:txBody>
      </p:sp>
      <p:sp>
        <p:nvSpPr>
          <p:cNvPr id="659" name="Rectangle 658">
            <a:extLst>
              <a:ext uri="{FF2B5EF4-FFF2-40B4-BE49-F238E27FC236}">
                <a16:creationId xmlns:a16="http://schemas.microsoft.com/office/drawing/2014/main" id="{413EA670-5BFA-C42F-6321-286BCE5BF057}"/>
              </a:ext>
            </a:extLst>
          </p:cNvPr>
          <p:cNvSpPr/>
          <p:nvPr/>
        </p:nvSpPr>
        <p:spPr>
          <a:xfrm>
            <a:off x="7514507" y="3838830"/>
            <a:ext cx="1278838" cy="982783"/>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1">
                    <a:lumMod val="85000"/>
                    <a:lumOff val="15000"/>
                  </a:schemeClr>
                </a:solidFill>
              </a:rPr>
              <a:t>Search relevance:</a:t>
            </a:r>
          </a:p>
          <a:p>
            <a:r>
              <a:rPr lang="en-US" sz="1000" dirty="0">
                <a:solidFill>
                  <a:schemeClr val="tx1">
                    <a:lumMod val="85000"/>
                    <a:lumOff val="15000"/>
                  </a:schemeClr>
                </a:solidFill>
              </a:rPr>
              <a:t>Title ×4</a:t>
            </a:r>
            <a:br>
              <a:rPr lang="en-US" sz="1000" dirty="0">
                <a:solidFill>
                  <a:schemeClr val="tx1">
                    <a:lumMod val="85000"/>
                    <a:lumOff val="15000"/>
                  </a:schemeClr>
                </a:solidFill>
              </a:rPr>
            </a:br>
            <a:r>
              <a:rPr lang="en-US" sz="1000" dirty="0">
                <a:solidFill>
                  <a:schemeClr val="tx1">
                    <a:lumMod val="85000"/>
                    <a:lumOff val="15000"/>
                  </a:schemeClr>
                </a:solidFill>
              </a:rPr>
              <a:t>Occupation ×3</a:t>
            </a:r>
            <a:br>
              <a:rPr lang="en-US" sz="1000" dirty="0">
                <a:solidFill>
                  <a:schemeClr val="tx1">
                    <a:lumMod val="85000"/>
                    <a:lumOff val="15000"/>
                  </a:schemeClr>
                </a:solidFill>
              </a:rPr>
            </a:br>
            <a:r>
              <a:rPr lang="en-US" sz="1000" dirty="0">
                <a:solidFill>
                  <a:schemeClr val="tx1">
                    <a:lumMod val="85000"/>
                    <a:lumOff val="15000"/>
                  </a:schemeClr>
                </a:solidFill>
              </a:rPr>
              <a:t>Company ×2</a:t>
            </a:r>
            <a:br>
              <a:rPr lang="en-US" sz="1000" dirty="0">
                <a:solidFill>
                  <a:schemeClr val="tx1">
                    <a:lumMod val="85000"/>
                    <a:lumOff val="15000"/>
                  </a:schemeClr>
                </a:solidFill>
              </a:rPr>
            </a:br>
            <a:r>
              <a:rPr lang="en-US" sz="1000" dirty="0">
                <a:solidFill>
                  <a:schemeClr val="tx1">
                    <a:lumMod val="85000"/>
                    <a:lumOff val="15000"/>
                  </a:schemeClr>
                </a:solidFill>
              </a:rPr>
              <a:t>Category ×2</a:t>
            </a:r>
            <a:br>
              <a:rPr lang="en-US" sz="1000" dirty="0">
                <a:solidFill>
                  <a:schemeClr val="tx1">
                    <a:lumMod val="85000"/>
                    <a:lumOff val="15000"/>
                  </a:schemeClr>
                </a:solidFill>
              </a:rPr>
            </a:br>
            <a:r>
              <a:rPr lang="en-US" sz="1000" dirty="0">
                <a:solidFill>
                  <a:schemeClr val="tx1">
                    <a:lumMod val="85000"/>
                    <a:lumOff val="15000"/>
                  </a:schemeClr>
                </a:solidFill>
              </a:rPr>
              <a:t>Description ×1</a:t>
            </a:r>
          </a:p>
        </p:txBody>
      </p:sp>
      <p:sp>
        <p:nvSpPr>
          <p:cNvPr id="724" name="TextBox 723">
            <a:extLst>
              <a:ext uri="{FF2B5EF4-FFF2-40B4-BE49-F238E27FC236}">
                <a16:creationId xmlns:a16="http://schemas.microsoft.com/office/drawing/2014/main" id="{E25A3DE8-B12E-A214-D75C-3526922FC740}"/>
              </a:ext>
            </a:extLst>
          </p:cNvPr>
          <p:cNvSpPr txBox="1"/>
          <p:nvPr/>
        </p:nvSpPr>
        <p:spPr>
          <a:xfrm>
            <a:off x="1409339" y="1914264"/>
            <a:ext cx="418289" cy="246221"/>
          </a:xfrm>
          <a:prstGeom prst="rect">
            <a:avLst/>
          </a:prstGeom>
          <a:noFill/>
        </p:spPr>
        <p:txBody>
          <a:bodyPr wrap="square" rtlCol="0">
            <a:spAutoFit/>
          </a:bodyPr>
          <a:lstStyle/>
          <a:p>
            <a:r>
              <a:rPr lang="en-US" sz="1000" dirty="0"/>
              <a:t>no</a:t>
            </a:r>
          </a:p>
        </p:txBody>
      </p:sp>
      <p:sp>
        <p:nvSpPr>
          <p:cNvPr id="725" name="Diamond 724">
            <a:extLst>
              <a:ext uri="{FF2B5EF4-FFF2-40B4-BE49-F238E27FC236}">
                <a16:creationId xmlns:a16="http://schemas.microsoft.com/office/drawing/2014/main" id="{5A2F8DB7-AF2F-1A43-510E-F339A11E574B}"/>
              </a:ext>
            </a:extLst>
          </p:cNvPr>
          <p:cNvSpPr/>
          <p:nvPr/>
        </p:nvSpPr>
        <p:spPr>
          <a:xfrm>
            <a:off x="1713077" y="1645903"/>
            <a:ext cx="1129278" cy="1044510"/>
          </a:xfrm>
          <a:prstGeom prst="diamond">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sz="1000" dirty="0">
                <a:solidFill>
                  <a:schemeClr val="tx1">
                    <a:lumMod val="85000"/>
                    <a:lumOff val="15000"/>
                  </a:schemeClr>
                </a:solidFill>
              </a:rPr>
              <a:t>Free-text query provided?</a:t>
            </a:r>
          </a:p>
        </p:txBody>
      </p:sp>
      <p:sp>
        <p:nvSpPr>
          <p:cNvPr id="726" name="TextBox 725">
            <a:extLst>
              <a:ext uri="{FF2B5EF4-FFF2-40B4-BE49-F238E27FC236}">
                <a16:creationId xmlns:a16="http://schemas.microsoft.com/office/drawing/2014/main" id="{7719B71A-5FE6-BE61-1597-AB6357913CC5}"/>
              </a:ext>
            </a:extLst>
          </p:cNvPr>
          <p:cNvSpPr txBox="1"/>
          <p:nvPr/>
        </p:nvSpPr>
        <p:spPr>
          <a:xfrm>
            <a:off x="2823354" y="1914886"/>
            <a:ext cx="418289" cy="246221"/>
          </a:xfrm>
          <a:prstGeom prst="rect">
            <a:avLst/>
          </a:prstGeom>
          <a:noFill/>
        </p:spPr>
        <p:txBody>
          <a:bodyPr wrap="square" rtlCol="0">
            <a:spAutoFit/>
          </a:bodyPr>
          <a:lstStyle/>
          <a:p>
            <a:r>
              <a:rPr lang="en-US" sz="1000" dirty="0"/>
              <a:t>yes</a:t>
            </a:r>
          </a:p>
        </p:txBody>
      </p:sp>
      <p:grpSp>
        <p:nvGrpSpPr>
          <p:cNvPr id="727" name="Group 726">
            <a:extLst>
              <a:ext uri="{FF2B5EF4-FFF2-40B4-BE49-F238E27FC236}">
                <a16:creationId xmlns:a16="http://schemas.microsoft.com/office/drawing/2014/main" id="{F6668AC2-A750-129B-A99F-7FC5EABA95AF}"/>
              </a:ext>
            </a:extLst>
          </p:cNvPr>
          <p:cNvGrpSpPr/>
          <p:nvPr/>
        </p:nvGrpSpPr>
        <p:grpSpPr>
          <a:xfrm>
            <a:off x="766229" y="2751574"/>
            <a:ext cx="1443854" cy="838350"/>
            <a:chOff x="5661388" y="2978068"/>
            <a:chExt cx="1443854" cy="838350"/>
          </a:xfrm>
        </p:grpSpPr>
        <p:sp>
          <p:nvSpPr>
            <p:cNvPr id="728" name="Rectangle: Rounded Corners 727">
              <a:extLst>
                <a:ext uri="{FF2B5EF4-FFF2-40B4-BE49-F238E27FC236}">
                  <a16:creationId xmlns:a16="http://schemas.microsoft.com/office/drawing/2014/main" id="{0010E042-E2A8-B31F-D330-2730808E50B8}"/>
                </a:ext>
              </a:extLst>
            </p:cNvPr>
            <p:cNvSpPr/>
            <p:nvPr/>
          </p:nvSpPr>
          <p:spPr>
            <a:xfrm>
              <a:off x="5661388" y="2978068"/>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structured filters. Order by publication date, newest first.</a:t>
              </a:r>
            </a:p>
          </p:txBody>
        </p:sp>
        <p:pic>
          <p:nvPicPr>
            <p:cNvPr id="729" name="Picture 728" descr="File:PostgreSQL logo.3colors.540x557.png">
              <a:extLst>
                <a:ext uri="{FF2B5EF4-FFF2-40B4-BE49-F238E27FC236}">
                  <a16:creationId xmlns:a16="http://schemas.microsoft.com/office/drawing/2014/main" id="{9DBEB480-84FA-3301-CB5D-AD1949CA162A}"/>
                </a:ext>
              </a:extLst>
            </p:cNvPr>
            <p:cNvPicPr>
              <a:picLocks noChangeAspect="1"/>
            </p:cNvPicPr>
            <p:nvPr/>
          </p:nvPicPr>
          <p:blipFill>
            <a:blip r:embed="rId4"/>
            <a:stretch>
              <a:fillRect/>
            </a:stretch>
          </p:blipFill>
          <p:spPr>
            <a:xfrm>
              <a:off x="5755192" y="3044384"/>
              <a:ext cx="181196" cy="186901"/>
            </a:xfrm>
            <a:prstGeom prst="rect">
              <a:avLst/>
            </a:prstGeom>
          </p:spPr>
        </p:pic>
      </p:grpSp>
      <p:cxnSp>
        <p:nvCxnSpPr>
          <p:cNvPr id="730" name="Connector: Elbow 729">
            <a:extLst>
              <a:ext uri="{FF2B5EF4-FFF2-40B4-BE49-F238E27FC236}">
                <a16:creationId xmlns:a16="http://schemas.microsoft.com/office/drawing/2014/main" id="{8012EFE0-8AED-B043-BD55-9C772416C98D}"/>
              </a:ext>
            </a:extLst>
          </p:cNvPr>
          <p:cNvCxnSpPr>
            <a:cxnSpLocks/>
            <a:stCxn id="725" idx="1"/>
            <a:endCxn id="728" idx="0"/>
          </p:cNvCxnSpPr>
          <p:nvPr/>
        </p:nvCxnSpPr>
        <p:spPr>
          <a:xfrm rot="10800000" flipV="1">
            <a:off x="1488157" y="2168158"/>
            <a:ext cx="224921" cy="583416"/>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1" name="Connector: Elbow 730">
            <a:extLst>
              <a:ext uri="{FF2B5EF4-FFF2-40B4-BE49-F238E27FC236}">
                <a16:creationId xmlns:a16="http://schemas.microsoft.com/office/drawing/2014/main" id="{FAAF2AAF-8479-F05D-1CD0-F32C3DD1845A}"/>
              </a:ext>
            </a:extLst>
          </p:cNvPr>
          <p:cNvCxnSpPr>
            <a:cxnSpLocks/>
            <a:stCxn id="725" idx="3"/>
            <a:endCxn id="733" idx="0"/>
          </p:cNvCxnSpPr>
          <p:nvPr/>
        </p:nvCxnSpPr>
        <p:spPr>
          <a:xfrm>
            <a:off x="2842355" y="2168158"/>
            <a:ext cx="258786" cy="581132"/>
          </a:xfrm>
          <a:prstGeom prst="bentConnector2">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2" name="Group 731">
            <a:extLst>
              <a:ext uri="{FF2B5EF4-FFF2-40B4-BE49-F238E27FC236}">
                <a16:creationId xmlns:a16="http://schemas.microsoft.com/office/drawing/2014/main" id="{EF5C4449-69BD-C124-A1C4-3BE38D1DE507}"/>
              </a:ext>
            </a:extLst>
          </p:cNvPr>
          <p:cNvGrpSpPr/>
          <p:nvPr/>
        </p:nvGrpSpPr>
        <p:grpSpPr>
          <a:xfrm>
            <a:off x="2379214" y="2749290"/>
            <a:ext cx="1443854" cy="838352"/>
            <a:chOff x="7371477" y="2971818"/>
            <a:chExt cx="1443854" cy="838352"/>
          </a:xfrm>
        </p:grpSpPr>
        <p:sp>
          <p:nvSpPr>
            <p:cNvPr id="733" name="Rectangle: Rounded Corners 732">
              <a:extLst>
                <a:ext uri="{FF2B5EF4-FFF2-40B4-BE49-F238E27FC236}">
                  <a16:creationId xmlns:a16="http://schemas.microsoft.com/office/drawing/2014/main" id="{795F1DE9-E3C8-3D9F-C3F9-00F002D42292}"/>
                </a:ext>
              </a:extLst>
            </p:cNvPr>
            <p:cNvSpPr/>
            <p:nvPr/>
          </p:nvSpPr>
          <p:spPr>
            <a:xfrm>
              <a:off x="7371477" y="2971818"/>
              <a:ext cx="1443854" cy="838352"/>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Apply free-text search + structured filters.</a:t>
              </a:r>
            </a:p>
            <a:p>
              <a:r>
                <a:rPr lang="en-US" sz="1000" dirty="0">
                  <a:solidFill>
                    <a:schemeClr val="tx1">
                      <a:lumMod val="85000"/>
                      <a:lumOff val="15000"/>
                    </a:schemeClr>
                  </a:solidFill>
                </a:rPr>
                <a:t>Rank by relevance.</a:t>
              </a:r>
            </a:p>
          </p:txBody>
        </p:sp>
        <p:pic>
          <p:nvPicPr>
            <p:cNvPr id="734" name="Picture 733">
              <a:extLst>
                <a:ext uri="{FF2B5EF4-FFF2-40B4-BE49-F238E27FC236}">
                  <a16:creationId xmlns:a16="http://schemas.microsoft.com/office/drawing/2014/main" id="{A4DDAD0B-99A0-BD92-655A-A497877A058B}"/>
                </a:ext>
              </a:extLst>
            </p:cNvPr>
            <p:cNvPicPr>
              <a:picLocks noChangeAspect="1"/>
            </p:cNvPicPr>
            <p:nvPr/>
          </p:nvPicPr>
          <p:blipFill>
            <a:blip r:embed="rId10"/>
            <a:stretch>
              <a:fillRect/>
            </a:stretch>
          </p:blipFill>
          <p:spPr>
            <a:xfrm>
              <a:off x="7467898" y="3037630"/>
              <a:ext cx="189689" cy="189689"/>
            </a:xfrm>
            <a:prstGeom prst="rect">
              <a:avLst/>
            </a:prstGeom>
          </p:spPr>
        </p:pic>
      </p:grpSp>
      <p:cxnSp>
        <p:nvCxnSpPr>
          <p:cNvPr id="736" name="Straight Arrow Connector 735">
            <a:extLst>
              <a:ext uri="{FF2B5EF4-FFF2-40B4-BE49-F238E27FC236}">
                <a16:creationId xmlns:a16="http://schemas.microsoft.com/office/drawing/2014/main" id="{4E624DDC-DA75-3E48-9D7F-596EA8F56AD2}"/>
              </a:ext>
            </a:extLst>
          </p:cNvPr>
          <p:cNvCxnSpPr>
            <a:cxnSpLocks/>
            <a:stCxn id="9" idx="4"/>
            <a:endCxn id="725" idx="0"/>
          </p:cNvCxnSpPr>
          <p:nvPr/>
        </p:nvCxnSpPr>
        <p:spPr>
          <a:xfrm flipH="1">
            <a:off x="2277716" y="1416020"/>
            <a:ext cx="3515" cy="22988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37" name="TextBox 736">
            <a:extLst>
              <a:ext uri="{FF2B5EF4-FFF2-40B4-BE49-F238E27FC236}">
                <a16:creationId xmlns:a16="http://schemas.microsoft.com/office/drawing/2014/main" id="{4EFBECD8-EA51-D123-B8A5-D1E8EEBEA910}"/>
              </a:ext>
            </a:extLst>
          </p:cNvPr>
          <p:cNvSpPr txBox="1"/>
          <p:nvPr/>
        </p:nvSpPr>
        <p:spPr>
          <a:xfrm>
            <a:off x="2404264" y="1173476"/>
            <a:ext cx="1127232" cy="246221"/>
          </a:xfrm>
          <a:prstGeom prst="rect">
            <a:avLst/>
          </a:prstGeom>
          <a:noFill/>
        </p:spPr>
        <p:txBody>
          <a:bodyPr wrap="none" rtlCol="0">
            <a:spAutoFit/>
          </a:bodyPr>
          <a:lstStyle/>
          <a:p>
            <a:r>
              <a:rPr lang="en-US" sz="1000" dirty="0"/>
              <a:t>Search triggered</a:t>
            </a:r>
          </a:p>
        </p:txBody>
      </p:sp>
      <p:cxnSp>
        <p:nvCxnSpPr>
          <p:cNvPr id="738" name="Connector: Elbow 737">
            <a:extLst>
              <a:ext uri="{FF2B5EF4-FFF2-40B4-BE49-F238E27FC236}">
                <a16:creationId xmlns:a16="http://schemas.microsoft.com/office/drawing/2014/main" id="{3934A795-02E6-463C-6900-EACC6FAAEC9F}"/>
              </a:ext>
            </a:extLst>
          </p:cNvPr>
          <p:cNvCxnSpPr>
            <a:cxnSpLocks/>
            <a:stCxn id="19" idx="1"/>
            <a:endCxn id="13" idx="0"/>
          </p:cNvCxnSpPr>
          <p:nvPr/>
        </p:nvCxnSpPr>
        <p:spPr>
          <a:xfrm rot="10800000" flipV="1">
            <a:off x="4661262" y="2193873"/>
            <a:ext cx="445403" cy="831199"/>
          </a:xfrm>
          <a:prstGeom prst="bentConnector2">
            <a:avLst/>
          </a:prstGeom>
          <a:ln w="19050">
            <a:solidFill>
              <a:srgbClr val="7151FD"/>
            </a:solidFill>
            <a:tailEnd type="triangle"/>
          </a:ln>
        </p:spPr>
        <p:style>
          <a:lnRef idx="1">
            <a:schemeClr val="accent1"/>
          </a:lnRef>
          <a:fillRef idx="0">
            <a:schemeClr val="accent1"/>
          </a:fillRef>
          <a:effectRef idx="0">
            <a:schemeClr val="accent1"/>
          </a:effectRef>
          <a:fontRef idx="minor">
            <a:schemeClr val="tx1"/>
          </a:fontRef>
        </p:style>
      </p:cxnSp>
      <p:cxnSp>
        <p:nvCxnSpPr>
          <p:cNvPr id="744" name="Straight Arrow Connector 743">
            <a:extLst>
              <a:ext uri="{FF2B5EF4-FFF2-40B4-BE49-F238E27FC236}">
                <a16:creationId xmlns:a16="http://schemas.microsoft.com/office/drawing/2014/main" id="{48E4D587-9919-F718-5080-2E8326E2369D}"/>
              </a:ext>
            </a:extLst>
          </p:cNvPr>
          <p:cNvCxnSpPr>
            <a:cxnSpLocks/>
            <a:stCxn id="733" idx="2"/>
            <a:endCxn id="749" idx="0"/>
          </p:cNvCxnSpPr>
          <p:nvPr/>
        </p:nvCxnSpPr>
        <p:spPr>
          <a:xfrm>
            <a:off x="3101141" y="3587642"/>
            <a:ext cx="0" cy="20373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48" name="Group 747">
            <a:extLst>
              <a:ext uri="{FF2B5EF4-FFF2-40B4-BE49-F238E27FC236}">
                <a16:creationId xmlns:a16="http://schemas.microsoft.com/office/drawing/2014/main" id="{932A75D7-BA44-BF15-147F-5C71BCB9722A}"/>
              </a:ext>
            </a:extLst>
          </p:cNvPr>
          <p:cNvGrpSpPr/>
          <p:nvPr/>
        </p:nvGrpSpPr>
        <p:grpSpPr>
          <a:xfrm>
            <a:off x="2379214" y="3791372"/>
            <a:ext cx="1443854" cy="838350"/>
            <a:chOff x="5661388" y="2891695"/>
            <a:chExt cx="1443854" cy="838350"/>
          </a:xfrm>
        </p:grpSpPr>
        <p:sp>
          <p:nvSpPr>
            <p:cNvPr id="749" name="Rectangle: Rounded Corners 748">
              <a:extLst>
                <a:ext uri="{FF2B5EF4-FFF2-40B4-BE49-F238E27FC236}">
                  <a16:creationId xmlns:a16="http://schemas.microsoft.com/office/drawing/2014/main" id="{419D55AE-513E-C85E-5E43-A871632AB814}"/>
                </a:ext>
              </a:extLst>
            </p:cNvPr>
            <p:cNvSpPr/>
            <p:nvPr/>
          </p:nvSpPr>
          <p:spPr>
            <a:xfrm>
              <a:off x="5661388" y="2891695"/>
              <a:ext cx="1443854" cy="838350"/>
            </a:xfrm>
            <a:prstGeom prst="roundRect">
              <a:avLst>
                <a:gd name="adj" fmla="val 24465"/>
              </a:avLst>
            </a:prstGeom>
            <a:solidFill>
              <a:srgbClr val="FFFFC0"/>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t"/>
            <a:lstStyle/>
            <a:p>
              <a:endParaRPr lang="en-US" dirty="0">
                <a:solidFill>
                  <a:schemeClr val="tx1">
                    <a:lumMod val="85000"/>
                    <a:lumOff val="15000"/>
                  </a:schemeClr>
                </a:solidFill>
              </a:endParaRPr>
            </a:p>
            <a:p>
              <a:r>
                <a:rPr lang="en-US" sz="1000" dirty="0">
                  <a:solidFill>
                    <a:schemeClr val="tx1">
                      <a:lumMod val="85000"/>
                      <a:lumOff val="15000"/>
                    </a:schemeClr>
                  </a:solidFill>
                </a:rPr>
                <a:t>Retrieve job records in ranked order.</a:t>
              </a:r>
            </a:p>
          </p:txBody>
        </p:sp>
        <p:pic>
          <p:nvPicPr>
            <p:cNvPr id="750" name="Picture 749" descr="File:PostgreSQL logo.3colors.540x557.png">
              <a:extLst>
                <a:ext uri="{FF2B5EF4-FFF2-40B4-BE49-F238E27FC236}">
                  <a16:creationId xmlns:a16="http://schemas.microsoft.com/office/drawing/2014/main" id="{8CEA2C01-DA82-F0AB-1AC0-12B921A9AA56}"/>
                </a:ext>
              </a:extLst>
            </p:cNvPr>
            <p:cNvPicPr>
              <a:picLocks noChangeAspect="1"/>
            </p:cNvPicPr>
            <p:nvPr/>
          </p:nvPicPr>
          <p:blipFill>
            <a:blip r:embed="rId4"/>
            <a:stretch>
              <a:fillRect/>
            </a:stretch>
          </p:blipFill>
          <p:spPr>
            <a:xfrm>
              <a:off x="5755193" y="3044385"/>
              <a:ext cx="174948" cy="180456"/>
            </a:xfrm>
            <a:prstGeom prst="rect">
              <a:avLst/>
            </a:prstGeom>
          </p:spPr>
        </p:pic>
      </p:grpSp>
      <p:sp>
        <p:nvSpPr>
          <p:cNvPr id="753" name="Rectangle 752">
            <a:extLst>
              <a:ext uri="{FF2B5EF4-FFF2-40B4-BE49-F238E27FC236}">
                <a16:creationId xmlns:a16="http://schemas.microsoft.com/office/drawing/2014/main" id="{368F1108-E443-CB3B-F440-AF25B94C0028}"/>
              </a:ext>
            </a:extLst>
          </p:cNvPr>
          <p:cNvSpPr/>
          <p:nvPr/>
        </p:nvSpPr>
        <p:spPr>
          <a:xfrm>
            <a:off x="6141515" y="2661219"/>
            <a:ext cx="1633451" cy="295869"/>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lumMod val="85000"/>
                    <a:lumOff val="15000"/>
                  </a:schemeClr>
                </a:solidFill>
              </a:rPr>
              <a:t>e.g. "Python Kubernetes"</a:t>
            </a:r>
          </a:p>
        </p:txBody>
      </p:sp>
      <p:cxnSp>
        <p:nvCxnSpPr>
          <p:cNvPr id="5" name="Straight Connector 4">
            <a:extLst>
              <a:ext uri="{FF2B5EF4-FFF2-40B4-BE49-F238E27FC236}">
                <a16:creationId xmlns:a16="http://schemas.microsoft.com/office/drawing/2014/main" id="{28B8D06C-AF5E-36D6-F922-24E31796FC82}"/>
              </a:ext>
            </a:extLst>
          </p:cNvPr>
          <p:cNvCxnSpPr>
            <a:cxnSpLocks/>
          </p:cNvCxnSpPr>
          <p:nvPr/>
        </p:nvCxnSpPr>
        <p:spPr>
          <a:xfrm>
            <a:off x="4092098" y="790160"/>
            <a:ext cx="0" cy="388619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D164076-742B-804D-54CE-42E779A2D205}"/>
              </a:ext>
            </a:extLst>
          </p:cNvPr>
          <p:cNvSpPr/>
          <p:nvPr/>
        </p:nvSpPr>
        <p:spPr>
          <a:xfrm>
            <a:off x="2175656" y="1204870"/>
            <a:ext cx="211150" cy="211150"/>
          </a:xfrm>
          <a:prstGeom prst="ellipse">
            <a:avLst/>
          </a:prstGeom>
          <a:solidFill>
            <a:schemeClr val="tx1"/>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5CC16F5E-301D-40BB-5720-4E2D5C6DF51C}"/>
              </a:ext>
            </a:extLst>
          </p:cNvPr>
          <p:cNvPicPr>
            <a:picLocks noChangeAspect="1"/>
          </p:cNvPicPr>
          <p:nvPr/>
        </p:nvPicPr>
        <p:blipFill>
          <a:blip r:embed="rId11"/>
          <a:stretch>
            <a:fillRect/>
          </a:stretch>
        </p:blipFill>
        <p:spPr>
          <a:xfrm>
            <a:off x="350654" y="695433"/>
            <a:ext cx="4419677" cy="380479"/>
          </a:xfrm>
          <a:prstGeom prst="rect">
            <a:avLst/>
          </a:prstGeom>
        </p:spPr>
      </p:pic>
    </p:spTree>
    <p:extLst>
      <p:ext uri="{BB962C8B-B14F-4D97-AF65-F5344CB8AC3E}">
        <p14:creationId xmlns:p14="http://schemas.microsoft.com/office/powerpoint/2010/main" val="50724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4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5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3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3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8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647" grpId="0"/>
      <p:bldP spid="649" grpId="0"/>
      <p:bldP spid="651" grpId="0"/>
      <p:bldP spid="653" grpId="0"/>
      <p:bldP spid="659" grpId="0" animBg="1"/>
      <p:bldP spid="724" grpId="0"/>
      <p:bldP spid="725" grpId="0" animBg="1"/>
      <p:bldP spid="726" grpId="0"/>
      <p:bldP spid="737" grpId="0"/>
      <p:bldP spid="753"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86BCAE19-626F-0A4C-20D7-099167624F53}"/>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B4DFAF18-B280-861B-8053-3C0E71346A42}"/>
              </a:ext>
            </a:extLst>
          </p:cNvPr>
          <p:cNvSpPr/>
          <p:nvPr/>
        </p:nvSpPr>
        <p:spPr>
          <a:xfrm>
            <a:off x="1764323" y="629161"/>
            <a:ext cx="6280717" cy="4047198"/>
          </a:xfrm>
          <a:prstGeom prst="rect">
            <a:avLst/>
          </a:prstGeom>
          <a:solidFill>
            <a:schemeClr val="l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3" name="Google Shape;633;p91">
            <a:extLst>
              <a:ext uri="{FF2B5EF4-FFF2-40B4-BE49-F238E27FC236}">
                <a16:creationId xmlns:a16="http://schemas.microsoft.com/office/drawing/2014/main" id="{D35DCA47-32C4-3F81-5E1F-3545BA4DAB98}"/>
              </a:ext>
            </a:extLst>
          </p:cNvPr>
          <p:cNvSpPr txBox="1">
            <a:spLocks noGrp="1"/>
          </p:cNvSpPr>
          <p:nvPr>
            <p:ph type="subTitle" idx="1"/>
          </p:nvPr>
        </p:nvSpPr>
        <p:spPr>
          <a:xfrm>
            <a:off x="198000" y="198000"/>
            <a:ext cx="8748000" cy="54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Data Enrichment &amp; Standardization (OLD)</a:t>
            </a:r>
            <a:endParaRPr lang="en-US" sz="1500" dirty="0">
              <a:solidFill>
                <a:schemeClr val="dk2"/>
              </a:solidFill>
            </a:endParaRPr>
          </a:p>
        </p:txBody>
      </p:sp>
      <p:pic>
        <p:nvPicPr>
          <p:cNvPr id="640" name="Google Shape;640;p91" title="Fichier 20.png">
            <a:extLst>
              <a:ext uri="{FF2B5EF4-FFF2-40B4-BE49-F238E27FC236}">
                <a16:creationId xmlns:a16="http://schemas.microsoft.com/office/drawing/2014/main" id="{E52905AB-80C8-4057-C442-3DC5527B7A42}"/>
              </a:ext>
            </a:extLst>
          </p:cNvPr>
          <p:cNvPicPr preferRelativeResize="0"/>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332F1C11-21A7-EA60-2DB3-5D3A8339AC79}"/>
              </a:ext>
            </a:extLst>
          </p:cNvPr>
          <p:cNvPicPr preferRelativeResize="0"/>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Rectangle 1">
            <a:extLst>
              <a:ext uri="{FF2B5EF4-FFF2-40B4-BE49-F238E27FC236}">
                <a16:creationId xmlns:a16="http://schemas.microsoft.com/office/drawing/2014/main" id="{47526F36-899D-A9B6-26DC-620C1FE30E55}"/>
              </a:ext>
            </a:extLst>
          </p:cNvPr>
          <p:cNvSpPr/>
          <p:nvPr/>
        </p:nvSpPr>
        <p:spPr>
          <a:xfrm>
            <a:off x="4572000" y="1032252"/>
            <a:ext cx="2154994" cy="1158664"/>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a:solidFill>
                  <a:schemeClr val="tx1">
                    <a:lumMod val="85000"/>
                    <a:lumOff val="15000"/>
                  </a:schemeClr>
                </a:solidFill>
              </a:rPr>
              <a:t>Data Engineer</a:t>
            </a:r>
          </a:p>
          <a:p>
            <a:pPr marL="171450" indent="-171450">
              <a:buFont typeface="Arial" panose="020B0604020202020204" pitchFamily="34" charset="0"/>
              <a:buChar char="•"/>
            </a:pPr>
            <a:r>
              <a:rPr lang="en-US" sz="1000" dirty="0">
                <a:solidFill>
                  <a:schemeClr val="tx1">
                    <a:lumMod val="85000"/>
                    <a:lumOff val="15000"/>
                  </a:schemeClr>
                </a:solidFill>
              </a:rPr>
              <a:t>Senior Data Platform Engineer</a:t>
            </a:r>
          </a:p>
          <a:p>
            <a:pPr marL="171450" indent="-171450">
              <a:buFont typeface="Arial" panose="020B0604020202020204" pitchFamily="34" charset="0"/>
              <a:buChar char="•"/>
            </a:pPr>
            <a:r>
              <a:rPr lang="en-US" sz="1000" dirty="0">
                <a:solidFill>
                  <a:schemeClr val="tx1">
                    <a:lumMod val="85000"/>
                    <a:lumOff val="15000"/>
                  </a:schemeClr>
                </a:solidFill>
              </a:rPr>
              <a:t>AI Backend Engineer</a:t>
            </a:r>
          </a:p>
          <a:p>
            <a:pPr marL="171450" indent="-171450">
              <a:buFont typeface="Arial" panose="020B0604020202020204" pitchFamily="34" charset="0"/>
              <a:buChar char="•"/>
            </a:pPr>
            <a:r>
              <a:rPr lang="en-US" sz="1000" dirty="0">
                <a:solidFill>
                  <a:schemeClr val="tx1">
                    <a:lumMod val="85000"/>
                    <a:lumOff val="15000"/>
                  </a:schemeClr>
                </a:solidFill>
              </a:rPr>
              <a:t>Machine Learning Engineer</a:t>
            </a:r>
          </a:p>
          <a:p>
            <a:pPr marL="171450" indent="-171450">
              <a:buFont typeface="Arial" panose="020B0604020202020204" pitchFamily="34" charset="0"/>
              <a:buChar char="•"/>
            </a:pPr>
            <a:r>
              <a:rPr lang="en-US" sz="1000" dirty="0">
                <a:solidFill>
                  <a:schemeClr val="tx1">
                    <a:lumMod val="85000"/>
                    <a:lumOff val="15000"/>
                  </a:schemeClr>
                </a:solidFill>
              </a:rPr>
              <a:t>Cloud Data Specialist</a:t>
            </a:r>
          </a:p>
          <a:p>
            <a:pPr marL="171450" indent="-171450">
              <a:buFont typeface="Arial" panose="020B0604020202020204" pitchFamily="34" charset="0"/>
              <a:buChar char="•"/>
            </a:pPr>
            <a:r>
              <a:rPr lang="en-US" sz="1000" dirty="0">
                <a:solidFill>
                  <a:schemeClr val="tx1">
                    <a:lumMod val="85000"/>
                    <a:lumOff val="15000"/>
                  </a:schemeClr>
                </a:solidFill>
              </a:rPr>
              <a:t>Python Developer</a:t>
            </a:r>
          </a:p>
          <a:p>
            <a:pPr marL="171450" indent="-171450">
              <a:buFont typeface="Arial" panose="020B0604020202020204" pitchFamily="34" charset="0"/>
              <a:buChar char="•"/>
            </a:pPr>
            <a:r>
              <a:rPr lang="en-US" sz="1000" dirty="0">
                <a:solidFill>
                  <a:schemeClr val="tx1">
                    <a:lumMod val="85000"/>
                    <a:lumOff val="15000"/>
                  </a:schemeClr>
                </a:solidFill>
              </a:rPr>
              <a:t>...</a:t>
            </a:r>
          </a:p>
        </p:txBody>
      </p:sp>
      <p:sp>
        <p:nvSpPr>
          <p:cNvPr id="4" name="Rectangle 3">
            <a:extLst>
              <a:ext uri="{FF2B5EF4-FFF2-40B4-BE49-F238E27FC236}">
                <a16:creationId xmlns:a16="http://schemas.microsoft.com/office/drawing/2014/main" id="{552FAFB4-C365-A9C8-0428-BB40BCCDC4BA}"/>
              </a:ext>
            </a:extLst>
          </p:cNvPr>
          <p:cNvSpPr/>
          <p:nvPr/>
        </p:nvSpPr>
        <p:spPr>
          <a:xfrm>
            <a:off x="4571999" y="2730722"/>
            <a:ext cx="2154994" cy="1158664"/>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Font typeface="+mj-lt"/>
              <a:buAutoNum type="arabicPeriod"/>
            </a:pPr>
            <a:r>
              <a:rPr lang="en-US" sz="1000" dirty="0">
                <a:solidFill>
                  <a:schemeClr val="tx1">
                    <a:lumMod val="85000"/>
                    <a:lumOff val="15000"/>
                  </a:schemeClr>
                </a:solidFill>
              </a:rPr>
              <a:t>AI / Machine Learning</a:t>
            </a:r>
          </a:p>
          <a:p>
            <a:pPr marL="228600" indent="-228600">
              <a:buFont typeface="+mj-lt"/>
              <a:buAutoNum type="arabicPeriod"/>
            </a:pPr>
            <a:r>
              <a:rPr lang="en-US" sz="1000" dirty="0">
                <a:solidFill>
                  <a:schemeClr val="tx1">
                    <a:lumMod val="85000"/>
                    <a:lumOff val="15000"/>
                  </a:schemeClr>
                </a:solidFill>
              </a:rPr>
              <a:t>Data Engineering</a:t>
            </a:r>
          </a:p>
          <a:p>
            <a:pPr marL="228600" indent="-228600">
              <a:buFont typeface="+mj-lt"/>
              <a:buAutoNum type="arabicPeriod"/>
            </a:pPr>
            <a:r>
              <a:rPr lang="en-US" sz="1000" dirty="0">
                <a:solidFill>
                  <a:schemeClr val="tx1">
                    <a:lumMod val="85000"/>
                    <a:lumOff val="15000"/>
                  </a:schemeClr>
                </a:solidFill>
              </a:rPr>
              <a:t>Data Analysis</a:t>
            </a:r>
          </a:p>
          <a:p>
            <a:pPr marL="228600" indent="-228600">
              <a:buFont typeface="+mj-lt"/>
              <a:buAutoNum type="arabicPeriod"/>
            </a:pPr>
            <a:r>
              <a:rPr lang="en-US" sz="1000" dirty="0">
                <a:solidFill>
                  <a:schemeClr val="tx1">
                    <a:lumMod val="85000"/>
                    <a:lumOff val="15000"/>
                  </a:schemeClr>
                </a:solidFill>
              </a:rPr>
              <a:t>Cloud / DevOps</a:t>
            </a:r>
          </a:p>
          <a:p>
            <a:pPr marL="228600" indent="-228600">
              <a:buFont typeface="+mj-lt"/>
              <a:buAutoNum type="arabicPeriod"/>
            </a:pPr>
            <a:r>
              <a:rPr lang="en-US" sz="1000" dirty="0">
                <a:solidFill>
                  <a:schemeClr val="tx1">
                    <a:lumMod val="85000"/>
                    <a:lumOff val="15000"/>
                  </a:schemeClr>
                </a:solidFill>
              </a:rPr>
              <a:t>Backend Development</a:t>
            </a:r>
          </a:p>
          <a:p>
            <a:pPr marL="228600" indent="-228600">
              <a:buFont typeface="Courier New" panose="02070309020205020404" pitchFamily="49" charset="0"/>
              <a:buChar char="o"/>
            </a:pPr>
            <a:r>
              <a:rPr lang="en-US" sz="1000" dirty="0">
                <a:solidFill>
                  <a:schemeClr val="tx1">
                    <a:lumMod val="85000"/>
                    <a:lumOff val="15000"/>
                  </a:schemeClr>
                </a:solidFill>
              </a:rPr>
              <a:t>Other</a:t>
            </a:r>
          </a:p>
        </p:txBody>
      </p:sp>
      <p:cxnSp>
        <p:nvCxnSpPr>
          <p:cNvPr id="6" name="Straight Arrow Connector 5">
            <a:extLst>
              <a:ext uri="{FF2B5EF4-FFF2-40B4-BE49-F238E27FC236}">
                <a16:creationId xmlns:a16="http://schemas.microsoft.com/office/drawing/2014/main" id="{3497B89A-E88D-C0A2-B042-997509BB5C2F}"/>
              </a:ext>
            </a:extLst>
          </p:cNvPr>
          <p:cNvCxnSpPr>
            <a:cxnSpLocks/>
            <a:stCxn id="2" idx="2"/>
            <a:endCxn id="4" idx="0"/>
          </p:cNvCxnSpPr>
          <p:nvPr/>
        </p:nvCxnSpPr>
        <p:spPr>
          <a:xfrm flipH="1">
            <a:off x="5649496" y="2190916"/>
            <a:ext cx="1" cy="539806"/>
          </a:xfrm>
          <a:prstGeom prst="straightConnector1">
            <a:avLst/>
          </a:prstGeom>
          <a:ln w="15875">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97B41B-10D5-8F9B-C134-9C036E59C7DF}"/>
              </a:ext>
            </a:extLst>
          </p:cNvPr>
          <p:cNvSpPr txBox="1"/>
          <p:nvPr/>
        </p:nvSpPr>
        <p:spPr>
          <a:xfrm>
            <a:off x="6726994" y="1299263"/>
            <a:ext cx="1318047" cy="707886"/>
          </a:xfrm>
          <a:prstGeom prst="rect">
            <a:avLst/>
          </a:prstGeom>
          <a:noFill/>
        </p:spPr>
        <p:txBody>
          <a:bodyPr wrap="square" rtlCol="0">
            <a:spAutoFit/>
          </a:bodyPr>
          <a:lstStyle/>
          <a:p>
            <a:r>
              <a:rPr lang="en-US" sz="1000" dirty="0">
                <a:solidFill>
                  <a:schemeClr val="tx1">
                    <a:lumMod val="85000"/>
                    <a:lumOff val="15000"/>
                  </a:schemeClr>
                </a:solidFill>
              </a:rPr>
              <a:t>Raw titles are too </a:t>
            </a:r>
            <a:r>
              <a:rPr lang="en-US" sz="1000" b="1" dirty="0">
                <a:solidFill>
                  <a:schemeClr val="tx1">
                    <a:lumMod val="85000"/>
                    <a:lumOff val="15000"/>
                  </a:schemeClr>
                </a:solidFill>
              </a:rPr>
              <a:t>heterogeneous</a:t>
            </a:r>
            <a:r>
              <a:rPr lang="en-US" sz="1000" dirty="0">
                <a:solidFill>
                  <a:schemeClr val="tx1">
                    <a:lumMod val="85000"/>
                    <a:lumOff val="15000"/>
                  </a:schemeClr>
                </a:solidFill>
              </a:rPr>
              <a:t> for consistent analysis and </a:t>
            </a:r>
            <a:r>
              <a:rPr lang="en-US" sz="1000" dirty="0" err="1">
                <a:solidFill>
                  <a:schemeClr val="tx1">
                    <a:lumMod val="85000"/>
                    <a:lumOff val="15000"/>
                  </a:schemeClr>
                </a:solidFill>
              </a:rPr>
              <a:t>visualisation</a:t>
            </a:r>
            <a:r>
              <a:rPr lang="en-US" sz="1000" dirty="0">
                <a:solidFill>
                  <a:schemeClr val="tx1">
                    <a:lumMod val="85000"/>
                    <a:lumOff val="15000"/>
                  </a:schemeClr>
                </a:solidFill>
              </a:rPr>
              <a:t>.</a:t>
            </a:r>
          </a:p>
        </p:txBody>
      </p:sp>
      <p:sp>
        <p:nvSpPr>
          <p:cNvPr id="13" name="TextBox 12">
            <a:extLst>
              <a:ext uri="{FF2B5EF4-FFF2-40B4-BE49-F238E27FC236}">
                <a16:creationId xmlns:a16="http://schemas.microsoft.com/office/drawing/2014/main" id="{2843BC4A-AFB7-ACD6-0C63-A7D083DF12FD}"/>
              </a:ext>
            </a:extLst>
          </p:cNvPr>
          <p:cNvSpPr txBox="1"/>
          <p:nvPr/>
        </p:nvSpPr>
        <p:spPr>
          <a:xfrm>
            <a:off x="6726994" y="2879167"/>
            <a:ext cx="1318046" cy="861774"/>
          </a:xfrm>
          <a:prstGeom prst="rect">
            <a:avLst/>
          </a:prstGeom>
          <a:noFill/>
        </p:spPr>
        <p:txBody>
          <a:bodyPr wrap="square" rtlCol="0">
            <a:spAutoFit/>
          </a:bodyPr>
          <a:lstStyle/>
          <a:p>
            <a:r>
              <a:rPr lang="en-US" sz="1000" dirty="0">
                <a:solidFill>
                  <a:schemeClr val="tx1">
                    <a:lumMod val="85000"/>
                    <a:lumOff val="15000"/>
                  </a:schemeClr>
                </a:solidFill>
              </a:rPr>
              <a:t>Broad standardized categories derived from </a:t>
            </a:r>
            <a:r>
              <a:rPr lang="en-US" sz="1000" b="1" dirty="0">
                <a:solidFill>
                  <a:schemeClr val="tx1">
                    <a:lumMod val="85000"/>
                    <a:lumOff val="15000"/>
                  </a:schemeClr>
                </a:solidFill>
              </a:rPr>
              <a:t>title</a:t>
            </a:r>
            <a:r>
              <a:rPr lang="en-US" sz="1000" dirty="0">
                <a:solidFill>
                  <a:schemeClr val="tx1">
                    <a:lumMod val="85000"/>
                    <a:lumOff val="15000"/>
                  </a:schemeClr>
                </a:solidFill>
              </a:rPr>
              <a:t> and </a:t>
            </a:r>
            <a:r>
              <a:rPr lang="en-US" sz="1000" b="1" dirty="0">
                <a:solidFill>
                  <a:schemeClr val="tx1">
                    <a:lumMod val="85000"/>
                    <a:lumOff val="15000"/>
                  </a:schemeClr>
                </a:solidFill>
              </a:rPr>
              <a:t>occupation</a:t>
            </a:r>
            <a:r>
              <a:rPr lang="en-US" sz="1000" dirty="0">
                <a:solidFill>
                  <a:schemeClr val="tx1">
                    <a:lumMod val="85000"/>
                    <a:lumOff val="15000"/>
                  </a:schemeClr>
                </a:solidFill>
              </a:rPr>
              <a:t>, with “Other” as fallback.</a:t>
            </a:r>
          </a:p>
        </p:txBody>
      </p:sp>
      <p:sp>
        <p:nvSpPr>
          <p:cNvPr id="16" name="TextBox 15">
            <a:extLst>
              <a:ext uri="{FF2B5EF4-FFF2-40B4-BE49-F238E27FC236}">
                <a16:creationId xmlns:a16="http://schemas.microsoft.com/office/drawing/2014/main" id="{67979BEE-7BA6-2F43-E283-EA8B994D252A}"/>
              </a:ext>
            </a:extLst>
          </p:cNvPr>
          <p:cNvSpPr txBox="1"/>
          <p:nvPr/>
        </p:nvSpPr>
        <p:spPr>
          <a:xfrm>
            <a:off x="5649497" y="2300734"/>
            <a:ext cx="2011886" cy="246221"/>
          </a:xfrm>
          <a:prstGeom prst="rect">
            <a:avLst/>
          </a:prstGeom>
          <a:noFill/>
        </p:spPr>
        <p:txBody>
          <a:bodyPr wrap="square" rtlCol="0">
            <a:spAutoFit/>
          </a:bodyPr>
          <a:lstStyle/>
          <a:p>
            <a:r>
              <a:rPr lang="en-US" sz="1000" dirty="0"/>
              <a:t>rule-based classification</a:t>
            </a:r>
            <a:endParaRPr lang="en-US" sz="1000" dirty="0">
              <a:solidFill>
                <a:schemeClr val="tx1">
                  <a:lumMod val="85000"/>
                  <a:lumOff val="15000"/>
                </a:schemeClr>
              </a:solidFill>
            </a:endParaRPr>
          </a:p>
        </p:txBody>
      </p:sp>
      <p:sp>
        <p:nvSpPr>
          <p:cNvPr id="22" name="TextBox 21">
            <a:extLst>
              <a:ext uri="{FF2B5EF4-FFF2-40B4-BE49-F238E27FC236}">
                <a16:creationId xmlns:a16="http://schemas.microsoft.com/office/drawing/2014/main" id="{F3CA642B-3E30-7625-F750-89191B7DE988}"/>
              </a:ext>
            </a:extLst>
          </p:cNvPr>
          <p:cNvSpPr txBox="1"/>
          <p:nvPr/>
        </p:nvSpPr>
        <p:spPr>
          <a:xfrm>
            <a:off x="4572000" y="4080096"/>
            <a:ext cx="2603088" cy="553998"/>
          </a:xfrm>
          <a:prstGeom prst="rect">
            <a:avLst/>
          </a:prstGeom>
          <a:noFill/>
        </p:spPr>
        <p:txBody>
          <a:bodyPr wrap="square" rtlCol="0">
            <a:spAutoFit/>
          </a:bodyPr>
          <a:lstStyle/>
          <a:p>
            <a:r>
              <a:rPr lang="en-US" sz="1000" b="1" i="1" dirty="0"/>
              <a:t>Priority example:</a:t>
            </a:r>
          </a:p>
          <a:p>
            <a:r>
              <a:rPr lang="en-US" sz="1000" i="1" dirty="0"/>
              <a:t>“Backend Developer for Machine Learning” → “AI / Machine Learning”</a:t>
            </a:r>
          </a:p>
        </p:txBody>
      </p:sp>
      <p:cxnSp>
        <p:nvCxnSpPr>
          <p:cNvPr id="9" name="Straight Connector 8">
            <a:extLst>
              <a:ext uri="{FF2B5EF4-FFF2-40B4-BE49-F238E27FC236}">
                <a16:creationId xmlns:a16="http://schemas.microsoft.com/office/drawing/2014/main" id="{3F5FC365-CAB0-A7B7-9DA4-962D4D9E65E9}"/>
              </a:ext>
            </a:extLst>
          </p:cNvPr>
          <p:cNvCxnSpPr>
            <a:cxnSpLocks/>
          </p:cNvCxnSpPr>
          <p:nvPr/>
        </p:nvCxnSpPr>
        <p:spPr>
          <a:xfrm>
            <a:off x="4403246" y="629161"/>
            <a:ext cx="2" cy="404719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901EDBD-AB10-498A-BEDC-D74398AA7CD6}"/>
              </a:ext>
            </a:extLst>
          </p:cNvPr>
          <p:cNvSpPr txBox="1"/>
          <p:nvPr/>
        </p:nvSpPr>
        <p:spPr>
          <a:xfrm>
            <a:off x="4572000" y="629161"/>
            <a:ext cx="3473040" cy="307777"/>
          </a:xfrm>
          <a:prstGeom prst="rect">
            <a:avLst/>
          </a:prstGeom>
          <a:noFill/>
        </p:spPr>
        <p:txBody>
          <a:bodyPr wrap="square" rtlCol="0">
            <a:spAutoFit/>
          </a:bodyPr>
          <a:lstStyle/>
          <a:p>
            <a:pPr algn="ctr"/>
            <a:r>
              <a:rPr lang="en-US" b="1" dirty="0"/>
              <a:t>Job Classification</a:t>
            </a:r>
            <a:endParaRPr lang="en-US" dirty="0"/>
          </a:p>
        </p:txBody>
      </p:sp>
      <p:sp>
        <p:nvSpPr>
          <p:cNvPr id="25" name="TextBox 24">
            <a:extLst>
              <a:ext uri="{FF2B5EF4-FFF2-40B4-BE49-F238E27FC236}">
                <a16:creationId xmlns:a16="http://schemas.microsoft.com/office/drawing/2014/main" id="{F2E4259F-A987-E2C8-0520-920CB488AA29}"/>
              </a:ext>
            </a:extLst>
          </p:cNvPr>
          <p:cNvSpPr txBox="1"/>
          <p:nvPr/>
        </p:nvSpPr>
        <p:spPr>
          <a:xfrm>
            <a:off x="1983373" y="629161"/>
            <a:ext cx="2419873" cy="307777"/>
          </a:xfrm>
          <a:prstGeom prst="rect">
            <a:avLst/>
          </a:prstGeom>
          <a:noFill/>
        </p:spPr>
        <p:txBody>
          <a:bodyPr wrap="square" rtlCol="0">
            <a:spAutoFit/>
          </a:bodyPr>
          <a:lstStyle/>
          <a:p>
            <a:pPr algn="ctr"/>
            <a:r>
              <a:rPr lang="en-US" b="1" dirty="0"/>
              <a:t>Location Enrichment</a:t>
            </a:r>
            <a:endParaRPr lang="en-US" dirty="0"/>
          </a:p>
        </p:txBody>
      </p:sp>
      <p:sp>
        <p:nvSpPr>
          <p:cNvPr id="26" name="Rectangle 25">
            <a:extLst>
              <a:ext uri="{FF2B5EF4-FFF2-40B4-BE49-F238E27FC236}">
                <a16:creationId xmlns:a16="http://schemas.microsoft.com/office/drawing/2014/main" id="{DB2CE279-A0BE-573B-FD32-5FBD1D927579}"/>
              </a:ext>
            </a:extLst>
          </p:cNvPr>
          <p:cNvSpPr/>
          <p:nvPr/>
        </p:nvSpPr>
        <p:spPr>
          <a:xfrm>
            <a:off x="1866504" y="1032252"/>
            <a:ext cx="2154994" cy="1162152"/>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lumMod val="95000"/>
                    <a:lumOff val="5000"/>
                  </a:schemeClr>
                </a:solidFill>
              </a:rPr>
              <a:t>Missing coordinates</a:t>
            </a:r>
            <a:br>
              <a:rPr lang="en-US" sz="1000" dirty="0">
                <a:solidFill>
                  <a:schemeClr val="tx1">
                    <a:lumMod val="95000"/>
                    <a:lumOff val="5000"/>
                  </a:schemeClr>
                </a:solidFill>
              </a:rPr>
            </a:br>
            <a:r>
              <a:rPr lang="en-US" sz="1000" dirty="0">
                <a:solidFill>
                  <a:schemeClr val="tx1">
                    <a:lumMod val="95000"/>
                    <a:lumOff val="5000"/>
                  </a:schemeClr>
                </a:solidFill>
              </a:rPr>
              <a:t>city + postal code + country</a:t>
            </a:r>
          </a:p>
        </p:txBody>
      </p:sp>
      <p:sp>
        <p:nvSpPr>
          <p:cNvPr id="27" name="Rectangle 26">
            <a:extLst>
              <a:ext uri="{FF2B5EF4-FFF2-40B4-BE49-F238E27FC236}">
                <a16:creationId xmlns:a16="http://schemas.microsoft.com/office/drawing/2014/main" id="{F84C485A-C594-858D-AB11-45B10445857C}"/>
              </a:ext>
            </a:extLst>
          </p:cNvPr>
          <p:cNvSpPr/>
          <p:nvPr/>
        </p:nvSpPr>
        <p:spPr>
          <a:xfrm>
            <a:off x="1866504" y="2730721"/>
            <a:ext cx="2154994" cy="1158665"/>
          </a:xfrm>
          <a:prstGeom prst="rect">
            <a:avLst/>
          </a:prstGeom>
          <a:solidFill>
            <a:schemeClr val="accent6">
              <a:lumMod val="9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lumMod val="85000"/>
                    <a:lumOff val="15000"/>
                  </a:schemeClr>
                </a:solidFill>
              </a:rPr>
              <a:t>latitude + longitude</a:t>
            </a:r>
          </a:p>
        </p:txBody>
      </p:sp>
      <p:cxnSp>
        <p:nvCxnSpPr>
          <p:cNvPr id="28" name="Straight Arrow Connector 27">
            <a:extLst>
              <a:ext uri="{FF2B5EF4-FFF2-40B4-BE49-F238E27FC236}">
                <a16:creationId xmlns:a16="http://schemas.microsoft.com/office/drawing/2014/main" id="{1A7FA29C-EFC4-3117-AB58-A69AA5EE17B8}"/>
              </a:ext>
            </a:extLst>
          </p:cNvPr>
          <p:cNvCxnSpPr>
            <a:cxnSpLocks/>
            <a:stCxn id="26" idx="2"/>
            <a:endCxn id="27" idx="0"/>
          </p:cNvCxnSpPr>
          <p:nvPr/>
        </p:nvCxnSpPr>
        <p:spPr>
          <a:xfrm>
            <a:off x="2944001" y="2194404"/>
            <a:ext cx="0" cy="536317"/>
          </a:xfrm>
          <a:prstGeom prst="straightConnector1">
            <a:avLst/>
          </a:prstGeom>
          <a:ln w="15875">
            <a:solidFill>
              <a:srgbClr val="7151FD"/>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C7DEE07-3314-ECBF-8393-15811E1C904D}"/>
              </a:ext>
            </a:extLst>
          </p:cNvPr>
          <p:cNvSpPr txBox="1"/>
          <p:nvPr/>
        </p:nvSpPr>
        <p:spPr>
          <a:xfrm>
            <a:off x="2944001" y="2317360"/>
            <a:ext cx="1459245" cy="246221"/>
          </a:xfrm>
          <a:prstGeom prst="rect">
            <a:avLst/>
          </a:prstGeom>
          <a:noFill/>
        </p:spPr>
        <p:txBody>
          <a:bodyPr wrap="square" rtlCol="0">
            <a:spAutoFit/>
          </a:bodyPr>
          <a:lstStyle/>
          <a:p>
            <a:r>
              <a:rPr lang="en-US" sz="1000" dirty="0" err="1"/>
              <a:t>Nominatim</a:t>
            </a:r>
            <a:r>
              <a:rPr lang="en-US" sz="1000" dirty="0"/>
              <a:t> via </a:t>
            </a:r>
            <a:r>
              <a:rPr lang="en-US" sz="1000" dirty="0" err="1"/>
              <a:t>geopy</a:t>
            </a:r>
            <a:endParaRPr lang="en-US" sz="1000" dirty="0">
              <a:solidFill>
                <a:schemeClr val="tx1">
                  <a:lumMod val="85000"/>
                  <a:lumOff val="15000"/>
                </a:schemeClr>
              </a:solidFill>
            </a:endParaRPr>
          </a:p>
        </p:txBody>
      </p:sp>
      <p:sp>
        <p:nvSpPr>
          <p:cNvPr id="32" name="TextBox 31">
            <a:extLst>
              <a:ext uri="{FF2B5EF4-FFF2-40B4-BE49-F238E27FC236}">
                <a16:creationId xmlns:a16="http://schemas.microsoft.com/office/drawing/2014/main" id="{4713127A-850D-E203-11AC-CCE132D7CE6C}"/>
              </a:ext>
            </a:extLst>
          </p:cNvPr>
          <p:cNvSpPr txBox="1"/>
          <p:nvPr/>
        </p:nvSpPr>
        <p:spPr>
          <a:xfrm>
            <a:off x="1764323" y="4069791"/>
            <a:ext cx="2705269" cy="553998"/>
          </a:xfrm>
          <a:prstGeom prst="rect">
            <a:avLst/>
          </a:prstGeom>
          <a:noFill/>
        </p:spPr>
        <p:txBody>
          <a:bodyPr wrap="square" rtlCol="0">
            <a:spAutoFit/>
          </a:bodyPr>
          <a:lstStyle/>
          <a:p>
            <a:pPr marL="171450" lvl="0" indent="-171450">
              <a:buFont typeface="Arial" panose="020B0604020202020204" pitchFamily="34" charset="0"/>
              <a:buChar char="•"/>
            </a:pPr>
            <a:r>
              <a:rPr lang="en-US" sz="1000" dirty="0"/>
              <a:t>existing source coordinates are kept </a:t>
            </a:r>
          </a:p>
          <a:p>
            <a:pPr marL="171450" lvl="0" indent="-171450">
              <a:buFont typeface="Arial" panose="020B0604020202020204" pitchFamily="34" charset="0"/>
              <a:buChar char="•"/>
            </a:pPr>
            <a:r>
              <a:rPr lang="en-US" sz="1000" dirty="0"/>
              <a:t>missing coordinates are geocoded </a:t>
            </a:r>
          </a:p>
          <a:p>
            <a:pPr marL="171450" lvl="0" indent="-171450">
              <a:buFont typeface="Arial" panose="020B0604020202020204" pitchFamily="34" charset="0"/>
              <a:buChar char="•"/>
            </a:pPr>
            <a:r>
              <a:rPr lang="en-US" sz="1000" dirty="0"/>
              <a:t>failed geocoding requests are monitored</a:t>
            </a:r>
          </a:p>
        </p:txBody>
      </p:sp>
    </p:spTree>
    <p:extLst>
      <p:ext uri="{BB962C8B-B14F-4D97-AF65-F5344CB8AC3E}">
        <p14:creationId xmlns:p14="http://schemas.microsoft.com/office/powerpoint/2010/main" val="2136304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2">
          <a:extLst>
            <a:ext uri="{FF2B5EF4-FFF2-40B4-BE49-F238E27FC236}">
              <a16:creationId xmlns:a16="http://schemas.microsoft.com/office/drawing/2014/main" id="{025829B5-B234-74D5-6DBC-AFB3BA6F10B5}"/>
            </a:ext>
          </a:extLst>
        </p:cNvPr>
        <p:cNvGrpSpPr/>
        <p:nvPr/>
      </p:nvGrpSpPr>
      <p:grpSpPr>
        <a:xfrm>
          <a:off x="0" y="0"/>
          <a:ext cx="0" cy="0"/>
          <a:chOff x="0" y="0"/>
          <a:chExt cx="0" cy="0"/>
        </a:xfrm>
      </p:grpSpPr>
      <p:sp>
        <p:nvSpPr>
          <p:cNvPr id="633" name="Google Shape;633;p91">
            <a:extLst>
              <a:ext uri="{FF2B5EF4-FFF2-40B4-BE49-F238E27FC236}">
                <a16:creationId xmlns:a16="http://schemas.microsoft.com/office/drawing/2014/main" id="{B4D2D3B7-D6EC-1D68-F9E8-67BDD6D0FCE4}"/>
              </a:ext>
            </a:extLst>
          </p:cNvPr>
          <p:cNvSpPr txBox="1">
            <a:spLocks noGrp="1" noRot="1" noMove="1" noResize="1" noEditPoints="1" noAdjustHandles="1" noChangeArrowheads="1" noChangeShapeType="1"/>
          </p:cNvSpPr>
          <p:nvPr>
            <p:ph type="subTitle" idx="1"/>
          </p:nvPr>
        </p:nvSpPr>
        <p:spPr>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b="1" dirty="0">
                <a:latin typeface="Work Sans"/>
                <a:ea typeface="Work Sans"/>
                <a:cs typeface="Work Sans"/>
                <a:sym typeface="Work Sans"/>
              </a:rPr>
              <a:t>Motivation (OLD)</a:t>
            </a:r>
            <a:endParaRPr sz="1500" dirty="0">
              <a:solidFill>
                <a:schemeClr val="dk2"/>
              </a:solidFill>
            </a:endParaRPr>
          </a:p>
        </p:txBody>
      </p:sp>
      <p:pic>
        <p:nvPicPr>
          <p:cNvPr id="640" name="Google Shape;640;p91" title="Fichier 20.png">
            <a:extLst>
              <a:ext uri="{FF2B5EF4-FFF2-40B4-BE49-F238E27FC236}">
                <a16:creationId xmlns:a16="http://schemas.microsoft.com/office/drawing/2014/main" id="{AD007350-06F1-5C56-8225-689231CEC640}"/>
              </a:ext>
            </a:extLst>
          </p:cNvPr>
          <p:cNvPicPr preferRelativeResize="0">
            <a:picLocks noGrp="1" noRot="1" noMove="1" noResize="1" noEditPoints="1" noAdjustHandles="1" noChangeArrowheads="1" noChangeShapeType="1" noCrop="1"/>
          </p:cNvPicPr>
          <p:nvPr/>
        </p:nvPicPr>
        <p:blipFill>
          <a:blip r:embed="rId3">
            <a:alphaModFix/>
          </a:blip>
          <a:stretch>
            <a:fillRect/>
          </a:stretch>
        </p:blipFill>
        <p:spPr>
          <a:xfrm rot="2">
            <a:off x="7792129" y="-860609"/>
            <a:ext cx="4282176" cy="2117219"/>
          </a:xfrm>
          <a:prstGeom prst="rect">
            <a:avLst/>
          </a:prstGeom>
          <a:noFill/>
          <a:ln>
            <a:noFill/>
          </a:ln>
        </p:spPr>
      </p:pic>
      <p:pic>
        <p:nvPicPr>
          <p:cNvPr id="641" name="Google Shape;641;p91" title="Fichier 20.png">
            <a:extLst>
              <a:ext uri="{FF2B5EF4-FFF2-40B4-BE49-F238E27FC236}">
                <a16:creationId xmlns:a16="http://schemas.microsoft.com/office/drawing/2014/main" id="{660BC6A0-7CCE-564F-D496-423CF356A1D9}"/>
              </a:ext>
            </a:extLst>
          </p:cNvPr>
          <p:cNvPicPr preferRelativeResize="0">
            <a:picLocks noGrp="1" noRot="1" noMove="1" noResize="1" noEditPoints="1" noAdjustHandles="1" noChangeArrowheads="1" noChangeShapeType="1" noCrop="1"/>
          </p:cNvPicPr>
          <p:nvPr/>
        </p:nvPicPr>
        <p:blipFill rotWithShape="1">
          <a:blip r:embed="rId3">
            <a:alphaModFix/>
          </a:blip>
          <a:srcRect r="55255"/>
          <a:stretch/>
        </p:blipFill>
        <p:spPr>
          <a:xfrm rot="5400000">
            <a:off x="7892662" y="3745888"/>
            <a:ext cx="1916151" cy="2117225"/>
          </a:xfrm>
          <a:prstGeom prst="rect">
            <a:avLst/>
          </a:prstGeom>
          <a:noFill/>
          <a:ln>
            <a:noFill/>
          </a:ln>
        </p:spPr>
      </p:pic>
      <p:sp>
        <p:nvSpPr>
          <p:cNvPr id="2" name="TextBox 1">
            <a:extLst>
              <a:ext uri="{FF2B5EF4-FFF2-40B4-BE49-F238E27FC236}">
                <a16:creationId xmlns:a16="http://schemas.microsoft.com/office/drawing/2014/main" id="{69D3DF90-3B61-8947-23E5-081DF445B5C6}"/>
              </a:ext>
            </a:extLst>
          </p:cNvPr>
          <p:cNvSpPr txBox="1"/>
          <p:nvPr/>
        </p:nvSpPr>
        <p:spPr>
          <a:xfrm>
            <a:off x="1106598" y="1212691"/>
            <a:ext cx="6930803" cy="2462213"/>
          </a:xfrm>
          <a:prstGeom prst="rect">
            <a:avLst/>
          </a:prstGeom>
          <a:noFill/>
        </p:spPr>
        <p:txBody>
          <a:bodyPr wrap="square" rtlCol="0">
            <a:spAutoFit/>
          </a:bodyPr>
          <a:lstStyle/>
          <a:p>
            <a:pPr marL="285750" lvl="0" indent="-285750" algn="just">
              <a:buFont typeface="Arial" panose="020B0604020202020204" pitchFamily="34" charset="0"/>
              <a:buChar char="•"/>
            </a:pPr>
            <a:r>
              <a:rPr lang="en-US" dirty="0"/>
              <a:t>Job advertisements contain useful information about the </a:t>
            </a:r>
            <a:r>
              <a:rPr lang="en-US" dirty="0" err="1"/>
              <a:t>labour</a:t>
            </a:r>
            <a:r>
              <a:rPr lang="en-US" dirty="0"/>
              <a:t> market, such as </a:t>
            </a:r>
            <a:r>
              <a:rPr lang="en-US" b="1" dirty="0"/>
              <a:t>occupations</a:t>
            </a:r>
            <a:r>
              <a:rPr lang="en-US" dirty="0"/>
              <a:t>, </a:t>
            </a:r>
            <a:r>
              <a:rPr lang="en-US" b="1" dirty="0"/>
              <a:t>companies</a:t>
            </a:r>
            <a:r>
              <a:rPr lang="en-US" dirty="0"/>
              <a:t>, and </a:t>
            </a:r>
            <a:r>
              <a:rPr lang="en-US" b="1" dirty="0"/>
              <a:t>locations</a:t>
            </a:r>
            <a:r>
              <a:rPr lang="en-US" dirty="0"/>
              <a:t>.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The job market is </a:t>
            </a:r>
            <a:r>
              <a:rPr lang="en-US" b="1" dirty="0"/>
              <a:t>continuously</a:t>
            </a:r>
            <a:r>
              <a:rPr lang="en-US" dirty="0"/>
              <a:t> </a:t>
            </a:r>
            <a:r>
              <a:rPr lang="en-US" b="1" dirty="0"/>
              <a:t>changing:</a:t>
            </a:r>
            <a:r>
              <a:rPr lang="en-US" dirty="0"/>
              <a:t> new advertisements appear, existing ones are modified or republished, and others disappear.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A </a:t>
            </a:r>
            <a:r>
              <a:rPr lang="en-US" b="1" dirty="0"/>
              <a:t>single</a:t>
            </a:r>
            <a:r>
              <a:rPr lang="en-US" dirty="0"/>
              <a:t> </a:t>
            </a:r>
            <a:r>
              <a:rPr lang="en-US" b="1" dirty="0"/>
              <a:t>snapshot</a:t>
            </a:r>
            <a:r>
              <a:rPr lang="en-US" dirty="0"/>
              <a:t> is therefore </a:t>
            </a:r>
            <a:r>
              <a:rPr lang="en-US" b="1" dirty="0"/>
              <a:t>not enough </a:t>
            </a:r>
            <a:r>
              <a:rPr lang="en-US" dirty="0"/>
              <a:t>to observe these changes over time. </a:t>
            </a:r>
          </a:p>
          <a:p>
            <a:pPr marL="285750" lvl="0" indent="-285750" algn="just">
              <a:buFont typeface="Arial" panose="020B0604020202020204" pitchFamily="34" charset="0"/>
              <a:buChar char="•"/>
            </a:pPr>
            <a:endParaRPr lang="en-US" b="1" dirty="0"/>
          </a:p>
          <a:p>
            <a:pPr marL="285750" lvl="0" indent="-285750" algn="just">
              <a:buFont typeface="Arial" panose="020B0604020202020204" pitchFamily="34" charset="0"/>
              <a:buChar char="•"/>
            </a:pPr>
            <a:r>
              <a:rPr lang="en-US" dirty="0"/>
              <a:t>Our goal is to </a:t>
            </a:r>
            <a:r>
              <a:rPr lang="en-US" b="1" dirty="0"/>
              <a:t>collect</a:t>
            </a:r>
            <a:r>
              <a:rPr lang="en-US" dirty="0"/>
              <a:t> job advertisements </a:t>
            </a:r>
            <a:r>
              <a:rPr lang="en-US" b="1" dirty="0"/>
              <a:t>regularly</a:t>
            </a:r>
            <a:r>
              <a:rPr lang="en-US" dirty="0"/>
              <a:t> and turn them into structured data that can be </a:t>
            </a:r>
            <a:r>
              <a:rPr lang="en-US" b="1" dirty="0"/>
              <a:t>searched and </a:t>
            </a:r>
            <a:r>
              <a:rPr lang="en-US" b="1" dirty="0" err="1"/>
              <a:t>analysed</a:t>
            </a:r>
            <a:r>
              <a:rPr lang="en-US" dirty="0"/>
              <a:t>.</a:t>
            </a:r>
          </a:p>
          <a:p>
            <a:pPr algn="just"/>
            <a:endParaRPr lang="en-US" dirty="0"/>
          </a:p>
        </p:txBody>
      </p:sp>
    </p:spTree>
    <p:extLst>
      <p:ext uri="{BB962C8B-B14F-4D97-AF65-F5344CB8AC3E}">
        <p14:creationId xmlns:p14="http://schemas.microsoft.com/office/powerpoint/2010/main" val="180817535"/>
      </p:ext>
    </p:extLst>
  </p:cSld>
  <p:clrMapOvr>
    <a:masterClrMapping/>
  </p:clrMapOvr>
</p:sld>
</file>

<file path=ppt/theme/theme1.xml><?xml version="1.0" encoding="utf-8"?>
<a:theme xmlns:a="http://schemas.openxmlformats.org/drawingml/2006/main" name="LIORA">
  <a:themeElements>
    <a:clrScheme name="Simple Light">
      <a:dk1>
        <a:srgbClr val="000000"/>
      </a:dk1>
      <a:lt1>
        <a:srgbClr val="FFFFFF"/>
      </a:lt1>
      <a:dk2>
        <a:srgbClr val="1A1A33"/>
      </a:dk2>
      <a:lt2>
        <a:srgbClr val="FF6745"/>
      </a:lt2>
      <a:accent1>
        <a:srgbClr val="E8E7E1"/>
      </a:accent1>
      <a:accent2>
        <a:srgbClr val="DDFF45"/>
      </a:accent2>
      <a:accent3>
        <a:srgbClr val="00E5EE"/>
      </a:accent3>
      <a:accent4>
        <a:srgbClr val="C445FF"/>
      </a:accent4>
      <a:accent5>
        <a:srgbClr val="7657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2941</Words>
  <Application>Microsoft Office PowerPoint</Application>
  <PresentationFormat>On-screen Show (16:9)</PresentationFormat>
  <Paragraphs>388</Paragraphs>
  <Slides>17</Slides>
  <Notes>17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Aptos</vt:lpstr>
      <vt:lpstr>Arial</vt:lpstr>
      <vt:lpstr>Consolas</vt:lpstr>
      <vt:lpstr>Courier New</vt:lpstr>
      <vt:lpstr>Inter</vt:lpstr>
      <vt:lpstr>Inter Medium</vt:lpstr>
      <vt:lpstr>Inter SemiBold</vt:lpstr>
      <vt:lpstr>Rubik</vt:lpstr>
      <vt:lpstr>Urbanist Black</vt:lpstr>
      <vt:lpstr>Work Sans</vt:lpstr>
      <vt:lpstr>Work Sans Light</vt:lpstr>
      <vt:lpstr>Work Sans Medium</vt:lpstr>
      <vt:lpstr>LIORA</vt:lpstr>
      <vt:lpstr>DATA ENGINEER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Sergey Krutikov</cp:lastModifiedBy>
  <cp:revision>487</cp:revision>
  <dcterms:modified xsi:type="dcterms:W3CDTF">2026-09-25T09:04:17Z</dcterms:modified>
</cp:coreProperties>
</file>