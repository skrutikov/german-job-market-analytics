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7"/>
  </p:notesMasterIdLst>
  <p:sldIdLst>
    <p:sldId id="256" r:id="rId2"/>
    <p:sldId id="294" r:id="rId3"/>
    <p:sldId id="257" r:id="rId4"/>
    <p:sldId id="279" r:id="rId5"/>
    <p:sldId id="290" r:id="rId6"/>
    <p:sldId id="276" r:id="rId7"/>
    <p:sldId id="281" r:id="rId8"/>
    <p:sldId id="282" r:id="rId9"/>
    <p:sldId id="283" r:id="rId10"/>
    <p:sldId id="277" r:id="rId11"/>
    <p:sldId id="278" r:id="rId12"/>
    <p:sldId id="285" r:id="rId13"/>
    <p:sldId id="286" r:id="rId14"/>
    <p:sldId id="287" r:id="rId15"/>
    <p:sldId id="273"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0000"/>
    <a:srgbClr val="FFFFC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4" autoAdjust="0"/>
    <p:restoredTop sz="79427" autoAdjust="0"/>
  </p:normalViewPr>
  <p:slideViewPr>
    <p:cSldViewPr snapToGrid="0">
      <p:cViewPr varScale="1">
        <p:scale>
          <a:sx n="164" d="100"/>
          <a:sy n="164" d="100"/>
        </p:scale>
        <p:origin x="198" y="126"/>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motivation for this project is that job advertisements contain a lot of useful information about the </a:t>
            </a:r>
            <a:r>
              <a:rPr lang="en-US" dirty="0" err="1"/>
              <a:t>labour</a:t>
            </a:r>
            <a:r>
              <a:rPr lang="en-US" dirty="0"/>
              <a:t> market — for example, which companies are recruiting, which occupations and locations are most common, what working conditions are offered, and how publication activity develops over time.</a:t>
            </a:r>
          </a:p>
          <a:p>
            <a:r>
              <a:rPr lang="en-US" dirty="0"/>
              <a:t>But job advertisements are not static. New jobs appear, existing advertisements are modified or republished, and others are no longer observed. So, a single snapshot is not enough if we want to </a:t>
            </a:r>
            <a:r>
              <a:rPr lang="en-US" dirty="0" err="1"/>
              <a:t>analyse</a:t>
            </a:r>
            <a:r>
              <a:rPr lang="en-US" dirty="0"/>
              <a:t> the market in a meaningful way.</a:t>
            </a:r>
          </a:p>
          <a:p>
            <a:r>
              <a:rPr lang="en-US" dirty="0"/>
              <a:t>From this, we derived four main objectives. We wanted to collect job advertisements regularly, preserve the raw data and transform it into a consistent dataset, make the data searchable and </a:t>
            </a:r>
            <a:r>
              <a:rPr lang="en-US" dirty="0" err="1"/>
              <a:t>analysable</a:t>
            </a:r>
            <a:r>
              <a:rPr lang="en-US" dirty="0"/>
              <a:t> through filters, statistics and </a:t>
            </a:r>
            <a:r>
              <a:rPr lang="en-US" dirty="0" err="1"/>
              <a:t>visualisation</a:t>
            </a:r>
            <a:r>
              <a:rPr lang="en-US" dirty="0"/>
              <a:t>, and finally automate and monitor the complete end-to-end pipeline.</a:t>
            </a:r>
          </a:p>
          <a:p>
            <a:r>
              <a:rPr lang="en-US" dirty="0"/>
              <a:t>The rest of the presentation shows how we implemented this approach.</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03850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g3b5a5a12495_0_1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the overall approach. The upper part is the ingestion path; the lower part is the runtime path. We preserve both raw and processed data, load structured job data into PostgreSQL, and create an Elasticsearch index for full-text search. At runtime, </a:t>
            </a:r>
            <a:r>
              <a:rPr lang="en-US" dirty="0" err="1"/>
              <a:t>FastAPI</a:t>
            </a:r>
            <a:r>
              <a:rPr lang="en-US" dirty="0"/>
              <a:t> exposes the data to the Dash frontend for job search and statistics.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4CDCF8BA-96C4-93FC-7D6C-BB49715171B2}"/>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DE5305BD-4ECF-43FE-2DCE-9A5170CF35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D25C066-D770-EFAE-D55A-CDBDBCE530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t>For the frontend we use Dash; FastAPI provides the backend; PostgreSQL and Elasticsearch serve different data-access requirements; Airflow orchestrates the recurring pipeline; and Prometheus and Grafana provide observability.</a:t>
            </a:r>
            <a:endParaRPr/>
          </a:p>
        </p:txBody>
      </p:sp>
    </p:spTree>
    <p:extLst>
      <p:ext uri="{BB962C8B-B14F-4D97-AF65-F5344CB8AC3E}">
        <p14:creationId xmlns:p14="http://schemas.microsoft.com/office/powerpoint/2010/main" val="2790578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API has a two-stage structure. A keyword search first returns job summaries including their reference numbers. These reference numbers can then be used to request the complete job advertisements.</a:t>
            </a:r>
          </a:p>
          <a:p>
            <a:pPr marL="0" lvl="0" indent="0" algn="l" rtl="0">
              <a:spcBef>
                <a:spcPts val="0"/>
              </a:spcBef>
              <a:spcAft>
                <a:spcPts val="0"/>
              </a:spcAft>
              <a:buNone/>
            </a:pPr>
            <a:r>
              <a:rPr lang="en-US" dirty="0"/>
              <a:t>In our pipeline, we later </a:t>
            </a:r>
            <a:r>
              <a:rPr lang="en-US" dirty="0" err="1"/>
              <a:t>optimise</a:t>
            </a:r>
            <a:r>
              <a:rPr lang="en-US" dirty="0"/>
              <a:t> this so that unchanged advertisements do not have to be downloaded in full every day. We do this by comparing the modification timestamp from the search result with the one already stored in PostgreSQL.</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This slide shows the main ETL pipeline.</a:t>
            </a:r>
          </a:p>
          <a:p>
            <a:r>
              <a:rPr lang="en-US" dirty="0"/>
              <a:t>In the </a:t>
            </a:r>
            <a:r>
              <a:rPr lang="en-US" b="1" dirty="0"/>
              <a:t>extract</a:t>
            </a:r>
            <a:r>
              <a:rPr lang="en-US" dirty="0"/>
              <a:t> stage, we first query the search endpoint for each configured keyword.</a:t>
            </a:r>
          </a:p>
          <a:p>
            <a:r>
              <a:rPr lang="en-US" dirty="0"/>
              <a:t>Because the same advertisement can appear in several search results, we deduplicate the jobs by their reference number before retrieving the detailed advertisements.</a:t>
            </a:r>
          </a:p>
          <a:p>
            <a:r>
              <a:rPr lang="en-US" dirty="0"/>
              <a:t>We preserve both the original search results and the retrieved job details as raw JSON. This gives us a traceable snapshot of each ingestion run and allows the data to be reprocessed later if necessary. </a:t>
            </a:r>
          </a:p>
          <a:p>
            <a:r>
              <a:rPr lang="en-US" dirty="0"/>
              <a:t>In the </a:t>
            </a:r>
            <a:r>
              <a:rPr lang="en-US" b="1" dirty="0"/>
              <a:t>transform</a:t>
            </a:r>
            <a:r>
              <a:rPr lang="en-US" dirty="0"/>
              <a:t> stage, the source-specific structure is converted into our internal schema (We convert the source-specific German field names and nested structures into our own consistent internal schema).</a:t>
            </a:r>
          </a:p>
          <a:p>
            <a:r>
              <a:rPr lang="en-US" dirty="0"/>
              <a:t>We keep only advertisements that have at least one location in Germany</a:t>
            </a:r>
          </a:p>
          <a:p>
            <a:r>
              <a:rPr lang="en-US" dirty="0"/>
              <a:t>and enrich missing coordinates where possible.</a:t>
            </a:r>
          </a:p>
          <a:p>
            <a:r>
              <a:rPr lang="en-US" dirty="0"/>
              <a:t>The resulting cleaned dataset is again stored as JSON before it is loaded into the database. </a:t>
            </a:r>
          </a:p>
          <a:p>
            <a:r>
              <a:rPr lang="en-US" dirty="0"/>
              <a:t>Finally, in the </a:t>
            </a:r>
            <a:r>
              <a:rPr lang="en-US" b="1" dirty="0"/>
              <a:t>load</a:t>
            </a:r>
            <a:r>
              <a:rPr lang="en-US" dirty="0"/>
              <a:t> stage, the cleaned advertisements are written to PostgreSQL. Existing jobs are updated rather than duplicated, while their locations are stored separately. </a:t>
            </a:r>
          </a:p>
          <a:p>
            <a:r>
              <a:rPr lang="en-US" dirty="0"/>
              <a:t>The complete process is automated with Airflow and runs once a day at six in the morning. After the core ETL, the workflow continues with the freshness update and synchronization of the Elasticsearch index, which I’ll come back to later.</a:t>
            </a:r>
          </a:p>
          <a:p>
            <a:endParaRPr lang="en-US" dirty="0"/>
          </a:p>
          <a:p>
            <a:pPr marL="158750" indent="0">
              <a:buNone/>
            </a:pPr>
            <a:r>
              <a:rPr lang="en-US" b="1" i="1" dirty="0"/>
              <a:t>The cleaned data is stored in a relational PostgreSQL model, with job advertisements separated from their potentially multiple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i="1" dirty="0"/>
              <a:t>While converting the data into our internal schema, we also </a:t>
            </a:r>
            <a:r>
              <a:rPr lang="en-US" i="1" dirty="0" err="1"/>
              <a:t>categorise</a:t>
            </a:r>
            <a:r>
              <a:rPr lang="en-US" i="1" dirty="0"/>
              <a:t> the jobs for later analysis. We also enrich missing location coordinates through geocoding. I’ll briefly explain both of these steps on the next slide.</a:t>
            </a:r>
            <a:endParaRPr i="1" dirty="0"/>
          </a:p>
        </p:txBody>
      </p:sp>
    </p:spTree>
    <p:extLst>
      <p:ext uri="{BB962C8B-B14F-4D97-AF65-F5344CB8AC3E}">
        <p14:creationId xmlns:p14="http://schemas.microsoft.com/office/powerpoint/2010/main" val="34771065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3C81560-8DE1-343F-2CE5-3720508C684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FA68678-17EF-C4C5-E091-657DA27581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E34EECCF-D3ED-58B6-CAF9-F03E047F23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During transformation, we also enrich the source data in two ways.</a:t>
            </a:r>
          </a:p>
          <a:p>
            <a:endParaRPr lang="en-US" dirty="0"/>
          </a:p>
          <a:p>
            <a:r>
              <a:rPr lang="en-US" dirty="0"/>
              <a:t>First, not every job location contains usable coordinates. If latitude and longitude are already provided by the source, we keep them. Otherwise, we build a location query from the available postal code, city, and country and use </a:t>
            </a:r>
            <a:r>
              <a:rPr lang="en-US" dirty="0" err="1"/>
              <a:t>Nominatim</a:t>
            </a:r>
            <a:r>
              <a:rPr lang="en-US" dirty="0"/>
              <a:t> through </a:t>
            </a:r>
            <a:r>
              <a:rPr lang="en-US" dirty="0" err="1"/>
              <a:t>geopy</a:t>
            </a:r>
            <a:r>
              <a:rPr lang="en-US" dirty="0"/>
              <a:t> to retrieve coordinates. Failed geocoding attempts are recorded so that this part of the enrichment is observable.</a:t>
            </a:r>
          </a:p>
          <a:p>
            <a:endParaRPr lang="en-US" dirty="0"/>
          </a:p>
          <a:p>
            <a:r>
              <a:rPr lang="en-US" dirty="0"/>
              <a:t>The second enrichment is job classification. Raw job titles are very heterogeneous, which makes aggregation and </a:t>
            </a:r>
            <a:r>
              <a:rPr lang="en-US" dirty="0" err="1"/>
              <a:t>visualisation</a:t>
            </a:r>
            <a:r>
              <a:rPr lang="en-US" dirty="0"/>
              <a:t> difficult. We therefore map jobs into six broad categories using deterministic keyword rules applied to the title and occupation. The rules also have an explicit priority—for example, a ‘Backend Developer for Machine Learning’ is classified as AI / Machine Learning rather than Backend Development. Jobs that do not match any rule fall back to Other.</a:t>
            </a:r>
          </a:p>
          <a:p>
            <a:endParaRPr lang="en-US" dirty="0"/>
          </a:p>
          <a:p>
            <a:r>
              <a:rPr lang="en-US" dirty="0"/>
              <a:t>These enrichments make the data more useful later for the map, filtering, and statistics.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804260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22FCF4-424B-BE31-2085-4D3750C355E4}"/>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711EBA4-37FD-4F93-A16F-C27A00BD1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DDA07EBF-D098-17D5-80CF-FBA54C6D4A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 problem with job advertisements is that a recent publication date does not necessarily mean that the advertisement is genuinely new. Some advertisements are simply republished while their actual content remains unchanged.</a:t>
            </a:r>
          </a:p>
          <a:p>
            <a:endParaRPr lang="en-US" dirty="0"/>
          </a:p>
          <a:p>
            <a:r>
              <a:rPr lang="en-US" dirty="0"/>
              <a:t>To distinguish these cases, we compare the current API data with the version already stored in PostgreSQL. For a new job, we store its original publication and modification dates. For an existing job, a changed </a:t>
            </a:r>
            <a:r>
              <a:rPr lang="en-US" sz="1100" b="0" i="0" u="none" strike="noStrike" cap="none" dirty="0" err="1">
                <a:solidFill>
                  <a:srgbClr val="000000"/>
                </a:solidFill>
                <a:latin typeface="Arial"/>
                <a:ea typeface="Arial"/>
                <a:cs typeface="Arial"/>
                <a:sym typeface="Arial"/>
              </a:rPr>
              <a:t>modified_at</a:t>
            </a:r>
            <a:r>
              <a:rPr lang="en-US" dirty="0"/>
              <a:t> indicates an actual update, so the unchanged-republication counter is reset. If only the publication date changes while </a:t>
            </a:r>
            <a:r>
              <a:rPr lang="en-US" sz="1100" b="0" i="0" u="none" strike="noStrike" cap="none" dirty="0" err="1">
                <a:solidFill>
                  <a:srgbClr val="000000"/>
                </a:solidFill>
                <a:latin typeface="Arial"/>
                <a:ea typeface="Arial"/>
                <a:cs typeface="Arial"/>
                <a:sym typeface="Arial"/>
              </a:rPr>
              <a:t>modified_at</a:t>
            </a:r>
            <a:r>
              <a:rPr lang="en-US" dirty="0"/>
              <a:t> stays the same, we treat this as an unchanged republication and increment the counter.”</a:t>
            </a:r>
          </a:p>
          <a:p>
            <a:endParaRPr lang="en-US" dirty="0"/>
          </a:p>
          <a:p>
            <a:r>
              <a:rPr lang="en-US" dirty="0"/>
              <a:t>This allows the frontend to show a more meaningful freshness summary—for example, when the job was first published, when it was last actually updated, and how often it has been republished without changes.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607714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77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is deployed locally with Docker Compose. Each major component runs as its own service: the Dash frontend, </a:t>
            </a:r>
            <a:r>
              <a:rPr lang="en-US" dirty="0" err="1"/>
              <a:t>FastAPI</a:t>
            </a:r>
            <a:r>
              <a:rPr lang="en-US" dirty="0"/>
              <a:t> backend, PostgreSQL, Elasticsearch, Airflow, Prometheus, and Grafana. This gives us a reproducible environment where the whole system can be started together with Docker Compose. </a:t>
            </a:r>
          </a:p>
          <a:p>
            <a:endParaRPr lang="en-US" dirty="0"/>
          </a:p>
          <a:p>
            <a:r>
              <a:rPr lang="en-US" dirty="0"/>
              <a:t>At runtime, the frontend communicates with </a:t>
            </a:r>
            <a:r>
              <a:rPr lang="en-US" dirty="0" err="1"/>
              <a:t>FastAPI</a:t>
            </a:r>
            <a:r>
              <a:rPr lang="en-US" dirty="0"/>
              <a:t> over HTTP. </a:t>
            </a:r>
            <a:r>
              <a:rPr lang="en-US" dirty="0" err="1"/>
              <a:t>FastAPI</a:t>
            </a:r>
            <a:r>
              <a:rPr lang="en-US" dirty="0"/>
              <a:t> reads structured job data from PostgreSQL and uses Elasticsearch for full-text search. Prometheus collects application and ETL metrics, which are </a:t>
            </a:r>
            <a:r>
              <a:rPr lang="en-US" dirty="0" err="1"/>
              <a:t>visualised</a:t>
            </a:r>
            <a:r>
              <a:rPr lang="en-US" dirty="0"/>
              <a:t> in Grafana.</a:t>
            </a:r>
          </a:p>
          <a:p>
            <a:endParaRPr lang="en-US" dirty="0"/>
          </a:p>
          <a:p>
            <a:r>
              <a:rPr lang="en-US" dirty="0"/>
              <a:t>For automation, Airflow runs the ETL workflow once per day at six in the morning. The same ETL can also be triggered manually through the data-update service. This means data ingestion is automated, but we still retain a manual execution path for testing or ad-hoc updates.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7327330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monitor two different kinds of workloads. The </a:t>
            </a:r>
            <a:r>
              <a:rPr lang="en-US" dirty="0" err="1"/>
              <a:t>FastAPI</a:t>
            </a:r>
            <a:r>
              <a:rPr lang="en-US" dirty="0"/>
              <a:t> backend is continuously running, so Prometheus scrapes its metrics every 15 seconds. These include the number and duration of job searches and the number of active database connections.</a:t>
            </a:r>
          </a:p>
          <a:p>
            <a:endParaRPr lang="en-US" dirty="0"/>
          </a:p>
          <a:p>
            <a:r>
              <a:rPr lang="en-US" dirty="0"/>
              <a:t>The ETL is different because it only runs once per day. Instead of exposing metrics continuously, it pushes its results to the </a:t>
            </a:r>
            <a:r>
              <a:rPr lang="en-US" dirty="0" err="1"/>
              <a:t>Pushgateway</a:t>
            </a:r>
            <a:r>
              <a:rPr lang="en-US" dirty="0"/>
              <a:t>. We monitor the duration of the last ETL run, the time since the last successful run, and geocoding failures.</a:t>
            </a:r>
          </a:p>
          <a:p>
            <a:endParaRPr lang="en-US" dirty="0"/>
          </a:p>
          <a:p>
            <a:r>
              <a:rPr lang="en-US" dirty="0"/>
              <a:t>Grafana queries Prometheus and </a:t>
            </a:r>
            <a:r>
              <a:rPr lang="en-US" dirty="0" err="1"/>
              <a:t>visualises</a:t>
            </a:r>
            <a:r>
              <a:rPr lang="en-US" dirty="0"/>
              <a:t> these metrics:</a:t>
            </a:r>
          </a:p>
          <a:p>
            <a:pPr lvl="1"/>
            <a:r>
              <a:rPr lang="en-US" dirty="0"/>
              <a:t>For the backend, we monitor the </a:t>
            </a:r>
            <a:r>
              <a:rPr lang="en-US" b="1" dirty="0"/>
              <a:t>number of job-search requests</a:t>
            </a:r>
            <a:r>
              <a:rPr lang="en-US" dirty="0"/>
              <a:t>, the </a:t>
            </a:r>
            <a:r>
              <a:rPr lang="en-US" b="1" dirty="0"/>
              <a:t>search duration</a:t>
            </a:r>
            <a:r>
              <a:rPr lang="en-US" dirty="0"/>
              <a:t>, and the </a:t>
            </a:r>
            <a:r>
              <a:rPr lang="en-US" b="1" dirty="0"/>
              <a:t>number of active database connections</a:t>
            </a:r>
            <a:r>
              <a:rPr lang="en-US" dirty="0"/>
              <a:t>.</a:t>
            </a:r>
          </a:p>
          <a:p>
            <a:pPr lvl="2"/>
            <a:r>
              <a:rPr lang="en-US" b="0" i="1" dirty="0"/>
              <a:t>For the search duration, we use the 95th percentile. This means that 95% of the requests are completed within this time. It gives us a good indication of slower requests without being too heavily influenced by a few extreme outliers.</a:t>
            </a:r>
            <a:endParaRPr lang="en-US" i="1" dirty="0"/>
          </a:p>
          <a:p>
            <a:pPr lvl="1"/>
            <a:r>
              <a:rPr lang="en-US" dirty="0"/>
              <a:t>For the ETL pipeline, we show the </a:t>
            </a:r>
            <a:r>
              <a:rPr lang="en-US" b="1" dirty="0"/>
              <a:t>time since the last successful run</a:t>
            </a:r>
            <a:r>
              <a:rPr lang="en-US" dirty="0"/>
              <a:t>, the </a:t>
            </a:r>
            <a:r>
              <a:rPr lang="en-US" b="1" dirty="0"/>
              <a:t>duration of the last run</a:t>
            </a:r>
            <a:r>
              <a:rPr lang="en-US" dirty="0"/>
              <a:t>, and the </a:t>
            </a:r>
            <a:r>
              <a:rPr lang="en-US" b="1" dirty="0"/>
              <a:t>number of failed geocoding requests</a:t>
            </a:r>
            <a:r>
              <a:rPr lang="en-US" dirty="0"/>
              <a:t>.</a:t>
            </a:r>
          </a:p>
          <a:p>
            <a:pPr lvl="1"/>
            <a:endParaRPr lang="en-US" dirty="0"/>
          </a:p>
          <a:p>
            <a:endParaRPr lang="en-US" dirty="0"/>
          </a:p>
          <a:p>
            <a:r>
              <a:rPr lang="en-US" dirty="0"/>
              <a:t>Prometheus also evaluates an alert rule: if no successful ETL run has been recorded for more than 26 hours, the alert is forwarded to </a:t>
            </a:r>
            <a:r>
              <a:rPr lang="en-US" dirty="0" err="1"/>
              <a:t>Alertmanager</a:t>
            </a:r>
            <a:r>
              <a:rPr lang="en-US" dirty="0"/>
              <a: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64944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Besides individual job search, the collected data supports broader exploratory questions: </a:t>
            </a:r>
          </a:p>
          <a:p>
            <a:pPr marL="171450" lvl="0" indent="-171450" algn="l" rtl="0">
              <a:spcBef>
                <a:spcPts val="0"/>
              </a:spcBef>
              <a:spcAft>
                <a:spcPts val="0"/>
              </a:spcAft>
            </a:pPr>
            <a:r>
              <a:rPr lang="en-US" dirty="0"/>
              <a:t>Which companies recruit most?</a:t>
            </a:r>
          </a:p>
          <a:p>
            <a:pPr marL="171450" lvl="0" indent="-171450" algn="l" rtl="0">
              <a:spcBef>
                <a:spcPts val="0"/>
              </a:spcBef>
              <a:spcAft>
                <a:spcPts val="0"/>
              </a:spcAft>
            </a:pPr>
            <a:r>
              <a:rPr lang="en-US" dirty="0"/>
              <a:t>Where are advertisements concentrated?</a:t>
            </a:r>
          </a:p>
          <a:p>
            <a:pPr marL="171450" lvl="0" indent="-171450" algn="l" rtl="0">
              <a:spcBef>
                <a:spcPts val="0"/>
              </a:spcBef>
              <a:spcAft>
                <a:spcPts val="0"/>
              </a:spcAft>
            </a:pPr>
            <a:r>
              <a:rPr lang="en-US" dirty="0"/>
              <a:t>How often is home office reported?</a:t>
            </a:r>
          </a:p>
          <a:p>
            <a:pPr marL="171450" lvl="0" indent="-171450" algn="l" rtl="0">
              <a:spcBef>
                <a:spcPts val="0"/>
              </a:spcBef>
              <a:spcAft>
                <a:spcPts val="0"/>
              </a:spcAft>
            </a:pPr>
            <a:r>
              <a:rPr lang="en-US" dirty="0"/>
              <a:t>How the jobs are distributed across our standardized categories?</a:t>
            </a:r>
          </a:p>
          <a:p>
            <a:pPr marL="171450" lvl="0" indent="-171450" algn="l" rtl="0">
              <a:spcBef>
                <a:spcPts val="0"/>
              </a:spcBef>
              <a:spcAft>
                <a:spcPts val="0"/>
              </a:spcAft>
            </a:pPr>
            <a:r>
              <a:rPr lang="en-US" dirty="0"/>
              <a:t>How publication activity changes over time?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exploratory statistics for our collected sample rather than claims about the complete German </a:t>
            </a:r>
            <a:r>
              <a:rPr lang="en-US" dirty="0" err="1"/>
              <a:t>labour</a:t>
            </a:r>
            <a:r>
              <a:rPr lang="en-US" dirty="0"/>
              <a:t> market.</a:t>
            </a:r>
            <a:endParaRPr dirty="0"/>
          </a:p>
        </p:txBody>
      </p:sp>
    </p:spTree>
    <p:extLst>
      <p:ext uri="{BB962C8B-B14F-4D97-AF65-F5344CB8AC3E}">
        <p14:creationId xmlns:p14="http://schemas.microsoft.com/office/powerpoint/2010/main" val="3495488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biggest limitation is that this is not a complete representation of the German </a:t>
            </a:r>
            <a:r>
              <a:rPr lang="en-US" dirty="0" err="1"/>
              <a:t>labour</a:t>
            </a:r>
            <a:r>
              <a:rPr lang="en-US" dirty="0"/>
              <a:t> market.</a:t>
            </a:r>
          </a:p>
          <a:p>
            <a:pPr lvl="1"/>
            <a:r>
              <a:rPr lang="en-US" dirty="0"/>
              <a:t>We use one source and a small set of configured search terms.</a:t>
            </a:r>
          </a:p>
          <a:p>
            <a:r>
              <a:rPr lang="en-US" dirty="0"/>
              <a:t>Temporal analysis is also still limited because our own freshness history only accumulates while the system is running.</a:t>
            </a:r>
          </a:p>
          <a:p>
            <a:r>
              <a:rPr lang="en-US" dirty="0"/>
              <a:t>Classification is intentionally rule-based and therefore cannot capture every semantic nuance.</a:t>
            </a:r>
          </a:p>
          <a:p>
            <a:r>
              <a:rPr lang="en-US" dirty="0"/>
              <a:t>Finally, the deployment is designed for local demonstration rather than production.</a:t>
            </a:r>
          </a:p>
          <a:p>
            <a:endParaRPr lang="en-US" dirty="0"/>
          </a:p>
          <a:p>
            <a:pPr marL="158750" indent="0">
              <a:buNone/>
            </a:pPr>
            <a:r>
              <a:rPr lang="en-US" dirty="0"/>
              <a:t>The natural improvements are therefore</a:t>
            </a:r>
          </a:p>
          <a:p>
            <a:r>
              <a:rPr lang="en-US" dirty="0"/>
              <a:t>broader data coverage</a:t>
            </a:r>
          </a:p>
          <a:p>
            <a:r>
              <a:rPr lang="en-US" dirty="0"/>
              <a:t>longer continuous operation</a:t>
            </a:r>
          </a:p>
          <a:p>
            <a:r>
              <a:rPr lang="en-US" dirty="0"/>
              <a:t>more advanced classification and search</a:t>
            </a:r>
          </a:p>
          <a:p>
            <a:r>
              <a:rPr lang="en-US" dirty="0"/>
              <a:t>and stronger testing, security, and deployment infrastructure</a:t>
            </a:r>
          </a:p>
          <a:p>
            <a:pPr marL="158750" indent="0">
              <a:buNone/>
            </a:pPr>
            <a:endParaRPr lang="en-US" dirty="0"/>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dirty="0"/>
              <a:t>and the system is monitored with Prometheus and Grafana.</a:t>
            </a:r>
          </a:p>
          <a:p>
            <a:endParaRPr lang="en-US" dirty="0"/>
          </a:p>
          <a:p>
            <a:r>
              <a:rPr lang="en-US" dirty="0"/>
              <a:t>The main result is therefore not only a job-search interface, but a pipeline for turning continuously changing job advertisements into structured and </a:t>
            </a:r>
            <a:r>
              <a:rPr lang="en-US" dirty="0" err="1"/>
              <a:t>analysable</a:t>
            </a:r>
            <a:r>
              <a:rPr lang="en-US" dirty="0"/>
              <a:t> data. I’ll now show the application in the live demo.</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3.xml"/><Relationship Id="rId16" Type="http://schemas.openxmlformats.org/officeDocument/2006/relationships/image" Target="../media/image35.png"/><Relationship Id="rId1" Type="http://schemas.openxmlformats.org/officeDocument/2006/relationships/slideLayout" Target="../slideLayouts/slideLayout2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2.xml"/><Relationship Id="rId6" Type="http://schemas.openxmlformats.org/officeDocument/2006/relationships/image" Target="../media/image38.png"/><Relationship Id="rId11" Type="http://schemas.openxmlformats.org/officeDocument/2006/relationships/image" Target="../media/image42.svg"/><Relationship Id="rId5" Type="http://schemas.openxmlformats.org/officeDocument/2006/relationships/image" Target="../media/image34.png"/><Relationship Id="rId10" Type="http://schemas.openxmlformats.org/officeDocument/2006/relationships/image" Target="../media/image41.png"/><Relationship Id="rId4" Type="http://schemas.openxmlformats.org/officeDocument/2006/relationships/image" Target="../media/image28.png"/><Relationship Id="rId9" Type="http://schemas.openxmlformats.org/officeDocument/2006/relationships/image" Target="../media/image4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2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26.png"/><Relationship Id="rId4" Type="http://schemas.openxmlformats.org/officeDocument/2006/relationships/image" Target="../media/image25.png"/><Relationship Id="rId9" Type="http://schemas.openxmlformats.org/officeDocument/2006/relationships/image" Target="../media/image38.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7.png"/><Relationship Id="rId5" Type="http://schemas.openxmlformats.org/officeDocument/2006/relationships/image" Target="../media/image22.png"/><Relationship Id="rId10"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5.png"/><Relationship Id="rId1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34.png"/><Relationship Id="rId12" Type="http://schemas.openxmlformats.org/officeDocument/2006/relationships/image" Target="../media/image44.png"/><Relationship Id="rId17" Type="http://schemas.openxmlformats.org/officeDocument/2006/relationships/image" Target="../media/image39.png"/><Relationship Id="rId2" Type="http://schemas.openxmlformats.org/officeDocument/2006/relationships/notesSlide" Target="../notesSlides/notesSlide10.xml"/><Relationship Id="rId16" Type="http://schemas.openxmlformats.org/officeDocument/2006/relationships/image" Target="../media/image47.png"/><Relationship Id="rId1" Type="http://schemas.openxmlformats.org/officeDocument/2006/relationships/slideLayout" Target="../slideLayouts/slideLayout22.xml"/><Relationship Id="rId6" Type="http://schemas.openxmlformats.org/officeDocument/2006/relationships/image" Target="../media/image28.png"/><Relationship Id="rId11" Type="http://schemas.openxmlformats.org/officeDocument/2006/relationships/image" Target="../media/image43.png"/><Relationship Id="rId5" Type="http://schemas.openxmlformats.org/officeDocument/2006/relationships/image" Target="../media/image27.png"/><Relationship Id="rId15" Type="http://schemas.openxmlformats.org/officeDocument/2006/relationships/image" Target="../media/image35.png"/><Relationship Id="rId10" Type="http://schemas.openxmlformats.org/officeDocument/2006/relationships/image" Target="../media/image23.png"/><Relationship Id="rId19" Type="http://schemas.openxmlformats.org/officeDocument/2006/relationships/image" Target="../media/image37.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46.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2.xml"/><Relationship Id="rId6" Type="http://schemas.openxmlformats.org/officeDocument/2006/relationships/image" Target="../media/image28.png"/><Relationship Id="rId5" Type="http://schemas.openxmlformats.org/officeDocument/2006/relationships/image" Target="../media/image39.png"/><Relationship Id="rId10" Type="http://schemas.openxmlformats.org/officeDocument/2006/relationships/image" Target="../media/image45.png"/><Relationship Id="rId4" Type="http://schemas.openxmlformats.org/officeDocument/2006/relationships/image" Target="../media/image47.png"/><Relationship Id="rId9"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2.xml"/><Relationship Id="rId6" Type="http://schemas.openxmlformats.org/officeDocument/2006/relationships/image" Target="../media/image51.gif"/><Relationship Id="rId5" Type="http://schemas.openxmlformats.org/officeDocument/2006/relationships/image" Target="../media/image50.png"/><Relationship Id="rId4" Type="http://schemas.openxmlformats.org/officeDocument/2006/relationships/image" Target="../media/image4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200DCD83-686D-5390-4DD3-F2D39264A846}"/>
              </a:ext>
            </a:extLst>
          </p:cNvPr>
          <p:cNvSpPr/>
          <p:nvPr/>
        </p:nvSpPr>
        <p:spPr>
          <a:xfrm>
            <a:off x="1692235" y="2854622"/>
            <a:ext cx="6467034" cy="170018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3AC58F0-9776-7648-A6BE-E1061A485578}"/>
              </a:ext>
            </a:extLst>
          </p:cNvPr>
          <p:cNvSpPr/>
          <p:nvPr/>
        </p:nvSpPr>
        <p:spPr>
          <a:xfrm>
            <a:off x="1702931" y="571500"/>
            <a:ext cx="6467034" cy="205243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&amp; Objectives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12" name="TextBox 11">
            <a:extLst>
              <a:ext uri="{FF2B5EF4-FFF2-40B4-BE49-F238E27FC236}">
                <a16:creationId xmlns:a16="http://schemas.microsoft.com/office/drawing/2014/main" id="{F91CC337-B225-7971-694B-5F984AB832B9}"/>
              </a:ext>
            </a:extLst>
          </p:cNvPr>
          <p:cNvSpPr txBox="1"/>
          <p:nvPr/>
        </p:nvSpPr>
        <p:spPr>
          <a:xfrm>
            <a:off x="2526208" y="731871"/>
            <a:ext cx="4820480" cy="307777"/>
          </a:xfrm>
          <a:prstGeom prst="rect">
            <a:avLst/>
          </a:prstGeom>
          <a:noFill/>
        </p:spPr>
        <p:txBody>
          <a:bodyPr wrap="square" rtlCol="0">
            <a:spAutoFit/>
          </a:bodyPr>
          <a:lstStyle/>
          <a:p>
            <a:pPr algn="ctr"/>
            <a:r>
              <a:rPr lang="en-US" dirty="0"/>
              <a:t>Job advertisements provide insight into the </a:t>
            </a:r>
            <a:r>
              <a:rPr lang="en-US" dirty="0" err="1"/>
              <a:t>labour</a:t>
            </a:r>
            <a:r>
              <a:rPr lang="en-US" dirty="0"/>
              <a:t> market</a:t>
            </a:r>
          </a:p>
        </p:txBody>
      </p:sp>
      <p:grpSp>
        <p:nvGrpSpPr>
          <p:cNvPr id="42" name="Group 41">
            <a:extLst>
              <a:ext uri="{FF2B5EF4-FFF2-40B4-BE49-F238E27FC236}">
                <a16:creationId xmlns:a16="http://schemas.microsoft.com/office/drawing/2014/main" id="{8CF65993-B1F4-6A93-5221-6D2815B3C5D5}"/>
              </a:ext>
            </a:extLst>
          </p:cNvPr>
          <p:cNvGrpSpPr/>
          <p:nvPr/>
        </p:nvGrpSpPr>
        <p:grpSpPr>
          <a:xfrm>
            <a:off x="1881836" y="1109748"/>
            <a:ext cx="6089194" cy="229330"/>
            <a:chOff x="1560443" y="1107877"/>
            <a:chExt cx="6089194" cy="229330"/>
          </a:xfrm>
        </p:grpSpPr>
        <p:sp>
          <p:nvSpPr>
            <p:cNvPr id="13" name="Rectangle 12">
              <a:extLst>
                <a:ext uri="{FF2B5EF4-FFF2-40B4-BE49-F238E27FC236}">
                  <a16:creationId xmlns:a16="http://schemas.microsoft.com/office/drawing/2014/main" id="{1F6AE94D-E308-CD50-33DD-25E3214A3B94}"/>
                </a:ext>
              </a:extLst>
            </p:cNvPr>
            <p:cNvSpPr/>
            <p:nvPr/>
          </p:nvSpPr>
          <p:spPr>
            <a:xfrm>
              <a:off x="1560443"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companies</a:t>
              </a:r>
            </a:p>
          </p:txBody>
        </p:sp>
        <p:sp>
          <p:nvSpPr>
            <p:cNvPr id="15" name="Rectangle 14">
              <a:extLst>
                <a:ext uri="{FF2B5EF4-FFF2-40B4-BE49-F238E27FC236}">
                  <a16:creationId xmlns:a16="http://schemas.microsoft.com/office/drawing/2014/main" id="{081C4263-3088-57ED-BF55-014CA3B5720C}"/>
                </a:ext>
              </a:extLst>
            </p:cNvPr>
            <p:cNvSpPr/>
            <p:nvPr/>
          </p:nvSpPr>
          <p:spPr>
            <a:xfrm>
              <a:off x="2676938" y="1107877"/>
              <a:ext cx="96906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occupations</a:t>
              </a:r>
            </a:p>
          </p:txBody>
        </p:sp>
        <p:sp>
          <p:nvSpPr>
            <p:cNvPr id="16" name="Rectangle 15">
              <a:extLst>
                <a:ext uri="{FF2B5EF4-FFF2-40B4-BE49-F238E27FC236}">
                  <a16:creationId xmlns:a16="http://schemas.microsoft.com/office/drawing/2014/main" id="{B95359FA-7597-87CE-4019-8DB11252A579}"/>
                </a:ext>
              </a:extLst>
            </p:cNvPr>
            <p:cNvSpPr/>
            <p:nvPr/>
          </p:nvSpPr>
          <p:spPr>
            <a:xfrm>
              <a:off x="3793433" y="1107877"/>
              <a:ext cx="810926"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locations</a:t>
              </a:r>
            </a:p>
          </p:txBody>
        </p:sp>
        <p:sp>
          <p:nvSpPr>
            <p:cNvPr id="17" name="Rectangle 16">
              <a:extLst>
                <a:ext uri="{FF2B5EF4-FFF2-40B4-BE49-F238E27FC236}">
                  <a16:creationId xmlns:a16="http://schemas.microsoft.com/office/drawing/2014/main" id="{7CC29AC9-D5E2-A945-F314-1F3E29FC359A}"/>
                </a:ext>
              </a:extLst>
            </p:cNvPr>
            <p:cNvSpPr/>
            <p:nvPr/>
          </p:nvSpPr>
          <p:spPr>
            <a:xfrm>
              <a:off x="4751788"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working conditions</a:t>
              </a:r>
            </a:p>
          </p:txBody>
        </p:sp>
        <p:sp>
          <p:nvSpPr>
            <p:cNvPr id="18" name="Rectangle 17">
              <a:extLst>
                <a:ext uri="{FF2B5EF4-FFF2-40B4-BE49-F238E27FC236}">
                  <a16:creationId xmlns:a16="http://schemas.microsoft.com/office/drawing/2014/main" id="{99180437-8FA8-8E64-E82F-452AB84519EC}"/>
                </a:ext>
              </a:extLst>
            </p:cNvPr>
            <p:cNvSpPr/>
            <p:nvPr/>
          </p:nvSpPr>
          <p:spPr>
            <a:xfrm>
              <a:off x="6274427" y="1107877"/>
              <a:ext cx="1375210"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publication trends</a:t>
              </a:r>
            </a:p>
          </p:txBody>
        </p:sp>
      </p:grpSp>
      <p:sp>
        <p:nvSpPr>
          <p:cNvPr id="20" name="TextBox 19">
            <a:extLst>
              <a:ext uri="{FF2B5EF4-FFF2-40B4-BE49-F238E27FC236}">
                <a16:creationId xmlns:a16="http://schemas.microsoft.com/office/drawing/2014/main" id="{D5962D0D-F51A-1E58-91AD-26FBE8CE95A9}"/>
              </a:ext>
            </a:extLst>
          </p:cNvPr>
          <p:cNvSpPr txBox="1"/>
          <p:nvPr/>
        </p:nvSpPr>
        <p:spPr>
          <a:xfrm>
            <a:off x="2526208" y="1504420"/>
            <a:ext cx="4820480" cy="307777"/>
          </a:xfrm>
          <a:prstGeom prst="rect">
            <a:avLst/>
          </a:prstGeom>
          <a:noFill/>
        </p:spPr>
        <p:txBody>
          <a:bodyPr wrap="square" rtlCol="0">
            <a:spAutoFit/>
          </a:bodyPr>
          <a:lstStyle/>
          <a:p>
            <a:pPr algn="ctr"/>
            <a:r>
              <a:rPr lang="en-US" dirty="0"/>
              <a:t>But the market is continuously changing</a:t>
            </a:r>
          </a:p>
        </p:txBody>
      </p:sp>
      <p:grpSp>
        <p:nvGrpSpPr>
          <p:cNvPr id="43" name="Group 42">
            <a:extLst>
              <a:ext uri="{FF2B5EF4-FFF2-40B4-BE49-F238E27FC236}">
                <a16:creationId xmlns:a16="http://schemas.microsoft.com/office/drawing/2014/main" id="{BD66D11B-F49E-A9D1-2D0A-EAC79041E94F}"/>
              </a:ext>
            </a:extLst>
          </p:cNvPr>
          <p:cNvGrpSpPr/>
          <p:nvPr/>
        </p:nvGrpSpPr>
        <p:grpSpPr>
          <a:xfrm>
            <a:off x="2464089" y="1877325"/>
            <a:ext cx="4944718" cy="229330"/>
            <a:chOff x="2365512" y="1847732"/>
            <a:chExt cx="4944718" cy="229330"/>
          </a:xfrm>
        </p:grpSpPr>
        <p:sp>
          <p:nvSpPr>
            <p:cNvPr id="22" name="Rectangle 21">
              <a:extLst>
                <a:ext uri="{FF2B5EF4-FFF2-40B4-BE49-F238E27FC236}">
                  <a16:creationId xmlns:a16="http://schemas.microsoft.com/office/drawing/2014/main" id="{EA00B73D-E101-2B09-6E64-48AF1D74B6ED}"/>
                </a:ext>
              </a:extLst>
            </p:cNvPr>
            <p:cNvSpPr/>
            <p:nvPr/>
          </p:nvSpPr>
          <p:spPr>
            <a:xfrm>
              <a:off x="2365512" y="1847732"/>
              <a:ext cx="596289"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NEW</a:t>
              </a:r>
            </a:p>
          </p:txBody>
        </p:sp>
        <p:sp>
          <p:nvSpPr>
            <p:cNvPr id="24" name="Rectangle 23">
              <a:extLst>
                <a:ext uri="{FF2B5EF4-FFF2-40B4-BE49-F238E27FC236}">
                  <a16:creationId xmlns:a16="http://schemas.microsoft.com/office/drawing/2014/main" id="{4192A6BC-02DC-DFD4-17A0-46CAD6BF5B1A}"/>
                </a:ext>
              </a:extLst>
            </p:cNvPr>
            <p:cNvSpPr/>
            <p:nvPr/>
          </p:nvSpPr>
          <p:spPr>
            <a:xfrm>
              <a:off x="3288195" y="1847732"/>
              <a:ext cx="1927421"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MODIFIED / REPUBLISHED</a:t>
              </a:r>
            </a:p>
          </p:txBody>
        </p:sp>
        <p:sp>
          <p:nvSpPr>
            <p:cNvPr id="26" name="Rectangle 25">
              <a:extLst>
                <a:ext uri="{FF2B5EF4-FFF2-40B4-BE49-F238E27FC236}">
                  <a16:creationId xmlns:a16="http://schemas.microsoft.com/office/drawing/2014/main" id="{C0DEFFB8-DA5F-3016-FE83-9A9CD16DE8D8}"/>
                </a:ext>
              </a:extLst>
            </p:cNvPr>
            <p:cNvSpPr/>
            <p:nvPr/>
          </p:nvSpPr>
          <p:spPr>
            <a:xfrm>
              <a:off x="5542008" y="1847732"/>
              <a:ext cx="1768222" cy="229330"/>
            </a:xfrm>
            <a:prstGeom prst="rect">
              <a:avLst/>
            </a:prstGeom>
            <a:solidFill>
              <a:schemeClr val="accent2">
                <a:lumMod val="60000"/>
                <a:lumOff val="4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NO LONGER OBSERVED</a:t>
              </a:r>
            </a:p>
          </p:txBody>
        </p:sp>
        <p:cxnSp>
          <p:nvCxnSpPr>
            <p:cNvPr id="30" name="Straight Arrow Connector 29">
              <a:extLst>
                <a:ext uri="{FF2B5EF4-FFF2-40B4-BE49-F238E27FC236}">
                  <a16:creationId xmlns:a16="http://schemas.microsoft.com/office/drawing/2014/main" id="{940EC19C-7456-38A6-31A4-10FC47063A16}"/>
                </a:ext>
              </a:extLst>
            </p:cNvPr>
            <p:cNvCxnSpPr>
              <a:cxnSpLocks/>
              <a:stCxn id="22" idx="3"/>
              <a:endCxn id="24" idx="1"/>
            </p:cNvCxnSpPr>
            <p:nvPr/>
          </p:nvCxnSpPr>
          <p:spPr>
            <a:xfrm>
              <a:off x="2961801" y="1962397"/>
              <a:ext cx="326394"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527C8CF-59B2-17CF-B299-155FA158C9A2}"/>
                </a:ext>
              </a:extLst>
            </p:cNvPr>
            <p:cNvCxnSpPr>
              <a:cxnSpLocks/>
              <a:stCxn id="24" idx="3"/>
              <a:endCxn id="26" idx="1"/>
            </p:cNvCxnSpPr>
            <p:nvPr/>
          </p:nvCxnSpPr>
          <p:spPr>
            <a:xfrm>
              <a:off x="5215616" y="1962397"/>
              <a:ext cx="326392" cy="0"/>
            </a:xfrm>
            <a:prstGeom prst="straightConnector1">
              <a:avLst/>
            </a:prstGeom>
            <a:ln>
              <a:solidFill>
                <a:schemeClr val="tx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1" name="TextBox 40">
            <a:extLst>
              <a:ext uri="{FF2B5EF4-FFF2-40B4-BE49-F238E27FC236}">
                <a16:creationId xmlns:a16="http://schemas.microsoft.com/office/drawing/2014/main" id="{29698505-31C7-67AF-86A8-6EB74DA27B70}"/>
              </a:ext>
            </a:extLst>
          </p:cNvPr>
          <p:cNvSpPr txBox="1"/>
          <p:nvPr/>
        </p:nvSpPr>
        <p:spPr>
          <a:xfrm>
            <a:off x="2526207" y="2222707"/>
            <a:ext cx="4820481" cy="307777"/>
          </a:xfrm>
          <a:prstGeom prst="rect">
            <a:avLst/>
          </a:prstGeom>
          <a:noFill/>
        </p:spPr>
        <p:txBody>
          <a:bodyPr wrap="square" rtlCol="0">
            <a:spAutoFit/>
          </a:bodyPr>
          <a:lstStyle/>
          <a:p>
            <a:pPr algn="ctr"/>
            <a:r>
              <a:rPr lang="en-US" dirty="0"/>
              <a:t>⇒ A single snapshot is not enough.</a:t>
            </a:r>
          </a:p>
        </p:txBody>
      </p:sp>
      <p:graphicFrame>
        <p:nvGraphicFramePr>
          <p:cNvPr id="44" name="Table 43">
            <a:extLst>
              <a:ext uri="{FF2B5EF4-FFF2-40B4-BE49-F238E27FC236}">
                <a16:creationId xmlns:a16="http://schemas.microsoft.com/office/drawing/2014/main" id="{28216A94-93F6-A5EF-C423-B6D3D163E4D1}"/>
              </a:ext>
            </a:extLst>
          </p:cNvPr>
          <p:cNvGraphicFramePr>
            <a:graphicFrameLocks noGrp="1"/>
          </p:cNvGraphicFramePr>
          <p:nvPr>
            <p:extLst>
              <p:ext uri="{D42A27DB-BD31-4B8C-83A1-F6EECF244321}">
                <p14:modId xmlns:p14="http://schemas.microsoft.com/office/powerpoint/2010/main" val="1776611442"/>
              </p:ext>
            </p:extLst>
          </p:nvPr>
        </p:nvGraphicFramePr>
        <p:xfrm>
          <a:off x="1748472" y="2913493"/>
          <a:ext cx="6375952" cy="1483360"/>
        </p:xfrm>
        <a:graphic>
          <a:graphicData uri="http://schemas.openxmlformats.org/drawingml/2006/table">
            <a:tbl>
              <a:tblPr firstRow="1" bandRow="1">
                <a:tableStyleId>{5C22544A-7EE6-4342-B048-85BDC9FD1C3A}</a:tableStyleId>
              </a:tblPr>
              <a:tblGrid>
                <a:gridCol w="2519570">
                  <a:extLst>
                    <a:ext uri="{9D8B030D-6E8A-4147-A177-3AD203B41FA5}">
                      <a16:colId xmlns:a16="http://schemas.microsoft.com/office/drawing/2014/main" val="1193601996"/>
                    </a:ext>
                  </a:extLst>
                </a:gridCol>
                <a:gridCol w="3856382">
                  <a:extLst>
                    <a:ext uri="{9D8B030D-6E8A-4147-A177-3AD203B41FA5}">
                      <a16:colId xmlns:a16="http://schemas.microsoft.com/office/drawing/2014/main" val="3244989977"/>
                    </a:ext>
                  </a:extLst>
                </a:gridCol>
              </a:tblGrid>
              <a:tr h="370840">
                <a:tc>
                  <a:txBody>
                    <a:bodyPr/>
                    <a:lstStyle/>
                    <a:p>
                      <a:pPr algn="r"/>
                      <a:r>
                        <a:rPr lang="en-US" b="1" dirty="0">
                          <a:solidFill>
                            <a:schemeClr val="bg2">
                              <a:lumMod val="75000"/>
                              <a:lumOff val="25000"/>
                            </a:schemeClr>
                          </a:solidFill>
                        </a:rPr>
                        <a:t>COLLECT</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job advertisements regularly</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12876076"/>
                  </a:ext>
                </a:extLst>
              </a:tr>
              <a:tr h="370840">
                <a:tc>
                  <a:txBody>
                    <a:bodyPr/>
                    <a:lstStyle/>
                    <a:p>
                      <a:pPr algn="r"/>
                      <a:r>
                        <a:rPr lang="en-US" b="1" dirty="0">
                          <a:solidFill>
                            <a:schemeClr val="bg2">
                              <a:lumMod val="75000"/>
                              <a:lumOff val="25000"/>
                            </a:schemeClr>
                          </a:solidFill>
                        </a:rPr>
                        <a:t>PRESERVE &amp; TRANSFORM</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raw source data into a consistent dataset</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39306823"/>
                  </a:ext>
                </a:extLst>
              </a:tr>
              <a:tr h="370840">
                <a:tc>
                  <a:txBody>
                    <a:bodyPr/>
                    <a:lstStyle/>
                    <a:p>
                      <a:pPr algn="r"/>
                      <a:r>
                        <a:rPr lang="en-US" b="1" dirty="0">
                          <a:solidFill>
                            <a:schemeClr val="bg2">
                              <a:lumMod val="75000"/>
                              <a:lumOff val="25000"/>
                            </a:schemeClr>
                          </a:solidFill>
                        </a:rPr>
                        <a:t>EXPLORE &amp; ANALYSE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through search, filters, statistics, </a:t>
                      </a:r>
                      <a:r>
                        <a:rPr lang="en-US" b="0" dirty="0" err="1">
                          <a:solidFill>
                            <a:schemeClr val="tx1">
                              <a:lumMod val="95000"/>
                              <a:lumOff val="5000"/>
                            </a:schemeClr>
                          </a:solidFill>
                        </a:rPr>
                        <a:t>visualisation</a:t>
                      </a:r>
                      <a:endParaRPr lang="en-US" b="0" dirty="0">
                        <a:solidFill>
                          <a:schemeClr val="tx1">
                            <a:lumMod val="95000"/>
                            <a:lumOff val="5000"/>
                          </a:schemeClr>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68828996"/>
                  </a:ext>
                </a:extLst>
              </a:tr>
              <a:tr h="370840">
                <a:tc>
                  <a:txBody>
                    <a:bodyPr/>
                    <a:lstStyle/>
                    <a:p>
                      <a:pPr algn="r"/>
                      <a:r>
                        <a:rPr lang="en-US" b="1" dirty="0">
                          <a:solidFill>
                            <a:schemeClr val="bg2">
                              <a:lumMod val="75000"/>
                              <a:lumOff val="25000"/>
                            </a:schemeClr>
                          </a:solidFill>
                        </a:rPr>
                        <a:t>AUTOMATE &amp; OBSERVE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b="0" dirty="0">
                          <a:solidFill>
                            <a:schemeClr val="tx1">
                              <a:lumMod val="95000"/>
                              <a:lumOff val="5000"/>
                            </a:schemeClr>
                          </a:solidFill>
                        </a:rPr>
                        <a:t>the end-to-end pipeline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2065965"/>
                  </a:ext>
                </a:extLst>
              </a:tr>
            </a:tbl>
          </a:graphicData>
        </a:graphic>
      </p:graphicFrame>
      <p:sp>
        <p:nvSpPr>
          <p:cNvPr id="45" name="TextBox 44">
            <a:extLst>
              <a:ext uri="{FF2B5EF4-FFF2-40B4-BE49-F238E27FC236}">
                <a16:creationId xmlns:a16="http://schemas.microsoft.com/office/drawing/2014/main" id="{4D8DD5E7-F859-3341-CC4F-FC9AD69FDFC0}"/>
              </a:ext>
            </a:extLst>
          </p:cNvPr>
          <p:cNvSpPr txBox="1"/>
          <p:nvPr/>
        </p:nvSpPr>
        <p:spPr>
          <a:xfrm>
            <a:off x="263387" y="1195960"/>
            <a:ext cx="1375210" cy="307777"/>
          </a:xfrm>
          <a:prstGeom prst="rect">
            <a:avLst/>
          </a:prstGeom>
          <a:noFill/>
        </p:spPr>
        <p:txBody>
          <a:bodyPr wrap="square" rtlCol="0">
            <a:spAutoFit/>
          </a:bodyPr>
          <a:lstStyle/>
          <a:p>
            <a:r>
              <a:rPr lang="en-US" b="1" dirty="0"/>
              <a:t>Motivation:</a:t>
            </a:r>
          </a:p>
        </p:txBody>
      </p:sp>
      <p:sp>
        <p:nvSpPr>
          <p:cNvPr id="47" name="TextBox 46">
            <a:extLst>
              <a:ext uri="{FF2B5EF4-FFF2-40B4-BE49-F238E27FC236}">
                <a16:creationId xmlns:a16="http://schemas.microsoft.com/office/drawing/2014/main" id="{FA201D1A-F59F-E51B-8066-438D12B2F811}"/>
              </a:ext>
            </a:extLst>
          </p:cNvPr>
          <p:cNvSpPr txBox="1"/>
          <p:nvPr/>
        </p:nvSpPr>
        <p:spPr>
          <a:xfrm>
            <a:off x="263386" y="3396937"/>
            <a:ext cx="1375210" cy="307777"/>
          </a:xfrm>
          <a:prstGeom prst="rect">
            <a:avLst/>
          </a:prstGeom>
          <a:noFill/>
        </p:spPr>
        <p:txBody>
          <a:bodyPr wrap="square" rtlCol="0">
            <a:spAutoFit/>
          </a:bodyPr>
          <a:lstStyle/>
          <a:p>
            <a:r>
              <a:rPr lang="en-US" b="1" dirty="0"/>
              <a:t>Objectives:</a:t>
            </a:r>
          </a:p>
        </p:txBody>
      </p:sp>
    </p:spTree>
    <p:extLst>
      <p:ext uri="{BB962C8B-B14F-4D97-AF65-F5344CB8AC3E}">
        <p14:creationId xmlns:p14="http://schemas.microsoft.com/office/powerpoint/2010/main" val="3379445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8" name="Rectangle 7">
            <a:extLst>
              <a:ext uri="{FF2B5EF4-FFF2-40B4-BE49-F238E27FC236}">
                <a16:creationId xmlns:a16="http://schemas.microsoft.com/office/drawing/2014/main" id="{D1C6A085-9504-8E91-8454-C69F19D256F2}"/>
              </a:ext>
            </a:extLst>
          </p:cNvPr>
          <p:cNvSpPr/>
          <p:nvPr/>
        </p:nvSpPr>
        <p:spPr>
          <a:xfrm>
            <a:off x="705946" y="564948"/>
            <a:ext cx="7555738" cy="399635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a:t>
            </a:r>
            <a:endParaRPr sz="1500" dirty="0">
              <a:solidFill>
                <a:schemeClr val="dk2"/>
              </a:solidFill>
            </a:endParaRPr>
          </a:p>
        </p:txBody>
      </p:sp>
      <p:pic>
        <p:nvPicPr>
          <p:cNvPr id="640" name="Google Shape;640;p91" title="Fichier 20.png"/>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398B0777-E877-D93E-BD92-C04A16A920FE}"/>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0DC02452-9375-CBE7-83E6-04F974B56B92}"/>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82223FD1-8496-6C81-F2F1-F0D840AF50B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A5A0CC1E-9DDB-6C92-FB4E-EF480D1C78F1}"/>
              </a:ext>
            </a:extLst>
          </p:cNvPr>
          <p:cNvGrpSpPr/>
          <p:nvPr/>
        </p:nvGrpSpPr>
        <p:grpSpPr>
          <a:xfrm>
            <a:off x="2930621" y="756895"/>
            <a:ext cx="1874928" cy="423153"/>
            <a:chOff x="952134" y="2258330"/>
            <a:chExt cx="1874928" cy="423153"/>
          </a:xfrm>
          <a:solidFill>
            <a:schemeClr val="bg2">
              <a:lumMod val="50000"/>
              <a:lumOff val="50000"/>
            </a:schemeClr>
          </a:solidFill>
        </p:grpSpPr>
        <p:sp>
          <p:nvSpPr>
            <p:cNvPr id="35" name="Rectangle 34">
              <a:extLst>
                <a:ext uri="{FF2B5EF4-FFF2-40B4-BE49-F238E27FC236}">
                  <a16:creationId xmlns:a16="http://schemas.microsoft.com/office/drawing/2014/main" id="{C81B1997-A097-3A4C-BF2A-B6366A474C25}"/>
                </a:ext>
              </a:extLst>
            </p:cNvPr>
            <p:cNvSpPr/>
            <p:nvPr/>
          </p:nvSpPr>
          <p:spPr>
            <a:xfrm>
              <a:off x="952134" y="2258330"/>
              <a:ext cx="1874928"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err="1"/>
                <a:t>Arbeitsagentur</a:t>
              </a:r>
              <a:r>
                <a:rPr lang="en-US" sz="1200" dirty="0"/>
                <a:t> API</a:t>
              </a:r>
            </a:p>
          </p:txBody>
        </p:sp>
        <p:pic>
          <p:nvPicPr>
            <p:cNvPr id="3" name="Picture 2">
              <a:extLst>
                <a:ext uri="{FF2B5EF4-FFF2-40B4-BE49-F238E27FC236}">
                  <a16:creationId xmlns:a16="http://schemas.microsoft.com/office/drawing/2014/main" id="{32C43E67-FADA-3F37-4E20-971537F7D9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7978" y="2316101"/>
              <a:ext cx="326543" cy="326543"/>
            </a:xfrm>
            <a:prstGeom prst="rect">
              <a:avLst/>
            </a:prstGeom>
            <a:grpFill/>
            <a:ln>
              <a:noFill/>
            </a:ln>
          </p:spPr>
        </p:pic>
      </p:grpSp>
      <p:pic>
        <p:nvPicPr>
          <p:cNvPr id="44" name="Picture 43">
            <a:extLst>
              <a:ext uri="{FF2B5EF4-FFF2-40B4-BE49-F238E27FC236}">
                <a16:creationId xmlns:a16="http://schemas.microsoft.com/office/drawing/2014/main" id="{83D93FB8-C976-FD61-4A75-03ED41F49C72}"/>
              </a:ext>
            </a:extLst>
          </p:cNvPr>
          <p:cNvPicPr>
            <a:picLocks noChangeAspect="1"/>
          </p:cNvPicPr>
          <p:nvPr/>
        </p:nvPicPr>
        <p:blipFill>
          <a:blip r:embed="rId6"/>
          <a:stretch>
            <a:fillRect/>
          </a:stretch>
        </p:blipFill>
        <p:spPr>
          <a:xfrm>
            <a:off x="6147991" y="1750129"/>
            <a:ext cx="473331" cy="423153"/>
          </a:xfrm>
          <a:prstGeom prst="rect">
            <a:avLst/>
          </a:prstGeom>
        </p:spPr>
      </p:pic>
      <p:pic>
        <p:nvPicPr>
          <p:cNvPr id="46" name="Picture 45">
            <a:extLst>
              <a:ext uri="{FF2B5EF4-FFF2-40B4-BE49-F238E27FC236}">
                <a16:creationId xmlns:a16="http://schemas.microsoft.com/office/drawing/2014/main" id="{A444A515-4F48-6511-2111-3AE0A97D838F}"/>
              </a:ext>
            </a:extLst>
          </p:cNvPr>
          <p:cNvPicPr>
            <a:picLocks noChangeAspect="1"/>
          </p:cNvPicPr>
          <p:nvPr/>
        </p:nvPicPr>
        <p:blipFill>
          <a:blip r:embed="rId7"/>
          <a:stretch>
            <a:fillRect/>
          </a:stretch>
        </p:blipFill>
        <p:spPr>
          <a:xfrm>
            <a:off x="1115768" y="1748938"/>
            <a:ext cx="393496" cy="452741"/>
          </a:xfrm>
          <a:prstGeom prst="rect">
            <a:avLst/>
          </a:prstGeom>
        </p:spPr>
      </p:pic>
      <p:sp>
        <p:nvSpPr>
          <p:cNvPr id="630" name="TextBox 629">
            <a:extLst>
              <a:ext uri="{FF2B5EF4-FFF2-40B4-BE49-F238E27FC236}">
                <a16:creationId xmlns:a16="http://schemas.microsoft.com/office/drawing/2014/main" id="{7D7D51CE-BB6A-E548-BFE4-315091EE825B}"/>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job data (JSON)</a:t>
            </a:r>
          </a:p>
        </p:txBody>
      </p:sp>
      <p:pic>
        <p:nvPicPr>
          <p:cNvPr id="661" name="Picture 660">
            <a:extLst>
              <a:ext uri="{FF2B5EF4-FFF2-40B4-BE49-F238E27FC236}">
                <a16:creationId xmlns:a16="http://schemas.microsoft.com/office/drawing/2014/main" id="{07FF058C-1A44-770B-699A-FAD84F0BB73C}"/>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A38EAE7-6C33-11B7-E6A0-B58DA3CCA933}"/>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220A921E-3BED-CF0C-A6C8-5CD5F4DF1141}"/>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processed JSON</a:t>
            </a:r>
          </a:p>
        </p:txBody>
      </p:sp>
      <p:sp>
        <p:nvSpPr>
          <p:cNvPr id="672" name="TextBox 671">
            <a:extLst>
              <a:ext uri="{FF2B5EF4-FFF2-40B4-BE49-F238E27FC236}">
                <a16:creationId xmlns:a16="http://schemas.microsoft.com/office/drawing/2014/main" id="{6F35D384-14C9-9240-4218-473451B1D645}"/>
              </a:ext>
            </a:extLst>
          </p:cNvPr>
          <p:cNvSpPr txBox="1"/>
          <p:nvPr/>
        </p:nvSpPr>
        <p:spPr>
          <a:xfrm>
            <a:off x="6612918" y="1519296"/>
            <a:ext cx="1113341" cy="461665"/>
          </a:xfrm>
          <a:prstGeom prst="rect">
            <a:avLst/>
          </a:prstGeom>
          <a:noFill/>
        </p:spPr>
        <p:txBody>
          <a:bodyPr wrap="square" rtlCol="0">
            <a:spAutoFit/>
          </a:bodyPr>
          <a:lstStyle/>
          <a:p>
            <a:pPr algn="ctr"/>
            <a:r>
              <a:rPr lang="en-US" sz="1200" dirty="0">
                <a:solidFill>
                  <a:schemeClr val="tx1">
                    <a:lumMod val="75000"/>
                    <a:lumOff val="25000"/>
                  </a:schemeClr>
                </a:solidFill>
              </a:rPr>
              <a:t>job data</a:t>
            </a:r>
          </a:p>
          <a:p>
            <a:pPr algn="ctr"/>
            <a:r>
              <a:rPr lang="en-US" sz="1200" dirty="0">
                <a:solidFill>
                  <a:schemeClr val="tx1">
                    <a:lumMod val="75000"/>
                    <a:lumOff val="25000"/>
                  </a:schemeClr>
                </a:solidFill>
              </a:rPr>
              <a:t>(for indexing)</a:t>
            </a:r>
          </a:p>
        </p:txBody>
      </p:sp>
      <p:sp>
        <p:nvSpPr>
          <p:cNvPr id="681" name="TextBox 680">
            <a:extLst>
              <a:ext uri="{FF2B5EF4-FFF2-40B4-BE49-F238E27FC236}">
                <a16:creationId xmlns:a16="http://schemas.microsoft.com/office/drawing/2014/main" id="{11355667-9E18-D083-460B-4CFD7B8F0CD5}"/>
              </a:ext>
            </a:extLst>
          </p:cNvPr>
          <p:cNvSpPr txBox="1"/>
          <p:nvPr/>
        </p:nvSpPr>
        <p:spPr>
          <a:xfrm>
            <a:off x="756203" y="2184533"/>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35AC9762-5AB8-847D-E042-C929950FA8D5}"/>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1D508615-F7DD-7779-19BA-0980A2B87756}"/>
              </a:ext>
            </a:extLst>
          </p:cNvPr>
          <p:cNvPicPr>
            <a:picLocks noChangeAspect="1"/>
          </p:cNvPicPr>
          <p:nvPr/>
        </p:nvPicPr>
        <p:blipFill>
          <a:blip r:embed="rId10"/>
          <a:stretch>
            <a:fillRect/>
          </a:stretch>
        </p:blipFill>
        <p:spPr>
          <a:xfrm>
            <a:off x="4741521" y="3423026"/>
            <a:ext cx="690489" cy="509775"/>
          </a:xfrm>
          <a:prstGeom prst="rect">
            <a:avLst/>
          </a:prstGeom>
        </p:spPr>
      </p:pic>
      <p:pic>
        <p:nvPicPr>
          <p:cNvPr id="721" name="Picture 720">
            <a:extLst>
              <a:ext uri="{FF2B5EF4-FFF2-40B4-BE49-F238E27FC236}">
                <a16:creationId xmlns:a16="http://schemas.microsoft.com/office/drawing/2014/main" id="{690CBB62-758B-2BC9-70D3-8F63BD4138C5}"/>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0AC96730-7A28-4752-CA99-E58F565EFE8F}"/>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FB64D3D1-413D-52A3-5DA2-B490982608E7}"/>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53619467-1B8B-23F0-54A3-86287FE183B8}"/>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94E5BC87-C648-21B8-3792-380F77D3D9B9}"/>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6E46181C-2FE8-4E34-2ABB-17A3297CCE1B}"/>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2260DACB-E59B-1BD8-43F9-0A3098A4B1B4}"/>
              </a:ext>
            </a:extLst>
          </p:cNvPr>
          <p:cNvCxnSpPr>
            <a:cxnSpLocks/>
            <a:stCxn id="11" idx="3"/>
            <a:endCxn id="44" idx="1"/>
          </p:cNvCxnSpPr>
          <p:nvPr/>
        </p:nvCxnSpPr>
        <p:spPr>
          <a:xfrm>
            <a:off x="4297300" y="1960515"/>
            <a:ext cx="1850691"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A729F841-F7C4-39BB-E88B-CF0626736FA0}"/>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D41D5D3-B3F8-6607-2DE3-689101A959A6}"/>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B1286058-816B-B65D-F947-CD976A3C30CA}"/>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4517D947-891A-BA7B-AB6F-E8AB3BAA2B62}"/>
              </a:ext>
            </a:extLst>
          </p:cNvPr>
          <p:cNvCxnSpPr>
            <a:cxnSpLocks/>
            <a:stCxn id="11" idx="1"/>
            <a:endCxn id="46" idx="3"/>
          </p:cNvCxnSpPr>
          <p:nvPr/>
        </p:nvCxnSpPr>
        <p:spPr>
          <a:xfrm flipH="1">
            <a:off x="1509264" y="1960515"/>
            <a:ext cx="1929612" cy="14794"/>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9" name="Rectangle 28">
            <a:extLst>
              <a:ext uri="{FF2B5EF4-FFF2-40B4-BE49-F238E27FC236}">
                <a16:creationId xmlns:a16="http://schemas.microsoft.com/office/drawing/2014/main" id="{C1B20CA4-062A-C0D9-CA7B-D7D3E29C9972}"/>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0D7693D-30AC-7B09-48A7-3238EA5C6CB7}"/>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D96F168-5B4B-E39E-0A23-4DE5C0FCB69D}"/>
              </a:ext>
            </a:extLst>
          </p:cNvPr>
          <p:cNvSpPr txBox="1"/>
          <p:nvPr/>
        </p:nvSpPr>
        <p:spPr>
          <a:xfrm>
            <a:off x="756203" y="620303"/>
            <a:ext cx="914400"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a:t>
            </a:r>
          </a:p>
        </p:txBody>
      </p:sp>
      <p:sp>
        <p:nvSpPr>
          <p:cNvPr id="38" name="TextBox 37">
            <a:extLst>
              <a:ext uri="{FF2B5EF4-FFF2-40B4-BE49-F238E27FC236}">
                <a16:creationId xmlns:a16="http://schemas.microsoft.com/office/drawing/2014/main" id="{6D4082A1-593C-B160-4449-6305DC10DA77}"/>
              </a:ext>
            </a:extLst>
          </p:cNvPr>
          <p:cNvSpPr txBox="1"/>
          <p:nvPr/>
        </p:nvSpPr>
        <p:spPr>
          <a:xfrm>
            <a:off x="766079" y="2754037"/>
            <a:ext cx="891051"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Runtime</a:t>
            </a:r>
          </a:p>
        </p:txBody>
      </p:sp>
      <p:pic>
        <p:nvPicPr>
          <p:cNvPr id="2" name="Picture 1" descr="File:PostgreSQL logo.3colors.540x557.png">
            <a:extLst>
              <a:ext uri="{FF2B5EF4-FFF2-40B4-BE49-F238E27FC236}">
                <a16:creationId xmlns:a16="http://schemas.microsoft.com/office/drawing/2014/main" id="{1DDD42E8-14EE-E62B-0B2E-C5C00F50B77B}"/>
              </a:ext>
            </a:extLst>
          </p:cNvPr>
          <p:cNvPicPr>
            <a:picLocks noChangeAspect="1"/>
          </p:cNvPicPr>
          <p:nvPr/>
        </p:nvPicPr>
        <p:blipFill>
          <a:blip r:embed="rId15"/>
          <a:stretch>
            <a:fillRect/>
          </a:stretch>
        </p:blipFill>
        <p:spPr>
          <a:xfrm>
            <a:off x="6253646" y="1432798"/>
            <a:ext cx="274086" cy="282715"/>
          </a:xfrm>
          <a:prstGeom prst="rect">
            <a:avLst/>
          </a:prstGeom>
        </p:spPr>
      </p:pic>
      <p:pic>
        <p:nvPicPr>
          <p:cNvPr id="7" name="Picture 6">
            <a:extLst>
              <a:ext uri="{FF2B5EF4-FFF2-40B4-BE49-F238E27FC236}">
                <a16:creationId xmlns:a16="http://schemas.microsoft.com/office/drawing/2014/main" id="{1C491A15-024F-79E0-69DD-445DCED9C515}"/>
              </a:ext>
            </a:extLst>
          </p:cNvPr>
          <p:cNvPicPr>
            <a:picLocks noChangeAspect="1"/>
          </p:cNvPicPr>
          <p:nvPr/>
        </p:nvPicPr>
        <p:blipFill>
          <a:blip r:embed="rId16"/>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0142F1A4-C140-4460-3CA0-48A6F4C18476}"/>
              </a:ext>
            </a:extLst>
          </p:cNvPr>
          <p:cNvPicPr>
            <a:picLocks noChangeAspect="1"/>
          </p:cNvPicPr>
          <p:nvPr/>
        </p:nvPicPr>
        <p:blipFill>
          <a:blip r:embed="rId17"/>
          <a:stretch>
            <a:fillRect/>
          </a:stretch>
        </p:blipFill>
        <p:spPr>
          <a:xfrm>
            <a:off x="1192724" y="1435563"/>
            <a:ext cx="253705" cy="279950"/>
          </a:xfrm>
          <a:prstGeom prst="rect">
            <a:avLst/>
          </a:prstGeom>
        </p:spPr>
      </p:pic>
      <p:pic>
        <p:nvPicPr>
          <p:cNvPr id="18" name="Picture 17">
            <a:extLst>
              <a:ext uri="{FF2B5EF4-FFF2-40B4-BE49-F238E27FC236}">
                <a16:creationId xmlns:a16="http://schemas.microsoft.com/office/drawing/2014/main" id="{73A23106-2A25-7B27-978E-FD3725DB8FBC}"/>
              </a:ext>
            </a:extLst>
          </p:cNvPr>
          <p:cNvPicPr>
            <a:picLocks noChangeAspect="1"/>
          </p:cNvPicPr>
          <p:nvPr/>
        </p:nvPicPr>
        <p:blipFill>
          <a:blip r:embed="rId6"/>
          <a:stretch>
            <a:fillRect/>
          </a:stretch>
        </p:blipFill>
        <p:spPr>
          <a:xfrm>
            <a:off x="7742435" y="1748938"/>
            <a:ext cx="473331" cy="423153"/>
          </a:xfrm>
          <a:prstGeom prst="rect">
            <a:avLst/>
          </a:prstGeom>
        </p:spPr>
      </p:pic>
      <p:cxnSp>
        <p:nvCxnSpPr>
          <p:cNvPr id="23" name="Straight Arrow Connector 22">
            <a:extLst>
              <a:ext uri="{FF2B5EF4-FFF2-40B4-BE49-F238E27FC236}">
                <a16:creationId xmlns:a16="http://schemas.microsoft.com/office/drawing/2014/main" id="{4F793FD6-EB05-0FC5-0AE0-D969175F3D22}"/>
              </a:ext>
            </a:extLst>
          </p:cNvPr>
          <p:cNvCxnSpPr>
            <a:cxnSpLocks/>
            <a:stCxn id="44" idx="3"/>
            <a:endCxn id="18" idx="1"/>
          </p:cNvCxnSpPr>
          <p:nvPr/>
        </p:nvCxnSpPr>
        <p:spPr>
          <a:xfrm flipV="1">
            <a:off x="6621322" y="1960515"/>
            <a:ext cx="1121113"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3" name="Picture 32">
            <a:extLst>
              <a:ext uri="{FF2B5EF4-FFF2-40B4-BE49-F238E27FC236}">
                <a16:creationId xmlns:a16="http://schemas.microsoft.com/office/drawing/2014/main" id="{9DE97DCC-3122-A5DE-835F-1CCBF7C99D76}"/>
              </a:ext>
            </a:extLst>
          </p:cNvPr>
          <p:cNvPicPr>
            <a:picLocks noChangeAspect="1"/>
          </p:cNvPicPr>
          <p:nvPr/>
        </p:nvPicPr>
        <p:blipFill>
          <a:blip r:embed="rId18"/>
          <a:stretch>
            <a:fillRect/>
          </a:stretch>
        </p:blipFill>
        <p:spPr>
          <a:xfrm>
            <a:off x="7837742" y="1439158"/>
            <a:ext cx="282715" cy="282715"/>
          </a:xfrm>
          <a:prstGeom prst="rect">
            <a:avLst/>
          </a:prstGeom>
        </p:spPr>
      </p:pic>
      <p:cxnSp>
        <p:nvCxnSpPr>
          <p:cNvPr id="588" name="Straight Arrow Connector 587">
            <a:extLst>
              <a:ext uri="{FF2B5EF4-FFF2-40B4-BE49-F238E27FC236}">
                <a16:creationId xmlns:a16="http://schemas.microsoft.com/office/drawing/2014/main" id="{184FC1D6-6717-58A9-46F8-8C3C86B99327}"/>
              </a:ext>
            </a:extLst>
          </p:cNvPr>
          <p:cNvCxnSpPr>
            <a:cxnSpLocks/>
            <a:stCxn id="715" idx="1"/>
            <a:endCxn id="661" idx="3"/>
          </p:cNvCxnSpPr>
          <p:nvPr/>
        </p:nvCxnSpPr>
        <p:spPr>
          <a:xfrm flipH="1">
            <a:off x="3436362" y="3677914"/>
            <a:ext cx="1305159" cy="1627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05" name="Rectangle 604">
            <a:extLst>
              <a:ext uri="{FF2B5EF4-FFF2-40B4-BE49-F238E27FC236}">
                <a16:creationId xmlns:a16="http://schemas.microsoft.com/office/drawing/2014/main" id="{BB537319-88C9-3161-B33D-8543292F34CA}"/>
              </a:ext>
            </a:extLst>
          </p:cNvPr>
          <p:cNvSpPr/>
          <p:nvPr/>
        </p:nvSpPr>
        <p:spPr>
          <a:xfrm>
            <a:off x="5275518" y="3423025"/>
            <a:ext cx="156492" cy="287438"/>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608">
            <a:extLst>
              <a:ext uri="{FF2B5EF4-FFF2-40B4-BE49-F238E27FC236}">
                <a16:creationId xmlns:a16="http://schemas.microsoft.com/office/drawing/2014/main" id="{C5B58E3C-8158-F84D-D865-BA372312EAA2}"/>
              </a:ext>
            </a:extLst>
          </p:cNvPr>
          <p:cNvSpPr/>
          <p:nvPr/>
        </p:nvSpPr>
        <p:spPr>
          <a:xfrm>
            <a:off x="5275518" y="3677914"/>
            <a:ext cx="156492" cy="318880"/>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1" name="Connector: Elbow 610">
            <a:extLst>
              <a:ext uri="{FF2B5EF4-FFF2-40B4-BE49-F238E27FC236}">
                <a16:creationId xmlns:a16="http://schemas.microsoft.com/office/drawing/2014/main" id="{1BBD5613-37FE-E1FD-8160-109F1F602399}"/>
              </a:ext>
            </a:extLst>
          </p:cNvPr>
          <p:cNvCxnSpPr>
            <a:cxnSpLocks/>
            <a:stCxn id="44" idx="2"/>
            <a:endCxn id="605" idx="3"/>
          </p:cNvCxnSpPr>
          <p:nvPr/>
        </p:nvCxnSpPr>
        <p:spPr>
          <a:xfrm rot="5400000">
            <a:off x="5211603" y="2393690"/>
            <a:ext cx="1393462" cy="95264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Connector: Elbow 633">
            <a:extLst>
              <a:ext uri="{FF2B5EF4-FFF2-40B4-BE49-F238E27FC236}">
                <a16:creationId xmlns:a16="http://schemas.microsoft.com/office/drawing/2014/main" id="{B2EDC0BF-AFC2-0DCD-5B2E-9F9DFBB09E6B}"/>
              </a:ext>
            </a:extLst>
          </p:cNvPr>
          <p:cNvCxnSpPr>
            <a:cxnSpLocks/>
            <a:stCxn id="18" idx="2"/>
            <a:endCxn id="609" idx="3"/>
          </p:cNvCxnSpPr>
          <p:nvPr/>
        </p:nvCxnSpPr>
        <p:spPr>
          <a:xfrm rot="5400000">
            <a:off x="5872925" y="1731177"/>
            <a:ext cx="1665263" cy="2547091"/>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B6EFF458-9E48-A793-431D-50C56334DC54}"/>
              </a:ext>
            </a:extLst>
          </p:cNvPr>
          <p:cNvSpPr txBox="1"/>
          <p:nvPr/>
        </p:nvSpPr>
        <p:spPr>
          <a:xfrm>
            <a:off x="4445402" y="1693939"/>
            <a:ext cx="1446870" cy="276999"/>
          </a:xfrm>
          <a:prstGeom prst="rect">
            <a:avLst/>
          </a:prstGeom>
          <a:noFill/>
        </p:spPr>
        <p:txBody>
          <a:bodyPr wrap="square" rtlCol="0">
            <a:spAutoFit/>
          </a:bodyPr>
          <a:lstStyle/>
          <a:p>
            <a:pPr algn="ctr"/>
            <a:r>
              <a:rPr lang="en-US" sz="1200" dirty="0">
                <a:solidFill>
                  <a:schemeClr val="tx1">
                    <a:lumMod val="75000"/>
                    <a:lumOff val="25000"/>
                  </a:schemeClr>
                </a:solidFill>
              </a:rPr>
              <a:t>structured job data</a:t>
            </a:r>
          </a:p>
        </p:txBody>
      </p:sp>
      <p:sp>
        <p:nvSpPr>
          <p:cNvPr id="677" name="TextBox 676">
            <a:extLst>
              <a:ext uri="{FF2B5EF4-FFF2-40B4-BE49-F238E27FC236}">
                <a16:creationId xmlns:a16="http://schemas.microsoft.com/office/drawing/2014/main" id="{360B69CB-B9B6-034D-EA88-83EE80188FF7}"/>
              </a:ext>
            </a:extLst>
          </p:cNvPr>
          <p:cNvSpPr txBox="1"/>
          <p:nvPr/>
        </p:nvSpPr>
        <p:spPr>
          <a:xfrm rot="16200000">
            <a:off x="5556076"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sp>
        <p:nvSpPr>
          <p:cNvPr id="682" name="TextBox 681">
            <a:extLst>
              <a:ext uri="{FF2B5EF4-FFF2-40B4-BE49-F238E27FC236}">
                <a16:creationId xmlns:a16="http://schemas.microsoft.com/office/drawing/2014/main" id="{D7776ED6-C7CE-73AE-5C84-FDC04C1FA984}"/>
              </a:ext>
            </a:extLst>
          </p:cNvPr>
          <p:cNvSpPr txBox="1"/>
          <p:nvPr/>
        </p:nvSpPr>
        <p:spPr>
          <a:xfrm rot="16200000">
            <a:off x="6926716" y="2768791"/>
            <a:ext cx="1675460" cy="461665"/>
          </a:xfrm>
          <a:prstGeom prst="rect">
            <a:avLst/>
          </a:prstGeom>
          <a:noFill/>
        </p:spPr>
        <p:txBody>
          <a:bodyPr wrap="square" rtlCol="0">
            <a:spAutoFit/>
          </a:bodyPr>
          <a:lstStyle/>
          <a:p>
            <a:pPr algn="ctr"/>
            <a:r>
              <a:rPr lang="en-US" sz="1200" dirty="0">
                <a:solidFill>
                  <a:schemeClr val="tx1">
                    <a:lumMod val="75000"/>
                    <a:lumOff val="25000"/>
                  </a:schemeClr>
                </a:solidFill>
              </a:rPr>
              <a:t>ranked reference numbers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30460230-DC4A-FBDA-D54A-FCB81BE00465}"/>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FF5FF86D-7528-C5BE-FEEB-F35CD53B0B11}"/>
              </a:ext>
            </a:extLst>
          </p:cNvPr>
          <p:cNvSpPr/>
          <p:nvPr/>
        </p:nvSpPr>
        <p:spPr>
          <a:xfrm>
            <a:off x="709544" y="1447339"/>
            <a:ext cx="7664173" cy="198285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7" name="Table 16">
            <a:extLst>
              <a:ext uri="{FF2B5EF4-FFF2-40B4-BE49-F238E27FC236}">
                <a16:creationId xmlns:a16="http://schemas.microsoft.com/office/drawing/2014/main" id="{8CB0A6E1-73E1-2370-D612-F3084943BAA7}"/>
              </a:ext>
            </a:extLst>
          </p:cNvPr>
          <p:cNvGraphicFramePr>
            <a:graphicFrameLocks noGrp="1"/>
          </p:cNvGraphicFramePr>
          <p:nvPr>
            <p:extLst>
              <p:ext uri="{D42A27DB-BD31-4B8C-83A1-F6EECF244321}">
                <p14:modId xmlns:p14="http://schemas.microsoft.com/office/powerpoint/2010/main" val="3198127650"/>
              </p:ext>
            </p:extLst>
          </p:nvPr>
        </p:nvGraphicFramePr>
        <p:xfrm>
          <a:off x="770725" y="1539702"/>
          <a:ext cx="7523035" cy="1797711"/>
        </p:xfrm>
        <a:graphic>
          <a:graphicData uri="http://schemas.openxmlformats.org/drawingml/2006/table">
            <a:tbl>
              <a:tblPr firstRow="1" bandRow="1">
                <a:tableStyleId>{5C22544A-7EE6-4342-B048-85BDC9FD1C3A}</a:tableStyleId>
              </a:tblPr>
              <a:tblGrid>
                <a:gridCol w="1504607">
                  <a:extLst>
                    <a:ext uri="{9D8B030D-6E8A-4147-A177-3AD203B41FA5}">
                      <a16:colId xmlns:a16="http://schemas.microsoft.com/office/drawing/2014/main" val="42408300"/>
                    </a:ext>
                  </a:extLst>
                </a:gridCol>
                <a:gridCol w="1504607">
                  <a:extLst>
                    <a:ext uri="{9D8B030D-6E8A-4147-A177-3AD203B41FA5}">
                      <a16:colId xmlns:a16="http://schemas.microsoft.com/office/drawing/2014/main" val="4207326481"/>
                    </a:ext>
                  </a:extLst>
                </a:gridCol>
                <a:gridCol w="1504607">
                  <a:extLst>
                    <a:ext uri="{9D8B030D-6E8A-4147-A177-3AD203B41FA5}">
                      <a16:colId xmlns:a16="http://schemas.microsoft.com/office/drawing/2014/main" val="4011442136"/>
                    </a:ext>
                  </a:extLst>
                </a:gridCol>
                <a:gridCol w="1504607">
                  <a:extLst>
                    <a:ext uri="{9D8B030D-6E8A-4147-A177-3AD203B41FA5}">
                      <a16:colId xmlns:a16="http://schemas.microsoft.com/office/drawing/2014/main" val="1579474570"/>
                    </a:ext>
                  </a:extLst>
                </a:gridCol>
                <a:gridCol w="1504607">
                  <a:extLst>
                    <a:ext uri="{9D8B030D-6E8A-4147-A177-3AD203B41FA5}">
                      <a16:colId xmlns:a16="http://schemas.microsoft.com/office/drawing/2014/main" val="2907646003"/>
                    </a:ext>
                  </a:extLst>
                </a:gridCol>
              </a:tblGrid>
              <a:tr h="599237">
                <a:tc>
                  <a:txBody>
                    <a:bodyPr/>
                    <a:lstStyle/>
                    <a:p>
                      <a:r>
                        <a:rPr lang="en-US" dirty="0"/>
                        <a:t>Frontend</a:t>
                      </a:r>
                    </a:p>
                  </a:txBody>
                  <a:tcPr anchor="ctr">
                    <a:solidFill>
                      <a:schemeClr val="accent5"/>
                    </a:solidFill>
                  </a:tcPr>
                </a:tc>
                <a:tc>
                  <a:txBody>
                    <a:bodyPr/>
                    <a:lstStyle/>
                    <a:p>
                      <a:r>
                        <a:rPr lang="en-US" dirty="0"/>
                        <a:t>Backend</a:t>
                      </a:r>
                    </a:p>
                  </a:txBody>
                  <a:tcPr anchor="ctr">
                    <a:solidFill>
                      <a:schemeClr val="accent5"/>
                    </a:solidFill>
                  </a:tcPr>
                </a:tc>
                <a:tc>
                  <a:txBody>
                    <a:bodyPr/>
                    <a:lstStyle/>
                    <a:p>
                      <a:r>
                        <a:rPr lang="en-US" dirty="0"/>
                        <a:t>Data</a:t>
                      </a:r>
                    </a:p>
                  </a:txBody>
                  <a:tcPr anchor="ctr">
                    <a:solidFill>
                      <a:schemeClr val="accent5"/>
                    </a:solidFill>
                  </a:tcPr>
                </a:tc>
                <a:tc>
                  <a:txBody>
                    <a:bodyPr/>
                    <a:lstStyle/>
                    <a:p>
                      <a:r>
                        <a:rPr lang="en-US" dirty="0"/>
                        <a:t>Workflow</a:t>
                      </a:r>
                    </a:p>
                  </a:txBody>
                  <a:tcPr anchor="ctr">
                    <a:solidFill>
                      <a:schemeClr val="accent5"/>
                    </a:solidFill>
                  </a:tcPr>
                </a:tc>
                <a:tc>
                  <a:txBody>
                    <a:bodyPr/>
                    <a:lstStyle/>
                    <a:p>
                      <a:r>
                        <a:rPr lang="en-US" dirty="0"/>
                        <a:t>Monitoring</a:t>
                      </a:r>
                    </a:p>
                  </a:txBody>
                  <a:tcPr anchor="ctr">
                    <a:solidFill>
                      <a:schemeClr val="accent5"/>
                    </a:solidFill>
                  </a:tcPr>
                </a:tc>
                <a:extLst>
                  <a:ext uri="{0D108BD9-81ED-4DB2-BD59-A6C34878D82A}">
                    <a16:rowId xmlns:a16="http://schemas.microsoft.com/office/drawing/2014/main" val="4259655577"/>
                  </a:ext>
                </a:extLst>
              </a:tr>
              <a:tr h="599237">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989314828"/>
                  </a:ext>
                </a:extLst>
              </a:tr>
              <a:tr h="599237">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2850848736"/>
                  </a:ext>
                </a:extLst>
              </a:tr>
            </a:tbl>
          </a:graphicData>
        </a:graphic>
      </p:graphicFrame>
      <p:sp>
        <p:nvSpPr>
          <p:cNvPr id="32" name="Rectangle 31">
            <a:extLst>
              <a:ext uri="{FF2B5EF4-FFF2-40B4-BE49-F238E27FC236}">
                <a16:creationId xmlns:a16="http://schemas.microsoft.com/office/drawing/2014/main" id="{4E1C042B-B55F-8898-B5E6-C98C34B21286}"/>
              </a:ext>
            </a:extLst>
          </p:cNvPr>
          <p:cNvSpPr/>
          <p:nvPr/>
        </p:nvSpPr>
        <p:spPr>
          <a:xfrm>
            <a:off x="88932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718E242-7BE0-85F6-4AC0-F97166A6C6E5}"/>
              </a:ext>
            </a:extLst>
          </p:cNvPr>
          <p:cNvSpPr/>
          <p:nvPr/>
        </p:nvSpPr>
        <p:spPr>
          <a:xfrm>
            <a:off x="239224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EFEC2DF-1561-D453-9750-35163361AE45}"/>
              </a:ext>
            </a:extLst>
          </p:cNvPr>
          <p:cNvSpPr/>
          <p:nvPr/>
        </p:nvSpPr>
        <p:spPr>
          <a:xfrm>
            <a:off x="3903593"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F2B20746-9E81-C098-D2AB-5C1D9B27EF68}"/>
              </a:ext>
            </a:extLst>
          </p:cNvPr>
          <p:cNvSpPr/>
          <p:nvPr/>
        </p:nvSpPr>
        <p:spPr>
          <a:xfrm>
            <a:off x="5406516"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0056AC-D77C-7CE2-4EB4-119DA7E73BB1}"/>
              </a:ext>
            </a:extLst>
          </p:cNvPr>
          <p:cNvSpPr/>
          <p:nvPr/>
        </p:nvSpPr>
        <p:spPr>
          <a:xfrm>
            <a:off x="6909439" y="2270139"/>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4C5AB23-BD00-07B3-BEA9-B076EFF3CC93}"/>
              </a:ext>
            </a:extLst>
          </p:cNvPr>
          <p:cNvSpPr/>
          <p:nvPr/>
        </p:nvSpPr>
        <p:spPr>
          <a:xfrm>
            <a:off x="88932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6E0F8F97-60CF-5F87-0F83-B6AADDA0ADC6}"/>
              </a:ext>
            </a:extLst>
          </p:cNvPr>
          <p:cNvSpPr/>
          <p:nvPr/>
        </p:nvSpPr>
        <p:spPr>
          <a:xfrm>
            <a:off x="239224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7FAF81BB-9BD9-1278-53A2-0C24827FE2C8}"/>
              </a:ext>
            </a:extLst>
          </p:cNvPr>
          <p:cNvSpPr/>
          <p:nvPr/>
        </p:nvSpPr>
        <p:spPr>
          <a:xfrm>
            <a:off x="3903593"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E685F019-4642-F6E0-A84F-5C7C990BD0D8}"/>
              </a:ext>
            </a:extLst>
          </p:cNvPr>
          <p:cNvSpPr/>
          <p:nvPr/>
        </p:nvSpPr>
        <p:spPr>
          <a:xfrm>
            <a:off x="5406516"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1D53DD0D-7034-40CB-6890-FC1BAAC4F535}"/>
              </a:ext>
            </a:extLst>
          </p:cNvPr>
          <p:cNvSpPr/>
          <p:nvPr/>
        </p:nvSpPr>
        <p:spPr>
          <a:xfrm>
            <a:off x="6909439" y="2867703"/>
            <a:ext cx="1265724" cy="33372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3" name="Google Shape;633;p91">
            <a:extLst>
              <a:ext uri="{FF2B5EF4-FFF2-40B4-BE49-F238E27FC236}">
                <a16:creationId xmlns:a16="http://schemas.microsoft.com/office/drawing/2014/main" id="{16F5A1E8-1EC5-BEC6-C35D-B44FA698FBFA}"/>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Tech stack</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07B7935-F342-9585-3BB0-8B587480798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F5467453-AF2A-A5D1-0386-ADBFE3BA631D}"/>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13" name="Picture 712">
            <a:extLst>
              <a:ext uri="{FF2B5EF4-FFF2-40B4-BE49-F238E27FC236}">
                <a16:creationId xmlns:a16="http://schemas.microsoft.com/office/drawing/2014/main" id="{AD8CEF48-CB9C-19E2-EBC2-2AB8B9F3FAEE}"/>
              </a:ext>
            </a:extLst>
          </p:cNvPr>
          <p:cNvPicPr>
            <a:picLocks noChangeAspect="1"/>
          </p:cNvPicPr>
          <p:nvPr/>
        </p:nvPicPr>
        <p:blipFill>
          <a:blip r:embed="rId4"/>
          <a:stretch>
            <a:fillRect/>
          </a:stretch>
        </p:blipFill>
        <p:spPr>
          <a:xfrm>
            <a:off x="2607013" y="2369980"/>
            <a:ext cx="773924" cy="142814"/>
          </a:xfrm>
          <a:prstGeom prst="rect">
            <a:avLst/>
          </a:prstGeom>
        </p:spPr>
      </p:pic>
      <p:pic>
        <p:nvPicPr>
          <p:cNvPr id="5" name="Picture 4" descr="File:PostgreSQL logo.3colors.540x557.png">
            <a:extLst>
              <a:ext uri="{FF2B5EF4-FFF2-40B4-BE49-F238E27FC236}">
                <a16:creationId xmlns:a16="http://schemas.microsoft.com/office/drawing/2014/main" id="{28114944-216A-5077-971C-C1FDF782E7CB}"/>
              </a:ext>
            </a:extLst>
          </p:cNvPr>
          <p:cNvPicPr>
            <a:picLocks noChangeAspect="1"/>
          </p:cNvPicPr>
          <p:nvPr/>
        </p:nvPicPr>
        <p:blipFill>
          <a:blip r:embed="rId5"/>
          <a:stretch>
            <a:fillRect/>
          </a:stretch>
        </p:blipFill>
        <p:spPr>
          <a:xfrm>
            <a:off x="3985812" y="2304716"/>
            <a:ext cx="245547" cy="253278"/>
          </a:xfrm>
          <a:prstGeom prst="rect">
            <a:avLst/>
          </a:prstGeom>
        </p:spPr>
      </p:pic>
      <p:pic>
        <p:nvPicPr>
          <p:cNvPr id="3" name="Picture 2">
            <a:extLst>
              <a:ext uri="{FF2B5EF4-FFF2-40B4-BE49-F238E27FC236}">
                <a16:creationId xmlns:a16="http://schemas.microsoft.com/office/drawing/2014/main" id="{8629D334-5F8A-FC02-26BB-93FEF818F2A5}"/>
              </a:ext>
            </a:extLst>
          </p:cNvPr>
          <p:cNvPicPr>
            <a:picLocks noChangeAspect="1"/>
          </p:cNvPicPr>
          <p:nvPr/>
        </p:nvPicPr>
        <p:blipFill>
          <a:blip r:embed="rId6"/>
          <a:stretch>
            <a:fillRect/>
          </a:stretch>
        </p:blipFill>
        <p:spPr>
          <a:xfrm>
            <a:off x="5671196" y="2298441"/>
            <a:ext cx="736364" cy="285709"/>
          </a:xfrm>
          <a:prstGeom prst="rect">
            <a:avLst/>
          </a:prstGeom>
        </p:spPr>
      </p:pic>
      <p:pic>
        <p:nvPicPr>
          <p:cNvPr id="6" name="Picture 5">
            <a:extLst>
              <a:ext uri="{FF2B5EF4-FFF2-40B4-BE49-F238E27FC236}">
                <a16:creationId xmlns:a16="http://schemas.microsoft.com/office/drawing/2014/main" id="{789942DF-679E-251C-B66D-9434CFC1A70E}"/>
              </a:ext>
            </a:extLst>
          </p:cNvPr>
          <p:cNvPicPr>
            <a:picLocks noChangeAspect="1"/>
          </p:cNvPicPr>
          <p:nvPr/>
        </p:nvPicPr>
        <p:blipFill>
          <a:blip r:embed="rId7"/>
          <a:stretch>
            <a:fillRect/>
          </a:stretch>
        </p:blipFill>
        <p:spPr>
          <a:xfrm>
            <a:off x="930730" y="2333447"/>
            <a:ext cx="1175839" cy="215877"/>
          </a:xfrm>
          <a:prstGeom prst="rect">
            <a:avLst/>
          </a:prstGeom>
        </p:spPr>
      </p:pic>
      <p:pic>
        <p:nvPicPr>
          <p:cNvPr id="11" name="Picture 10">
            <a:extLst>
              <a:ext uri="{FF2B5EF4-FFF2-40B4-BE49-F238E27FC236}">
                <a16:creationId xmlns:a16="http://schemas.microsoft.com/office/drawing/2014/main" id="{52268635-B030-E0CA-7676-4CE0296EC725}"/>
              </a:ext>
            </a:extLst>
          </p:cNvPr>
          <p:cNvPicPr>
            <a:picLocks noChangeAspect="1"/>
          </p:cNvPicPr>
          <p:nvPr/>
        </p:nvPicPr>
        <p:blipFill>
          <a:blip r:embed="rId8"/>
          <a:stretch>
            <a:fillRect/>
          </a:stretch>
        </p:blipFill>
        <p:spPr>
          <a:xfrm>
            <a:off x="6990154" y="2299911"/>
            <a:ext cx="266387" cy="266387"/>
          </a:xfrm>
          <a:prstGeom prst="rect">
            <a:avLst/>
          </a:prstGeom>
        </p:spPr>
      </p:pic>
      <p:pic>
        <p:nvPicPr>
          <p:cNvPr id="33" name="Picture 32">
            <a:extLst>
              <a:ext uri="{FF2B5EF4-FFF2-40B4-BE49-F238E27FC236}">
                <a16:creationId xmlns:a16="http://schemas.microsoft.com/office/drawing/2014/main" id="{04B193C8-063D-BA76-F24D-BE2CC2EA4A35}"/>
              </a:ext>
            </a:extLst>
          </p:cNvPr>
          <p:cNvPicPr>
            <a:picLocks noChangeAspect="1"/>
          </p:cNvPicPr>
          <p:nvPr/>
        </p:nvPicPr>
        <p:blipFill>
          <a:blip r:embed="rId9"/>
          <a:stretch>
            <a:fillRect/>
          </a:stretch>
        </p:blipFill>
        <p:spPr>
          <a:xfrm>
            <a:off x="2538576" y="2918039"/>
            <a:ext cx="973070" cy="237566"/>
          </a:xfrm>
          <a:prstGeom prst="rect">
            <a:avLst/>
          </a:prstGeom>
        </p:spPr>
      </p:pic>
      <p:pic>
        <p:nvPicPr>
          <p:cNvPr id="37" name="Picture 36">
            <a:extLst>
              <a:ext uri="{FF2B5EF4-FFF2-40B4-BE49-F238E27FC236}">
                <a16:creationId xmlns:a16="http://schemas.microsoft.com/office/drawing/2014/main" id="{6CC438AB-FC16-9D0D-B8A5-54A4BEF8C9F9}"/>
              </a:ext>
            </a:extLst>
          </p:cNvPr>
          <p:cNvPicPr>
            <a:picLocks noChangeAspect="1"/>
          </p:cNvPicPr>
          <p:nvPr/>
        </p:nvPicPr>
        <p:blipFill>
          <a:blip r:embed="rId10"/>
          <a:stretch>
            <a:fillRect/>
          </a:stretch>
        </p:blipFill>
        <p:spPr>
          <a:xfrm>
            <a:off x="6990155" y="2897288"/>
            <a:ext cx="744115" cy="280283"/>
          </a:xfrm>
          <a:prstGeom prst="rect">
            <a:avLst/>
          </a:prstGeom>
        </p:spPr>
      </p:pic>
      <p:sp>
        <p:nvSpPr>
          <p:cNvPr id="38" name="TextBox 37">
            <a:extLst>
              <a:ext uri="{FF2B5EF4-FFF2-40B4-BE49-F238E27FC236}">
                <a16:creationId xmlns:a16="http://schemas.microsoft.com/office/drawing/2014/main" id="{2103D174-4CAD-E662-5D14-2468D456B831}"/>
              </a:ext>
            </a:extLst>
          </p:cNvPr>
          <p:cNvSpPr txBox="1"/>
          <p:nvPr/>
        </p:nvSpPr>
        <p:spPr>
          <a:xfrm>
            <a:off x="7227834" y="2294604"/>
            <a:ext cx="1006628" cy="276999"/>
          </a:xfrm>
          <a:prstGeom prst="rect">
            <a:avLst/>
          </a:prstGeom>
          <a:noFill/>
        </p:spPr>
        <p:txBody>
          <a:bodyPr wrap="square" rtlCol="0">
            <a:spAutoFit/>
          </a:bodyPr>
          <a:lstStyle/>
          <a:p>
            <a:r>
              <a:rPr lang="en-US" sz="1200" dirty="0">
                <a:solidFill>
                  <a:srgbClr val="EF552E"/>
                </a:solidFill>
              </a:rPr>
              <a:t>Prometheus</a:t>
            </a:r>
          </a:p>
        </p:txBody>
      </p:sp>
      <p:sp>
        <p:nvSpPr>
          <p:cNvPr id="43" name="TextBox 42">
            <a:extLst>
              <a:ext uri="{FF2B5EF4-FFF2-40B4-BE49-F238E27FC236}">
                <a16:creationId xmlns:a16="http://schemas.microsoft.com/office/drawing/2014/main" id="{E3F35DCC-E3E3-31E5-0F51-52967482C28D}"/>
              </a:ext>
            </a:extLst>
          </p:cNvPr>
          <p:cNvSpPr txBox="1"/>
          <p:nvPr/>
        </p:nvSpPr>
        <p:spPr>
          <a:xfrm>
            <a:off x="4196736" y="2295558"/>
            <a:ext cx="1129823" cy="276999"/>
          </a:xfrm>
          <a:prstGeom prst="rect">
            <a:avLst/>
          </a:prstGeom>
          <a:noFill/>
        </p:spPr>
        <p:txBody>
          <a:bodyPr wrap="square" rtlCol="0">
            <a:spAutoFit/>
          </a:bodyPr>
          <a:lstStyle/>
          <a:p>
            <a:r>
              <a:rPr lang="en-US" sz="1200" dirty="0">
                <a:solidFill>
                  <a:srgbClr val="585858"/>
                </a:solidFill>
              </a:rPr>
              <a:t>Postgre</a:t>
            </a:r>
            <a:r>
              <a:rPr lang="en-US" sz="1200" dirty="0">
                <a:solidFill>
                  <a:srgbClr val="336791"/>
                </a:solidFill>
              </a:rPr>
              <a:t>SQL</a:t>
            </a:r>
          </a:p>
        </p:txBody>
      </p:sp>
      <p:pic>
        <p:nvPicPr>
          <p:cNvPr id="4" name="Graphic 3">
            <a:extLst>
              <a:ext uri="{FF2B5EF4-FFF2-40B4-BE49-F238E27FC236}">
                <a16:creationId xmlns:a16="http://schemas.microsoft.com/office/drawing/2014/main" id="{45BEDCF0-225C-38E3-A986-DABE7C79C9B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985812" y="2911163"/>
            <a:ext cx="1098275" cy="241085"/>
          </a:xfrm>
          <a:prstGeom prst="rect">
            <a:avLst/>
          </a:prstGeom>
        </p:spPr>
      </p:pic>
      <p:pic>
        <p:nvPicPr>
          <p:cNvPr id="581" name="Picture 580">
            <a:extLst>
              <a:ext uri="{FF2B5EF4-FFF2-40B4-BE49-F238E27FC236}">
                <a16:creationId xmlns:a16="http://schemas.microsoft.com/office/drawing/2014/main" id="{7EFF7D95-9A16-06B3-5853-3583C223841E}"/>
              </a:ext>
            </a:extLst>
          </p:cNvPr>
          <p:cNvPicPr>
            <a:picLocks noChangeAspect="1"/>
          </p:cNvPicPr>
          <p:nvPr/>
        </p:nvPicPr>
        <p:blipFill>
          <a:blip r:embed="rId9"/>
          <a:stretch>
            <a:fillRect/>
          </a:stretch>
        </p:blipFill>
        <p:spPr>
          <a:xfrm>
            <a:off x="1035653" y="2920739"/>
            <a:ext cx="973070" cy="237566"/>
          </a:xfrm>
          <a:prstGeom prst="rect">
            <a:avLst/>
          </a:prstGeom>
        </p:spPr>
      </p:pic>
      <p:pic>
        <p:nvPicPr>
          <p:cNvPr id="583" name="Picture 582">
            <a:extLst>
              <a:ext uri="{FF2B5EF4-FFF2-40B4-BE49-F238E27FC236}">
                <a16:creationId xmlns:a16="http://schemas.microsoft.com/office/drawing/2014/main" id="{ED5B258F-AFC6-B8BC-6D40-14E31EA9FE9B}"/>
              </a:ext>
            </a:extLst>
          </p:cNvPr>
          <p:cNvPicPr>
            <a:picLocks noChangeAspect="1"/>
          </p:cNvPicPr>
          <p:nvPr/>
        </p:nvPicPr>
        <p:blipFill>
          <a:blip r:embed="rId9"/>
          <a:stretch>
            <a:fillRect/>
          </a:stretch>
        </p:blipFill>
        <p:spPr>
          <a:xfrm>
            <a:off x="5554495" y="2910314"/>
            <a:ext cx="973070" cy="237566"/>
          </a:xfrm>
          <a:prstGeom prst="rect">
            <a:avLst/>
          </a:prstGeom>
        </p:spPr>
      </p:pic>
    </p:spTree>
    <p:extLst>
      <p:ext uri="{BB962C8B-B14F-4D97-AF65-F5344CB8AC3E}">
        <p14:creationId xmlns:p14="http://schemas.microsoft.com/office/powerpoint/2010/main" val="1576881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95" name="Rectangle 694">
            <a:extLst>
              <a:ext uri="{FF2B5EF4-FFF2-40B4-BE49-F238E27FC236}">
                <a16:creationId xmlns:a16="http://schemas.microsoft.com/office/drawing/2014/main" id="{542A867A-3841-9C74-CEA4-B7F71F69431B}"/>
              </a:ext>
            </a:extLst>
          </p:cNvPr>
          <p:cNvSpPr/>
          <p:nvPr/>
        </p:nvSpPr>
        <p:spPr>
          <a:xfrm>
            <a:off x="690770" y="1188841"/>
            <a:ext cx="7638220" cy="2465023"/>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err="1">
                <a:latin typeface="Work Sans"/>
                <a:ea typeface="Work Sans"/>
                <a:cs typeface="Work Sans"/>
                <a:sym typeface="Work Sans"/>
              </a:rPr>
              <a:t>Arbeitsagentur</a:t>
            </a:r>
            <a:r>
              <a:rPr lang="en-US" b="1" dirty="0">
                <a:latin typeface="Work Sans"/>
                <a:ea typeface="Work Sans"/>
                <a:cs typeface="Work Sans"/>
                <a:sym typeface="Work Sans"/>
              </a:rPr>
              <a:t>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17126"/>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9194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129608" y="1587089"/>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a:t>
            </a:r>
          </a:p>
        </p:txBody>
      </p:sp>
      <p:sp>
        <p:nvSpPr>
          <p:cNvPr id="46" name="Rectangle 45">
            <a:extLst>
              <a:ext uri="{FF2B5EF4-FFF2-40B4-BE49-F238E27FC236}">
                <a16:creationId xmlns:a16="http://schemas.microsoft.com/office/drawing/2014/main" id="{B58A120E-955F-AEE4-CB78-16E44FD3B0B6}"/>
              </a:ext>
            </a:extLst>
          </p:cNvPr>
          <p:cNvSpPr/>
          <p:nvPr/>
        </p:nvSpPr>
        <p:spPr>
          <a:xfrm>
            <a:off x="3129608" y="2143381"/>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a:t>
            </a:r>
          </a:p>
        </p:txBody>
      </p:sp>
      <p:sp>
        <p:nvSpPr>
          <p:cNvPr id="49" name="Rectangle 48">
            <a:extLst>
              <a:ext uri="{FF2B5EF4-FFF2-40B4-BE49-F238E27FC236}">
                <a16:creationId xmlns:a16="http://schemas.microsoft.com/office/drawing/2014/main" id="{71E435B9-FD8B-239B-7931-CBF905ED7B59}"/>
              </a:ext>
            </a:extLst>
          </p:cNvPr>
          <p:cNvSpPr/>
          <p:nvPr/>
        </p:nvSpPr>
        <p:spPr>
          <a:xfrm>
            <a:off x="3110558" y="2699673"/>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5385989" y="1580854"/>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4877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67988"/>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413562"/>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110558" y="3255965"/>
            <a:ext cx="733162"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flipV="1">
            <a:off x="2884382" y="1739489"/>
            <a:ext cx="245226" cy="6036"/>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3862770" y="1739489"/>
            <a:ext cx="86279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flipV="1">
            <a:off x="5170296" y="1733254"/>
            <a:ext cx="215693" cy="623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1517126"/>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3870316" y="1467460"/>
            <a:ext cx="810729" cy="276999"/>
          </a:xfrm>
          <a:prstGeom prst="rect">
            <a:avLst/>
          </a:prstGeom>
          <a:noFill/>
        </p:spPr>
        <p:txBody>
          <a:bodyPr wrap="square" rtlCol="0">
            <a:spAutoFit/>
          </a:bodyPr>
          <a:lstStyle/>
          <a:p>
            <a:pPr algn="ctr"/>
            <a:r>
              <a:rPr lang="en-US" sz="1200" dirty="0"/>
              <a:t>ref. no.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731867" y="1898039"/>
            <a:ext cx="321857" cy="47362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166050" y="2463856"/>
            <a:ext cx="1434441"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5385989" y="214105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flipV="1">
            <a:off x="3862770" y="2295780"/>
            <a:ext cx="862798" cy="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flipV="1">
            <a:off x="5170296" y="2293453"/>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5568" y="2073417"/>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3870316" y="2011518"/>
            <a:ext cx="810729" cy="276999"/>
          </a:xfrm>
          <a:prstGeom prst="rect">
            <a:avLst/>
          </a:prstGeom>
          <a:noFill/>
        </p:spPr>
        <p:txBody>
          <a:bodyPr wrap="square" rtlCol="0">
            <a:spAutoFit/>
          </a:bodyPr>
          <a:lstStyle/>
          <a:p>
            <a:pPr algn="ctr"/>
            <a:r>
              <a:rPr lang="en-US" sz="1200" dirty="0"/>
              <a:t>ref. no. 2</a:t>
            </a:r>
          </a:p>
        </p:txBody>
      </p:sp>
      <p:sp>
        <p:nvSpPr>
          <p:cNvPr id="645" name="Rectangle 644">
            <a:extLst>
              <a:ext uri="{FF2B5EF4-FFF2-40B4-BE49-F238E27FC236}">
                <a16:creationId xmlns:a16="http://schemas.microsoft.com/office/drawing/2014/main" id="{13D1585E-C127-DE77-D2E3-AD73E25094EA}"/>
              </a:ext>
            </a:extLst>
          </p:cNvPr>
          <p:cNvSpPr/>
          <p:nvPr/>
        </p:nvSpPr>
        <p:spPr>
          <a:xfrm>
            <a:off x="5366939" y="3251478"/>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3843720" y="3406205"/>
            <a:ext cx="862798" cy="216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flipV="1">
            <a:off x="5151246" y="3403878"/>
            <a:ext cx="215693" cy="232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6518" y="3183842"/>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3843720" y="3121942"/>
            <a:ext cx="833098" cy="276999"/>
          </a:xfrm>
          <a:prstGeom prst="rect">
            <a:avLst/>
          </a:prstGeom>
          <a:noFill/>
        </p:spPr>
        <p:txBody>
          <a:bodyPr wrap="square" rtlCol="0">
            <a:spAutoFit/>
          </a:bodyPr>
          <a:lstStyle/>
          <a:p>
            <a:pPr algn="ctr"/>
            <a:r>
              <a:rPr lang="en-US" sz="1200" dirty="0"/>
              <a:t>ref. no.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444196" y="2185710"/>
            <a:ext cx="878149" cy="45457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93415"/>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45525"/>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6820570" y="1587221"/>
            <a:ext cx="1450082" cy="1969057"/>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title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occupation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employer</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description</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publication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modification date</a:t>
            </a:r>
          </a:p>
          <a:p>
            <a:pPr marL="171450" indent="-171450">
              <a:buClr>
                <a:schemeClr val="accent6">
                  <a:lumMod val="95000"/>
                </a:schemeClr>
              </a:buClr>
              <a:buFont typeface="Arial" panose="020B0604020202020204" pitchFamily="34" charset="0"/>
              <a:buChar char="•"/>
            </a:pPr>
            <a:r>
              <a:rPr lang="en-US" sz="1200" dirty="0">
                <a:solidFill>
                  <a:schemeClr val="accent6">
                    <a:lumMod val="95000"/>
                  </a:schemeClr>
                </a:solidFill>
              </a:rPr>
              <a:t>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41015"/>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44345"/>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207286" y="1216506"/>
            <a:ext cx="1062712"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4440719" y="1205040"/>
            <a:ext cx="2328976" cy="246221"/>
          </a:xfrm>
          <a:prstGeom prst="rect">
            <a:avLst/>
          </a:prstGeom>
          <a:noFill/>
        </p:spPr>
        <p:txBody>
          <a:bodyPr wrap="square" rtlCol="0">
            <a:spAutoFit/>
          </a:bodyPr>
          <a:lstStyle/>
          <a:p>
            <a:pPr algn="ctr"/>
            <a:r>
              <a:rPr lang="en-US" sz="1000" b="1" dirty="0"/>
              <a:t>GET /job{</a:t>
            </a:r>
            <a:r>
              <a:rPr lang="en-US" sz="1000" b="1" dirty="0" err="1"/>
              <a:t>reference_number</a:t>
            </a:r>
            <a:r>
              <a:rPr lang="en-US" sz="1000" b="1" dirty="0"/>
              <a:t>}</a:t>
            </a:r>
          </a:p>
        </p:txBody>
      </p:sp>
    </p:spTree>
    <p:extLst>
      <p:ext uri="{BB962C8B-B14F-4D97-AF65-F5344CB8AC3E}">
        <p14:creationId xmlns:p14="http://schemas.microsoft.com/office/powerpoint/2010/main" val="652692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097D37C-C17D-40DC-A22D-59CE8DD0ADE4}"/>
              </a:ext>
            </a:extLst>
          </p:cNvPr>
          <p:cNvSpPr/>
          <p:nvPr/>
        </p:nvSpPr>
        <p:spPr>
          <a:xfrm>
            <a:off x="716377" y="599893"/>
            <a:ext cx="7659282" cy="3579700"/>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F507A431-3C08-473B-C965-5E29A3EFE23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Ingestion &amp; Enrichment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426310"/>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963907"/>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1869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6922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201286"/>
            <a:ext cx="393496" cy="452741"/>
          </a:xfrm>
          <a:prstGeom prst="rect">
            <a:avLst/>
          </a:prstGeom>
        </p:spPr>
      </p:pic>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155189"/>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2568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0100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8099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Search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1869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8018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Retrieve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1869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1869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missing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0549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Convert to internal schema</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613" idx="3"/>
          </p:cNvCxnSpPr>
          <p:nvPr/>
        </p:nvCxnSpPr>
        <p:spPr>
          <a:xfrm flipH="1">
            <a:off x="2969558" y="2425752"/>
            <a:ext cx="1600937"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4257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2670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18763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data/processed/</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6595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data/raw/</a:t>
            </a:r>
            <a:r>
              <a:rPr lang="en-US" sz="800" dirty="0" err="1">
                <a:solidFill>
                  <a:schemeClr val="bg1">
                    <a:lumMod val="95000"/>
                  </a:schemeClr>
                </a:solidFill>
                <a:latin typeface="Consolas" panose="020B0609020204030204" pitchFamily="49" charset="0"/>
              </a:rPr>
              <a:t>arbeitsagentur</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   job-details-</a:t>
            </a:r>
            <a:r>
              <a:rPr lang="en-US" sz="800" dirty="0" err="1">
                <a:solidFill>
                  <a:schemeClr val="bg1">
                    <a:lumMod val="95000"/>
                  </a:schemeClr>
                </a:solidFill>
                <a:latin typeface="Consolas" panose="020B0609020204030204" pitchFamily="49" charset="0"/>
              </a:rPr>
              <a:t>f.json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6378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691786"/>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1923609"/>
            <a:ext cx="207645" cy="229125"/>
          </a:xfrm>
          <a:prstGeom prst="rect">
            <a:avLst/>
          </a:prstGeom>
        </p:spPr>
      </p:pic>
      <p:pic>
        <p:nvPicPr>
          <p:cNvPr id="31" name="Picture 30">
            <a:extLst>
              <a:ext uri="{FF2B5EF4-FFF2-40B4-BE49-F238E27FC236}">
                <a16:creationId xmlns:a16="http://schemas.microsoft.com/office/drawing/2014/main" id="{CB7110E9-19F6-1DEF-4900-FCE0B48247F3}"/>
              </a:ext>
            </a:extLst>
          </p:cNvPr>
          <p:cNvPicPr>
            <a:picLocks noChangeAspect="1"/>
          </p:cNvPicPr>
          <p:nvPr/>
        </p:nvPicPr>
        <p:blipFill>
          <a:blip r:embed="rId9"/>
          <a:stretch>
            <a:fillRect/>
          </a:stretch>
        </p:blipFill>
        <p:spPr>
          <a:xfrm>
            <a:off x="3028747" y="4354845"/>
            <a:ext cx="736364" cy="285709"/>
          </a:xfrm>
          <a:prstGeom prst="rect">
            <a:avLst/>
          </a:prstGeom>
        </p:spPr>
      </p:pic>
      <p:sp>
        <p:nvSpPr>
          <p:cNvPr id="32" name="TextBox 31">
            <a:extLst>
              <a:ext uri="{FF2B5EF4-FFF2-40B4-BE49-F238E27FC236}">
                <a16:creationId xmlns:a16="http://schemas.microsoft.com/office/drawing/2014/main" id="{2E764D6E-DA91-7F0D-FC43-0D2528EDDD29}"/>
              </a:ext>
            </a:extLst>
          </p:cNvPr>
          <p:cNvSpPr txBox="1"/>
          <p:nvPr/>
        </p:nvSpPr>
        <p:spPr>
          <a:xfrm>
            <a:off x="3818107" y="4380480"/>
            <a:ext cx="4503354" cy="246221"/>
          </a:xfrm>
          <a:prstGeom prst="rect">
            <a:avLst/>
          </a:prstGeom>
          <a:noFill/>
        </p:spPr>
        <p:txBody>
          <a:bodyPr wrap="square" rtlCol="0">
            <a:spAutoFit/>
          </a:bodyPr>
          <a:lstStyle/>
          <a:p>
            <a:r>
              <a:rPr lang="en-US" sz="1000" b="1" dirty="0">
                <a:solidFill>
                  <a:schemeClr val="tx1">
                    <a:lumMod val="85000"/>
                    <a:lumOff val="15000"/>
                  </a:schemeClr>
                </a:solidFill>
              </a:rPr>
              <a:t>Extract</a:t>
            </a:r>
            <a:r>
              <a:rPr lang="en-US" sz="1000" dirty="0">
                <a:solidFill>
                  <a:schemeClr val="tx1">
                    <a:lumMod val="85000"/>
                    <a:lumOff val="15000"/>
                  </a:schemeClr>
                </a:solidFill>
              </a:rPr>
              <a:t> → </a:t>
            </a:r>
            <a:r>
              <a:rPr lang="en-US" sz="1000" b="1" dirty="0">
                <a:solidFill>
                  <a:schemeClr val="tx1">
                    <a:lumMod val="85000"/>
                    <a:lumOff val="15000"/>
                  </a:schemeClr>
                </a:solidFill>
              </a:rPr>
              <a:t>Transform</a:t>
            </a:r>
            <a:r>
              <a:rPr lang="en-US" sz="1000" dirty="0">
                <a:solidFill>
                  <a:schemeClr val="tx1">
                    <a:lumMod val="85000"/>
                    <a:lumOff val="15000"/>
                  </a:schemeClr>
                </a:solidFill>
              </a:rPr>
              <a:t> → </a:t>
            </a:r>
            <a:r>
              <a:rPr lang="en-US" sz="1000" b="1" dirty="0">
                <a:solidFill>
                  <a:schemeClr val="tx1">
                    <a:lumMod val="85000"/>
                    <a:lumOff val="15000"/>
                  </a:schemeClr>
                </a:solidFill>
              </a:rPr>
              <a:t>Load</a:t>
            </a:r>
            <a:r>
              <a:rPr lang="en-US" sz="1000" dirty="0">
                <a:solidFill>
                  <a:schemeClr val="tx1">
                    <a:lumMod val="85000"/>
                    <a:lumOff val="15000"/>
                  </a:schemeClr>
                </a:solidFill>
              </a:rPr>
              <a:t> → Update Freshness → Sync Elasticsearch</a:t>
            </a:r>
          </a:p>
        </p:txBody>
      </p:sp>
      <p:sp>
        <p:nvSpPr>
          <p:cNvPr id="34" name="TextBox 33">
            <a:extLst>
              <a:ext uri="{FF2B5EF4-FFF2-40B4-BE49-F238E27FC236}">
                <a16:creationId xmlns:a16="http://schemas.microsoft.com/office/drawing/2014/main" id="{33374BB4-C656-AE7F-C9B2-DA2956EE5DE0}"/>
              </a:ext>
            </a:extLst>
          </p:cNvPr>
          <p:cNvSpPr txBox="1"/>
          <p:nvPr/>
        </p:nvSpPr>
        <p:spPr>
          <a:xfrm>
            <a:off x="768340" y="4367614"/>
            <a:ext cx="2222555" cy="276999"/>
          </a:xfrm>
          <a:prstGeom prst="rect">
            <a:avLst/>
          </a:prstGeom>
          <a:noFill/>
        </p:spPr>
        <p:txBody>
          <a:bodyPr wrap="square">
            <a:spAutoFit/>
          </a:bodyPr>
          <a:lstStyle/>
          <a:p>
            <a:r>
              <a:rPr lang="en-US" sz="1200" dirty="0">
                <a:solidFill>
                  <a:schemeClr val="tx1">
                    <a:lumMod val="85000"/>
                    <a:lumOff val="15000"/>
                  </a:schemeClr>
                </a:solidFill>
              </a:rPr>
              <a:t>Automated daily at 06:00 with </a:t>
            </a:r>
          </a:p>
        </p:txBody>
      </p:sp>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0540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spTree>
    <p:extLst>
      <p:ext uri="{BB962C8B-B14F-4D97-AF65-F5344CB8AC3E}">
        <p14:creationId xmlns:p14="http://schemas.microsoft.com/office/powerpoint/2010/main" val="3956861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6BCAE19-626F-0A4C-20D7-099167624F53}"/>
            </a:ext>
          </a:extLst>
        </p:cNvPr>
        <p:cNvGrpSpPr/>
        <p:nvPr/>
      </p:nvGrpSpPr>
      <p:grpSpPr>
        <a:xfrm>
          <a:off x="0" y="0"/>
          <a:ext cx="0" cy="0"/>
          <a:chOff x="0" y="0"/>
          <a:chExt cx="0" cy="0"/>
        </a:xfrm>
      </p:grpSpPr>
      <p:sp>
        <p:nvSpPr>
          <p:cNvPr id="30" name="Rectangle 29">
            <a:extLst>
              <a:ext uri="{FF2B5EF4-FFF2-40B4-BE49-F238E27FC236}">
                <a16:creationId xmlns:a16="http://schemas.microsoft.com/office/drawing/2014/main" id="{B4DFAF18-B280-861B-8053-3C0E71346A42}"/>
              </a:ext>
            </a:extLst>
          </p:cNvPr>
          <p:cNvSpPr/>
          <p:nvPr/>
        </p:nvSpPr>
        <p:spPr>
          <a:xfrm>
            <a:off x="1764323" y="629161"/>
            <a:ext cx="6280717" cy="4047198"/>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35DCA47-32C4-3F81-5E1F-3545BA4DAB98}"/>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Data Enrichment &amp; Standardization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E52905AB-80C8-4057-C442-3DC5527B7A4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32F1C11-21A7-EA60-2DB3-5D3A8339AC79}"/>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Rectangle 1">
            <a:extLst>
              <a:ext uri="{FF2B5EF4-FFF2-40B4-BE49-F238E27FC236}">
                <a16:creationId xmlns:a16="http://schemas.microsoft.com/office/drawing/2014/main" id="{47526F36-899D-A9B6-26DC-620C1FE30E55}"/>
              </a:ext>
            </a:extLst>
          </p:cNvPr>
          <p:cNvSpPr/>
          <p:nvPr/>
        </p:nvSpPr>
        <p:spPr>
          <a:xfrm>
            <a:off x="4572000" y="103225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1000" dirty="0">
                <a:solidFill>
                  <a:schemeClr val="tx1">
                    <a:lumMod val="85000"/>
                    <a:lumOff val="15000"/>
                  </a:schemeClr>
                </a:solidFill>
              </a:rPr>
              <a:t>Data Engineer</a:t>
            </a:r>
          </a:p>
          <a:p>
            <a:pPr marL="171450" indent="-171450">
              <a:buFont typeface="Arial" panose="020B0604020202020204" pitchFamily="34" charset="0"/>
              <a:buChar char="•"/>
            </a:pPr>
            <a:r>
              <a:rPr lang="en-US" sz="1000" dirty="0">
                <a:solidFill>
                  <a:schemeClr val="tx1">
                    <a:lumMod val="85000"/>
                    <a:lumOff val="15000"/>
                  </a:schemeClr>
                </a:solidFill>
              </a:rPr>
              <a:t>Senior Data Platform Engineer</a:t>
            </a:r>
          </a:p>
          <a:p>
            <a:pPr marL="171450" indent="-171450">
              <a:buFont typeface="Arial" panose="020B0604020202020204" pitchFamily="34" charset="0"/>
              <a:buChar char="•"/>
            </a:pPr>
            <a:r>
              <a:rPr lang="en-US" sz="1000" dirty="0">
                <a:solidFill>
                  <a:schemeClr val="tx1">
                    <a:lumMod val="85000"/>
                    <a:lumOff val="15000"/>
                  </a:schemeClr>
                </a:solidFill>
              </a:rPr>
              <a:t>AI Backend Engineer</a:t>
            </a:r>
          </a:p>
          <a:p>
            <a:pPr marL="171450" indent="-171450">
              <a:buFont typeface="Arial" panose="020B0604020202020204" pitchFamily="34" charset="0"/>
              <a:buChar char="•"/>
            </a:pPr>
            <a:r>
              <a:rPr lang="en-US" sz="1000" dirty="0">
                <a:solidFill>
                  <a:schemeClr val="tx1">
                    <a:lumMod val="85000"/>
                    <a:lumOff val="15000"/>
                  </a:schemeClr>
                </a:solidFill>
              </a:rPr>
              <a:t>Machine Learning Engineer</a:t>
            </a:r>
          </a:p>
          <a:p>
            <a:pPr marL="171450" indent="-171450">
              <a:buFont typeface="Arial" panose="020B0604020202020204" pitchFamily="34" charset="0"/>
              <a:buChar char="•"/>
            </a:pPr>
            <a:r>
              <a:rPr lang="en-US" sz="1000" dirty="0">
                <a:solidFill>
                  <a:schemeClr val="tx1">
                    <a:lumMod val="85000"/>
                    <a:lumOff val="15000"/>
                  </a:schemeClr>
                </a:solidFill>
              </a:rPr>
              <a:t>Cloud Data Specialist</a:t>
            </a:r>
          </a:p>
          <a:p>
            <a:pPr marL="171450" indent="-171450">
              <a:buFont typeface="Arial" panose="020B0604020202020204" pitchFamily="34" charset="0"/>
              <a:buChar char="•"/>
            </a:pPr>
            <a:r>
              <a:rPr lang="en-US" sz="1000" dirty="0">
                <a:solidFill>
                  <a:schemeClr val="tx1">
                    <a:lumMod val="85000"/>
                    <a:lumOff val="15000"/>
                  </a:schemeClr>
                </a:solidFill>
              </a:rPr>
              <a:t>Python Developer</a:t>
            </a:r>
          </a:p>
          <a:p>
            <a:pPr marL="171450" indent="-171450">
              <a:buFont typeface="Arial" panose="020B0604020202020204" pitchFamily="34" charset="0"/>
              <a:buChar char="•"/>
            </a:pPr>
            <a:r>
              <a:rPr lang="en-US" sz="1000" dirty="0">
                <a:solidFill>
                  <a:schemeClr val="tx1">
                    <a:lumMod val="85000"/>
                    <a:lumOff val="15000"/>
                  </a:schemeClr>
                </a:solidFill>
              </a:rPr>
              <a:t>...</a:t>
            </a:r>
          </a:p>
        </p:txBody>
      </p:sp>
      <p:sp>
        <p:nvSpPr>
          <p:cNvPr id="4" name="Rectangle 3">
            <a:extLst>
              <a:ext uri="{FF2B5EF4-FFF2-40B4-BE49-F238E27FC236}">
                <a16:creationId xmlns:a16="http://schemas.microsoft.com/office/drawing/2014/main" id="{552FAFB4-C365-A9C8-0428-BB40BCCDC4BA}"/>
              </a:ext>
            </a:extLst>
          </p:cNvPr>
          <p:cNvSpPr/>
          <p:nvPr/>
        </p:nvSpPr>
        <p:spPr>
          <a:xfrm>
            <a:off x="4571999" y="2730722"/>
            <a:ext cx="2154994" cy="1158664"/>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Font typeface="+mj-lt"/>
              <a:buAutoNum type="arabicPeriod"/>
            </a:pPr>
            <a:r>
              <a:rPr lang="en-US" sz="1000" dirty="0">
                <a:solidFill>
                  <a:schemeClr val="tx1">
                    <a:lumMod val="85000"/>
                    <a:lumOff val="15000"/>
                  </a:schemeClr>
                </a:solidFill>
              </a:rPr>
              <a:t>AI / Machine Learning</a:t>
            </a:r>
          </a:p>
          <a:p>
            <a:pPr marL="228600" indent="-228600">
              <a:buFont typeface="+mj-lt"/>
              <a:buAutoNum type="arabicPeriod"/>
            </a:pPr>
            <a:r>
              <a:rPr lang="en-US" sz="1000" dirty="0">
                <a:solidFill>
                  <a:schemeClr val="tx1">
                    <a:lumMod val="85000"/>
                    <a:lumOff val="15000"/>
                  </a:schemeClr>
                </a:solidFill>
              </a:rPr>
              <a:t>Data Engineering</a:t>
            </a:r>
          </a:p>
          <a:p>
            <a:pPr marL="228600" indent="-228600">
              <a:buFont typeface="+mj-lt"/>
              <a:buAutoNum type="arabicPeriod"/>
            </a:pPr>
            <a:r>
              <a:rPr lang="en-US" sz="1000" dirty="0">
                <a:solidFill>
                  <a:schemeClr val="tx1">
                    <a:lumMod val="85000"/>
                    <a:lumOff val="15000"/>
                  </a:schemeClr>
                </a:solidFill>
              </a:rPr>
              <a:t>Data Analysis</a:t>
            </a:r>
          </a:p>
          <a:p>
            <a:pPr marL="228600" indent="-228600">
              <a:buFont typeface="+mj-lt"/>
              <a:buAutoNum type="arabicPeriod"/>
            </a:pPr>
            <a:r>
              <a:rPr lang="en-US" sz="1000" dirty="0">
                <a:solidFill>
                  <a:schemeClr val="tx1">
                    <a:lumMod val="85000"/>
                    <a:lumOff val="15000"/>
                  </a:schemeClr>
                </a:solidFill>
              </a:rPr>
              <a:t>Cloud / DevOps</a:t>
            </a:r>
          </a:p>
          <a:p>
            <a:pPr marL="228600" indent="-228600">
              <a:buFont typeface="+mj-lt"/>
              <a:buAutoNum type="arabicPeriod"/>
            </a:pPr>
            <a:r>
              <a:rPr lang="en-US" sz="1000" dirty="0">
                <a:solidFill>
                  <a:schemeClr val="tx1">
                    <a:lumMod val="85000"/>
                    <a:lumOff val="15000"/>
                  </a:schemeClr>
                </a:solidFill>
              </a:rPr>
              <a:t>Backend Development</a:t>
            </a:r>
          </a:p>
          <a:p>
            <a:pPr marL="228600" indent="-228600">
              <a:buFont typeface="Courier New" panose="02070309020205020404" pitchFamily="49" charset="0"/>
              <a:buChar char="o"/>
            </a:pPr>
            <a:r>
              <a:rPr lang="en-US" sz="1000" dirty="0">
                <a:solidFill>
                  <a:schemeClr val="tx1">
                    <a:lumMod val="85000"/>
                    <a:lumOff val="15000"/>
                  </a:schemeClr>
                </a:solidFill>
              </a:rPr>
              <a:t>Other</a:t>
            </a:r>
          </a:p>
        </p:txBody>
      </p:sp>
      <p:cxnSp>
        <p:nvCxnSpPr>
          <p:cNvPr id="6" name="Straight Arrow Connector 5">
            <a:extLst>
              <a:ext uri="{FF2B5EF4-FFF2-40B4-BE49-F238E27FC236}">
                <a16:creationId xmlns:a16="http://schemas.microsoft.com/office/drawing/2014/main" id="{3497B89A-E88D-C0A2-B042-997509BB5C2F}"/>
              </a:ext>
            </a:extLst>
          </p:cNvPr>
          <p:cNvCxnSpPr>
            <a:cxnSpLocks/>
            <a:stCxn id="2" idx="2"/>
            <a:endCxn id="4" idx="0"/>
          </p:cNvCxnSpPr>
          <p:nvPr/>
        </p:nvCxnSpPr>
        <p:spPr>
          <a:xfrm flipH="1">
            <a:off x="5649496" y="2190916"/>
            <a:ext cx="1" cy="539806"/>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97B41B-10D5-8F9B-C134-9C036E59C7DF}"/>
              </a:ext>
            </a:extLst>
          </p:cNvPr>
          <p:cNvSpPr txBox="1"/>
          <p:nvPr/>
        </p:nvSpPr>
        <p:spPr>
          <a:xfrm>
            <a:off x="6726994" y="1299263"/>
            <a:ext cx="1318047" cy="707886"/>
          </a:xfrm>
          <a:prstGeom prst="rect">
            <a:avLst/>
          </a:prstGeom>
          <a:noFill/>
        </p:spPr>
        <p:txBody>
          <a:bodyPr wrap="square" rtlCol="0">
            <a:spAutoFit/>
          </a:bodyPr>
          <a:lstStyle/>
          <a:p>
            <a:r>
              <a:rPr lang="en-US" sz="1000" dirty="0">
                <a:solidFill>
                  <a:schemeClr val="tx1">
                    <a:lumMod val="85000"/>
                    <a:lumOff val="15000"/>
                  </a:schemeClr>
                </a:solidFill>
              </a:rPr>
              <a:t>Raw titles are too </a:t>
            </a:r>
            <a:r>
              <a:rPr lang="en-US" sz="1000" b="1" dirty="0">
                <a:solidFill>
                  <a:schemeClr val="tx1">
                    <a:lumMod val="85000"/>
                    <a:lumOff val="15000"/>
                  </a:schemeClr>
                </a:solidFill>
              </a:rPr>
              <a:t>heterogeneous</a:t>
            </a:r>
            <a:r>
              <a:rPr lang="en-US" sz="1000" dirty="0">
                <a:solidFill>
                  <a:schemeClr val="tx1">
                    <a:lumMod val="85000"/>
                    <a:lumOff val="15000"/>
                  </a:schemeClr>
                </a:solidFill>
              </a:rPr>
              <a:t> for consistent analysis and </a:t>
            </a:r>
            <a:r>
              <a:rPr lang="en-US" sz="1000" dirty="0" err="1">
                <a:solidFill>
                  <a:schemeClr val="tx1">
                    <a:lumMod val="85000"/>
                    <a:lumOff val="15000"/>
                  </a:schemeClr>
                </a:solidFill>
              </a:rPr>
              <a:t>visualisation</a:t>
            </a:r>
            <a:r>
              <a:rPr lang="en-US" sz="1000" dirty="0">
                <a:solidFill>
                  <a:schemeClr val="tx1">
                    <a:lumMod val="85000"/>
                    <a:lumOff val="15000"/>
                  </a:schemeClr>
                </a:solidFill>
              </a:rPr>
              <a:t>.</a:t>
            </a:r>
          </a:p>
        </p:txBody>
      </p:sp>
      <p:sp>
        <p:nvSpPr>
          <p:cNvPr id="13" name="TextBox 12">
            <a:extLst>
              <a:ext uri="{FF2B5EF4-FFF2-40B4-BE49-F238E27FC236}">
                <a16:creationId xmlns:a16="http://schemas.microsoft.com/office/drawing/2014/main" id="{2843BC4A-AFB7-ACD6-0C63-A7D083DF12FD}"/>
              </a:ext>
            </a:extLst>
          </p:cNvPr>
          <p:cNvSpPr txBox="1"/>
          <p:nvPr/>
        </p:nvSpPr>
        <p:spPr>
          <a:xfrm>
            <a:off x="6726994" y="2879167"/>
            <a:ext cx="1318046" cy="861774"/>
          </a:xfrm>
          <a:prstGeom prst="rect">
            <a:avLst/>
          </a:prstGeom>
          <a:noFill/>
        </p:spPr>
        <p:txBody>
          <a:bodyPr wrap="square" rtlCol="0">
            <a:spAutoFit/>
          </a:bodyPr>
          <a:lstStyle/>
          <a:p>
            <a:r>
              <a:rPr lang="en-US" sz="1000" dirty="0">
                <a:solidFill>
                  <a:schemeClr val="tx1">
                    <a:lumMod val="85000"/>
                    <a:lumOff val="15000"/>
                  </a:schemeClr>
                </a:solidFill>
              </a:rPr>
              <a:t>Broad standardized categories derived from </a:t>
            </a:r>
            <a:r>
              <a:rPr lang="en-US" sz="1000" b="1" dirty="0">
                <a:solidFill>
                  <a:schemeClr val="tx1">
                    <a:lumMod val="85000"/>
                    <a:lumOff val="15000"/>
                  </a:schemeClr>
                </a:solidFill>
              </a:rPr>
              <a:t>title</a:t>
            </a:r>
            <a:r>
              <a:rPr lang="en-US" sz="1000" dirty="0">
                <a:solidFill>
                  <a:schemeClr val="tx1">
                    <a:lumMod val="85000"/>
                    <a:lumOff val="15000"/>
                  </a:schemeClr>
                </a:solidFill>
              </a:rPr>
              <a:t> and </a:t>
            </a:r>
            <a:r>
              <a:rPr lang="en-US" sz="1000" b="1" dirty="0">
                <a:solidFill>
                  <a:schemeClr val="tx1">
                    <a:lumMod val="85000"/>
                    <a:lumOff val="15000"/>
                  </a:schemeClr>
                </a:solidFill>
              </a:rPr>
              <a:t>occupation</a:t>
            </a:r>
            <a:r>
              <a:rPr lang="en-US" sz="1000" dirty="0">
                <a:solidFill>
                  <a:schemeClr val="tx1">
                    <a:lumMod val="85000"/>
                    <a:lumOff val="15000"/>
                  </a:schemeClr>
                </a:solidFill>
              </a:rPr>
              <a:t>, with “Other” as fallback.</a:t>
            </a:r>
          </a:p>
        </p:txBody>
      </p:sp>
      <p:sp>
        <p:nvSpPr>
          <p:cNvPr id="16" name="TextBox 15">
            <a:extLst>
              <a:ext uri="{FF2B5EF4-FFF2-40B4-BE49-F238E27FC236}">
                <a16:creationId xmlns:a16="http://schemas.microsoft.com/office/drawing/2014/main" id="{67979BEE-7BA6-2F43-E283-EA8B994D252A}"/>
              </a:ext>
            </a:extLst>
          </p:cNvPr>
          <p:cNvSpPr txBox="1"/>
          <p:nvPr/>
        </p:nvSpPr>
        <p:spPr>
          <a:xfrm>
            <a:off x="5649497" y="2300734"/>
            <a:ext cx="2011886" cy="246221"/>
          </a:xfrm>
          <a:prstGeom prst="rect">
            <a:avLst/>
          </a:prstGeom>
          <a:noFill/>
        </p:spPr>
        <p:txBody>
          <a:bodyPr wrap="square" rtlCol="0">
            <a:spAutoFit/>
          </a:bodyPr>
          <a:lstStyle/>
          <a:p>
            <a:r>
              <a:rPr lang="en-US" sz="1000" dirty="0"/>
              <a:t>rule-based classification</a:t>
            </a:r>
            <a:endParaRPr lang="en-US" sz="1000" dirty="0">
              <a:solidFill>
                <a:schemeClr val="tx1">
                  <a:lumMod val="85000"/>
                  <a:lumOff val="15000"/>
                </a:schemeClr>
              </a:solidFill>
            </a:endParaRPr>
          </a:p>
        </p:txBody>
      </p:sp>
      <p:sp>
        <p:nvSpPr>
          <p:cNvPr id="22" name="TextBox 21">
            <a:extLst>
              <a:ext uri="{FF2B5EF4-FFF2-40B4-BE49-F238E27FC236}">
                <a16:creationId xmlns:a16="http://schemas.microsoft.com/office/drawing/2014/main" id="{F3CA642B-3E30-7625-F750-89191B7DE988}"/>
              </a:ext>
            </a:extLst>
          </p:cNvPr>
          <p:cNvSpPr txBox="1"/>
          <p:nvPr/>
        </p:nvSpPr>
        <p:spPr>
          <a:xfrm>
            <a:off x="4572000" y="4080096"/>
            <a:ext cx="2603088" cy="553998"/>
          </a:xfrm>
          <a:prstGeom prst="rect">
            <a:avLst/>
          </a:prstGeom>
          <a:noFill/>
        </p:spPr>
        <p:txBody>
          <a:bodyPr wrap="square" rtlCol="0">
            <a:spAutoFit/>
          </a:bodyPr>
          <a:lstStyle/>
          <a:p>
            <a:r>
              <a:rPr lang="en-US" sz="1000" b="1" i="1" dirty="0"/>
              <a:t>Priority example:</a:t>
            </a:r>
          </a:p>
          <a:p>
            <a:r>
              <a:rPr lang="en-US" sz="1000" i="1" dirty="0"/>
              <a:t>“Backend Developer for Machine Learning” → “AI / Machine Learning”</a:t>
            </a:r>
          </a:p>
        </p:txBody>
      </p:sp>
      <p:cxnSp>
        <p:nvCxnSpPr>
          <p:cNvPr id="9" name="Straight Connector 8">
            <a:extLst>
              <a:ext uri="{FF2B5EF4-FFF2-40B4-BE49-F238E27FC236}">
                <a16:creationId xmlns:a16="http://schemas.microsoft.com/office/drawing/2014/main" id="{3F5FC365-CAB0-A7B7-9DA4-962D4D9E65E9}"/>
              </a:ext>
            </a:extLst>
          </p:cNvPr>
          <p:cNvCxnSpPr>
            <a:cxnSpLocks/>
          </p:cNvCxnSpPr>
          <p:nvPr/>
        </p:nvCxnSpPr>
        <p:spPr>
          <a:xfrm>
            <a:off x="4403246" y="629161"/>
            <a:ext cx="2" cy="4047198"/>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901EDBD-AB10-498A-BEDC-D74398AA7CD6}"/>
              </a:ext>
            </a:extLst>
          </p:cNvPr>
          <p:cNvSpPr txBox="1"/>
          <p:nvPr/>
        </p:nvSpPr>
        <p:spPr>
          <a:xfrm>
            <a:off x="4572000" y="629161"/>
            <a:ext cx="3473040" cy="307777"/>
          </a:xfrm>
          <a:prstGeom prst="rect">
            <a:avLst/>
          </a:prstGeom>
          <a:noFill/>
        </p:spPr>
        <p:txBody>
          <a:bodyPr wrap="square" rtlCol="0">
            <a:spAutoFit/>
          </a:bodyPr>
          <a:lstStyle/>
          <a:p>
            <a:pPr algn="ctr"/>
            <a:r>
              <a:rPr lang="en-US" b="1" dirty="0"/>
              <a:t>Job Classification</a:t>
            </a:r>
            <a:endParaRPr lang="en-US" dirty="0"/>
          </a:p>
        </p:txBody>
      </p:sp>
      <p:sp>
        <p:nvSpPr>
          <p:cNvPr id="25" name="TextBox 24">
            <a:extLst>
              <a:ext uri="{FF2B5EF4-FFF2-40B4-BE49-F238E27FC236}">
                <a16:creationId xmlns:a16="http://schemas.microsoft.com/office/drawing/2014/main" id="{F2E4259F-A987-E2C8-0520-920CB488AA29}"/>
              </a:ext>
            </a:extLst>
          </p:cNvPr>
          <p:cNvSpPr txBox="1"/>
          <p:nvPr/>
        </p:nvSpPr>
        <p:spPr>
          <a:xfrm>
            <a:off x="1983373" y="629161"/>
            <a:ext cx="2419873" cy="307777"/>
          </a:xfrm>
          <a:prstGeom prst="rect">
            <a:avLst/>
          </a:prstGeom>
          <a:noFill/>
        </p:spPr>
        <p:txBody>
          <a:bodyPr wrap="square" rtlCol="0">
            <a:spAutoFit/>
          </a:bodyPr>
          <a:lstStyle/>
          <a:p>
            <a:pPr algn="ctr"/>
            <a:r>
              <a:rPr lang="en-US" b="1" dirty="0"/>
              <a:t>Location Enrichment</a:t>
            </a:r>
            <a:endParaRPr lang="en-US" dirty="0"/>
          </a:p>
        </p:txBody>
      </p:sp>
      <p:sp>
        <p:nvSpPr>
          <p:cNvPr id="26" name="Rectangle 25">
            <a:extLst>
              <a:ext uri="{FF2B5EF4-FFF2-40B4-BE49-F238E27FC236}">
                <a16:creationId xmlns:a16="http://schemas.microsoft.com/office/drawing/2014/main" id="{DB2CE279-A0BE-573B-FD32-5FBD1D927579}"/>
              </a:ext>
            </a:extLst>
          </p:cNvPr>
          <p:cNvSpPr/>
          <p:nvPr/>
        </p:nvSpPr>
        <p:spPr>
          <a:xfrm>
            <a:off x="1866504" y="1032252"/>
            <a:ext cx="2154994" cy="116215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lumMod val="95000"/>
                    <a:lumOff val="5000"/>
                  </a:schemeClr>
                </a:solidFill>
              </a:rPr>
              <a:t>Missing coordinates</a:t>
            </a:r>
            <a:br>
              <a:rPr lang="en-US" sz="1000" dirty="0">
                <a:solidFill>
                  <a:schemeClr val="tx1">
                    <a:lumMod val="95000"/>
                    <a:lumOff val="5000"/>
                  </a:schemeClr>
                </a:solidFill>
              </a:rPr>
            </a:br>
            <a:r>
              <a:rPr lang="en-US" sz="1000" dirty="0">
                <a:solidFill>
                  <a:schemeClr val="tx1">
                    <a:lumMod val="95000"/>
                    <a:lumOff val="5000"/>
                  </a:schemeClr>
                </a:solidFill>
              </a:rPr>
              <a:t>city + postal code + country</a:t>
            </a:r>
          </a:p>
        </p:txBody>
      </p:sp>
      <p:sp>
        <p:nvSpPr>
          <p:cNvPr id="27" name="Rectangle 26">
            <a:extLst>
              <a:ext uri="{FF2B5EF4-FFF2-40B4-BE49-F238E27FC236}">
                <a16:creationId xmlns:a16="http://schemas.microsoft.com/office/drawing/2014/main" id="{F84C485A-C594-858D-AB11-45B10445857C}"/>
              </a:ext>
            </a:extLst>
          </p:cNvPr>
          <p:cNvSpPr/>
          <p:nvPr/>
        </p:nvSpPr>
        <p:spPr>
          <a:xfrm>
            <a:off x="1866504" y="2730721"/>
            <a:ext cx="2154994" cy="1158665"/>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lumMod val="85000"/>
                    <a:lumOff val="15000"/>
                  </a:schemeClr>
                </a:solidFill>
              </a:rPr>
              <a:t>latitude + longitude</a:t>
            </a:r>
          </a:p>
        </p:txBody>
      </p:sp>
      <p:cxnSp>
        <p:nvCxnSpPr>
          <p:cNvPr id="28" name="Straight Arrow Connector 27">
            <a:extLst>
              <a:ext uri="{FF2B5EF4-FFF2-40B4-BE49-F238E27FC236}">
                <a16:creationId xmlns:a16="http://schemas.microsoft.com/office/drawing/2014/main" id="{1A7FA29C-EFC4-3117-AB58-A69AA5EE17B8}"/>
              </a:ext>
            </a:extLst>
          </p:cNvPr>
          <p:cNvCxnSpPr>
            <a:cxnSpLocks/>
            <a:stCxn id="26" idx="2"/>
            <a:endCxn id="27" idx="0"/>
          </p:cNvCxnSpPr>
          <p:nvPr/>
        </p:nvCxnSpPr>
        <p:spPr>
          <a:xfrm>
            <a:off x="2944001" y="2194404"/>
            <a:ext cx="0" cy="536317"/>
          </a:xfrm>
          <a:prstGeom prst="straightConnector1">
            <a:avLst/>
          </a:prstGeom>
          <a:ln w="15875">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2C7DEE07-3314-ECBF-8393-15811E1C904D}"/>
              </a:ext>
            </a:extLst>
          </p:cNvPr>
          <p:cNvSpPr txBox="1"/>
          <p:nvPr/>
        </p:nvSpPr>
        <p:spPr>
          <a:xfrm>
            <a:off x="2944001" y="2317360"/>
            <a:ext cx="1459245" cy="246221"/>
          </a:xfrm>
          <a:prstGeom prst="rect">
            <a:avLst/>
          </a:prstGeom>
          <a:noFill/>
        </p:spPr>
        <p:txBody>
          <a:bodyPr wrap="square" rtlCol="0">
            <a:spAutoFit/>
          </a:bodyPr>
          <a:lstStyle/>
          <a:p>
            <a:r>
              <a:rPr lang="en-US" sz="1000" dirty="0" err="1"/>
              <a:t>Nominatim</a:t>
            </a:r>
            <a:r>
              <a:rPr lang="en-US" sz="1000" dirty="0"/>
              <a:t> via </a:t>
            </a:r>
            <a:r>
              <a:rPr lang="en-US" sz="1000" dirty="0" err="1"/>
              <a:t>geopy</a:t>
            </a:r>
            <a:endParaRPr lang="en-US" sz="1000" dirty="0">
              <a:solidFill>
                <a:schemeClr val="tx1">
                  <a:lumMod val="85000"/>
                  <a:lumOff val="15000"/>
                </a:schemeClr>
              </a:solidFill>
            </a:endParaRPr>
          </a:p>
        </p:txBody>
      </p:sp>
      <p:sp>
        <p:nvSpPr>
          <p:cNvPr id="32" name="TextBox 31">
            <a:extLst>
              <a:ext uri="{FF2B5EF4-FFF2-40B4-BE49-F238E27FC236}">
                <a16:creationId xmlns:a16="http://schemas.microsoft.com/office/drawing/2014/main" id="{4713127A-850D-E203-11AC-CCE132D7CE6C}"/>
              </a:ext>
            </a:extLst>
          </p:cNvPr>
          <p:cNvSpPr txBox="1"/>
          <p:nvPr/>
        </p:nvSpPr>
        <p:spPr>
          <a:xfrm>
            <a:off x="1764323" y="4069791"/>
            <a:ext cx="2705269" cy="553998"/>
          </a:xfrm>
          <a:prstGeom prst="rect">
            <a:avLst/>
          </a:prstGeom>
          <a:noFill/>
        </p:spPr>
        <p:txBody>
          <a:bodyPr wrap="square" rtlCol="0">
            <a:spAutoFit/>
          </a:bodyPr>
          <a:lstStyle/>
          <a:p>
            <a:pPr marL="171450" lvl="0" indent="-171450">
              <a:buFont typeface="Arial" panose="020B0604020202020204" pitchFamily="34" charset="0"/>
              <a:buChar char="•"/>
            </a:pPr>
            <a:r>
              <a:rPr lang="en-US" sz="1000" dirty="0"/>
              <a:t>existing source coordinates are kept </a:t>
            </a:r>
          </a:p>
          <a:p>
            <a:pPr marL="171450" lvl="0" indent="-171450">
              <a:buFont typeface="Arial" panose="020B0604020202020204" pitchFamily="34" charset="0"/>
              <a:buChar char="•"/>
            </a:pPr>
            <a:r>
              <a:rPr lang="en-US" sz="1000" dirty="0"/>
              <a:t>missing coordinates are geocoded </a:t>
            </a:r>
          </a:p>
          <a:p>
            <a:pPr marL="171450" lvl="0" indent="-171450">
              <a:buFont typeface="Arial" panose="020B0604020202020204" pitchFamily="34" charset="0"/>
              <a:buChar char="•"/>
            </a:pPr>
            <a:r>
              <a:rPr lang="en-US" sz="1000" dirty="0"/>
              <a:t>failed geocoding requests are monitored</a:t>
            </a:r>
          </a:p>
        </p:txBody>
      </p:sp>
    </p:spTree>
    <p:extLst>
      <p:ext uri="{BB962C8B-B14F-4D97-AF65-F5344CB8AC3E}">
        <p14:creationId xmlns:p14="http://schemas.microsoft.com/office/powerpoint/2010/main" val="213630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934A105-1565-8E9E-79D9-C08D8FB302C5}"/>
            </a:ext>
          </a:extLst>
        </p:cNvPr>
        <p:cNvGrpSpPr/>
        <p:nvPr/>
      </p:nvGrpSpPr>
      <p:grpSpPr>
        <a:xfrm>
          <a:off x="0" y="0"/>
          <a:ext cx="0" cy="0"/>
          <a:chOff x="0" y="0"/>
          <a:chExt cx="0" cy="0"/>
        </a:xfrm>
      </p:grpSpPr>
      <p:sp>
        <p:nvSpPr>
          <p:cNvPr id="770" name="Rectangle 769">
            <a:extLst>
              <a:ext uri="{FF2B5EF4-FFF2-40B4-BE49-F238E27FC236}">
                <a16:creationId xmlns:a16="http://schemas.microsoft.com/office/drawing/2014/main" id="{F3188604-7F83-AF2E-AFE4-C0D7A6FE202C}"/>
              </a:ext>
            </a:extLst>
          </p:cNvPr>
          <p:cNvSpPr/>
          <p:nvPr/>
        </p:nvSpPr>
        <p:spPr>
          <a:xfrm>
            <a:off x="580826" y="1210986"/>
            <a:ext cx="7817927" cy="3224902"/>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4" name="Rectangle: Rounded Corners 613">
            <a:extLst>
              <a:ext uri="{FF2B5EF4-FFF2-40B4-BE49-F238E27FC236}">
                <a16:creationId xmlns:a16="http://schemas.microsoft.com/office/drawing/2014/main" id="{A359472B-AA9D-49AF-F703-5E0F188125BA}"/>
              </a:ext>
            </a:extLst>
          </p:cNvPr>
          <p:cNvSpPr/>
          <p:nvPr/>
        </p:nvSpPr>
        <p:spPr>
          <a:xfrm>
            <a:off x="1291524"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r>
              <a:rPr lang="en-US" sz="900" i="1" dirty="0" err="1">
                <a:solidFill>
                  <a:schemeClr val="tx1">
                    <a:lumMod val="85000"/>
                    <a:lumOff val="15000"/>
                  </a:schemeClr>
                </a:solidFill>
              </a:rPr>
              <a:t>first_publication_date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r>
              <a:rPr lang="en-US" sz="900" i="1" dirty="0" err="1">
                <a:solidFill>
                  <a:schemeClr val="tx1">
                    <a:lumMod val="85000"/>
                    <a:lumOff val="15000"/>
                  </a:schemeClr>
                </a:solidFill>
              </a:rPr>
              <a:t>modified_at</a:t>
            </a:r>
            <a:r>
              <a:rPr lang="en-US" sz="900" dirty="0">
                <a:solidFill>
                  <a:schemeClr val="tx1">
                    <a:lumMod val="85000"/>
                    <a:lumOff val="15000"/>
                  </a:schemeClr>
                </a:solidFill>
              </a:rPr>
              <a:t> ← JSON</a:t>
            </a: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06" name="Diamond 605">
            <a:extLst>
              <a:ext uri="{FF2B5EF4-FFF2-40B4-BE49-F238E27FC236}">
                <a16:creationId xmlns:a16="http://schemas.microsoft.com/office/drawing/2014/main" id="{485896DF-E7D8-7E7F-C967-F92F681B27B9}"/>
              </a:ext>
            </a:extLst>
          </p:cNvPr>
          <p:cNvSpPr/>
          <p:nvPr/>
        </p:nvSpPr>
        <p:spPr>
          <a:xfrm>
            <a:off x="5793360"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a:solidFill>
                  <a:schemeClr val="tx1">
                    <a:lumMod val="85000"/>
                    <a:lumOff val="15000"/>
                  </a:schemeClr>
                </a:solidFill>
              </a:rPr>
              <a:t>publication_ date </a:t>
            </a:r>
            <a:r>
              <a:rPr lang="en-US" sz="1000" dirty="0">
                <a:solidFill>
                  <a:schemeClr val="tx1">
                    <a:lumMod val="85000"/>
                    <a:lumOff val="15000"/>
                  </a:schemeClr>
                </a:solidFill>
              </a:rPr>
              <a:t>changed?</a:t>
            </a:r>
          </a:p>
        </p:txBody>
      </p:sp>
      <p:sp>
        <p:nvSpPr>
          <p:cNvPr id="612" name="Diamond 611">
            <a:extLst>
              <a:ext uri="{FF2B5EF4-FFF2-40B4-BE49-F238E27FC236}">
                <a16:creationId xmlns:a16="http://schemas.microsoft.com/office/drawing/2014/main" id="{FBDF46A3-F257-9BD4-F988-ECBA28A4EA4A}"/>
              </a:ext>
            </a:extLst>
          </p:cNvPr>
          <p:cNvSpPr/>
          <p:nvPr/>
        </p:nvSpPr>
        <p:spPr>
          <a:xfrm>
            <a:off x="3608828"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 Has </a:t>
            </a:r>
            <a:r>
              <a:rPr lang="en-US" sz="1000" i="1" dirty="0" err="1">
                <a:solidFill>
                  <a:schemeClr val="tx1">
                    <a:lumMod val="85000"/>
                    <a:lumOff val="15000"/>
                  </a:schemeClr>
                </a:solidFill>
              </a:rPr>
              <a:t>modified_at</a:t>
            </a:r>
            <a:r>
              <a:rPr lang="en-US" sz="1000" dirty="0">
                <a:solidFill>
                  <a:schemeClr val="tx1">
                    <a:lumMod val="85000"/>
                    <a:lumOff val="15000"/>
                  </a:schemeClr>
                </a:solidFill>
              </a:rPr>
              <a:t> changed?</a:t>
            </a:r>
          </a:p>
        </p:txBody>
      </p:sp>
      <p:sp>
        <p:nvSpPr>
          <p:cNvPr id="616" name="Rectangle: Rounded Corners 615">
            <a:extLst>
              <a:ext uri="{FF2B5EF4-FFF2-40B4-BE49-F238E27FC236}">
                <a16:creationId xmlns:a16="http://schemas.microsoft.com/office/drawing/2014/main" id="{AB0F2FF9-9428-5761-E4BB-6AAB4C36EA8A}"/>
              </a:ext>
            </a:extLst>
          </p:cNvPr>
          <p:cNvSpPr/>
          <p:nvPr/>
        </p:nvSpPr>
        <p:spPr>
          <a:xfrm>
            <a:off x="3470691" y="2705397"/>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r>
              <a:rPr lang="en-US" sz="900" i="1" dirty="0" err="1">
                <a:solidFill>
                  <a:schemeClr val="tx1">
                    <a:lumMod val="85000"/>
                    <a:lumOff val="15000"/>
                  </a:schemeClr>
                </a:solidFill>
              </a:rPr>
              <a:t>modified_at</a:t>
            </a:r>
            <a:r>
              <a:rPr lang="en-US" sz="900" i="1" dirty="0">
                <a:solidFill>
                  <a:schemeClr val="tx1">
                    <a:lumMod val="85000"/>
                    <a:lumOff val="15000"/>
                  </a:schemeClr>
                </a:solidFill>
              </a:rPr>
              <a:t> </a:t>
            </a:r>
            <a:r>
              <a:rPr lang="en-US" sz="900" dirty="0">
                <a:solidFill>
                  <a:schemeClr val="tx1">
                    <a:lumMod val="85000"/>
                    <a:lumOff val="15000"/>
                  </a:schemeClr>
                </a:solidFill>
              </a:rPr>
              <a:t>← JSON</a:t>
            </a:r>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a:t>
            </a:r>
            <a:r>
              <a:rPr lang="en-US" sz="900" dirty="0">
                <a:solidFill>
                  <a:schemeClr val="tx1">
                    <a:lumMod val="85000"/>
                    <a:lumOff val="15000"/>
                  </a:schemeClr>
                </a:solidFill>
              </a:rPr>
              <a:t>←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 </a:t>
            </a:r>
            <a:r>
              <a:rPr lang="en-US" sz="900" dirty="0">
                <a:solidFill>
                  <a:schemeClr val="tx1">
                    <a:lumMod val="85000"/>
                    <a:lumOff val="15000"/>
                  </a:schemeClr>
                </a:solidFill>
              </a:rPr>
              <a:t>← 0</a:t>
            </a:r>
          </a:p>
        </p:txBody>
      </p:sp>
      <p:sp>
        <p:nvSpPr>
          <p:cNvPr id="671" name="Rectangle: Rounded Corners 670">
            <a:extLst>
              <a:ext uri="{FF2B5EF4-FFF2-40B4-BE49-F238E27FC236}">
                <a16:creationId xmlns:a16="http://schemas.microsoft.com/office/drawing/2014/main" id="{071FCF9E-3303-1387-5DD1-F0E80D53215C}"/>
              </a:ext>
            </a:extLst>
          </p:cNvPr>
          <p:cNvSpPr/>
          <p:nvPr/>
        </p:nvSpPr>
        <p:spPr>
          <a:xfrm>
            <a:off x="5655223" y="2705396"/>
            <a:ext cx="1898302" cy="1051589"/>
          </a:xfrm>
          <a:prstGeom prst="roundRect">
            <a:avLst>
              <a:gd name="adj" fmla="val 35334"/>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sz="900" i="1" dirty="0">
              <a:solidFill>
                <a:schemeClr val="tx1">
                  <a:lumMod val="85000"/>
                  <a:lumOff val="15000"/>
                </a:schemeClr>
              </a:solidFill>
            </a:endParaRPr>
          </a:p>
          <a:p>
            <a:endParaRPr lang="en-US" sz="900" i="1" dirty="0">
              <a:solidFill>
                <a:schemeClr val="tx1">
                  <a:lumMod val="85000"/>
                  <a:lumOff val="15000"/>
                </a:schemeClr>
              </a:solidFill>
            </a:endParaRPr>
          </a:p>
          <a:p>
            <a:r>
              <a:rPr lang="en-US" sz="900" i="1" dirty="0" err="1">
                <a:solidFill>
                  <a:schemeClr val="tx1">
                    <a:lumMod val="85000"/>
                    <a:lumOff val="15000"/>
                  </a:schemeClr>
                </a:solidFill>
              </a:rPr>
              <a:t>publication_date</a:t>
            </a:r>
            <a:r>
              <a:rPr lang="en-US" sz="900" i="1" dirty="0">
                <a:solidFill>
                  <a:schemeClr val="tx1">
                    <a:lumMod val="85000"/>
                    <a:lumOff val="15000"/>
                  </a:schemeClr>
                </a:solidFill>
              </a:rPr>
              <a:t> ← JSON</a:t>
            </a:r>
          </a:p>
          <a:p>
            <a:endParaRPr lang="en-US" sz="900" i="1" dirty="0">
              <a:solidFill>
                <a:schemeClr val="tx1">
                  <a:lumMod val="85000"/>
                  <a:lumOff val="15000"/>
                </a:schemeClr>
              </a:solidFill>
            </a:endParaRPr>
          </a:p>
          <a:p>
            <a:r>
              <a:rPr lang="en-US" sz="900" i="1" dirty="0" err="1">
                <a:solidFill>
                  <a:schemeClr val="tx1">
                    <a:lumMod val="85000"/>
                    <a:lumOff val="15000"/>
                  </a:schemeClr>
                </a:solidFill>
              </a:rPr>
              <a:t>unchanged_republish_count</a:t>
            </a:r>
            <a:r>
              <a:rPr lang="en-US" sz="900" i="1" dirty="0">
                <a:solidFill>
                  <a:schemeClr val="tx1">
                    <a:lumMod val="85000"/>
                    <a:lumOff val="15000"/>
                  </a:schemeClr>
                </a:solidFill>
              </a:rPr>
              <a:t>++</a:t>
            </a:r>
            <a:endParaRPr lang="en-US" sz="900" dirty="0">
              <a:solidFill>
                <a:schemeClr val="tx1">
                  <a:lumMod val="85000"/>
                  <a:lumOff val="15000"/>
                </a:schemeClr>
              </a:solidFill>
            </a:endParaRPr>
          </a:p>
        </p:txBody>
      </p:sp>
      <p:sp>
        <p:nvSpPr>
          <p:cNvPr id="686" name="Diamond 685">
            <a:extLst>
              <a:ext uri="{FF2B5EF4-FFF2-40B4-BE49-F238E27FC236}">
                <a16:creationId xmlns:a16="http://schemas.microsoft.com/office/drawing/2014/main" id="{13C611E5-5462-A97D-D3B5-FF2419235E6B}"/>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a:t>
            </a:r>
            <a:r>
              <a:rPr lang="en-US" sz="1000" dirty="0" err="1">
                <a:solidFill>
                  <a:schemeClr val="tx1">
                    <a:lumMod val="85000"/>
                    <a:lumOff val="15000"/>
                  </a:schemeClr>
                </a:solidFill>
              </a:rPr>
              <a:t>i</a:t>
            </a:r>
            <a:r>
              <a:rPr lang="en-US" sz="1000" dirty="0">
                <a:solidFill>
                  <a:schemeClr val="tx1">
                    <a:lumMod val="85000"/>
                    <a:lumOff val="15000"/>
                  </a:schemeClr>
                </a:solidFill>
              </a:rPr>
              <a:t> database?</a:t>
            </a:r>
          </a:p>
        </p:txBody>
      </p:sp>
      <p:sp>
        <p:nvSpPr>
          <p:cNvPr id="684" name="Oval 683">
            <a:extLst>
              <a:ext uri="{FF2B5EF4-FFF2-40B4-BE49-F238E27FC236}">
                <a16:creationId xmlns:a16="http://schemas.microsoft.com/office/drawing/2014/main" id="{F57A6728-491F-D2E8-B867-69D3AEFBEAD2}"/>
              </a:ext>
            </a:extLst>
          </p:cNvPr>
          <p:cNvSpPr/>
          <p:nvPr/>
        </p:nvSpPr>
        <p:spPr>
          <a:xfrm>
            <a:off x="812479" y="177645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A3304F64-3404-0A9D-002F-CCC069DA0697}"/>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Detecting Job Updates &amp; Republishing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9C5C5E-FCD5-3523-1CE8-149488591D00}"/>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8986EA9-AE22-73FE-AF3D-0D16234CB36A}"/>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27A35B76-BFE6-5162-98B2-4E3E200FEFE4}"/>
              </a:ext>
            </a:extLst>
          </p:cNvPr>
          <p:cNvSpPr txBox="1"/>
          <p:nvPr/>
        </p:nvSpPr>
        <p:spPr>
          <a:xfrm>
            <a:off x="198000" y="707612"/>
            <a:ext cx="8044775" cy="307777"/>
          </a:xfrm>
          <a:prstGeom prst="rect">
            <a:avLst/>
          </a:prstGeom>
          <a:noFill/>
        </p:spPr>
        <p:txBody>
          <a:bodyPr wrap="square" rtlCol="0">
            <a:spAutoFit/>
          </a:bodyPr>
          <a:lstStyle/>
          <a:p>
            <a:r>
              <a:rPr lang="en-US" b="1" dirty="0"/>
              <a:t>Problem: </a:t>
            </a:r>
            <a:r>
              <a:rPr lang="en-US" dirty="0"/>
              <a:t>recent publication date ≠ necessarily a fresh advertisement.</a:t>
            </a:r>
          </a:p>
        </p:txBody>
      </p:sp>
      <p:sp>
        <p:nvSpPr>
          <p:cNvPr id="43" name="TextBox 42">
            <a:extLst>
              <a:ext uri="{FF2B5EF4-FFF2-40B4-BE49-F238E27FC236}">
                <a16:creationId xmlns:a16="http://schemas.microsoft.com/office/drawing/2014/main" id="{2C07FA96-9EA1-B03A-B8EA-3EA59A741B61}"/>
              </a:ext>
            </a:extLst>
          </p:cNvPr>
          <p:cNvSpPr txBox="1"/>
          <p:nvPr/>
        </p:nvSpPr>
        <p:spPr>
          <a:xfrm>
            <a:off x="5218600" y="1627527"/>
            <a:ext cx="418289" cy="246221"/>
          </a:xfrm>
          <a:prstGeom prst="rect">
            <a:avLst/>
          </a:prstGeom>
          <a:noFill/>
        </p:spPr>
        <p:txBody>
          <a:bodyPr wrap="square" rtlCol="0">
            <a:spAutoFit/>
          </a:bodyPr>
          <a:lstStyle/>
          <a:p>
            <a:r>
              <a:rPr lang="en-US" sz="1000" dirty="0"/>
              <a:t>no</a:t>
            </a:r>
          </a:p>
        </p:txBody>
      </p:sp>
      <p:sp>
        <p:nvSpPr>
          <p:cNvPr id="45" name="TextBox 44">
            <a:extLst>
              <a:ext uri="{FF2B5EF4-FFF2-40B4-BE49-F238E27FC236}">
                <a16:creationId xmlns:a16="http://schemas.microsoft.com/office/drawing/2014/main" id="{CF7B6FD4-B700-AAF8-7DFB-B08145EC6F33}"/>
              </a:ext>
            </a:extLst>
          </p:cNvPr>
          <p:cNvSpPr txBox="1"/>
          <p:nvPr/>
        </p:nvSpPr>
        <p:spPr>
          <a:xfrm>
            <a:off x="2237992" y="2367950"/>
            <a:ext cx="418289" cy="246221"/>
          </a:xfrm>
          <a:prstGeom prst="rect">
            <a:avLst/>
          </a:prstGeom>
          <a:noFill/>
        </p:spPr>
        <p:txBody>
          <a:bodyPr wrap="square" rtlCol="0">
            <a:spAutoFit/>
          </a:bodyPr>
          <a:lstStyle/>
          <a:p>
            <a:r>
              <a:rPr lang="en-US" sz="1000" dirty="0"/>
              <a:t>no</a:t>
            </a:r>
          </a:p>
        </p:txBody>
      </p:sp>
      <p:sp>
        <p:nvSpPr>
          <p:cNvPr id="610" name="Diamond 609">
            <a:extLst>
              <a:ext uri="{FF2B5EF4-FFF2-40B4-BE49-F238E27FC236}">
                <a16:creationId xmlns:a16="http://schemas.microsoft.com/office/drawing/2014/main" id="{70B4DA29-A513-81A7-9DBA-A28C213AD9F1}"/>
              </a:ext>
            </a:extLst>
          </p:cNvPr>
          <p:cNvSpPr/>
          <p:nvPr/>
        </p:nvSpPr>
        <p:spPr>
          <a:xfrm>
            <a:off x="1429661" y="1390260"/>
            <a:ext cx="1622028" cy="983544"/>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Already in database?</a:t>
            </a:r>
          </a:p>
        </p:txBody>
      </p:sp>
      <p:cxnSp>
        <p:nvCxnSpPr>
          <p:cNvPr id="618" name="Straight Arrow Connector 617">
            <a:extLst>
              <a:ext uri="{FF2B5EF4-FFF2-40B4-BE49-F238E27FC236}">
                <a16:creationId xmlns:a16="http://schemas.microsoft.com/office/drawing/2014/main" id="{2316646D-327D-6316-3F14-6D7784A6FC31}"/>
              </a:ext>
            </a:extLst>
          </p:cNvPr>
          <p:cNvCxnSpPr>
            <a:cxnSpLocks/>
            <a:stCxn id="610" idx="2"/>
            <a:endCxn id="614" idx="0"/>
          </p:cNvCxnSpPr>
          <p:nvPr/>
        </p:nvCxnSpPr>
        <p:spPr>
          <a:xfrm>
            <a:off x="2240675"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7" name="TextBox 626">
            <a:extLst>
              <a:ext uri="{FF2B5EF4-FFF2-40B4-BE49-F238E27FC236}">
                <a16:creationId xmlns:a16="http://schemas.microsoft.com/office/drawing/2014/main" id="{6C2D0345-CB40-0E8E-46A0-51BA763268DE}"/>
              </a:ext>
            </a:extLst>
          </p:cNvPr>
          <p:cNvSpPr txBox="1"/>
          <p:nvPr/>
        </p:nvSpPr>
        <p:spPr>
          <a:xfrm>
            <a:off x="3034068" y="1615311"/>
            <a:ext cx="418289" cy="246221"/>
          </a:xfrm>
          <a:prstGeom prst="rect">
            <a:avLst/>
          </a:prstGeom>
          <a:noFill/>
        </p:spPr>
        <p:txBody>
          <a:bodyPr wrap="square" rtlCol="0">
            <a:spAutoFit/>
          </a:bodyPr>
          <a:lstStyle/>
          <a:p>
            <a:r>
              <a:rPr lang="en-US" sz="1000" dirty="0"/>
              <a:t>yes</a:t>
            </a:r>
          </a:p>
        </p:txBody>
      </p:sp>
      <p:cxnSp>
        <p:nvCxnSpPr>
          <p:cNvPr id="628" name="Straight Arrow Connector 627">
            <a:extLst>
              <a:ext uri="{FF2B5EF4-FFF2-40B4-BE49-F238E27FC236}">
                <a16:creationId xmlns:a16="http://schemas.microsoft.com/office/drawing/2014/main" id="{889D8635-6302-837F-0E2D-229DB13CD3FF}"/>
              </a:ext>
            </a:extLst>
          </p:cNvPr>
          <p:cNvCxnSpPr>
            <a:cxnSpLocks/>
            <a:stCxn id="612" idx="2"/>
            <a:endCxn id="616" idx="0"/>
          </p:cNvCxnSpPr>
          <p:nvPr/>
        </p:nvCxnSpPr>
        <p:spPr>
          <a:xfrm>
            <a:off x="4419842" y="2373804"/>
            <a:ext cx="0" cy="3315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1" name="TextBox 630">
            <a:extLst>
              <a:ext uri="{FF2B5EF4-FFF2-40B4-BE49-F238E27FC236}">
                <a16:creationId xmlns:a16="http://schemas.microsoft.com/office/drawing/2014/main" id="{064D94B8-7239-DCFD-8FEC-35CD6F0D07B9}"/>
              </a:ext>
            </a:extLst>
          </p:cNvPr>
          <p:cNvSpPr txBox="1"/>
          <p:nvPr/>
        </p:nvSpPr>
        <p:spPr>
          <a:xfrm>
            <a:off x="6599006" y="2367949"/>
            <a:ext cx="418289" cy="246221"/>
          </a:xfrm>
          <a:prstGeom prst="rect">
            <a:avLst/>
          </a:prstGeom>
          <a:noFill/>
        </p:spPr>
        <p:txBody>
          <a:bodyPr wrap="square" rtlCol="0">
            <a:spAutoFit/>
          </a:bodyPr>
          <a:lstStyle/>
          <a:p>
            <a:r>
              <a:rPr lang="en-US" sz="1000" dirty="0"/>
              <a:t>yes</a:t>
            </a:r>
          </a:p>
        </p:txBody>
      </p:sp>
      <p:cxnSp>
        <p:nvCxnSpPr>
          <p:cNvPr id="632" name="Straight Arrow Connector 631">
            <a:extLst>
              <a:ext uri="{FF2B5EF4-FFF2-40B4-BE49-F238E27FC236}">
                <a16:creationId xmlns:a16="http://schemas.microsoft.com/office/drawing/2014/main" id="{504E5490-2DFE-145D-3803-262EA3C0FC52}"/>
              </a:ext>
            </a:extLst>
          </p:cNvPr>
          <p:cNvCxnSpPr>
            <a:cxnSpLocks/>
            <a:stCxn id="606" idx="2"/>
            <a:endCxn id="671" idx="0"/>
          </p:cNvCxnSpPr>
          <p:nvPr/>
        </p:nvCxnSpPr>
        <p:spPr>
          <a:xfrm>
            <a:off x="6604374" y="2373804"/>
            <a:ext cx="0" cy="33159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34" name="Straight Arrow Connector 633">
            <a:extLst>
              <a:ext uri="{FF2B5EF4-FFF2-40B4-BE49-F238E27FC236}">
                <a16:creationId xmlns:a16="http://schemas.microsoft.com/office/drawing/2014/main" id="{CFEF0901-5039-5D60-44A3-04E3DC451649}"/>
              </a:ext>
            </a:extLst>
          </p:cNvPr>
          <p:cNvCxnSpPr>
            <a:cxnSpLocks/>
            <a:stCxn id="612" idx="3"/>
            <a:endCxn id="606" idx="1"/>
          </p:cNvCxnSpPr>
          <p:nvPr/>
        </p:nvCxnSpPr>
        <p:spPr>
          <a:xfrm>
            <a:off x="5230856" y="1882032"/>
            <a:ext cx="562504"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7" name="TextBox 636">
            <a:extLst>
              <a:ext uri="{FF2B5EF4-FFF2-40B4-BE49-F238E27FC236}">
                <a16:creationId xmlns:a16="http://schemas.microsoft.com/office/drawing/2014/main" id="{3844A637-66C6-8235-44E8-2F8346879F96}"/>
              </a:ext>
            </a:extLst>
          </p:cNvPr>
          <p:cNvSpPr txBox="1"/>
          <p:nvPr/>
        </p:nvSpPr>
        <p:spPr>
          <a:xfrm>
            <a:off x="7403132" y="1615310"/>
            <a:ext cx="418289" cy="246221"/>
          </a:xfrm>
          <a:prstGeom prst="rect">
            <a:avLst/>
          </a:prstGeom>
          <a:noFill/>
        </p:spPr>
        <p:txBody>
          <a:bodyPr wrap="square" rtlCol="0">
            <a:spAutoFit/>
          </a:bodyPr>
          <a:lstStyle/>
          <a:p>
            <a:r>
              <a:rPr lang="en-US" sz="1000" dirty="0"/>
              <a:t>no</a:t>
            </a:r>
          </a:p>
        </p:txBody>
      </p:sp>
      <p:cxnSp>
        <p:nvCxnSpPr>
          <p:cNvPr id="638" name="Straight Arrow Connector 637">
            <a:extLst>
              <a:ext uri="{FF2B5EF4-FFF2-40B4-BE49-F238E27FC236}">
                <a16:creationId xmlns:a16="http://schemas.microsoft.com/office/drawing/2014/main" id="{9243BF7D-2854-6532-9BF3-2D1543ACDE50}"/>
              </a:ext>
            </a:extLst>
          </p:cNvPr>
          <p:cNvCxnSpPr>
            <a:cxnSpLocks/>
            <a:stCxn id="606" idx="3"/>
            <a:endCxn id="649" idx="2"/>
          </p:cNvCxnSpPr>
          <p:nvPr/>
        </p:nvCxnSpPr>
        <p:spPr>
          <a:xfrm>
            <a:off x="7415388" y="1882032"/>
            <a:ext cx="402944" cy="68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52" name="Group 651">
            <a:extLst>
              <a:ext uri="{FF2B5EF4-FFF2-40B4-BE49-F238E27FC236}">
                <a16:creationId xmlns:a16="http://schemas.microsoft.com/office/drawing/2014/main" id="{2502F8BC-E511-5D33-3476-2E7B6D392D5E}"/>
              </a:ext>
            </a:extLst>
          </p:cNvPr>
          <p:cNvGrpSpPr/>
          <p:nvPr/>
        </p:nvGrpSpPr>
        <p:grpSpPr>
          <a:xfrm>
            <a:off x="7818332" y="1737035"/>
            <a:ext cx="291356" cy="291356"/>
            <a:chOff x="7069437" y="3218381"/>
            <a:chExt cx="367665" cy="367665"/>
          </a:xfrm>
        </p:grpSpPr>
        <p:sp>
          <p:nvSpPr>
            <p:cNvPr id="649" name="Oval 648">
              <a:extLst>
                <a:ext uri="{FF2B5EF4-FFF2-40B4-BE49-F238E27FC236}">
                  <a16:creationId xmlns:a16="http://schemas.microsoft.com/office/drawing/2014/main" id="{A4DBFF19-1601-5A82-EB92-507FBF47D1B8}"/>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1" name="Oval 650">
              <a:extLst>
                <a:ext uri="{FF2B5EF4-FFF2-40B4-BE49-F238E27FC236}">
                  <a16:creationId xmlns:a16="http://schemas.microsoft.com/office/drawing/2014/main" id="{1A23583B-2609-61FC-D376-4A22D2451D54}"/>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65" name="Straight Arrow Connector 664">
            <a:extLst>
              <a:ext uri="{FF2B5EF4-FFF2-40B4-BE49-F238E27FC236}">
                <a16:creationId xmlns:a16="http://schemas.microsoft.com/office/drawing/2014/main" id="{C7758D13-CAE0-0C06-C3BC-E2833B7FAE69}"/>
              </a:ext>
            </a:extLst>
          </p:cNvPr>
          <p:cNvCxnSpPr>
            <a:cxnSpLocks/>
            <a:stCxn id="610" idx="3"/>
            <a:endCxn id="612" idx="1"/>
          </p:cNvCxnSpPr>
          <p:nvPr/>
        </p:nvCxnSpPr>
        <p:spPr>
          <a:xfrm>
            <a:off x="3051689" y="1882032"/>
            <a:ext cx="557139"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76" name="Straight Arrow Connector 675">
            <a:extLst>
              <a:ext uri="{FF2B5EF4-FFF2-40B4-BE49-F238E27FC236}">
                <a16:creationId xmlns:a16="http://schemas.microsoft.com/office/drawing/2014/main" id="{BC298AFC-15EC-03C8-E935-21EEFCF7DC35}"/>
              </a:ext>
            </a:extLst>
          </p:cNvPr>
          <p:cNvCxnSpPr>
            <a:cxnSpLocks/>
            <a:stCxn id="684" idx="6"/>
            <a:endCxn id="610" idx="1"/>
          </p:cNvCxnSpPr>
          <p:nvPr/>
        </p:nvCxnSpPr>
        <p:spPr>
          <a:xfrm>
            <a:off x="1023629" y="1882032"/>
            <a:ext cx="406032"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00" name="Straight Arrow Connector 699">
            <a:extLst>
              <a:ext uri="{FF2B5EF4-FFF2-40B4-BE49-F238E27FC236}">
                <a16:creationId xmlns:a16="http://schemas.microsoft.com/office/drawing/2014/main" id="{E287E345-6D64-2A91-F060-E025896780F4}"/>
              </a:ext>
            </a:extLst>
          </p:cNvPr>
          <p:cNvCxnSpPr>
            <a:cxnSpLocks/>
            <a:stCxn id="616" idx="2"/>
            <a:endCxn id="760" idx="0"/>
          </p:cNvCxnSpPr>
          <p:nvPr/>
        </p:nvCxnSpPr>
        <p:spPr>
          <a:xfrm>
            <a:off x="4419842" y="3756986"/>
            <a:ext cx="0" cy="35144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0" name="TextBox 749">
            <a:extLst>
              <a:ext uri="{FF2B5EF4-FFF2-40B4-BE49-F238E27FC236}">
                <a16:creationId xmlns:a16="http://schemas.microsoft.com/office/drawing/2014/main" id="{411A48FA-2962-0E4B-E54A-CE05C6F35FE8}"/>
              </a:ext>
            </a:extLst>
          </p:cNvPr>
          <p:cNvSpPr txBox="1"/>
          <p:nvPr/>
        </p:nvSpPr>
        <p:spPr>
          <a:xfrm>
            <a:off x="4410007" y="2367950"/>
            <a:ext cx="418289" cy="246221"/>
          </a:xfrm>
          <a:prstGeom prst="rect">
            <a:avLst/>
          </a:prstGeom>
          <a:noFill/>
        </p:spPr>
        <p:txBody>
          <a:bodyPr wrap="square" rtlCol="0">
            <a:spAutoFit/>
          </a:bodyPr>
          <a:lstStyle/>
          <a:p>
            <a:r>
              <a:rPr lang="en-US" sz="1000" dirty="0"/>
              <a:t>yes</a:t>
            </a:r>
          </a:p>
        </p:txBody>
      </p:sp>
      <p:grpSp>
        <p:nvGrpSpPr>
          <p:cNvPr id="759" name="Group 758">
            <a:extLst>
              <a:ext uri="{FF2B5EF4-FFF2-40B4-BE49-F238E27FC236}">
                <a16:creationId xmlns:a16="http://schemas.microsoft.com/office/drawing/2014/main" id="{F43FAF5C-AE7F-A745-F034-45319E823858}"/>
              </a:ext>
            </a:extLst>
          </p:cNvPr>
          <p:cNvGrpSpPr/>
          <p:nvPr/>
        </p:nvGrpSpPr>
        <p:grpSpPr>
          <a:xfrm>
            <a:off x="4274164" y="4108426"/>
            <a:ext cx="291356" cy="291356"/>
            <a:chOff x="7069437" y="3218381"/>
            <a:chExt cx="367665" cy="367665"/>
          </a:xfrm>
        </p:grpSpPr>
        <p:sp>
          <p:nvSpPr>
            <p:cNvPr id="760" name="Oval 759">
              <a:extLst>
                <a:ext uri="{FF2B5EF4-FFF2-40B4-BE49-F238E27FC236}">
                  <a16:creationId xmlns:a16="http://schemas.microsoft.com/office/drawing/2014/main" id="{DFD4A558-73B8-2A36-C603-2B268ACBEAA1}"/>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1" name="Oval 760">
              <a:extLst>
                <a:ext uri="{FF2B5EF4-FFF2-40B4-BE49-F238E27FC236}">
                  <a16:creationId xmlns:a16="http://schemas.microsoft.com/office/drawing/2014/main" id="{02C1688A-66D2-EB23-6C0E-AE33AA3DF422}"/>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8" name="Rectangle 767">
            <a:extLst>
              <a:ext uri="{FF2B5EF4-FFF2-40B4-BE49-F238E27FC236}">
                <a16:creationId xmlns:a16="http://schemas.microsoft.com/office/drawing/2014/main" id="{1E299ED9-3CA3-05F1-F335-3EA4B8072844}"/>
              </a:ext>
            </a:extLst>
          </p:cNvPr>
          <p:cNvSpPr/>
          <p:nvPr/>
        </p:nvSpPr>
        <p:spPr>
          <a:xfrm>
            <a:off x="6047386" y="317937"/>
            <a:ext cx="1916624" cy="728274"/>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First published: 23 Feb 2026</a:t>
            </a:r>
          </a:p>
          <a:p>
            <a:r>
              <a:rPr lang="en-US" sz="1000" dirty="0">
                <a:solidFill>
                  <a:schemeClr val="tx1">
                    <a:lumMod val="85000"/>
                    <a:lumOff val="15000"/>
                  </a:schemeClr>
                </a:solidFill>
              </a:rPr>
              <a:t>Last updated: 01 Sep 2026</a:t>
            </a:r>
          </a:p>
          <a:p>
            <a:r>
              <a:rPr lang="en-US" sz="1000" dirty="0">
                <a:solidFill>
                  <a:schemeClr val="tx1">
                    <a:lumMod val="85000"/>
                    <a:lumOff val="15000"/>
                  </a:schemeClr>
                </a:solidFill>
              </a:rPr>
              <a:t>Republished without changes since update: 0</a:t>
            </a:r>
          </a:p>
        </p:txBody>
      </p:sp>
      <p:sp>
        <p:nvSpPr>
          <p:cNvPr id="771" name="TextBox 770">
            <a:extLst>
              <a:ext uri="{FF2B5EF4-FFF2-40B4-BE49-F238E27FC236}">
                <a16:creationId xmlns:a16="http://schemas.microsoft.com/office/drawing/2014/main" id="{575B4886-34B0-60DC-3F24-C4375E591EB0}"/>
              </a:ext>
            </a:extLst>
          </p:cNvPr>
          <p:cNvSpPr txBox="1"/>
          <p:nvPr/>
        </p:nvSpPr>
        <p:spPr>
          <a:xfrm rot="16200000">
            <a:off x="-472026" y="2312847"/>
            <a:ext cx="2351926" cy="246221"/>
          </a:xfrm>
          <a:prstGeom prst="rect">
            <a:avLst/>
          </a:prstGeom>
          <a:noFill/>
        </p:spPr>
        <p:txBody>
          <a:bodyPr wrap="none" rtlCol="0">
            <a:spAutoFit/>
          </a:bodyPr>
          <a:lstStyle/>
          <a:p>
            <a:r>
              <a:rPr lang="en-US" sz="1000" dirty="0"/>
              <a:t>Job returned by </a:t>
            </a:r>
            <a:r>
              <a:rPr lang="en-US" sz="1000" dirty="0" err="1"/>
              <a:t>Arbeitsagentur</a:t>
            </a:r>
            <a:r>
              <a:rPr lang="en-US" sz="1000" dirty="0"/>
              <a:t> search</a:t>
            </a:r>
          </a:p>
        </p:txBody>
      </p:sp>
      <p:cxnSp>
        <p:nvCxnSpPr>
          <p:cNvPr id="3" name="Connector: Elbow 2">
            <a:extLst>
              <a:ext uri="{FF2B5EF4-FFF2-40B4-BE49-F238E27FC236}">
                <a16:creationId xmlns:a16="http://schemas.microsoft.com/office/drawing/2014/main" id="{A21FF539-1F1E-5C9D-DDE9-6626EEA6AF3F}"/>
              </a:ext>
            </a:extLst>
          </p:cNvPr>
          <p:cNvCxnSpPr>
            <a:cxnSpLocks/>
            <a:stCxn id="671" idx="2"/>
            <a:endCxn id="760" idx="6"/>
          </p:cNvCxnSpPr>
          <p:nvPr/>
        </p:nvCxnSpPr>
        <p:spPr>
          <a:xfrm rot="5400000">
            <a:off x="5336388" y="2986117"/>
            <a:ext cx="497119" cy="2038854"/>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nector: Elbow 6">
            <a:extLst>
              <a:ext uri="{FF2B5EF4-FFF2-40B4-BE49-F238E27FC236}">
                <a16:creationId xmlns:a16="http://schemas.microsoft.com/office/drawing/2014/main" id="{371FB3B1-3D1C-866C-112E-CCFB28573C7F}"/>
              </a:ext>
            </a:extLst>
          </p:cNvPr>
          <p:cNvCxnSpPr>
            <a:cxnSpLocks/>
            <a:stCxn id="614" idx="2"/>
            <a:endCxn id="760" idx="2"/>
          </p:cNvCxnSpPr>
          <p:nvPr/>
        </p:nvCxnSpPr>
        <p:spPr>
          <a:xfrm rot="16200000" flipH="1">
            <a:off x="3008860" y="2988799"/>
            <a:ext cx="497119" cy="203348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8883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DB733A3-783E-8201-7A10-8815327A7CFA}"/>
              </a:ext>
            </a:extLst>
          </p:cNvPr>
          <p:cNvSpPr/>
          <p:nvPr/>
        </p:nvSpPr>
        <p:spPr>
          <a:xfrm>
            <a:off x="753894"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2E2751E3-0F9C-6904-2F76-5DA751B6B8C2}"/>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BAF2917A-F10A-6A49-DE54-59183DF297CA}"/>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E9E6C79-7CE0-9FBD-74F7-DAE5BDF87687}"/>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Full-Text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D1955852-1131-622A-F8E1-872D71825852}"/>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FADE1A3-5550-F3A2-71F7-A241D138BFE3}"/>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E87DFF0A-A82F-05F6-4564-6202F801539D}"/>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91E842F-C94C-00F2-0BF2-969E164D8C05}"/>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6081EEB7-F4FF-DADA-77D7-6F02DB88E5B8}"/>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7DC698E7-027C-0AD2-4640-24A07C43F2F3}"/>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4F8C1B66-2EAB-9CF5-8E52-4E03EB6E2837}"/>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550B5E76-8327-F1DB-30A8-27BD8FFD7D2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B057569E-CBB7-F8B2-A4FA-52E9F2849527}"/>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590DD56-55A6-F50C-CA31-E06258DD0EA6}"/>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F5D8EA16-E996-D193-BA44-E42CC66E6CD0}"/>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A267B7E0-DA89-6E8A-DD31-77C9D9E95EA6}"/>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117ECACA-0E0F-F9CA-4765-C09B26BBAAF6}"/>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0EB714E7-1A0E-2DE5-5FC6-A793126B8DA8}"/>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31A9B4FA-6430-A227-EAFE-2618F571193C}"/>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AA1D942E-E2BD-F272-2EB8-C24CA71AA8CD}"/>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CC71CCE5-5D41-20C4-2A52-6061BCBB0ED3}"/>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561ABE6D-1692-E1C6-F184-2AF1140497FB}"/>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reference numbers</a:t>
            </a:r>
          </a:p>
        </p:txBody>
      </p:sp>
      <p:sp>
        <p:nvSpPr>
          <p:cNvPr id="651" name="TextBox 650">
            <a:extLst>
              <a:ext uri="{FF2B5EF4-FFF2-40B4-BE49-F238E27FC236}">
                <a16:creationId xmlns:a16="http://schemas.microsoft.com/office/drawing/2014/main" id="{32A388AB-CC74-534A-2995-8F32D2319E0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reference number</a:t>
            </a:r>
          </a:p>
        </p:txBody>
      </p:sp>
      <p:sp>
        <p:nvSpPr>
          <p:cNvPr id="653" name="TextBox 652">
            <a:extLst>
              <a:ext uri="{FF2B5EF4-FFF2-40B4-BE49-F238E27FC236}">
                <a16:creationId xmlns:a16="http://schemas.microsoft.com/office/drawing/2014/main" id="{05208CCA-66C4-602C-0CF4-88E5D82DED32}"/>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BC9C1D7B-62FD-0EBA-83D3-2D8F6F584FF2}"/>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1471890" y="165031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1775628" y="138195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Keyword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2885905" y="165093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828780" y="2574034"/>
            <a:ext cx="1443854" cy="838350"/>
            <a:chOff x="5661388"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1550708" y="1904210"/>
            <a:ext cx="224921" cy="669823"/>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2904906" y="1904211"/>
            <a:ext cx="258786" cy="667539"/>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2441765" y="2571750"/>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full-text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2340267" y="115207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2466815" y="909529"/>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1AD88943-EFFC-97FC-66A9-1BCABD41CBD7}"/>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3163692" y="3410102"/>
            <a:ext cx="0" cy="29010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2441765" y="3700205"/>
            <a:ext cx="1443854" cy="838350"/>
            <a:chOff x="5661388" y="2978068"/>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C50FC7E7-084E-4C8C-DCB6-AD45A27AB67E}"/>
              </a:ext>
            </a:extLst>
          </p:cNvPr>
          <p:cNvSpPr/>
          <p:nvPr/>
        </p:nvSpPr>
        <p:spPr>
          <a:xfrm>
            <a:off x="6141516" y="2661219"/>
            <a:ext cx="1514356"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"Python Kubernetes"</a:t>
            </a:r>
          </a:p>
        </p:txBody>
      </p:sp>
      <p:cxnSp>
        <p:nvCxnSpPr>
          <p:cNvPr id="5" name="Straight Connector 4">
            <a:extLst>
              <a:ext uri="{FF2B5EF4-FFF2-40B4-BE49-F238E27FC236}">
                <a16:creationId xmlns:a16="http://schemas.microsoft.com/office/drawing/2014/main" id="{91E8367D-6963-E6FE-B833-E173A45593F3}"/>
              </a:ext>
            </a:extLst>
          </p:cNvPr>
          <p:cNvCxnSpPr>
            <a:cxnSpLocks/>
          </p:cNvCxnSpPr>
          <p:nvPr/>
        </p:nvCxnSpPr>
        <p:spPr>
          <a:xfrm>
            <a:off x="41428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43F299F7-A4CB-B46F-4F96-481661DAA388}"/>
              </a:ext>
            </a:extLst>
          </p:cNvPr>
          <p:cNvSpPr/>
          <p:nvPr/>
        </p:nvSpPr>
        <p:spPr>
          <a:xfrm>
            <a:off x="2238207" y="94092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6430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DCA2773C-7D4B-D084-3045-7AB34BC7C5F1}"/>
              </a:ext>
            </a:extLst>
          </p:cNvPr>
          <p:cNvSpPr/>
          <p:nvPr/>
        </p:nvSpPr>
        <p:spPr>
          <a:xfrm>
            <a:off x="1100138" y="633413"/>
            <a:ext cx="7305674" cy="4146236"/>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4" name="TextBox 623">
            <a:extLst>
              <a:ext uri="{FF2B5EF4-FFF2-40B4-BE49-F238E27FC236}">
                <a16:creationId xmlns:a16="http://schemas.microsoft.com/office/drawing/2014/main" id="{68B56A9A-9D78-9898-6DC1-F2F1390C3A52}"/>
              </a:ext>
            </a:extLst>
          </p:cNvPr>
          <p:cNvSpPr txBox="1"/>
          <p:nvPr/>
        </p:nvSpPr>
        <p:spPr>
          <a:xfrm>
            <a:off x="4326689" y="83625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3"/>
            <a:endCxn id="601" idx="2"/>
          </p:cNvCxnSpPr>
          <p:nvPr/>
        </p:nvCxnSpPr>
        <p:spPr>
          <a:xfrm flipV="1">
            <a:off x="4973053" y="1538616"/>
            <a:ext cx="1857458" cy="1175224"/>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33" name="Google Shape;633;p91">
            <a:extLst>
              <a:ext uri="{FF2B5EF4-FFF2-40B4-BE49-F238E27FC236}">
                <a16:creationId xmlns:a16="http://schemas.microsoft.com/office/drawing/2014/main" id="{1FF0F72C-42EA-89B7-6496-D13A3CF51C76}"/>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Docker Deployment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4"/>
          <a:stretch>
            <a:fillRect/>
          </a:stretch>
        </p:blipFill>
        <p:spPr>
          <a:xfrm>
            <a:off x="6660901" y="944423"/>
            <a:ext cx="345703" cy="309055"/>
          </a:xfrm>
          <a:prstGeom prst="rect">
            <a:avLst/>
          </a:prstGeom>
        </p:spPr>
      </p:pic>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5"/>
          <a:stretch>
            <a:fillRect/>
          </a:stretch>
        </p:blipFill>
        <p:spPr>
          <a:xfrm>
            <a:off x="1592600" y="944424"/>
            <a:ext cx="399024" cy="317193"/>
          </a:xfrm>
          <a:prstGeom prst="rect">
            <a:avLst/>
          </a:prstGeom>
        </p:spPr>
      </p:pic>
      <p:cxnSp>
        <p:nvCxnSpPr>
          <p:cNvPr id="666" name="Connector: Elbow 665">
            <a:extLst>
              <a:ext uri="{FF2B5EF4-FFF2-40B4-BE49-F238E27FC236}">
                <a16:creationId xmlns:a16="http://schemas.microsoft.com/office/drawing/2014/main" id="{A1A69FD4-93A3-D7D5-B457-DAE78C272D39}"/>
              </a:ext>
            </a:extLst>
          </p:cNvPr>
          <p:cNvCxnSpPr>
            <a:cxnSpLocks/>
            <a:stCxn id="28" idx="0"/>
            <a:endCxn id="57" idx="2"/>
          </p:cNvCxnSpPr>
          <p:nvPr/>
        </p:nvCxnSpPr>
        <p:spPr>
          <a:xfrm rot="16200000" flipV="1">
            <a:off x="1982661" y="1316067"/>
            <a:ext cx="1112627" cy="1551419"/>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969502" y="2644086"/>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6"/>
          <a:stretch>
            <a:fillRect/>
          </a:stretch>
        </p:blipFill>
        <p:spPr>
          <a:xfrm>
            <a:off x="3700433" y="784324"/>
            <a:ext cx="575868" cy="106267"/>
          </a:xfrm>
          <a:prstGeom prst="rect">
            <a:avLst/>
          </a:prstGeom>
        </p:spPr>
      </p:pic>
      <p:cxnSp>
        <p:nvCxnSpPr>
          <p:cNvPr id="762" name="Straight Arrow Connector 761">
            <a:extLst>
              <a:ext uri="{FF2B5EF4-FFF2-40B4-BE49-F238E27FC236}">
                <a16:creationId xmlns:a16="http://schemas.microsoft.com/office/drawing/2014/main" id="{4EBDB629-1BDF-4AC1-A071-93B3FBAA22FA}"/>
              </a:ext>
            </a:extLst>
          </p:cNvPr>
          <p:cNvCxnSpPr>
            <a:cxnSpLocks/>
            <a:stCxn id="715" idx="3"/>
            <a:endCxn id="44" idx="1"/>
          </p:cNvCxnSpPr>
          <p:nvPr/>
        </p:nvCxnSpPr>
        <p:spPr>
          <a:xfrm flipV="1">
            <a:off x="4191024" y="1098951"/>
            <a:ext cx="2469877" cy="4743"/>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200" dirty="0">
                <a:solidFill>
                  <a:srgbClr val="0000EE"/>
                </a:solidFill>
              </a:rPr>
              <a:t>:8000</a:t>
            </a:r>
          </a:p>
        </p:txBody>
      </p:sp>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200" dirty="0">
                <a:solidFill>
                  <a:srgbClr val="0000EE"/>
                </a:solidFill>
              </a:rPr>
              <a:t>:8050</a:t>
            </a:r>
          </a:p>
        </p:txBody>
      </p:sp>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26071" y="723300"/>
            <a:ext cx="197063" cy="203267"/>
          </a:xfrm>
          <a:prstGeom prst="rect">
            <a:avLst/>
          </a:prstGeom>
        </p:spPr>
      </p:pic>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5014611" y="3724793"/>
            <a:ext cx="762608" cy="295892"/>
          </a:xfrm>
          <a:prstGeom prst="rect">
            <a:avLst/>
          </a:prstGeom>
        </p:spPr>
      </p:pic>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971277" y="1530545"/>
            <a:ext cx="2767" cy="111354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9"/>
          <a:stretch>
            <a:fillRect/>
          </a:stretch>
        </p:blipFill>
        <p:spPr>
          <a:xfrm>
            <a:off x="3761387" y="945097"/>
            <a:ext cx="429637" cy="317193"/>
          </a:xfrm>
          <a:prstGeom prst="rect">
            <a:avLst/>
          </a:prstGeom>
        </p:spPr>
      </p:pic>
      <p:sp>
        <p:nvSpPr>
          <p:cNvPr id="4" name="TextBox 3">
            <a:extLst>
              <a:ext uri="{FF2B5EF4-FFF2-40B4-BE49-F238E27FC236}">
                <a16:creationId xmlns:a16="http://schemas.microsoft.com/office/drawing/2014/main" id="{476B9BFE-EEDA-540F-C48E-13A34C225DF0}"/>
              </a:ext>
            </a:extLst>
          </p:cNvPr>
          <p:cNvSpPr txBox="1"/>
          <p:nvPr/>
        </p:nvSpPr>
        <p:spPr>
          <a:xfrm>
            <a:off x="2149833" y="826026"/>
            <a:ext cx="1480379"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1991624" y="1103021"/>
            <a:ext cx="1769763"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586" name="Connector: Elbow 585">
            <a:extLst>
              <a:ext uri="{FF2B5EF4-FFF2-40B4-BE49-F238E27FC236}">
                <a16:creationId xmlns:a16="http://schemas.microsoft.com/office/drawing/2014/main" id="{730A9459-DAFD-501C-F58C-EAD654379CB2}"/>
              </a:ext>
            </a:extLst>
          </p:cNvPr>
          <p:cNvCxnSpPr>
            <a:cxnSpLocks/>
            <a:stCxn id="692" idx="3"/>
            <a:endCxn id="597" idx="2"/>
          </p:cNvCxnSpPr>
          <p:nvPr/>
        </p:nvCxnSpPr>
        <p:spPr>
          <a:xfrm flipV="1">
            <a:off x="4319971" y="4036724"/>
            <a:ext cx="3267070" cy="371733"/>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596" name="Group 595">
            <a:extLst>
              <a:ext uri="{FF2B5EF4-FFF2-40B4-BE49-F238E27FC236}">
                <a16:creationId xmlns:a16="http://schemas.microsoft.com/office/drawing/2014/main" id="{2122F97A-8B5A-8DC9-8B4C-1E3081961900}"/>
              </a:ext>
            </a:extLst>
          </p:cNvPr>
          <p:cNvGrpSpPr/>
          <p:nvPr/>
        </p:nvGrpSpPr>
        <p:grpSpPr>
          <a:xfrm>
            <a:off x="7210017" y="3712518"/>
            <a:ext cx="754048" cy="324206"/>
            <a:chOff x="4084589" y="2171346"/>
            <a:chExt cx="974820" cy="423153"/>
          </a:xfrm>
          <a:solidFill>
            <a:schemeClr val="bg2">
              <a:lumMod val="50000"/>
              <a:lumOff val="50000"/>
            </a:schemeClr>
          </a:solidFill>
        </p:grpSpPr>
        <p:sp>
          <p:nvSpPr>
            <p:cNvPr id="597" name="Rectangle 596">
              <a:extLst>
                <a:ext uri="{FF2B5EF4-FFF2-40B4-BE49-F238E27FC236}">
                  <a16:creationId xmlns:a16="http://schemas.microsoft.com/office/drawing/2014/main" id="{711D9070-8061-D319-A358-3D6BB64589C1}"/>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98" name="Picture 597" descr="Python (programming language) - Wikipedia">
              <a:extLst>
                <a:ext uri="{FF2B5EF4-FFF2-40B4-BE49-F238E27FC236}">
                  <a16:creationId xmlns:a16="http://schemas.microsoft.com/office/drawing/2014/main" id="{0F7A1F3D-40C7-68CE-145F-FB49238E2DE6}"/>
                </a:ext>
              </a:extLst>
            </p:cNvPr>
            <p:cNvPicPr>
              <a:picLocks noChangeAspect="1"/>
            </p:cNvPicPr>
            <p:nvPr/>
          </p:nvPicPr>
          <p:blipFill>
            <a:blip r:embed="rId10"/>
            <a:stretch>
              <a:fillRect/>
            </a:stretch>
          </p:blipFill>
          <p:spPr>
            <a:xfrm>
              <a:off x="4171699" y="2204198"/>
              <a:ext cx="357449" cy="357449"/>
            </a:xfrm>
            <a:prstGeom prst="rect">
              <a:avLst/>
            </a:prstGeom>
            <a:grpFill/>
            <a:ln>
              <a:noFill/>
            </a:ln>
          </p:spPr>
        </p:pic>
      </p:grpSp>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200" dirty="0">
                <a:solidFill>
                  <a:srgbClr val="0000EE"/>
                </a:solidFill>
              </a:rPr>
              <a:t>:5432</a:t>
            </a:r>
          </a:p>
        </p:txBody>
      </p:sp>
      <p:sp>
        <p:nvSpPr>
          <p:cNvPr id="603" name="TextBox 602">
            <a:extLst>
              <a:ext uri="{FF2B5EF4-FFF2-40B4-BE49-F238E27FC236}">
                <a16:creationId xmlns:a16="http://schemas.microsoft.com/office/drawing/2014/main" id="{A2C88963-4E5C-BFB4-7FAF-925A3E6AF2B0}"/>
              </a:ext>
            </a:extLst>
          </p:cNvPr>
          <p:cNvSpPr txBox="1"/>
          <p:nvPr/>
        </p:nvSpPr>
        <p:spPr>
          <a:xfrm>
            <a:off x="4437250" y="3418897"/>
            <a:ext cx="1781602"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cxnSp>
        <p:nvCxnSpPr>
          <p:cNvPr id="608" name="Connector: Elbow 607">
            <a:extLst>
              <a:ext uri="{FF2B5EF4-FFF2-40B4-BE49-F238E27FC236}">
                <a16:creationId xmlns:a16="http://schemas.microsoft.com/office/drawing/2014/main" id="{8565C8D3-9B03-3EBE-49CA-10FE31FDE57D}"/>
              </a:ext>
            </a:extLst>
          </p:cNvPr>
          <p:cNvCxnSpPr>
            <a:cxnSpLocks/>
            <a:stCxn id="597" idx="0"/>
            <a:endCxn id="44" idx="3"/>
          </p:cNvCxnSpPr>
          <p:nvPr/>
        </p:nvCxnSpPr>
        <p:spPr>
          <a:xfrm rot="16200000" flipV="1">
            <a:off x="5990040" y="2115516"/>
            <a:ext cx="2613567" cy="580437"/>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26" name="TextBox 625">
            <a:extLst>
              <a:ext uri="{FF2B5EF4-FFF2-40B4-BE49-F238E27FC236}">
                <a16:creationId xmlns:a16="http://schemas.microsoft.com/office/drawing/2014/main" id="{17B69DE1-33EF-5E03-8326-C0CB0D86E2FD}"/>
              </a:ext>
            </a:extLst>
          </p:cNvPr>
          <p:cNvSpPr txBox="1"/>
          <p:nvPr/>
        </p:nvSpPr>
        <p:spPr>
          <a:xfrm>
            <a:off x="6005200" y="3871932"/>
            <a:ext cx="1234612"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sp>
        <p:nvSpPr>
          <p:cNvPr id="628" name="TextBox 627">
            <a:extLst>
              <a:ext uri="{FF2B5EF4-FFF2-40B4-BE49-F238E27FC236}">
                <a16:creationId xmlns:a16="http://schemas.microsoft.com/office/drawing/2014/main" id="{D70AD31E-19CE-30A0-0DBD-362F54CBC38D}"/>
              </a:ext>
            </a:extLst>
          </p:cNvPr>
          <p:cNvSpPr txBox="1"/>
          <p:nvPr/>
        </p:nvSpPr>
        <p:spPr>
          <a:xfrm rot="5400000">
            <a:off x="6784085" y="2432295"/>
            <a:ext cx="1911408"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11"/>
          <a:stretch>
            <a:fillRect/>
          </a:stretch>
        </p:blipFill>
        <p:spPr>
          <a:xfrm>
            <a:off x="4012321" y="2300465"/>
            <a:ext cx="247147" cy="247147"/>
          </a:xfrm>
          <a:prstGeom prst="rect">
            <a:avLst/>
          </a:prstGeom>
        </p:spPr>
      </p:pic>
      <p:sp>
        <p:nvSpPr>
          <p:cNvPr id="39" name="TextBox 38">
            <a:extLst>
              <a:ext uri="{FF2B5EF4-FFF2-40B4-BE49-F238E27FC236}">
                <a16:creationId xmlns:a16="http://schemas.microsoft.com/office/drawing/2014/main" id="{70D2196D-59E9-177A-CEE7-8001F3B670FB}"/>
              </a:ext>
            </a:extLst>
          </p:cNvPr>
          <p:cNvSpPr txBox="1"/>
          <p:nvPr/>
        </p:nvSpPr>
        <p:spPr>
          <a:xfrm>
            <a:off x="3518405" y="3955861"/>
            <a:ext cx="1274544" cy="276999"/>
          </a:xfrm>
          <a:prstGeom prst="rect">
            <a:avLst/>
          </a:prstGeom>
          <a:noFill/>
        </p:spPr>
        <p:txBody>
          <a:bodyPr wrap="square" rtlCol="0">
            <a:spAutoFit/>
          </a:bodyPr>
          <a:lstStyle/>
          <a:p>
            <a:pPr algn="ctr"/>
            <a:r>
              <a:rPr lang="en-US" sz="1200" b="1" dirty="0">
                <a:solidFill>
                  <a:schemeClr val="tx1">
                    <a:lumMod val="85000"/>
                    <a:lumOff val="15000"/>
                  </a:schemeClr>
                </a:solidFill>
              </a:rPr>
              <a:t>data-update</a:t>
            </a:r>
          </a:p>
        </p:txBody>
      </p:sp>
      <p:cxnSp>
        <p:nvCxnSpPr>
          <p:cNvPr id="41" name="Straight Arrow Connector 40">
            <a:extLst>
              <a:ext uri="{FF2B5EF4-FFF2-40B4-BE49-F238E27FC236}">
                <a16:creationId xmlns:a16="http://schemas.microsoft.com/office/drawing/2014/main" id="{AD35E20B-C39B-0882-F9B6-EB9C6AAA42A6}"/>
              </a:ext>
            </a:extLst>
          </p:cNvPr>
          <p:cNvCxnSpPr>
            <a:cxnSpLocks/>
            <a:stCxn id="3" idx="3"/>
            <a:endCxn id="597" idx="1"/>
          </p:cNvCxnSpPr>
          <p:nvPr/>
        </p:nvCxnSpPr>
        <p:spPr>
          <a:xfrm>
            <a:off x="5777219" y="3872739"/>
            <a:ext cx="1432798" cy="188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3859F5EC-BB3D-BA80-2986-E120FD7F83B3}"/>
              </a:ext>
            </a:extLst>
          </p:cNvPr>
          <p:cNvCxnSpPr>
            <a:cxnSpLocks/>
            <a:endCxn id="39" idx="0"/>
          </p:cNvCxnSpPr>
          <p:nvPr/>
        </p:nvCxnSpPr>
        <p:spPr>
          <a:xfrm>
            <a:off x="4155677" y="2949118"/>
            <a:ext cx="0" cy="100674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11"/>
          <a:stretch>
            <a:fillRect/>
          </a:stretch>
        </p:blipFill>
        <p:spPr>
          <a:xfrm>
            <a:off x="3335190" y="2233599"/>
            <a:ext cx="247147" cy="247147"/>
          </a:xfrm>
          <a:prstGeom prst="rect">
            <a:avLst/>
          </a:prstGeom>
        </p:spPr>
      </p:pic>
      <p:pic>
        <p:nvPicPr>
          <p:cNvPr id="625" name="Picture 624" descr="Docker Icon in SVG, PNG formats">
            <a:extLst>
              <a:ext uri="{FF2B5EF4-FFF2-40B4-BE49-F238E27FC236}">
                <a16:creationId xmlns:a16="http://schemas.microsoft.com/office/drawing/2014/main" id="{CC681AFC-5BDB-74C4-A89B-6BA6DF2B2236}"/>
              </a:ext>
            </a:extLst>
          </p:cNvPr>
          <p:cNvPicPr>
            <a:picLocks noChangeAspect="1"/>
          </p:cNvPicPr>
          <p:nvPr/>
        </p:nvPicPr>
        <p:blipFill>
          <a:blip r:embed="rId11"/>
          <a:stretch>
            <a:fillRect/>
          </a:stretch>
        </p:blipFill>
        <p:spPr>
          <a:xfrm>
            <a:off x="5395915" y="2459384"/>
            <a:ext cx="247147" cy="247147"/>
          </a:xfrm>
          <a:prstGeom prst="rect">
            <a:avLst/>
          </a:prstGeom>
        </p:spPr>
      </p:pic>
      <p:pic>
        <p:nvPicPr>
          <p:cNvPr id="629" name="Picture 628" descr="Docker Icon in SVG, PNG formats">
            <a:extLst>
              <a:ext uri="{FF2B5EF4-FFF2-40B4-BE49-F238E27FC236}">
                <a16:creationId xmlns:a16="http://schemas.microsoft.com/office/drawing/2014/main" id="{D61E0EED-CADB-5201-BC04-88668B515DAE}"/>
              </a:ext>
            </a:extLst>
          </p:cNvPr>
          <p:cNvPicPr>
            <a:picLocks noChangeAspect="1"/>
          </p:cNvPicPr>
          <p:nvPr/>
        </p:nvPicPr>
        <p:blipFill>
          <a:blip r:embed="rId11"/>
          <a:stretch>
            <a:fillRect/>
          </a:stretch>
        </p:blipFill>
        <p:spPr>
          <a:xfrm>
            <a:off x="5026977" y="2888064"/>
            <a:ext cx="247147" cy="247147"/>
          </a:xfrm>
          <a:prstGeom prst="rect">
            <a:avLst/>
          </a:prstGeom>
        </p:spPr>
      </p:pic>
      <p:pic>
        <p:nvPicPr>
          <p:cNvPr id="631" name="Picture 630" descr="Docker Icon in SVG, PNG formats">
            <a:extLst>
              <a:ext uri="{FF2B5EF4-FFF2-40B4-BE49-F238E27FC236}">
                <a16:creationId xmlns:a16="http://schemas.microsoft.com/office/drawing/2014/main" id="{5208CC7B-BFBB-DEE3-0D47-2FDC595CDAA8}"/>
              </a:ext>
            </a:extLst>
          </p:cNvPr>
          <p:cNvPicPr>
            <a:picLocks noChangeAspect="1"/>
          </p:cNvPicPr>
          <p:nvPr/>
        </p:nvPicPr>
        <p:blipFill>
          <a:blip r:embed="rId11"/>
          <a:stretch>
            <a:fillRect/>
          </a:stretch>
        </p:blipFill>
        <p:spPr>
          <a:xfrm>
            <a:off x="4262985" y="3014583"/>
            <a:ext cx="247147" cy="247147"/>
          </a:xfrm>
          <a:prstGeom prst="rect">
            <a:avLst/>
          </a:prstGeom>
        </p:spPr>
      </p:pic>
      <p:sp>
        <p:nvSpPr>
          <p:cNvPr id="677" name="TextBox 676">
            <a:extLst>
              <a:ext uri="{FF2B5EF4-FFF2-40B4-BE49-F238E27FC236}">
                <a16:creationId xmlns:a16="http://schemas.microsoft.com/office/drawing/2014/main" id="{28CD5A56-BB03-18DC-CA9A-716BB92B2385}"/>
              </a:ext>
            </a:extLst>
          </p:cNvPr>
          <p:cNvSpPr txBox="1"/>
          <p:nvPr/>
        </p:nvSpPr>
        <p:spPr>
          <a:xfrm>
            <a:off x="4510132" y="4400539"/>
            <a:ext cx="3057788" cy="276999"/>
          </a:xfrm>
          <a:prstGeom prst="rect">
            <a:avLst/>
          </a:prstGeom>
          <a:noFill/>
        </p:spPr>
        <p:txBody>
          <a:bodyPr wrap="square" rtlCol="0">
            <a:spAutoFit/>
          </a:bodyPr>
          <a:lstStyle/>
          <a:p>
            <a:pPr algn="ctr"/>
            <a:r>
              <a:rPr lang="en-US" sz="1200" dirty="0">
                <a:solidFill>
                  <a:schemeClr val="tx1">
                    <a:lumMod val="75000"/>
                    <a:lumOff val="25000"/>
                  </a:schemeClr>
                </a:solidFill>
              </a:rPr>
              <a:t>trigger</a:t>
            </a:r>
          </a:p>
        </p:txBody>
      </p:sp>
      <p:pic>
        <p:nvPicPr>
          <p:cNvPr id="687" name="Picture 686">
            <a:extLst>
              <a:ext uri="{FF2B5EF4-FFF2-40B4-BE49-F238E27FC236}">
                <a16:creationId xmlns:a16="http://schemas.microsoft.com/office/drawing/2014/main" id="{F8946F9C-4916-91EC-4E38-C78628144100}"/>
              </a:ext>
            </a:extLst>
          </p:cNvPr>
          <p:cNvPicPr>
            <a:picLocks noChangeAspect="1"/>
          </p:cNvPicPr>
          <p:nvPr/>
        </p:nvPicPr>
        <p:blipFill>
          <a:blip r:embed="rId12"/>
          <a:stretch>
            <a:fillRect/>
          </a:stretch>
        </p:blipFill>
        <p:spPr>
          <a:xfrm>
            <a:off x="5568727" y="4423452"/>
            <a:ext cx="244715" cy="244715"/>
          </a:xfrm>
          <a:prstGeom prst="rect">
            <a:avLst/>
          </a:prstGeom>
        </p:spPr>
      </p:pic>
      <p:grpSp>
        <p:nvGrpSpPr>
          <p:cNvPr id="604" name="Group 603">
            <a:extLst>
              <a:ext uri="{FF2B5EF4-FFF2-40B4-BE49-F238E27FC236}">
                <a16:creationId xmlns:a16="http://schemas.microsoft.com/office/drawing/2014/main" id="{539D3B95-37BB-4AEA-083F-44488733A3D3}"/>
              </a:ext>
            </a:extLst>
          </p:cNvPr>
          <p:cNvGrpSpPr/>
          <p:nvPr/>
        </p:nvGrpSpPr>
        <p:grpSpPr>
          <a:xfrm>
            <a:off x="5990033" y="3892135"/>
            <a:ext cx="429030" cy="266298"/>
            <a:chOff x="5836602" y="3526478"/>
            <a:chExt cx="429030" cy="266298"/>
          </a:xfrm>
        </p:grpSpPr>
        <p:pic>
          <p:nvPicPr>
            <p:cNvPr id="685" name="Picture 684">
              <a:extLst>
                <a:ext uri="{FF2B5EF4-FFF2-40B4-BE49-F238E27FC236}">
                  <a16:creationId xmlns:a16="http://schemas.microsoft.com/office/drawing/2014/main" id="{7AE2D7F6-CD5B-6DBA-EAA7-92EBD7C2BB4A}"/>
                </a:ext>
              </a:extLst>
            </p:cNvPr>
            <p:cNvPicPr>
              <a:picLocks noChangeAspect="1"/>
            </p:cNvPicPr>
            <p:nvPr/>
          </p:nvPicPr>
          <p:blipFill>
            <a:blip r:embed="rId13"/>
            <a:stretch>
              <a:fillRect/>
            </a:stretch>
          </p:blipFill>
          <p:spPr>
            <a:xfrm>
              <a:off x="5909286" y="3526478"/>
              <a:ext cx="266298" cy="266298"/>
            </a:xfrm>
            <a:prstGeom prst="rect">
              <a:avLst/>
            </a:prstGeom>
          </p:spPr>
        </p:pic>
        <p:sp>
          <p:nvSpPr>
            <p:cNvPr id="646" name="TextBox 645">
              <a:extLst>
                <a:ext uri="{FF2B5EF4-FFF2-40B4-BE49-F238E27FC236}">
                  <a16:creationId xmlns:a16="http://schemas.microsoft.com/office/drawing/2014/main" id="{0CD0BFA2-3EA8-521D-CE70-5A08FE56D997}"/>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24</a:t>
              </a:r>
              <a:r>
                <a:rPr lang="en-US" sz="300" b="1" dirty="0">
                  <a:solidFill>
                    <a:schemeClr val="tx1">
                      <a:lumMod val="75000"/>
                      <a:lumOff val="25000"/>
                    </a:schemeClr>
                  </a:solidFill>
                </a:rPr>
                <a:t> </a:t>
              </a:r>
              <a:r>
                <a:rPr lang="en-US" sz="600" b="1" dirty="0">
                  <a:solidFill>
                    <a:schemeClr val="tx1">
                      <a:lumMod val="75000"/>
                      <a:lumOff val="25000"/>
                    </a:schemeClr>
                  </a:solidFill>
                </a:rPr>
                <a:t>h</a:t>
              </a:r>
            </a:p>
          </p:txBody>
        </p:sp>
      </p:grpSp>
      <p:pic>
        <p:nvPicPr>
          <p:cNvPr id="692" name="Picture 691" descr="Python (programming language) - Wikipedia">
            <a:extLst>
              <a:ext uri="{FF2B5EF4-FFF2-40B4-BE49-F238E27FC236}">
                <a16:creationId xmlns:a16="http://schemas.microsoft.com/office/drawing/2014/main" id="{48C2BA47-F3B8-8AC0-9B2A-C67BCD391E0B}"/>
              </a:ext>
            </a:extLst>
          </p:cNvPr>
          <p:cNvPicPr>
            <a:picLocks noChangeAspect="1"/>
          </p:cNvPicPr>
          <p:nvPr/>
        </p:nvPicPr>
        <p:blipFill>
          <a:blip r:embed="rId10"/>
          <a:stretch>
            <a:fillRect/>
          </a:stretch>
        </p:blipFill>
        <p:spPr>
          <a:xfrm>
            <a:off x="3991383" y="4244163"/>
            <a:ext cx="328588" cy="328588"/>
          </a:xfrm>
          <a:prstGeom prst="rect">
            <a:avLst/>
          </a:prstGeom>
          <a:noFill/>
          <a:ln>
            <a:noFill/>
          </a:ln>
        </p:spPr>
      </p:pic>
      <p:pic>
        <p:nvPicPr>
          <p:cNvPr id="695" name="Picture 694">
            <a:extLst>
              <a:ext uri="{FF2B5EF4-FFF2-40B4-BE49-F238E27FC236}">
                <a16:creationId xmlns:a16="http://schemas.microsoft.com/office/drawing/2014/main" id="{4BF7BEB4-4C12-8368-7A73-6A478C80352C}"/>
              </a:ext>
            </a:extLst>
          </p:cNvPr>
          <p:cNvPicPr>
            <a:picLocks noChangeAspect="1"/>
          </p:cNvPicPr>
          <p:nvPr/>
        </p:nvPicPr>
        <p:blipFill>
          <a:blip r:embed="rId14"/>
          <a:stretch>
            <a:fillRect/>
          </a:stretch>
        </p:blipFill>
        <p:spPr>
          <a:xfrm rot="7200000">
            <a:off x="7625786" y="2029437"/>
            <a:ext cx="217941" cy="217941"/>
          </a:xfrm>
          <a:prstGeom prst="rect">
            <a:avLst/>
          </a:prstGeom>
        </p:spPr>
      </p:pic>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5"/>
          <a:stretch>
            <a:fillRect/>
          </a:stretch>
        </p:blipFill>
        <p:spPr>
          <a:xfrm>
            <a:off x="1366806" y="745130"/>
            <a:ext cx="857296" cy="157394"/>
          </a:xfrm>
          <a:prstGeom prst="rect">
            <a:avLst/>
          </a:prstGeom>
        </p:spPr>
      </p:pic>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6"/>
          <a:stretch>
            <a:fillRect/>
          </a:stretch>
        </p:blipFill>
        <p:spPr>
          <a:xfrm>
            <a:off x="1677704" y="4306474"/>
            <a:ext cx="333670" cy="361693"/>
          </a:xfrm>
          <a:prstGeom prst="rect">
            <a:avLst/>
          </a:prstGeom>
        </p:spPr>
      </p:pic>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7"/>
          <a:stretch>
            <a:fillRect/>
          </a:stretch>
        </p:blipFill>
        <p:spPr>
          <a:xfrm>
            <a:off x="1682344" y="3424828"/>
            <a:ext cx="329030" cy="329030"/>
          </a:xfrm>
          <a:prstGeom prst="rect">
            <a:avLst/>
          </a:prstGeom>
        </p:spPr>
      </p:pic>
      <p:cxnSp>
        <p:nvCxnSpPr>
          <p:cNvPr id="12" name="Connector: Elbow 11">
            <a:extLst>
              <a:ext uri="{FF2B5EF4-FFF2-40B4-BE49-F238E27FC236}">
                <a16:creationId xmlns:a16="http://schemas.microsoft.com/office/drawing/2014/main" id="{0C8D7D11-EF5E-9203-1E5A-6C4D3A324783}"/>
              </a:ext>
            </a:extLst>
          </p:cNvPr>
          <p:cNvCxnSpPr>
            <a:cxnSpLocks/>
            <a:stCxn id="670" idx="1"/>
            <a:endCxn id="18" idx="0"/>
          </p:cNvCxnSpPr>
          <p:nvPr/>
        </p:nvCxnSpPr>
        <p:spPr>
          <a:xfrm rot="10800000" flipV="1">
            <a:off x="1846860" y="2797974"/>
            <a:ext cx="1122643" cy="303603"/>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11"/>
          <a:stretch>
            <a:fillRect/>
          </a:stretch>
        </p:blipFill>
        <p:spPr>
          <a:xfrm>
            <a:off x="2626154" y="2801978"/>
            <a:ext cx="247147" cy="247147"/>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046793" y="3101578"/>
            <a:ext cx="16001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200" dirty="0">
                <a:solidFill>
                  <a:srgbClr val="0000EE"/>
                </a:solidFill>
              </a:rPr>
              <a:t>:9090</a:t>
            </a:r>
          </a:p>
        </p:txBody>
      </p:sp>
      <p:cxnSp>
        <p:nvCxnSpPr>
          <p:cNvPr id="19" name="Connector: Elbow 18">
            <a:extLst>
              <a:ext uri="{FF2B5EF4-FFF2-40B4-BE49-F238E27FC236}">
                <a16:creationId xmlns:a16="http://schemas.microsoft.com/office/drawing/2014/main" id="{C6E04F3B-47CD-FBCC-DBAF-3B5BEA8132E8}"/>
              </a:ext>
            </a:extLst>
          </p:cNvPr>
          <p:cNvCxnSpPr>
            <a:cxnSpLocks/>
            <a:stCxn id="28" idx="2"/>
            <a:endCxn id="23" idx="3"/>
          </p:cNvCxnSpPr>
          <p:nvPr/>
        </p:nvCxnSpPr>
        <p:spPr>
          <a:xfrm rot="5400000">
            <a:off x="2286871" y="3127721"/>
            <a:ext cx="1199666" cy="855958"/>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3" name="TextBox 22">
            <a:extLst>
              <a:ext uri="{FF2B5EF4-FFF2-40B4-BE49-F238E27FC236}">
                <a16:creationId xmlns:a16="http://schemas.microsoft.com/office/drawing/2014/main" id="{9F0DE422-0703-0F6C-B669-ED4A241CBA43}"/>
              </a:ext>
            </a:extLst>
          </p:cNvPr>
          <p:cNvSpPr txBox="1"/>
          <p:nvPr/>
        </p:nvSpPr>
        <p:spPr>
          <a:xfrm>
            <a:off x="1229827" y="4017033"/>
            <a:ext cx="1228898"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200" dirty="0">
                <a:solidFill>
                  <a:srgbClr val="0000EE"/>
                </a:solidFill>
              </a:rPr>
              <a:t>:3000</a:t>
            </a:r>
          </a:p>
        </p:txBody>
      </p:sp>
      <p:sp>
        <p:nvSpPr>
          <p:cNvPr id="28" name="Rectangle 27">
            <a:extLst>
              <a:ext uri="{FF2B5EF4-FFF2-40B4-BE49-F238E27FC236}">
                <a16:creationId xmlns:a16="http://schemas.microsoft.com/office/drawing/2014/main" id="{8A471F6A-DE7D-08BE-6682-F73B1056A1A4}"/>
              </a:ext>
            </a:extLst>
          </p:cNvPr>
          <p:cNvSpPr/>
          <p:nvPr/>
        </p:nvSpPr>
        <p:spPr>
          <a:xfrm>
            <a:off x="3176287" y="2648090"/>
            <a:ext cx="276792"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9C92E324-5587-80C9-1884-0DCC975A402F}"/>
              </a:ext>
            </a:extLst>
          </p:cNvPr>
          <p:cNvSpPr/>
          <p:nvPr/>
        </p:nvSpPr>
        <p:spPr>
          <a:xfrm>
            <a:off x="4495007" y="2641341"/>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Connector: Elbow 41">
            <a:extLst>
              <a:ext uri="{FF2B5EF4-FFF2-40B4-BE49-F238E27FC236}">
                <a16:creationId xmlns:a16="http://schemas.microsoft.com/office/drawing/2014/main" id="{978DAC96-214C-F897-6C4F-9F37D8D0273D}"/>
              </a:ext>
            </a:extLst>
          </p:cNvPr>
          <p:cNvCxnSpPr>
            <a:cxnSpLocks/>
            <a:stCxn id="16" idx="3"/>
            <a:endCxn id="603" idx="0"/>
          </p:cNvCxnSpPr>
          <p:nvPr/>
        </p:nvCxnSpPr>
        <p:spPr>
          <a:xfrm>
            <a:off x="4973054" y="2875226"/>
            <a:ext cx="354997" cy="543671"/>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580" name="Straight Arrow Connector 579">
            <a:extLst>
              <a:ext uri="{FF2B5EF4-FFF2-40B4-BE49-F238E27FC236}">
                <a16:creationId xmlns:a16="http://schemas.microsoft.com/office/drawing/2014/main" id="{99F27F60-AE5B-18CA-FBB0-E37DC96B7C62}"/>
              </a:ext>
            </a:extLst>
          </p:cNvPr>
          <p:cNvCxnSpPr>
            <a:cxnSpLocks/>
            <a:stCxn id="23" idx="0"/>
            <a:endCxn id="11" idx="2"/>
          </p:cNvCxnSpPr>
          <p:nvPr/>
        </p:nvCxnSpPr>
        <p:spPr>
          <a:xfrm flipV="1">
            <a:off x="1844276" y="3753858"/>
            <a:ext cx="2583" cy="26317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11"/>
          <a:stretch>
            <a:fillRect/>
          </a:stretch>
        </p:blipFill>
        <p:spPr>
          <a:xfrm>
            <a:off x="3052713" y="3097308"/>
            <a:ext cx="247147" cy="247147"/>
          </a:xfrm>
          <a:prstGeom prst="rect">
            <a:avLst/>
          </a:prstGeom>
        </p:spPr>
      </p:pic>
      <p:sp>
        <p:nvSpPr>
          <p:cNvPr id="591" name="TextBox 590">
            <a:extLst>
              <a:ext uri="{FF2B5EF4-FFF2-40B4-BE49-F238E27FC236}">
                <a16:creationId xmlns:a16="http://schemas.microsoft.com/office/drawing/2014/main" id="{0D2D2634-6F11-2706-F34A-8290E6A1834B}"/>
              </a:ext>
            </a:extLst>
          </p:cNvPr>
          <p:cNvSpPr txBox="1"/>
          <p:nvPr/>
        </p:nvSpPr>
        <p:spPr>
          <a:xfrm>
            <a:off x="1302113" y="3731425"/>
            <a:ext cx="148892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pic>
        <p:nvPicPr>
          <p:cNvPr id="8" name="Picture 7">
            <a:extLst>
              <a:ext uri="{FF2B5EF4-FFF2-40B4-BE49-F238E27FC236}">
                <a16:creationId xmlns:a16="http://schemas.microsoft.com/office/drawing/2014/main" id="{F5F2B738-2CE3-E13E-34F1-23CDE1424AA7}"/>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37683" y="3732389"/>
            <a:ext cx="274988" cy="274988"/>
          </a:xfrm>
          <a:prstGeom prst="rect">
            <a:avLst/>
          </a:prstGeom>
          <a:noFill/>
          <a:ln>
            <a:noFill/>
          </a:ln>
        </p:spPr>
      </p:pic>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9"/>
          <a:stretch>
            <a:fillRect/>
          </a:stretch>
        </p:blipFill>
        <p:spPr>
          <a:xfrm>
            <a:off x="5250359" y="1378990"/>
            <a:ext cx="205822" cy="205822"/>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500828" y="2641341"/>
            <a:ext cx="472225"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495008" y="2801333"/>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4"/>
          <a:stretch>
            <a:fillRect/>
          </a:stretch>
        </p:blipFill>
        <p:spPr>
          <a:xfrm>
            <a:off x="5178020" y="1600201"/>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867192"/>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200" dirty="0">
                <a:solidFill>
                  <a:srgbClr val="0000EE"/>
                </a:solidFill>
              </a:rPr>
              <a:t>:9200</a:t>
            </a:r>
          </a:p>
        </p:txBody>
      </p:sp>
      <p:cxnSp>
        <p:nvCxnSpPr>
          <p:cNvPr id="58" name="Connector: Elbow 57">
            <a:extLst>
              <a:ext uri="{FF2B5EF4-FFF2-40B4-BE49-F238E27FC236}">
                <a16:creationId xmlns:a16="http://schemas.microsoft.com/office/drawing/2014/main" id="{D83B086B-D46F-B105-4D32-D185B789DBF2}"/>
              </a:ext>
            </a:extLst>
          </p:cNvPr>
          <p:cNvCxnSpPr>
            <a:cxnSpLocks/>
            <a:stCxn id="14" idx="0"/>
            <a:endCxn id="45" idx="2"/>
          </p:cNvCxnSpPr>
          <p:nvPr/>
        </p:nvCxnSpPr>
        <p:spPr>
          <a:xfrm rot="5400000" flipH="1" flipV="1">
            <a:off x="4799416" y="2081716"/>
            <a:ext cx="497150" cy="6221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11"/>
          <a:stretch>
            <a:fillRect/>
          </a:stretch>
        </p:blipFill>
        <p:spPr>
          <a:xfrm>
            <a:off x="4452920" y="2355665"/>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715" idx="3"/>
            <a:endCxn id="10" idx="0"/>
          </p:cNvCxnSpPr>
          <p:nvPr/>
        </p:nvCxnSpPr>
        <p:spPr>
          <a:xfrm>
            <a:off x="4191024" y="1103694"/>
            <a:ext cx="1162246" cy="275296"/>
          </a:xfrm>
          <a:prstGeom prst="bentConnector2">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3010250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50" name="Rectangle 49">
            <a:extLst>
              <a:ext uri="{FF2B5EF4-FFF2-40B4-BE49-F238E27FC236}">
                <a16:creationId xmlns:a16="http://schemas.microsoft.com/office/drawing/2014/main" id="{C6143E3F-51A4-E2D2-5E42-6AEBBFC62ABF}"/>
              </a:ext>
            </a:extLst>
          </p:cNvPr>
          <p:cNvSpPr/>
          <p:nvPr/>
        </p:nvSpPr>
        <p:spPr>
          <a:xfrm>
            <a:off x="920224" y="817648"/>
            <a:ext cx="6852397" cy="3760177"/>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cxnSp>
        <p:nvCxnSpPr>
          <p:cNvPr id="31" name="Straight Arrow Connector 30">
            <a:extLst>
              <a:ext uri="{FF2B5EF4-FFF2-40B4-BE49-F238E27FC236}">
                <a16:creationId xmlns:a16="http://schemas.microsoft.com/office/drawing/2014/main" id="{3F0F6E1F-1C79-C899-3E44-16B8A4F4905B}"/>
              </a:ext>
            </a:extLst>
          </p:cNvPr>
          <p:cNvCxnSpPr>
            <a:cxnSpLocks/>
            <a:stCxn id="581" idx="1"/>
            <a:endCxn id="14" idx="3"/>
          </p:cNvCxnSpPr>
          <p:nvPr/>
        </p:nvCxnSpPr>
        <p:spPr>
          <a:xfrm flipH="1">
            <a:off x="5408472" y="4071926"/>
            <a:ext cx="1127944" cy="1"/>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616221"/>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4"/>
          <a:stretch>
            <a:fillRect/>
          </a:stretch>
        </p:blipFill>
        <p:spPr>
          <a:xfrm>
            <a:off x="1371379" y="2751773"/>
            <a:ext cx="333670" cy="361693"/>
          </a:xfrm>
          <a:prstGeom prst="rect">
            <a:avLst/>
          </a:prstGeom>
        </p:spPr>
      </p:pic>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5"/>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659178"/>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5"/>
          <a:stretch>
            <a:fillRect/>
          </a:stretch>
        </p:blipFill>
        <p:spPr>
          <a:xfrm>
            <a:off x="4362087" y="4311189"/>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5"/>
          <a:stretch>
            <a:fillRect/>
          </a:stretch>
        </p:blipFill>
        <p:spPr>
          <a:xfrm>
            <a:off x="6809093" y="2845750"/>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192894"/>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sp>
        <p:nvSpPr>
          <p:cNvPr id="54" name="TextBox 53">
            <a:extLst>
              <a:ext uri="{FF2B5EF4-FFF2-40B4-BE49-F238E27FC236}">
                <a16:creationId xmlns:a16="http://schemas.microsoft.com/office/drawing/2014/main" id="{582F2ECC-9AE3-BAE2-99AB-EE673C1C414B}"/>
              </a:ext>
            </a:extLst>
          </p:cNvPr>
          <p:cNvSpPr txBox="1"/>
          <p:nvPr/>
        </p:nvSpPr>
        <p:spPr>
          <a:xfrm>
            <a:off x="5576952" y="3794927"/>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616221"/>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332415"/>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grpSp>
        <p:nvGrpSpPr>
          <p:cNvPr id="579" name="Group 578">
            <a:extLst>
              <a:ext uri="{FF2B5EF4-FFF2-40B4-BE49-F238E27FC236}">
                <a16:creationId xmlns:a16="http://schemas.microsoft.com/office/drawing/2014/main" id="{CB043595-B58D-58AA-BB7C-E696BEFEDDFA}"/>
              </a:ext>
            </a:extLst>
          </p:cNvPr>
          <p:cNvGrpSpPr/>
          <p:nvPr/>
        </p:nvGrpSpPr>
        <p:grpSpPr>
          <a:xfrm>
            <a:off x="6536416" y="3909823"/>
            <a:ext cx="754048" cy="324206"/>
            <a:chOff x="4084589" y="2171346"/>
            <a:chExt cx="974820" cy="423153"/>
          </a:xfrm>
          <a:solidFill>
            <a:schemeClr val="bg2">
              <a:lumMod val="50000"/>
              <a:lumOff val="50000"/>
            </a:schemeClr>
          </a:solidFill>
        </p:grpSpPr>
        <p:sp>
          <p:nvSpPr>
            <p:cNvPr id="581" name="Rectangle 580">
              <a:extLst>
                <a:ext uri="{FF2B5EF4-FFF2-40B4-BE49-F238E27FC236}">
                  <a16:creationId xmlns:a16="http://schemas.microsoft.com/office/drawing/2014/main" id="{E39F9BE9-E058-03D7-69CD-5E75550AE287}"/>
                </a:ext>
              </a:extLst>
            </p:cNvPr>
            <p:cNvSpPr/>
            <p:nvPr/>
          </p:nvSpPr>
          <p:spPr>
            <a:xfrm>
              <a:off x="4084589" y="2171346"/>
              <a:ext cx="974820"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82" name="Picture 581" descr="Python (programming language) - Wikipedia">
              <a:extLst>
                <a:ext uri="{FF2B5EF4-FFF2-40B4-BE49-F238E27FC236}">
                  <a16:creationId xmlns:a16="http://schemas.microsoft.com/office/drawing/2014/main" id="{7C1135C2-5EA6-75C2-72CA-51F7F8FE732B}"/>
                </a:ext>
              </a:extLst>
            </p:cNvPr>
            <p:cNvPicPr>
              <a:picLocks noChangeAspect="1"/>
            </p:cNvPicPr>
            <p:nvPr/>
          </p:nvPicPr>
          <p:blipFill>
            <a:blip r:embed="rId8"/>
            <a:stretch>
              <a:fillRect/>
            </a:stretch>
          </p:blipFill>
          <p:spPr>
            <a:xfrm>
              <a:off x="4171699" y="2204198"/>
              <a:ext cx="357449" cy="357449"/>
            </a:xfrm>
            <a:prstGeom prst="rect">
              <a:avLst/>
            </a:prstGeom>
            <a:grpFill/>
            <a:ln>
              <a:noFill/>
            </a:ln>
          </p:spPr>
        </p:pic>
      </p:grpSp>
      <p:sp>
        <p:nvSpPr>
          <p:cNvPr id="592" name="TextBox 591">
            <a:extLst>
              <a:ext uri="{FF2B5EF4-FFF2-40B4-BE49-F238E27FC236}">
                <a16:creationId xmlns:a16="http://schemas.microsoft.com/office/drawing/2014/main" id="{6F1FF3A5-25ED-0909-E98D-0D2F2BEB54A9}"/>
              </a:ext>
            </a:extLst>
          </p:cNvPr>
          <p:cNvSpPr txBox="1"/>
          <p:nvPr/>
        </p:nvSpPr>
        <p:spPr>
          <a:xfrm>
            <a:off x="2523071" y="2341186"/>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pic>
        <p:nvPicPr>
          <p:cNvPr id="594" name="Picture 593">
            <a:extLst>
              <a:ext uri="{FF2B5EF4-FFF2-40B4-BE49-F238E27FC236}">
                <a16:creationId xmlns:a16="http://schemas.microsoft.com/office/drawing/2014/main" id="{5CC4CAC5-50AD-9D10-1DB2-F9B7919C1642}"/>
              </a:ext>
            </a:extLst>
          </p:cNvPr>
          <p:cNvPicPr>
            <a:picLocks noChangeAspect="1"/>
          </p:cNvPicPr>
          <p:nvPr/>
        </p:nvPicPr>
        <p:blipFill>
          <a:blip r:embed="rId9">
            <a:alphaModFix amt="50000"/>
          </a:blip>
          <a:stretch>
            <a:fillRect/>
          </a:stretch>
        </p:blipFill>
        <p:spPr>
          <a:xfrm>
            <a:off x="6551484" y="1640945"/>
            <a:ext cx="697149" cy="178372"/>
          </a:xfrm>
          <a:prstGeom prst="rect">
            <a:avLst/>
          </a:prstGeom>
        </p:spPr>
      </p:pic>
      <p:cxnSp>
        <p:nvCxnSpPr>
          <p:cNvPr id="595" name="Straight Arrow Connector 594">
            <a:extLst>
              <a:ext uri="{FF2B5EF4-FFF2-40B4-BE49-F238E27FC236}">
                <a16:creationId xmlns:a16="http://schemas.microsoft.com/office/drawing/2014/main" id="{A24BFB29-B4BB-15A7-F1B9-783BDAFF5EB3}"/>
              </a:ext>
            </a:extLst>
          </p:cNvPr>
          <p:cNvCxnSpPr>
            <a:cxnSpLocks/>
            <a:stCxn id="20" idx="0"/>
          </p:cNvCxnSpPr>
          <p:nvPr/>
        </p:nvCxnSpPr>
        <p:spPr>
          <a:xfrm flipV="1">
            <a:off x="6914189" y="1908884"/>
            <a:ext cx="0" cy="553448"/>
          </a:xfrm>
          <a:prstGeom prst="straightConnector1">
            <a:avLst/>
          </a:prstGeom>
          <a:ln w="19050">
            <a:solidFill>
              <a:schemeClr val="accent5">
                <a:shade val="95000"/>
                <a:satMod val="105000"/>
                <a:alpha val="50000"/>
              </a:schemeClr>
            </a:solidFill>
            <a:prstDash val="solid"/>
            <a:tailEnd type="triangle"/>
          </a:ln>
        </p:spPr>
        <p:style>
          <a:lnRef idx="1">
            <a:schemeClr val="accent5"/>
          </a:lnRef>
          <a:fillRef idx="0">
            <a:schemeClr val="accent5"/>
          </a:fillRef>
          <a:effectRef idx="0">
            <a:schemeClr val="accent5"/>
          </a:effectRef>
          <a:fontRef idx="minor">
            <a:schemeClr val="tx1"/>
          </a:fontRef>
        </p:style>
      </p:cxnSp>
      <p:sp>
        <p:nvSpPr>
          <p:cNvPr id="599" name="TextBox 598">
            <a:extLst>
              <a:ext uri="{FF2B5EF4-FFF2-40B4-BE49-F238E27FC236}">
                <a16:creationId xmlns:a16="http://schemas.microsoft.com/office/drawing/2014/main" id="{550295F5-9D8E-FE76-C1EE-4A15C55C2955}"/>
              </a:ext>
            </a:extLst>
          </p:cNvPr>
          <p:cNvSpPr txBox="1"/>
          <p:nvPr/>
        </p:nvSpPr>
        <p:spPr>
          <a:xfrm>
            <a:off x="6767842" y="2055416"/>
            <a:ext cx="790983" cy="276999"/>
          </a:xfrm>
          <a:prstGeom prst="rect">
            <a:avLst/>
          </a:prstGeom>
          <a:noFill/>
        </p:spPr>
        <p:txBody>
          <a:bodyPr wrap="square" rtlCol="0">
            <a:spAutoFit/>
          </a:bodyPr>
          <a:lstStyle/>
          <a:p>
            <a:pPr algn="ctr"/>
            <a:r>
              <a:rPr lang="en-US" sz="1200" dirty="0">
                <a:solidFill>
                  <a:schemeClr val="tx1">
                    <a:lumMod val="75000"/>
                    <a:lumOff val="25000"/>
                    <a:alpha val="50000"/>
                  </a:schemeClr>
                </a:solidFill>
              </a:rPr>
              <a:t>notify</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nvGrpSpPr>
          <p:cNvPr id="645" name="Group 644">
            <a:extLst>
              <a:ext uri="{FF2B5EF4-FFF2-40B4-BE49-F238E27FC236}">
                <a16:creationId xmlns:a16="http://schemas.microsoft.com/office/drawing/2014/main" id="{28CB518E-F23A-59F9-1BD8-B06BF2C2A87F}"/>
              </a:ext>
            </a:extLst>
          </p:cNvPr>
          <p:cNvGrpSpPr/>
          <p:nvPr/>
        </p:nvGrpSpPr>
        <p:grpSpPr>
          <a:xfrm>
            <a:off x="5447402" y="2666321"/>
            <a:ext cx="429030" cy="266298"/>
            <a:chOff x="5837250" y="3526478"/>
            <a:chExt cx="429030" cy="266298"/>
          </a:xfrm>
        </p:grpSpPr>
        <p:pic>
          <p:nvPicPr>
            <p:cNvPr id="647" name="Picture 646">
              <a:extLst>
                <a:ext uri="{FF2B5EF4-FFF2-40B4-BE49-F238E27FC236}">
                  <a16:creationId xmlns:a16="http://schemas.microsoft.com/office/drawing/2014/main" id="{6B2342F8-E6CA-01AA-38AA-CB8D13D9BC20}"/>
                </a:ext>
              </a:extLst>
            </p:cNvPr>
            <p:cNvPicPr>
              <a:picLocks noChangeAspect="1"/>
            </p:cNvPicPr>
            <p:nvPr/>
          </p:nvPicPr>
          <p:blipFill>
            <a:blip r:embed="rId10"/>
            <a:stretch>
              <a:fillRect/>
            </a:stretch>
          </p:blipFill>
          <p:spPr>
            <a:xfrm>
              <a:off x="5909286" y="3526478"/>
              <a:ext cx="266298" cy="266298"/>
            </a:xfrm>
            <a:prstGeom prst="rect">
              <a:avLst/>
            </a:prstGeom>
          </p:spPr>
        </p:pic>
        <p:sp>
          <p:nvSpPr>
            <p:cNvPr id="648" name="TextBox 647">
              <a:extLst>
                <a:ext uri="{FF2B5EF4-FFF2-40B4-BE49-F238E27FC236}">
                  <a16:creationId xmlns:a16="http://schemas.microsoft.com/office/drawing/2014/main" id="{C89E22B0-E42B-59EF-1913-BEEA2F47EECB}"/>
                </a:ext>
              </a:extLst>
            </p:cNvPr>
            <p:cNvSpPr txBox="1"/>
            <p:nvPr/>
          </p:nvSpPr>
          <p:spPr>
            <a:xfrm>
              <a:off x="5837250" y="3539585"/>
              <a:ext cx="429030" cy="246221"/>
            </a:xfrm>
            <a:prstGeom prst="rect">
              <a:avLst/>
            </a:prstGeom>
            <a:noFill/>
          </p:spPr>
          <p:txBody>
            <a:bodyPr wrap="square" rtlCol="0">
              <a:spAutoFit/>
            </a:bodyPr>
            <a:lstStyle/>
            <a:p>
              <a:pPr algn="ctr"/>
              <a:r>
                <a:rPr lang="en-US" sz="500" b="1" dirty="0">
                  <a:solidFill>
                    <a:schemeClr val="tx1">
                      <a:lumMod val="75000"/>
                      <a:lumOff val="25000"/>
                    </a:schemeClr>
                  </a:solidFill>
                </a:rPr>
                <a:t>ETL</a:t>
              </a:r>
              <a:br>
                <a:rPr lang="en-US" sz="500" b="1" dirty="0">
                  <a:solidFill>
                    <a:schemeClr val="tx1">
                      <a:lumMod val="75000"/>
                      <a:lumOff val="25000"/>
                    </a:schemeClr>
                  </a:solidFill>
                </a:rPr>
              </a:br>
              <a:r>
                <a:rPr lang="en-US" sz="500" b="1" dirty="0">
                  <a:solidFill>
                    <a:schemeClr val="tx1">
                      <a:lumMod val="75000"/>
                      <a:lumOff val="25000"/>
                    </a:schemeClr>
                  </a:solidFill>
                </a:rPr>
                <a:t>&gt;26 h</a:t>
              </a:r>
            </a:p>
          </p:txBody>
        </p:sp>
      </p:grpSp>
      <p:sp>
        <p:nvSpPr>
          <p:cNvPr id="649" name="Rectangle 648">
            <a:extLst>
              <a:ext uri="{FF2B5EF4-FFF2-40B4-BE49-F238E27FC236}">
                <a16:creationId xmlns:a16="http://schemas.microsoft.com/office/drawing/2014/main" id="{1332BD09-E8E1-3666-B811-349B98DA9565}"/>
              </a:ext>
            </a:extLst>
          </p:cNvPr>
          <p:cNvSpPr/>
          <p:nvPr/>
        </p:nvSpPr>
        <p:spPr>
          <a:xfrm>
            <a:off x="2348086" y="292306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9453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869309"/>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84065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31543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790211"/>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spTree>
    <p:extLst>
      <p:ext uri="{BB962C8B-B14F-4D97-AF65-F5344CB8AC3E}">
        <p14:creationId xmlns:p14="http://schemas.microsoft.com/office/powerpoint/2010/main" val="6576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9F6F1C5-4FCA-226F-B7D5-DE7394DD994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What Can We Learn from the Data?</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3" name="TextBox 2">
            <a:extLst>
              <a:ext uri="{FF2B5EF4-FFF2-40B4-BE49-F238E27FC236}">
                <a16:creationId xmlns:a16="http://schemas.microsoft.com/office/drawing/2014/main" id="{126B7E7D-BDC4-7BA8-D4DB-4D3259397CD0}"/>
              </a:ext>
            </a:extLst>
          </p:cNvPr>
          <p:cNvSpPr txBox="1"/>
          <p:nvPr/>
        </p:nvSpPr>
        <p:spPr>
          <a:xfrm>
            <a:off x="2211136" y="1033503"/>
            <a:ext cx="4721727" cy="2031325"/>
          </a:xfrm>
          <a:prstGeom prst="rect">
            <a:avLst/>
          </a:prstGeom>
          <a:noFill/>
        </p:spPr>
        <p:txBody>
          <a:bodyPr wrap="square" rtlCol="0">
            <a:spAutoFit/>
          </a:bodyPr>
          <a:lstStyle/>
          <a:p>
            <a:pPr marL="285750" lvl="0" indent="-285750">
              <a:buFont typeface="Arial" panose="020B0604020202020204" pitchFamily="34" charset="0"/>
              <a:buChar char="•"/>
            </a:pPr>
            <a:r>
              <a:rPr lang="en-US" b="1" dirty="0"/>
              <a:t>Which companies are recruiting most?</a:t>
            </a:r>
          </a:p>
          <a:p>
            <a:pPr lvl="0"/>
            <a:r>
              <a:rPr lang="en-US" dirty="0"/>
              <a:t> </a:t>
            </a:r>
          </a:p>
          <a:p>
            <a:pPr marL="285750" lvl="0" indent="-285750">
              <a:buFont typeface="Arial" panose="020B0604020202020204" pitchFamily="34" charset="0"/>
              <a:buChar char="•"/>
            </a:pPr>
            <a:r>
              <a:rPr lang="en-US" b="1" dirty="0"/>
              <a:t>Where are jobs concentrated?</a:t>
            </a:r>
          </a:p>
          <a:p>
            <a:pPr lvl="0"/>
            <a:endParaRPr lang="en-US" dirty="0"/>
          </a:p>
          <a:p>
            <a:pPr marL="285750" lvl="0" indent="-285750">
              <a:buFont typeface="Arial" panose="020B0604020202020204" pitchFamily="34" charset="0"/>
              <a:buChar char="•"/>
            </a:pPr>
            <a:r>
              <a:rPr lang="en-US" b="1" dirty="0"/>
              <a:t>How common is home office?</a:t>
            </a:r>
          </a:p>
          <a:p>
            <a:pPr lvl="0"/>
            <a:endParaRPr lang="en-US" dirty="0"/>
          </a:p>
          <a:p>
            <a:pPr marL="285750" lvl="0" indent="-285750">
              <a:buFont typeface="Arial" panose="020B0604020202020204" pitchFamily="34" charset="0"/>
              <a:buChar char="•"/>
            </a:pPr>
            <a:r>
              <a:rPr lang="en-US" b="1" dirty="0"/>
              <a:t>Which job categories dominate?</a:t>
            </a:r>
          </a:p>
          <a:p>
            <a:pPr lvl="0"/>
            <a:endParaRPr lang="en-US" dirty="0"/>
          </a:p>
          <a:p>
            <a:pPr marL="285750" lvl="0" indent="-285750">
              <a:buFont typeface="Arial" panose="020B0604020202020204" pitchFamily="34" charset="0"/>
              <a:buChar char="•"/>
            </a:pPr>
            <a:r>
              <a:rPr lang="en-US" b="1" dirty="0"/>
              <a:t>How does publication activity change over time?</a:t>
            </a:r>
            <a:endParaRPr lang="en-US" dirty="0"/>
          </a:p>
        </p:txBody>
      </p:sp>
      <p:sp>
        <p:nvSpPr>
          <p:cNvPr id="4" name="TextBox 3">
            <a:extLst>
              <a:ext uri="{FF2B5EF4-FFF2-40B4-BE49-F238E27FC236}">
                <a16:creationId xmlns:a16="http://schemas.microsoft.com/office/drawing/2014/main" id="{5DC590D0-F9B7-B4F0-1D50-F2E59A146CCB}"/>
              </a:ext>
            </a:extLst>
          </p:cNvPr>
          <p:cNvSpPr txBox="1"/>
          <p:nvPr/>
        </p:nvSpPr>
        <p:spPr>
          <a:xfrm>
            <a:off x="1144337" y="3662947"/>
            <a:ext cx="6855326" cy="307777"/>
          </a:xfrm>
          <a:prstGeom prst="rect">
            <a:avLst/>
          </a:prstGeom>
          <a:noFill/>
        </p:spPr>
        <p:txBody>
          <a:bodyPr wrap="square" rtlCol="0">
            <a:spAutoFit/>
          </a:bodyPr>
          <a:lstStyle/>
          <a:p>
            <a:r>
              <a:rPr lang="en-US" i="1" dirty="0"/>
              <a:t>Results describe the collected sample, not the complete German </a:t>
            </a:r>
            <a:r>
              <a:rPr lang="en-US" i="1" dirty="0" err="1"/>
              <a:t>labour</a:t>
            </a:r>
            <a:r>
              <a:rPr lang="en-US" i="1" dirty="0"/>
              <a:t> market.</a:t>
            </a:r>
          </a:p>
        </p:txBody>
      </p:sp>
    </p:spTree>
    <p:extLst>
      <p:ext uri="{BB962C8B-B14F-4D97-AF65-F5344CB8AC3E}">
        <p14:creationId xmlns:p14="http://schemas.microsoft.com/office/powerpoint/2010/main" val="4022776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938460899"/>
              </p:ext>
            </p:extLst>
          </p:nvPr>
        </p:nvGraphicFramePr>
        <p:xfrm>
          <a:off x="611541" y="921150"/>
          <a:ext cx="7920917" cy="330119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Local demonstration deployment</a:t>
                      </a:r>
                      <a:br>
                        <a:rPr lang="en-US" dirty="0"/>
                      </a:br>
                      <a:r>
                        <a:rPr lang="en-US" dirty="0"/>
                        <a:t>simplified security and no horizontal scaling</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Expand testing, security, and production deployment</a:t>
                      </a:r>
                    </a:p>
                    <a:p>
                      <a:endParaRPr lang="en-US" b="0" dirty="0"/>
                    </a:p>
                  </a:txBody>
                  <a:tcPr/>
                </a:tc>
                <a:extLst>
                  <a:ext uri="{0D108BD9-81ED-4DB2-BD59-A6C34878D82A}">
                    <a16:rowId xmlns:a16="http://schemas.microsoft.com/office/drawing/2014/main" val="84378642"/>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 / Demo</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823832"/>
            <a:ext cx="6756076" cy="1815882"/>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err="1"/>
              <a:t>Arbeitsagentur</a:t>
            </a:r>
            <a:r>
              <a:rPr lang="en-US" dirty="0"/>
              <a:t>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 &amp; reproducible</a:t>
            </a:r>
            <a:br>
              <a:rPr lang="en-US" b="1" dirty="0"/>
            </a:br>
            <a:r>
              <a:rPr lang="en-US" dirty="0"/>
              <a:t>Airflow + 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
        <p:nvSpPr>
          <p:cNvPr id="5" name="TextBox 4">
            <a:extLst>
              <a:ext uri="{FF2B5EF4-FFF2-40B4-BE49-F238E27FC236}">
                <a16:creationId xmlns:a16="http://schemas.microsoft.com/office/drawing/2014/main" id="{295FB400-1358-ACD8-2C7A-4928B7188AA9}"/>
              </a:ext>
            </a:extLst>
          </p:cNvPr>
          <p:cNvSpPr txBox="1"/>
          <p:nvPr/>
        </p:nvSpPr>
        <p:spPr>
          <a:xfrm>
            <a:off x="1193962" y="2925617"/>
            <a:ext cx="6756076" cy="1169551"/>
          </a:xfrm>
          <a:prstGeom prst="rect">
            <a:avLst/>
          </a:prstGeom>
          <a:noFill/>
        </p:spPr>
        <p:txBody>
          <a:bodyPr wrap="square" rtlCol="0">
            <a:spAutoFit/>
          </a:bodyPr>
          <a:lstStyle/>
          <a:p>
            <a:r>
              <a:rPr lang="en-US" dirty="0"/>
              <a:t>The project turns continuously changing job advertisements into</a:t>
            </a:r>
          </a:p>
          <a:p>
            <a:pPr marL="285750" indent="-285750">
              <a:buFont typeface="Arial" panose="020B0604020202020204" pitchFamily="34" charset="0"/>
              <a:buChar char="•"/>
            </a:pPr>
            <a:r>
              <a:rPr lang="en-US" dirty="0"/>
              <a:t>structured,</a:t>
            </a:r>
          </a:p>
          <a:p>
            <a:pPr marL="285750" indent="-285750">
              <a:buFont typeface="Arial" panose="020B0604020202020204" pitchFamily="34" charset="0"/>
              <a:buChar char="•"/>
            </a:pPr>
            <a:r>
              <a:rPr lang="en-US" dirty="0"/>
              <a:t>searchable,</a:t>
            </a:r>
          </a:p>
          <a:p>
            <a:pPr marL="285750" indent="-285750">
              <a:buFont typeface="Arial" panose="020B0604020202020204" pitchFamily="34" charset="0"/>
              <a:buChar char="•"/>
            </a:pPr>
            <a:r>
              <a:rPr lang="en-US" dirty="0"/>
              <a:t>and </a:t>
            </a:r>
            <a:r>
              <a:rPr lang="en-US" dirty="0" err="1"/>
              <a:t>analysable</a:t>
            </a:r>
            <a:endParaRPr lang="en-US" dirty="0"/>
          </a:p>
          <a:p>
            <a:r>
              <a:rPr lang="en-US" dirty="0"/>
              <a:t>data.</a:t>
            </a:r>
          </a:p>
        </p:txBody>
      </p:sp>
    </p:spTree>
    <p:extLst>
      <p:ext uri="{BB962C8B-B14F-4D97-AF65-F5344CB8AC3E}">
        <p14:creationId xmlns:p14="http://schemas.microsoft.com/office/powerpoint/2010/main" val="308330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2640</Words>
  <Application>Microsoft Office PowerPoint</Application>
  <PresentationFormat>On-screen Show (16:9)</PresentationFormat>
  <Paragraphs>333</Paragraphs>
  <Slides>15</Slides>
  <Notes>15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15</vt:i4>
      </vt:variant>
    </vt:vector>
  </HeadingPairs>
  <TitlesOfParts>
    <vt:vector size="28" baseType="lpstr">
      <vt:lpstr>Aptos</vt:lpstr>
      <vt:lpstr>Arial</vt:lpstr>
      <vt:lpstr>Consolas</vt:lpstr>
      <vt:lpstr>Courier New</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303</cp:revision>
  <dcterms:modified xsi:type="dcterms:W3CDTF">2026-09-09T12:14:45Z</dcterms:modified>
</cp:coreProperties>
</file>